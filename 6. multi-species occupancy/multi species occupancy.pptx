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1045" r:id="rId2"/>
    <p:sldId id="1043" r:id="rId3"/>
    <p:sldId id="1046" r:id="rId4"/>
    <p:sldId id="1047" r:id="rId5"/>
    <p:sldId id="1048" r:id="rId6"/>
    <p:sldId id="1042" r:id="rId7"/>
    <p:sldId id="1049" r:id="rId8"/>
  </p:sldIdLst>
  <p:sldSz cx="9144000" cy="6858000" type="screen4x3"/>
  <p:notesSz cx="6858000" cy="9144000"/>
  <p:custDataLst>
    <p:tags r:id="rId1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376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096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753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473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129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849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506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userDrawn="1">
          <p15:clr>
            <a:srgbClr val="A4A3A4"/>
          </p15:clr>
        </p15:guide>
        <p15:guide id="2" pos="28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40">
          <p15:clr>
            <a:srgbClr val="A4A3A4"/>
          </p15:clr>
        </p15:guide>
        <p15:guide id="2" pos="2166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Nick Dulvy" initials="ND" lastIdx="1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3" frameSlides="1"/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CC00FF"/>
    <a:srgbClr val="E2EC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8FA160-FCCF-46C2-9D0C-50E701C349D7}" v="5" dt="2024-04-15T00:45:14.8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600" autoAdjust="0"/>
    <p:restoredTop sz="83878" autoAdjust="0"/>
  </p:normalViewPr>
  <p:slideViewPr>
    <p:cSldViewPr snapToGrid="0" snapToObjects="1" showGuides="1">
      <p:cViewPr>
        <p:scale>
          <a:sx n="66" d="100"/>
          <a:sy n="66" d="100"/>
        </p:scale>
        <p:origin x="1032" y="216"/>
      </p:cViewPr>
      <p:guideLst>
        <p:guide orient="horz"/>
        <p:guide pos="2888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9588"/>
    </p:cViewPr>
  </p:sorterViewPr>
  <p:notesViewPr>
    <p:cSldViewPr snapToGrid="0" snapToObjects="1">
      <p:cViewPr varScale="1">
        <p:scale>
          <a:sx n="118" d="100"/>
          <a:sy n="118" d="100"/>
        </p:scale>
        <p:origin x="-5048" y="-104"/>
      </p:cViewPr>
      <p:guideLst>
        <p:guide orient="horz" pos="2840"/>
        <p:guide pos="216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orel Popescu" userId="9f284cf50f70590d" providerId="LiveId" clId="{158FA160-FCCF-46C2-9D0C-50E701C349D7}"/>
    <pc:docChg chg="undo redo custSel addSld delSld modSld sldOrd">
      <pc:chgData name="Viorel Popescu" userId="9f284cf50f70590d" providerId="LiveId" clId="{158FA160-FCCF-46C2-9D0C-50E701C349D7}" dt="2024-04-15T00:45:32.153" v="353"/>
      <pc:docMkLst>
        <pc:docMk/>
      </pc:docMkLst>
      <pc:sldChg chg="del">
        <pc:chgData name="Viorel Popescu" userId="9f284cf50f70590d" providerId="LiveId" clId="{158FA160-FCCF-46C2-9D0C-50E701C349D7}" dt="2024-04-14T16:26:56.041" v="0" actId="47"/>
        <pc:sldMkLst>
          <pc:docMk/>
          <pc:sldMk cId="0" sldId="338"/>
        </pc:sldMkLst>
      </pc:sldChg>
      <pc:sldChg chg="del">
        <pc:chgData name="Viorel Popescu" userId="9f284cf50f70590d" providerId="LiveId" clId="{158FA160-FCCF-46C2-9D0C-50E701C349D7}" dt="2024-04-14T16:26:56.041" v="0" actId="47"/>
        <pc:sldMkLst>
          <pc:docMk/>
          <pc:sldMk cId="0" sldId="339"/>
        </pc:sldMkLst>
      </pc:sldChg>
      <pc:sldChg chg="del">
        <pc:chgData name="Viorel Popescu" userId="9f284cf50f70590d" providerId="LiveId" clId="{158FA160-FCCF-46C2-9D0C-50E701C349D7}" dt="2024-04-14T16:26:56.041" v="0" actId="47"/>
        <pc:sldMkLst>
          <pc:docMk/>
          <pc:sldMk cId="0" sldId="340"/>
        </pc:sldMkLst>
      </pc:sldChg>
      <pc:sldChg chg="del">
        <pc:chgData name="Viorel Popescu" userId="9f284cf50f70590d" providerId="LiveId" clId="{158FA160-FCCF-46C2-9D0C-50E701C349D7}" dt="2024-04-14T16:26:56.041" v="0" actId="47"/>
        <pc:sldMkLst>
          <pc:docMk/>
          <pc:sldMk cId="0" sldId="341"/>
        </pc:sldMkLst>
      </pc:sldChg>
      <pc:sldChg chg="del">
        <pc:chgData name="Viorel Popescu" userId="9f284cf50f70590d" providerId="LiveId" clId="{158FA160-FCCF-46C2-9D0C-50E701C349D7}" dt="2024-04-14T16:26:56.041" v="0" actId="47"/>
        <pc:sldMkLst>
          <pc:docMk/>
          <pc:sldMk cId="0" sldId="342"/>
        </pc:sldMkLst>
      </pc:sldChg>
      <pc:sldChg chg="del">
        <pc:chgData name="Viorel Popescu" userId="9f284cf50f70590d" providerId="LiveId" clId="{158FA160-FCCF-46C2-9D0C-50E701C349D7}" dt="2024-04-14T16:26:56.041" v="0" actId="47"/>
        <pc:sldMkLst>
          <pc:docMk/>
          <pc:sldMk cId="0" sldId="343"/>
        </pc:sldMkLst>
      </pc:sldChg>
      <pc:sldChg chg="del">
        <pc:chgData name="Viorel Popescu" userId="9f284cf50f70590d" providerId="LiveId" clId="{158FA160-FCCF-46C2-9D0C-50E701C349D7}" dt="2024-04-14T16:26:56.041" v="0" actId="47"/>
        <pc:sldMkLst>
          <pc:docMk/>
          <pc:sldMk cId="0" sldId="344"/>
        </pc:sldMkLst>
      </pc:sldChg>
      <pc:sldChg chg="del">
        <pc:chgData name="Viorel Popescu" userId="9f284cf50f70590d" providerId="LiveId" clId="{158FA160-FCCF-46C2-9D0C-50E701C349D7}" dt="2024-04-14T16:26:56.041" v="0" actId="47"/>
        <pc:sldMkLst>
          <pc:docMk/>
          <pc:sldMk cId="0" sldId="345"/>
        </pc:sldMkLst>
      </pc:sldChg>
      <pc:sldChg chg="del">
        <pc:chgData name="Viorel Popescu" userId="9f284cf50f70590d" providerId="LiveId" clId="{158FA160-FCCF-46C2-9D0C-50E701C349D7}" dt="2024-04-14T16:26:56.041" v="0" actId="47"/>
        <pc:sldMkLst>
          <pc:docMk/>
          <pc:sldMk cId="0" sldId="346"/>
        </pc:sldMkLst>
      </pc:sldChg>
      <pc:sldChg chg="del">
        <pc:chgData name="Viorel Popescu" userId="9f284cf50f70590d" providerId="LiveId" clId="{158FA160-FCCF-46C2-9D0C-50E701C349D7}" dt="2024-04-14T16:26:56.041" v="0" actId="47"/>
        <pc:sldMkLst>
          <pc:docMk/>
          <pc:sldMk cId="0" sldId="347"/>
        </pc:sldMkLst>
      </pc:sldChg>
      <pc:sldChg chg="del">
        <pc:chgData name="Viorel Popescu" userId="9f284cf50f70590d" providerId="LiveId" clId="{158FA160-FCCF-46C2-9D0C-50E701C349D7}" dt="2024-04-14T16:26:56.041" v="0" actId="47"/>
        <pc:sldMkLst>
          <pc:docMk/>
          <pc:sldMk cId="0" sldId="348"/>
        </pc:sldMkLst>
      </pc:sldChg>
      <pc:sldChg chg="del">
        <pc:chgData name="Viorel Popescu" userId="9f284cf50f70590d" providerId="LiveId" clId="{158FA160-FCCF-46C2-9D0C-50E701C349D7}" dt="2024-04-14T16:26:56.041" v="0" actId="47"/>
        <pc:sldMkLst>
          <pc:docMk/>
          <pc:sldMk cId="0" sldId="349"/>
        </pc:sldMkLst>
      </pc:sldChg>
      <pc:sldChg chg="del">
        <pc:chgData name="Viorel Popescu" userId="9f284cf50f70590d" providerId="LiveId" clId="{158FA160-FCCF-46C2-9D0C-50E701C349D7}" dt="2024-04-14T16:26:56.041" v="0" actId="47"/>
        <pc:sldMkLst>
          <pc:docMk/>
          <pc:sldMk cId="0" sldId="833"/>
        </pc:sldMkLst>
      </pc:sldChg>
      <pc:sldChg chg="del">
        <pc:chgData name="Viorel Popescu" userId="9f284cf50f70590d" providerId="LiveId" clId="{158FA160-FCCF-46C2-9D0C-50E701C349D7}" dt="2024-04-14T16:26:56.041" v="0" actId="47"/>
        <pc:sldMkLst>
          <pc:docMk/>
          <pc:sldMk cId="0" sldId="843"/>
        </pc:sldMkLst>
      </pc:sldChg>
      <pc:sldChg chg="addSp delSp modSp mod">
        <pc:chgData name="Viorel Popescu" userId="9f284cf50f70590d" providerId="LiveId" clId="{158FA160-FCCF-46C2-9D0C-50E701C349D7}" dt="2024-04-14T16:48:48.239" v="280" actId="403"/>
        <pc:sldMkLst>
          <pc:docMk/>
          <pc:sldMk cId="0" sldId="1042"/>
        </pc:sldMkLst>
        <pc:spChg chg="del">
          <ac:chgData name="Viorel Popescu" userId="9f284cf50f70590d" providerId="LiveId" clId="{158FA160-FCCF-46C2-9D0C-50E701C349D7}" dt="2024-04-14T16:44:18.562" v="169" actId="478"/>
          <ac:spMkLst>
            <pc:docMk/>
            <pc:sldMk cId="0" sldId="1042"/>
            <ac:spMk id="6" creationId="{31BE8475-F2FE-BB33-FC3D-4215785316D2}"/>
          </ac:spMkLst>
        </pc:spChg>
        <pc:spChg chg="add mod">
          <ac:chgData name="Viorel Popescu" userId="9f284cf50f70590d" providerId="LiveId" clId="{158FA160-FCCF-46C2-9D0C-50E701C349D7}" dt="2024-04-14T16:48:48.239" v="280" actId="403"/>
          <ac:spMkLst>
            <pc:docMk/>
            <pc:sldMk cId="0" sldId="1042"/>
            <ac:spMk id="8" creationId="{0ABCAA3F-FBBC-9241-A662-7A2E130CEC78}"/>
          </ac:spMkLst>
        </pc:spChg>
      </pc:sldChg>
      <pc:sldChg chg="del">
        <pc:chgData name="Viorel Popescu" userId="9f284cf50f70590d" providerId="LiveId" clId="{158FA160-FCCF-46C2-9D0C-50E701C349D7}" dt="2024-04-14T16:26:56.041" v="0" actId="47"/>
        <pc:sldMkLst>
          <pc:docMk/>
          <pc:sldMk cId="1634061489" sldId="1044"/>
        </pc:sldMkLst>
      </pc:sldChg>
      <pc:sldChg chg="modSp ord">
        <pc:chgData name="Viorel Popescu" userId="9f284cf50f70590d" providerId="LiveId" clId="{158FA160-FCCF-46C2-9D0C-50E701C349D7}" dt="2024-04-15T00:45:32.153" v="353"/>
        <pc:sldMkLst>
          <pc:docMk/>
          <pc:sldMk cId="1701883613" sldId="1045"/>
        </pc:sldMkLst>
        <pc:spChg chg="mod">
          <ac:chgData name="Viorel Popescu" userId="9f284cf50f70590d" providerId="LiveId" clId="{158FA160-FCCF-46C2-9D0C-50E701C349D7}" dt="2024-04-15T00:45:14.848" v="351" actId="6549"/>
          <ac:spMkLst>
            <pc:docMk/>
            <pc:sldMk cId="1701883613" sldId="1045"/>
            <ac:spMk id="3" creationId="{00000000-0000-0000-0000-000000000000}"/>
          </ac:spMkLst>
        </pc:spChg>
      </pc:sldChg>
      <pc:sldChg chg="addSp modSp mod modAnim">
        <pc:chgData name="Viorel Popescu" userId="9f284cf50f70590d" providerId="LiveId" clId="{158FA160-FCCF-46C2-9D0C-50E701C349D7}" dt="2024-04-14T16:30:26.092" v="168" actId="313"/>
        <pc:sldMkLst>
          <pc:docMk/>
          <pc:sldMk cId="691805669" sldId="1047"/>
        </pc:sldMkLst>
        <pc:spChg chg="mod">
          <ac:chgData name="Viorel Popescu" userId="9f284cf50f70590d" providerId="LiveId" clId="{158FA160-FCCF-46C2-9D0C-50E701C349D7}" dt="2024-04-14T16:27:36.871" v="1" actId="20577"/>
          <ac:spMkLst>
            <pc:docMk/>
            <pc:sldMk cId="691805669" sldId="1047"/>
            <ac:spMk id="3" creationId="{00000000-0000-0000-0000-000000000000}"/>
          </ac:spMkLst>
        </pc:spChg>
        <pc:spChg chg="add mod">
          <ac:chgData name="Viorel Popescu" userId="9f284cf50f70590d" providerId="LiveId" clId="{158FA160-FCCF-46C2-9D0C-50E701C349D7}" dt="2024-04-14T16:30:26.092" v="168" actId="313"/>
          <ac:spMkLst>
            <pc:docMk/>
            <pc:sldMk cId="691805669" sldId="1047"/>
            <ac:spMk id="4" creationId="{6D1F7D8B-138E-DC55-9CFD-5FB22DC39D1F}"/>
          </ac:spMkLst>
        </pc:spChg>
      </pc:sldChg>
      <pc:sldChg chg="modSp add mod">
        <pc:chgData name="Viorel Popescu" userId="9f284cf50f70590d" providerId="LiveId" clId="{158FA160-FCCF-46C2-9D0C-50E701C349D7}" dt="2024-04-14T16:50:15.218" v="350" actId="113"/>
        <pc:sldMkLst>
          <pc:docMk/>
          <pc:sldMk cId="3157217363" sldId="1049"/>
        </pc:sldMkLst>
        <pc:spChg chg="mod">
          <ac:chgData name="Viorel Popescu" userId="9f284cf50f70590d" providerId="LiveId" clId="{158FA160-FCCF-46C2-9D0C-50E701C349D7}" dt="2024-04-14T16:50:15.218" v="350" actId="113"/>
          <ac:spMkLst>
            <pc:docMk/>
            <pc:sldMk cId="3157217363" sldId="1049"/>
            <ac:spMk id="8" creationId="{0ABCAA3F-FBBC-9241-A662-7A2E130CEC78}"/>
          </ac:spMkLst>
        </pc:spChg>
      </pc:sldChg>
      <pc:sldMasterChg chg="delSldLayout">
        <pc:chgData name="Viorel Popescu" userId="9f284cf50f70590d" providerId="LiveId" clId="{158FA160-FCCF-46C2-9D0C-50E701C349D7}" dt="2024-04-14T16:26:56.041" v="0" actId="47"/>
        <pc:sldMasterMkLst>
          <pc:docMk/>
          <pc:sldMasterMk cId="0" sldId="2147483648"/>
        </pc:sldMasterMkLst>
        <pc:sldLayoutChg chg="del">
          <pc:chgData name="Viorel Popescu" userId="9f284cf50f70590d" providerId="LiveId" clId="{158FA160-FCCF-46C2-9D0C-50E701C349D7}" dt="2024-04-14T16:26:56.041" v="0" actId="47"/>
          <pc:sldLayoutMkLst>
            <pc:docMk/>
            <pc:sldMasterMk cId="0" sldId="2147483648"/>
            <pc:sldLayoutMk cId="0" sldId="2147483660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32BA1C-DB3A-774D-BF63-C74147DF77EA}" type="datetimeFigureOut">
              <a:rPr lang="en-US" smtClean="0"/>
              <a:t>4/14/2024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E6B3A4-733A-9E48-9D0C-CC9BA8AFA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0A4FFD-2244-BD43-ADCC-55C407AA6B4E}" type="datetimeFigureOut">
              <a:rPr lang="en-US" smtClean="0"/>
              <a:t>4/14/2024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8DFA54-D39D-1D48-8493-93DD0796946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3765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965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53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473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295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495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06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Ex. 1: Grey heron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Ex. 1: Grey heron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731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4" y="2130425"/>
            <a:ext cx="7772401" cy="1470025"/>
          </a:xfrm>
        </p:spPr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3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5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7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2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4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0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BFD8-13BE-B34C-9D38-93A96E46EA28}" type="datetime1">
              <a:rPr lang="en-CA" smtClean="0"/>
              <a:t>2024-04-14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FFF3-8FBC-2144-A340-2B54F44226F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10203-3692-EE42-9F0C-0A601B9B7F08}" type="datetime1">
              <a:rPr lang="en-CA" smtClean="0"/>
              <a:t>2024-04-14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FFF3-8FBC-2144-A340-2B54F44226F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7" y="4406905"/>
            <a:ext cx="777240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7" y="2906713"/>
            <a:ext cx="7772401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37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096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753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473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129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849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506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C2748-9D98-3F49-B5F9-742FAC37F4F9}" type="datetime1">
              <a:rPr lang="en-CA" smtClean="0"/>
              <a:t>2024-04-14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FFF3-8FBC-2144-A340-2B54F44226F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5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5" y="1600205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7F1FD-AACD-9948-9283-1F9691DFC0B4}" type="datetime1">
              <a:rPr lang="en-CA" smtClean="0"/>
              <a:t>2024-04-14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FFF3-8FBC-2144-A340-2B54F44226F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5" y="1535118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3765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7530" indent="0">
              <a:buNone/>
              <a:defRPr sz="1600" b="1"/>
            </a:lvl5pPr>
            <a:lvl6pPr marL="2284730" indent="0">
              <a:buNone/>
              <a:defRPr sz="1600" b="1"/>
            </a:lvl6pPr>
            <a:lvl7pPr marL="2741295" indent="0">
              <a:buNone/>
              <a:defRPr sz="1600" b="1"/>
            </a:lvl7pPr>
            <a:lvl8pPr marL="3198495" indent="0">
              <a:buNone/>
              <a:defRPr sz="1600" b="1"/>
            </a:lvl8pPr>
            <a:lvl9pPr marL="3655060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5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0" y="1535118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3765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7530" indent="0">
              <a:buNone/>
              <a:defRPr sz="1600" b="1"/>
            </a:lvl5pPr>
            <a:lvl6pPr marL="2284730" indent="0">
              <a:buNone/>
              <a:defRPr sz="1600" b="1"/>
            </a:lvl6pPr>
            <a:lvl7pPr marL="2741295" indent="0">
              <a:buNone/>
              <a:defRPr sz="1600" b="1"/>
            </a:lvl7pPr>
            <a:lvl8pPr marL="3198495" indent="0">
              <a:buNone/>
              <a:defRPr sz="1600" b="1"/>
            </a:lvl8pPr>
            <a:lvl9pPr marL="3655060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0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B582B-6698-EC48-875C-50CEAA3C67F4}" type="datetime1">
              <a:rPr lang="en-CA" smtClean="0"/>
              <a:t>2024-04-14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FFF3-8FBC-2144-A340-2B54F44226F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36D6D-CCCE-B749-8D34-846F8A67EFC0}" type="datetime1">
              <a:rPr lang="en-CA" smtClean="0"/>
              <a:t>2024-04-14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FFF3-8FBC-2144-A340-2B54F44226F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6EB7D-0180-5147-9FFD-9F568677AE1E}" type="datetime1">
              <a:rPr lang="en-CA" smtClean="0"/>
              <a:t>2024-04-14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FFF3-8FBC-2144-A340-2B54F44226F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5" y="273052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5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5" y="1435105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3765" indent="0">
              <a:buNone/>
              <a:defRPr sz="1000"/>
            </a:lvl3pPr>
            <a:lvl4pPr marL="1370965" indent="0">
              <a:buNone/>
              <a:defRPr sz="900"/>
            </a:lvl4pPr>
            <a:lvl5pPr marL="1827530" indent="0">
              <a:buNone/>
              <a:defRPr sz="900"/>
            </a:lvl5pPr>
            <a:lvl6pPr marL="2284730" indent="0">
              <a:buNone/>
              <a:defRPr sz="900"/>
            </a:lvl6pPr>
            <a:lvl7pPr marL="2741295" indent="0">
              <a:buNone/>
              <a:defRPr sz="900"/>
            </a:lvl7pPr>
            <a:lvl8pPr marL="3198495" indent="0">
              <a:buNone/>
              <a:defRPr sz="900"/>
            </a:lvl8pPr>
            <a:lvl9pPr marL="3655060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53B9D-1BC3-8D45-B4A5-24010FA1B146}" type="datetime1">
              <a:rPr lang="en-CA" smtClean="0"/>
              <a:t>2024-04-14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FFF3-8FBC-2144-A340-2B54F44226F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3765" indent="0">
              <a:buNone/>
              <a:defRPr sz="2400"/>
            </a:lvl3pPr>
            <a:lvl4pPr marL="1370965" indent="0">
              <a:buNone/>
              <a:defRPr sz="2000"/>
            </a:lvl4pPr>
            <a:lvl5pPr marL="1827530" indent="0">
              <a:buNone/>
              <a:defRPr sz="2000"/>
            </a:lvl5pPr>
            <a:lvl6pPr marL="2284730" indent="0">
              <a:buNone/>
              <a:defRPr sz="2000"/>
            </a:lvl6pPr>
            <a:lvl7pPr marL="2741295" indent="0">
              <a:buNone/>
              <a:defRPr sz="2000"/>
            </a:lvl7pPr>
            <a:lvl8pPr marL="3198495" indent="0">
              <a:buNone/>
              <a:defRPr sz="2000"/>
            </a:lvl8pPr>
            <a:lvl9pPr marL="365506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3765" indent="0">
              <a:buNone/>
              <a:defRPr sz="1000"/>
            </a:lvl3pPr>
            <a:lvl4pPr marL="1370965" indent="0">
              <a:buNone/>
              <a:defRPr sz="900"/>
            </a:lvl4pPr>
            <a:lvl5pPr marL="1827530" indent="0">
              <a:buNone/>
              <a:defRPr sz="900"/>
            </a:lvl5pPr>
            <a:lvl6pPr marL="2284730" indent="0">
              <a:buNone/>
              <a:defRPr sz="900"/>
            </a:lvl6pPr>
            <a:lvl7pPr marL="2741295" indent="0">
              <a:buNone/>
              <a:defRPr sz="900"/>
            </a:lvl7pPr>
            <a:lvl8pPr marL="3198495" indent="0">
              <a:buNone/>
              <a:defRPr sz="900"/>
            </a:lvl8pPr>
            <a:lvl9pPr marL="3655060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B706C-2B08-8E43-97C9-BC50088B1CD1}" type="datetime1">
              <a:rPr lang="en-CA" smtClean="0"/>
              <a:t>2024-04-14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FFF3-8FBC-2144-A340-2B54F44226F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60D8B-6047-3E47-9E7D-4122E207D896}" type="datetime1">
              <a:rPr lang="en-CA" smtClean="0"/>
              <a:t>2024-04-14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FFF3-8FBC-2144-A340-2B54F44226F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5" y="274643"/>
            <a:ext cx="2057400" cy="5851525"/>
          </a:xfrm>
        </p:spPr>
        <p:txBody>
          <a:bodyPr vert="eaVert"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3"/>
            <a:ext cx="6019800" cy="5851525"/>
          </a:xfrm>
        </p:spPr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80F54-3091-F744-960B-084737488211}" type="datetime1">
              <a:rPr lang="en-CA" smtClean="0"/>
              <a:t>2024-04-14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FFF3-8FBC-2144-A340-2B54F44226F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1" y="274640"/>
            <a:ext cx="8229600" cy="1143001"/>
          </a:xfrm>
          <a:prstGeom prst="rect">
            <a:avLst/>
          </a:prstGeom>
        </p:spPr>
        <p:txBody>
          <a:bodyPr vert="horz" lIns="91379" tIns="45689" rIns="91379" bIns="45689" rtlCol="0" anchor="ctr">
            <a:normAutofit/>
          </a:bodyPr>
          <a:lstStyle/>
          <a:p>
            <a:r>
              <a:rPr lang="en-CA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600205"/>
            <a:ext cx="8229600" cy="4525963"/>
          </a:xfrm>
          <a:prstGeom prst="rect">
            <a:avLst/>
          </a:prstGeom>
        </p:spPr>
        <p:txBody>
          <a:bodyPr vert="horz" lIns="91379" tIns="45689" rIns="91379" bIns="45689" rtlCol="0">
            <a:normAutofit/>
          </a:bodyPr>
          <a:lstStyle/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  <a:p>
            <a:pPr lvl="4"/>
            <a:r>
              <a:rPr lang="en-CA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6"/>
            <a:ext cx="2133600" cy="365125"/>
          </a:xfrm>
          <a:prstGeom prst="rect">
            <a:avLst/>
          </a:prstGeom>
        </p:spPr>
        <p:txBody>
          <a:bodyPr vert="horz" lIns="91379" tIns="45689" rIns="91379" bIns="4568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5A7869-BEC3-AC47-8AE5-EC3C0C76D79E}" type="datetime1">
              <a:rPr lang="en-CA" smtClean="0"/>
              <a:t>2024-04-14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1" y="6356356"/>
            <a:ext cx="2895600" cy="365125"/>
          </a:xfrm>
          <a:prstGeom prst="rect">
            <a:avLst/>
          </a:prstGeom>
        </p:spPr>
        <p:txBody>
          <a:bodyPr vert="horz" lIns="91379" tIns="45689" rIns="91379" bIns="4568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6"/>
            <a:ext cx="2133600" cy="365125"/>
          </a:xfrm>
          <a:prstGeom prst="rect">
            <a:avLst/>
          </a:prstGeom>
        </p:spPr>
        <p:txBody>
          <a:bodyPr vert="horz" lIns="91379" tIns="45689" rIns="91379" bIns="4568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36FFF3-8FBC-2144-A340-2B54F44226F0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3600" kern="1200">
          <a:solidFill>
            <a:srgbClr val="000090"/>
          </a:solidFill>
          <a:latin typeface="Arial" panose="020B0604020202020204"/>
          <a:ea typeface="+mj-ea"/>
          <a:cs typeface="Arial" panose="020B0604020202020204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1pPr>
      <a:lvl2pPr marL="742315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2pPr>
      <a:lvl3pPr marL="1142365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3pPr>
      <a:lvl4pPr marL="159893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4pPr>
      <a:lvl5pPr marL="205613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5pPr>
      <a:lvl6pPr marL="2512695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69895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646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366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765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53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73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295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495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506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7431" y="377107"/>
            <a:ext cx="6935273" cy="528991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>
              <a:spcBef>
                <a:spcPts val="75"/>
              </a:spcBef>
            </a:pPr>
            <a:r>
              <a:rPr lang="en-US" sz="3375" spc="-4" dirty="0"/>
              <a:t>Multi-Species Occupancy Models</a:t>
            </a:r>
            <a:endParaRPr sz="3375" dirty="0"/>
          </a:p>
        </p:txBody>
      </p:sp>
      <p:sp>
        <p:nvSpPr>
          <p:cNvPr id="3" name="object 3"/>
          <p:cNvSpPr txBox="1"/>
          <p:nvPr/>
        </p:nvSpPr>
        <p:spPr>
          <a:xfrm>
            <a:off x="170180" y="1246505"/>
            <a:ext cx="8829040" cy="537006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47625">
              <a:spcBef>
                <a:spcPts val="75"/>
              </a:spcBef>
              <a:tabLst>
                <a:tab pos="3632835" algn="l"/>
              </a:tabLst>
            </a:pPr>
            <a:r>
              <a:rPr lang="en-US" sz="2000" b="1" spc="-8" dirty="0">
                <a:latin typeface="Arial" panose="020B0604020202020204" pitchFamily="34" charset="0"/>
                <a:cs typeface="Arial" panose="020B0604020202020204" pitchFamily="34" charset="0"/>
              </a:rPr>
              <a:t>Reasons to implement multi-species occupancy models (MSOM)</a:t>
            </a:r>
          </a:p>
          <a:p>
            <a:pPr marL="47625">
              <a:spcBef>
                <a:spcPts val="75"/>
              </a:spcBef>
              <a:tabLst>
                <a:tab pos="3632835" algn="l"/>
              </a:tabLst>
            </a:pPr>
            <a:endParaRPr lang="en-US" sz="2000" spc="-8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47725" lvl="1" indent="-342900">
              <a:spcBef>
                <a:spcPts val="75"/>
              </a:spcBef>
              <a:buFontTx/>
              <a:buChar char="-"/>
              <a:tabLst>
                <a:tab pos="3632835" algn="l"/>
              </a:tabLst>
            </a:pPr>
            <a:r>
              <a:rPr lang="en-US" sz="2000" spc="-8" dirty="0">
                <a:latin typeface="Arial" panose="020B0604020202020204" pitchFamily="34" charset="0"/>
                <a:cs typeface="Arial" panose="020B0604020202020204" pitchFamily="34" charset="0"/>
              </a:rPr>
              <a:t>Evaluate the </a:t>
            </a:r>
            <a:r>
              <a:rPr lang="en-US" sz="2000" b="1" spc="-8" dirty="0">
                <a:latin typeface="Arial" panose="020B0604020202020204" pitchFamily="34" charset="0"/>
                <a:cs typeface="Arial" panose="020B0604020202020204" pitchFamily="34" charset="0"/>
              </a:rPr>
              <a:t>community composition</a:t>
            </a:r>
          </a:p>
          <a:p>
            <a:pPr marL="847725" lvl="1" indent="-342900">
              <a:spcBef>
                <a:spcPts val="75"/>
              </a:spcBef>
              <a:buFontTx/>
              <a:buChar char="-"/>
              <a:tabLst>
                <a:tab pos="3632835" algn="l"/>
              </a:tabLst>
            </a:pPr>
            <a:endParaRPr lang="en-US" sz="2000" spc="-8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47725" lvl="1" indent="-342900">
              <a:spcBef>
                <a:spcPts val="75"/>
              </a:spcBef>
              <a:buFontTx/>
              <a:buChar char="-"/>
              <a:tabLst>
                <a:tab pos="3632835" algn="l"/>
              </a:tabLst>
            </a:pPr>
            <a:r>
              <a:rPr lang="en-US" sz="2000" spc="-8" dirty="0">
                <a:latin typeface="Arial" panose="020B0604020202020204" pitchFamily="34" charset="0"/>
                <a:cs typeface="Arial" panose="020B0604020202020204" pitchFamily="34" charset="0"/>
              </a:rPr>
              <a:t>Draw conclusions about </a:t>
            </a:r>
            <a:r>
              <a:rPr lang="en-US" sz="2000" b="1" spc="-8" dirty="0">
                <a:latin typeface="Arial" panose="020B0604020202020204" pitchFamily="34" charset="0"/>
                <a:cs typeface="Arial" panose="020B0604020202020204" pitchFamily="34" charset="0"/>
              </a:rPr>
              <a:t>species that are rare</a:t>
            </a:r>
            <a:r>
              <a:rPr lang="en-US" sz="2000" spc="-8" dirty="0">
                <a:latin typeface="Arial" panose="020B0604020202020204" pitchFamily="34" charset="0"/>
                <a:cs typeface="Arial" panose="020B0604020202020204" pitchFamily="34" charset="0"/>
              </a:rPr>
              <a:t>, with low detectability or BOTH rare and with low detectability</a:t>
            </a:r>
          </a:p>
          <a:p>
            <a:pPr marL="1304290" lvl="2" indent="-342900">
              <a:spcBef>
                <a:spcPts val="75"/>
              </a:spcBef>
              <a:buFontTx/>
              <a:buChar char="-"/>
              <a:tabLst>
                <a:tab pos="3632835" algn="l"/>
              </a:tabLst>
            </a:pPr>
            <a:r>
              <a:rPr lang="en-US" sz="2000" b="1" spc="-8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HOW??? By “borrowing” information from species with good data</a:t>
            </a:r>
          </a:p>
          <a:p>
            <a:pPr marL="1304290" lvl="2" indent="-342900">
              <a:spcBef>
                <a:spcPts val="75"/>
              </a:spcBef>
              <a:buFontTx/>
              <a:buChar char="-"/>
              <a:tabLst>
                <a:tab pos="3632835" algn="l"/>
              </a:tabLst>
            </a:pPr>
            <a:r>
              <a:rPr lang="en-US" sz="2000" b="1" spc="-8" dirty="0">
                <a:latin typeface="Arial" panose="020B0604020202020204" pitchFamily="34" charset="0"/>
                <a:cs typeface="Arial" panose="020B0604020202020204" pitchFamily="34" charset="0"/>
              </a:rPr>
              <a:t>In a Bayesian framework, </a:t>
            </a:r>
            <a:r>
              <a:rPr lang="en-US" sz="2000" spc="-8" dirty="0">
                <a:latin typeface="Arial" panose="020B0604020202020204" pitchFamily="34" charset="0"/>
                <a:cs typeface="Arial" panose="020B0604020202020204" pitchFamily="34" charset="0"/>
              </a:rPr>
              <a:t>all species share the same “prior” distributions of parameters, so they share information about:</a:t>
            </a:r>
          </a:p>
          <a:p>
            <a:pPr marL="1761490" lvl="3" indent="-342900">
              <a:spcBef>
                <a:spcPts val="75"/>
              </a:spcBef>
              <a:buFontTx/>
              <a:buChar char="-"/>
              <a:tabLst>
                <a:tab pos="3632835" algn="l"/>
              </a:tabLst>
            </a:pPr>
            <a:r>
              <a:rPr lang="en-US" sz="2000" spc="-8" dirty="0">
                <a:latin typeface="Arial" panose="020B0604020202020204" pitchFamily="34" charset="0"/>
                <a:cs typeface="Arial" panose="020B0604020202020204" pitchFamily="34" charset="0"/>
              </a:rPr>
              <a:t>Which species co-occurred at sites where the rare species occurred?</a:t>
            </a:r>
          </a:p>
          <a:p>
            <a:pPr marL="1761490" lvl="3" indent="-342900">
              <a:spcBef>
                <a:spcPts val="75"/>
              </a:spcBef>
              <a:buFontTx/>
              <a:buChar char="-"/>
              <a:tabLst>
                <a:tab pos="3632835" algn="l"/>
              </a:tabLst>
            </a:pPr>
            <a:r>
              <a:rPr lang="en-US" sz="2000" spc="-8" dirty="0">
                <a:latin typeface="Arial" panose="020B0604020202020204" pitchFamily="34" charset="0"/>
                <a:cs typeface="Arial" panose="020B0604020202020204" pitchFamily="34" charset="0"/>
              </a:rPr>
              <a:t>What are the environmental factors influencing the co-occurring species and what effect do they have (positive, negative)</a:t>
            </a:r>
          </a:p>
          <a:p>
            <a:pPr marL="1761490" lvl="3" indent="-342900">
              <a:spcBef>
                <a:spcPts val="75"/>
              </a:spcBef>
              <a:buFontTx/>
              <a:buChar char="-"/>
              <a:tabLst>
                <a:tab pos="3632835" algn="l"/>
              </a:tabLst>
            </a:pPr>
            <a:endParaRPr lang="en-US" sz="2000" spc="-8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47725" lvl="1" indent="-342900">
              <a:spcBef>
                <a:spcPts val="75"/>
              </a:spcBef>
              <a:buFontTx/>
              <a:buChar char="-"/>
              <a:tabLst>
                <a:tab pos="3632835" algn="l"/>
              </a:tabLst>
            </a:pPr>
            <a:r>
              <a:rPr lang="en-US" sz="2000" spc="-8" dirty="0">
                <a:latin typeface="Arial" panose="020B0604020202020204" pitchFamily="34" charset="0"/>
                <a:cs typeface="Arial" panose="020B0604020202020204" pitchFamily="34" charset="0"/>
              </a:rPr>
              <a:t>Evaluate the </a:t>
            </a:r>
            <a:r>
              <a:rPr lang="en-US" sz="2000" b="1" spc="-8" dirty="0">
                <a:latin typeface="Arial" panose="020B0604020202020204" pitchFamily="34" charset="0"/>
                <a:cs typeface="Arial" panose="020B0604020202020204" pitchFamily="34" charset="0"/>
              </a:rPr>
              <a:t>true number of species </a:t>
            </a:r>
            <a:r>
              <a:rPr lang="en-US" sz="2000" spc="-8" dirty="0">
                <a:latin typeface="Arial" panose="020B0604020202020204" pitchFamily="34" charset="0"/>
                <a:cs typeface="Arial" panose="020B0604020202020204" pitchFamily="34" charset="0"/>
              </a:rPr>
              <a:t>present in the community (via Data Augmentation)</a:t>
            </a:r>
            <a:endParaRPr sz="2000" b="1" dirty="0">
              <a:solidFill>
                <a:srgbClr val="FF0000"/>
              </a:solidFill>
              <a:latin typeface="Comic Sans MS" panose="030F0702030302020204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1883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7431" y="377107"/>
            <a:ext cx="6935273" cy="528991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>
              <a:spcBef>
                <a:spcPts val="75"/>
              </a:spcBef>
            </a:pPr>
            <a:r>
              <a:rPr lang="en-US" sz="3375" spc="-4" dirty="0"/>
              <a:t>Multi-Species Occupancy Models</a:t>
            </a:r>
            <a:endParaRPr sz="3375" dirty="0"/>
          </a:p>
        </p:txBody>
      </p:sp>
      <p:sp>
        <p:nvSpPr>
          <p:cNvPr id="3" name="object 3"/>
          <p:cNvSpPr txBox="1"/>
          <p:nvPr/>
        </p:nvSpPr>
        <p:spPr>
          <a:xfrm>
            <a:off x="170180" y="1246505"/>
            <a:ext cx="8829040" cy="508793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47625">
              <a:spcBef>
                <a:spcPts val="75"/>
              </a:spcBef>
              <a:tabLst>
                <a:tab pos="3632835" algn="l"/>
              </a:tabLst>
            </a:pPr>
            <a:r>
              <a:rPr lang="en-US" sz="2000" b="1" spc="-8" dirty="0">
                <a:latin typeface="Arial" panose="020B0604020202020204" pitchFamily="34" charset="0"/>
                <a:cs typeface="Arial" panose="020B0604020202020204" pitchFamily="34" charset="0"/>
              </a:rPr>
              <a:t>Sampling design</a:t>
            </a:r>
            <a:r>
              <a:rPr lang="en-US" sz="2000" spc="-8" dirty="0">
                <a:latin typeface="Arial" panose="020B0604020202020204" pitchFamily="34" charset="0"/>
                <a:cs typeface="Arial" panose="020B0604020202020204" pitchFamily="34" charset="0"/>
              </a:rPr>
              <a:t>: the same as single-species occupancy</a:t>
            </a:r>
          </a:p>
          <a:p>
            <a:pPr marL="390525" indent="-342900">
              <a:spcBef>
                <a:spcPts val="75"/>
              </a:spcBef>
              <a:buFontTx/>
              <a:buChar char="-"/>
              <a:tabLst>
                <a:tab pos="3632835" algn="l"/>
              </a:tabLst>
            </a:pPr>
            <a:endParaRPr lang="en-US" sz="2000" spc="-8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90525" indent="-342900">
              <a:spcBef>
                <a:spcPts val="75"/>
              </a:spcBef>
              <a:buFontTx/>
              <a:buChar char="-"/>
              <a:tabLst>
                <a:tab pos="3632835" algn="l"/>
              </a:tabLst>
            </a:pPr>
            <a:r>
              <a:rPr lang="en-US" sz="2000" spc="-8" dirty="0">
                <a:latin typeface="Arial" panose="020B0604020202020204" pitchFamily="34" charset="0"/>
                <a:cs typeface="Arial" panose="020B0604020202020204" pitchFamily="34" charset="0"/>
              </a:rPr>
              <a:t>Collect data on many species at the same time</a:t>
            </a:r>
          </a:p>
          <a:p>
            <a:pPr marL="390525" indent="-342900">
              <a:spcBef>
                <a:spcPts val="75"/>
              </a:spcBef>
              <a:buFontTx/>
              <a:buChar char="-"/>
              <a:tabLst>
                <a:tab pos="3632835" algn="l"/>
              </a:tabLst>
            </a:pPr>
            <a:endParaRPr lang="en-US" sz="2000" spc="-8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90525" indent="-342900">
              <a:spcBef>
                <a:spcPts val="75"/>
              </a:spcBef>
              <a:buFontTx/>
              <a:buChar char="-"/>
              <a:tabLst>
                <a:tab pos="3632835" algn="l"/>
              </a:tabLst>
            </a:pPr>
            <a:r>
              <a:rPr lang="en-US" sz="2000" spc="-8" dirty="0">
                <a:latin typeface="Arial" panose="020B0604020202020204" pitchFamily="34" charset="0"/>
                <a:cs typeface="Arial" panose="020B0604020202020204" pitchFamily="34" charset="0"/>
              </a:rPr>
              <a:t>Different species have:</a:t>
            </a:r>
          </a:p>
          <a:p>
            <a:pPr marL="847725" lvl="1" indent="-342900">
              <a:spcBef>
                <a:spcPts val="75"/>
              </a:spcBef>
              <a:buFontTx/>
              <a:buChar char="-"/>
              <a:tabLst>
                <a:tab pos="3632835" algn="l"/>
              </a:tabLst>
            </a:pPr>
            <a:r>
              <a:rPr lang="en-US" sz="2000" spc="-8" dirty="0">
                <a:latin typeface="Arial" panose="020B0604020202020204" pitchFamily="34" charset="0"/>
                <a:cs typeface="Arial" panose="020B0604020202020204" pitchFamily="34" charset="0"/>
              </a:rPr>
              <a:t>Different detection probabilities</a:t>
            </a:r>
          </a:p>
          <a:p>
            <a:pPr marL="847725" lvl="1" indent="-342900">
              <a:spcBef>
                <a:spcPts val="75"/>
              </a:spcBef>
              <a:buFontTx/>
              <a:buChar char="-"/>
              <a:tabLst>
                <a:tab pos="3632835" algn="l"/>
              </a:tabLst>
            </a:pPr>
            <a:r>
              <a:rPr lang="en-US" sz="2000" spc="-8" dirty="0">
                <a:latin typeface="Arial" panose="020B0604020202020204" pitchFamily="34" charset="0"/>
                <a:cs typeface="Arial" panose="020B0604020202020204" pitchFamily="34" charset="0"/>
              </a:rPr>
              <a:t>Different observation-level variable influencing detection (time of day, time of year, </a:t>
            </a:r>
            <a:r>
              <a:rPr lang="en-US" sz="2000" spc="-8" dirty="0" err="1"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en-US" sz="2000" spc="-8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847725" lvl="1" indent="-342900">
              <a:spcBef>
                <a:spcPts val="75"/>
              </a:spcBef>
              <a:buFontTx/>
              <a:buChar char="-"/>
              <a:tabLst>
                <a:tab pos="3632835" algn="l"/>
              </a:tabLst>
            </a:pPr>
            <a:endParaRPr lang="en-US" sz="2000" spc="-8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47725" lvl="1" indent="-342900">
              <a:spcBef>
                <a:spcPts val="75"/>
              </a:spcBef>
              <a:buFontTx/>
              <a:buChar char="-"/>
              <a:tabLst>
                <a:tab pos="3632835" algn="l"/>
              </a:tabLst>
            </a:pPr>
            <a:r>
              <a:rPr lang="en-US" sz="2000" spc="-8" dirty="0">
                <a:latin typeface="Arial" panose="020B0604020202020204" pitchFamily="34" charset="0"/>
                <a:cs typeface="Arial" panose="020B0604020202020204" pitchFamily="34" charset="0"/>
              </a:rPr>
              <a:t>Different site occupancy probabilities</a:t>
            </a:r>
          </a:p>
          <a:p>
            <a:pPr marL="847725" lvl="1" indent="-342900">
              <a:spcBef>
                <a:spcPts val="75"/>
              </a:spcBef>
              <a:buFontTx/>
              <a:buChar char="-"/>
              <a:tabLst>
                <a:tab pos="3632835" algn="l"/>
              </a:tabLst>
            </a:pPr>
            <a:r>
              <a:rPr lang="en-US" sz="2000" spc="-8" dirty="0">
                <a:latin typeface="Arial" panose="020B0604020202020204" pitchFamily="34" charset="0"/>
                <a:cs typeface="Arial" panose="020B0604020202020204" pitchFamily="34" charset="0"/>
              </a:rPr>
              <a:t>Different site-level variables influencing occupancy (elevation, forest cover </a:t>
            </a:r>
            <a:r>
              <a:rPr lang="en-US" sz="2000" spc="-8" dirty="0" err="1"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en-US" sz="2000" spc="-8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847725" lvl="1" indent="-342900">
              <a:spcBef>
                <a:spcPts val="75"/>
              </a:spcBef>
              <a:buFontTx/>
              <a:buChar char="-"/>
              <a:tabLst>
                <a:tab pos="3632835" algn="l"/>
              </a:tabLst>
            </a:pPr>
            <a:endParaRPr lang="en-US" sz="2000" spc="-8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90525" indent="-342900">
              <a:spcBef>
                <a:spcPts val="75"/>
              </a:spcBef>
              <a:buFontTx/>
              <a:buChar char="-"/>
              <a:tabLst>
                <a:tab pos="3632835" algn="l"/>
              </a:tabLst>
            </a:pPr>
            <a:r>
              <a:rPr lang="en-US" sz="2000" spc="-8" dirty="0">
                <a:latin typeface="Arial" panose="020B0604020202020204" pitchFamily="34" charset="0"/>
                <a:cs typeface="Arial" panose="020B0604020202020204" pitchFamily="34" charset="0"/>
              </a:rPr>
              <a:t>Some species may have </a:t>
            </a:r>
            <a:r>
              <a:rPr lang="en-US" sz="2000" b="1" spc="-8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only a few detections </a:t>
            </a:r>
            <a:r>
              <a:rPr lang="en-US" sz="2000" spc="-8" dirty="0">
                <a:latin typeface="Arial" panose="020B0604020202020204" pitchFamily="34" charset="0"/>
                <a:cs typeface="Arial" panose="020B0604020202020204" pitchFamily="34" charset="0"/>
              </a:rPr>
              <a:t>(traditionally discarded from analysis</a:t>
            </a:r>
          </a:p>
          <a:p>
            <a:pPr marL="390525" indent="-342900">
              <a:spcBef>
                <a:spcPts val="75"/>
              </a:spcBef>
              <a:buFontTx/>
              <a:buChar char="-"/>
              <a:tabLst>
                <a:tab pos="3632835" algn="l"/>
              </a:tabLst>
            </a:pPr>
            <a:r>
              <a:rPr lang="en-US" sz="2000" spc="-8" dirty="0">
                <a:latin typeface="Arial" panose="020B0604020202020204" pitchFamily="34" charset="0"/>
                <a:cs typeface="Arial" panose="020B0604020202020204" pitchFamily="34" charset="0"/>
              </a:rPr>
              <a:t>Some species known to occur in the study area </a:t>
            </a:r>
            <a:r>
              <a:rPr lang="en-US" sz="2000" b="1" spc="-8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DETECTED</a:t>
            </a:r>
            <a:endParaRPr sz="2000" b="1" dirty="0">
              <a:solidFill>
                <a:srgbClr val="FF0000"/>
              </a:solidFill>
              <a:latin typeface="Comic Sans MS" panose="030F0702030302020204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213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7431" y="377107"/>
            <a:ext cx="6935273" cy="528991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>
              <a:spcBef>
                <a:spcPts val="75"/>
              </a:spcBef>
            </a:pPr>
            <a:r>
              <a:rPr lang="en-US" sz="3375" spc="-4" dirty="0"/>
              <a:t>Multi-Species Occupancy Models</a:t>
            </a:r>
            <a:endParaRPr sz="3375" dirty="0"/>
          </a:p>
        </p:txBody>
      </p:sp>
      <p:sp>
        <p:nvSpPr>
          <p:cNvPr id="3" name="object 3"/>
          <p:cNvSpPr txBox="1"/>
          <p:nvPr/>
        </p:nvSpPr>
        <p:spPr>
          <a:xfrm>
            <a:off x="729048" y="1555424"/>
            <a:ext cx="7821827" cy="443390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47625">
              <a:spcBef>
                <a:spcPts val="75"/>
              </a:spcBef>
              <a:tabLst>
                <a:tab pos="3632835" algn="l"/>
              </a:tabLst>
            </a:pPr>
            <a:r>
              <a:rPr lang="en-US" sz="2000" b="1" spc="-8" dirty="0">
                <a:latin typeface="Arial" panose="020B0604020202020204" pitchFamily="34" charset="0"/>
                <a:cs typeface="Arial" panose="020B0604020202020204" pitchFamily="34" charset="0"/>
              </a:rPr>
              <a:t>MSOM’s are occupancy models with 3 levels:</a:t>
            </a:r>
          </a:p>
          <a:p>
            <a:pPr marL="47625">
              <a:spcBef>
                <a:spcPts val="75"/>
              </a:spcBef>
              <a:tabLst>
                <a:tab pos="3632835" algn="l"/>
              </a:tabLst>
            </a:pPr>
            <a:endParaRPr lang="en-US" sz="2000" b="1" spc="-8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7625">
              <a:spcBef>
                <a:spcPts val="75"/>
              </a:spcBef>
              <a:tabLst>
                <a:tab pos="3632835" algn="l"/>
              </a:tabLst>
            </a:pPr>
            <a:r>
              <a:rPr lang="en-US" sz="2000" b="1" spc="-8" dirty="0">
                <a:latin typeface="Arial" panose="020B0604020202020204" pitchFamily="34" charset="0"/>
                <a:cs typeface="Arial" panose="020B0604020202020204" pitchFamily="34" charset="0"/>
              </a:rPr>
              <a:t>1) Metacommunity – </a:t>
            </a:r>
            <a:r>
              <a:rPr lang="en-US" sz="2000" spc="-8" dirty="0">
                <a:latin typeface="Arial" panose="020B0604020202020204" pitchFamily="34" charset="0"/>
                <a:cs typeface="Arial" panose="020B0604020202020204" pitchFamily="34" charset="0"/>
              </a:rPr>
              <a:t>what is the probability that a species is a member of the metacommunity of size N?</a:t>
            </a:r>
          </a:p>
          <a:p>
            <a:pPr marL="47625">
              <a:spcBef>
                <a:spcPts val="75"/>
              </a:spcBef>
              <a:tabLst>
                <a:tab pos="3632835" algn="l"/>
              </a:tabLst>
            </a:pPr>
            <a:endParaRPr lang="en-US" sz="2000" b="1" spc="-8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7625">
              <a:spcBef>
                <a:spcPts val="75"/>
              </a:spcBef>
              <a:tabLst>
                <a:tab pos="3632835" algn="l"/>
              </a:tabLst>
            </a:pPr>
            <a:r>
              <a:rPr lang="en-US" sz="2000" b="1" spc="-8" dirty="0">
                <a:latin typeface="Arial" panose="020B0604020202020204" pitchFamily="34" charset="0"/>
                <a:cs typeface="Arial" panose="020B0604020202020204" pitchFamily="34" charset="0"/>
              </a:rPr>
              <a:t>2) Community – </a:t>
            </a:r>
            <a:r>
              <a:rPr lang="en-US" sz="2000" spc="-8" dirty="0">
                <a:latin typeface="Arial" panose="020B0604020202020204" pitchFamily="34" charset="0"/>
                <a:cs typeface="Arial" panose="020B0604020202020204" pitchFamily="34" charset="0"/>
              </a:rPr>
              <a:t>what is the probability of occurrence of each species at a site given that it is truly present in the metacommunity?</a:t>
            </a:r>
          </a:p>
          <a:p>
            <a:pPr marL="47625">
              <a:spcBef>
                <a:spcPts val="75"/>
              </a:spcBef>
              <a:tabLst>
                <a:tab pos="3632835" algn="l"/>
              </a:tabLst>
            </a:pPr>
            <a:endParaRPr lang="en-US" sz="2000" b="1" spc="-8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7625">
              <a:spcBef>
                <a:spcPts val="75"/>
              </a:spcBef>
              <a:tabLst>
                <a:tab pos="3632835" algn="l"/>
              </a:tabLst>
            </a:pPr>
            <a:r>
              <a:rPr lang="en-US" sz="2000" b="1" spc="-8" dirty="0">
                <a:latin typeface="Arial" panose="020B0604020202020204" pitchFamily="34" charset="0"/>
                <a:cs typeface="Arial" panose="020B0604020202020204" pitchFamily="34" charset="0"/>
              </a:rPr>
              <a:t>3) Species – </a:t>
            </a:r>
            <a:r>
              <a:rPr lang="en-US" sz="2000" spc="-8" dirty="0">
                <a:latin typeface="Arial" panose="020B0604020202020204" pitchFamily="34" charset="0"/>
                <a:cs typeface="Arial" panose="020B0604020202020204" pitchFamily="34" charset="0"/>
              </a:rPr>
              <a:t>what is the probability of detecting a species given that is truly present at a site</a:t>
            </a:r>
          </a:p>
          <a:p>
            <a:pPr marL="47625">
              <a:spcBef>
                <a:spcPts val="75"/>
              </a:spcBef>
              <a:tabLst>
                <a:tab pos="3632835" algn="l"/>
              </a:tabLst>
            </a:pPr>
            <a:endParaRPr lang="en-US" sz="2000" spc="-8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7625">
              <a:spcBef>
                <a:spcPts val="75"/>
              </a:spcBef>
              <a:tabLst>
                <a:tab pos="3632835" algn="l"/>
              </a:tabLst>
            </a:pPr>
            <a:endParaRPr lang="en-US" sz="2000" spc="-8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7625">
              <a:spcBef>
                <a:spcPts val="75"/>
              </a:spcBef>
              <a:tabLst>
                <a:tab pos="3632835" algn="l"/>
              </a:tabLst>
            </a:pPr>
            <a:r>
              <a:rPr lang="en-US" sz="2000" spc="-8" dirty="0">
                <a:latin typeface="Arial" panose="020B0604020202020204" pitchFamily="34" charset="0"/>
                <a:cs typeface="Arial" panose="020B0604020202020204" pitchFamily="34" charset="0"/>
              </a:rPr>
              <a:t>We can use </a:t>
            </a:r>
            <a:r>
              <a:rPr lang="en-US" sz="2000" b="1" spc="-8" dirty="0">
                <a:latin typeface="Arial" panose="020B0604020202020204" pitchFamily="34" charset="0"/>
                <a:cs typeface="Arial" panose="020B0604020202020204" pitchFamily="34" charset="0"/>
              </a:rPr>
              <a:t>site-specific variables </a:t>
            </a:r>
            <a:r>
              <a:rPr lang="en-US" sz="2000" spc="-8" dirty="0">
                <a:latin typeface="Arial" panose="020B0604020202020204" pitchFamily="34" charset="0"/>
                <a:cs typeface="Arial" panose="020B0604020202020204" pitchFamily="34" charset="0"/>
              </a:rPr>
              <a:t>to model (2) and </a:t>
            </a:r>
            <a:r>
              <a:rPr lang="en-US" sz="2000" b="1" spc="-8" dirty="0">
                <a:latin typeface="Arial" panose="020B0604020202020204" pitchFamily="34" charset="0"/>
                <a:cs typeface="Arial" panose="020B0604020202020204" pitchFamily="34" charset="0"/>
              </a:rPr>
              <a:t>detection-specific variables </a:t>
            </a:r>
            <a:r>
              <a:rPr lang="en-US" sz="2000" spc="-8" dirty="0">
                <a:latin typeface="Arial" panose="020B0604020202020204" pitchFamily="34" charset="0"/>
                <a:cs typeface="Arial" panose="020B0604020202020204" pitchFamily="34" charset="0"/>
              </a:rPr>
              <a:t>to model (3)</a:t>
            </a:r>
          </a:p>
        </p:txBody>
      </p:sp>
    </p:spTree>
    <p:extLst>
      <p:ext uri="{BB962C8B-B14F-4D97-AF65-F5344CB8AC3E}">
        <p14:creationId xmlns:p14="http://schemas.microsoft.com/office/powerpoint/2010/main" val="400858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7431" y="377107"/>
            <a:ext cx="6935273" cy="528991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>
              <a:spcBef>
                <a:spcPts val="75"/>
              </a:spcBef>
            </a:pPr>
            <a:r>
              <a:rPr lang="en-US" sz="3375" spc="-4" dirty="0"/>
              <a:t>Multi-Species Occupancy Models</a:t>
            </a:r>
            <a:endParaRPr sz="3375" dirty="0"/>
          </a:p>
        </p:txBody>
      </p:sp>
      <p:sp>
        <p:nvSpPr>
          <p:cNvPr id="3" name="object 3"/>
          <p:cNvSpPr txBox="1"/>
          <p:nvPr/>
        </p:nvSpPr>
        <p:spPr>
          <a:xfrm>
            <a:off x="729048" y="1555424"/>
            <a:ext cx="7821827" cy="347210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47625">
              <a:spcBef>
                <a:spcPts val="75"/>
              </a:spcBef>
              <a:tabLst>
                <a:tab pos="3632835" algn="l"/>
              </a:tabLst>
            </a:pPr>
            <a:r>
              <a:rPr lang="en-US" sz="2000" b="1" spc="-8" dirty="0">
                <a:latin typeface="Arial" panose="020B0604020202020204" pitchFamily="34" charset="0"/>
                <a:cs typeface="Arial" panose="020B0604020202020204" pitchFamily="34" charset="0"/>
              </a:rPr>
              <a:t>MSOM’s are very flexible and can incorporate other ecological knowledge and processes:</a:t>
            </a:r>
          </a:p>
          <a:p>
            <a:pPr marL="47625">
              <a:spcBef>
                <a:spcPts val="75"/>
              </a:spcBef>
              <a:tabLst>
                <a:tab pos="3632835" algn="l"/>
              </a:tabLst>
            </a:pPr>
            <a:endParaRPr lang="en-US" sz="2000" b="1" spc="-8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7625">
              <a:spcBef>
                <a:spcPts val="75"/>
              </a:spcBef>
              <a:tabLst>
                <a:tab pos="3632835" algn="l"/>
              </a:tabLst>
            </a:pPr>
            <a:r>
              <a:rPr lang="en-US" sz="2000" spc="-8" dirty="0">
                <a:latin typeface="Arial" panose="020B0604020202020204" pitchFamily="34" charset="0"/>
                <a:cs typeface="Arial" panose="020B0604020202020204" pitchFamily="34" charset="0"/>
              </a:rPr>
              <a:t>Various levels of complexity can be included</a:t>
            </a:r>
          </a:p>
          <a:p>
            <a:pPr marL="390525" indent="-342900">
              <a:spcBef>
                <a:spcPts val="75"/>
              </a:spcBef>
              <a:buFontTx/>
              <a:buChar char="-"/>
              <a:tabLst>
                <a:tab pos="3632835" algn="l"/>
              </a:tabLst>
            </a:pPr>
            <a:r>
              <a:rPr lang="en-US" sz="2000" b="1" spc="-8" dirty="0">
                <a:latin typeface="Arial" panose="020B0604020202020204" pitchFamily="34" charset="0"/>
                <a:cs typeface="Arial" panose="020B0604020202020204" pitchFamily="34" charset="0"/>
              </a:rPr>
              <a:t>Spatial correlation</a:t>
            </a:r>
            <a:r>
              <a:rPr lang="en-US" sz="2000" spc="-8" dirty="0">
                <a:latin typeface="Arial" panose="020B0604020202020204" pitchFamily="34" charset="0"/>
                <a:cs typeface="Arial" panose="020B0604020202020204" pitchFamily="34" charset="0"/>
              </a:rPr>
              <a:t> – sites closer together have higher species similarity)</a:t>
            </a:r>
          </a:p>
          <a:p>
            <a:pPr marL="390525" indent="-342900">
              <a:spcBef>
                <a:spcPts val="75"/>
              </a:spcBef>
              <a:buFontTx/>
              <a:buChar char="-"/>
              <a:tabLst>
                <a:tab pos="3632835" algn="l"/>
              </a:tabLst>
            </a:pPr>
            <a:r>
              <a:rPr lang="en-US" sz="2000" b="1" spc="-8" dirty="0">
                <a:latin typeface="Arial" panose="020B0604020202020204" pitchFamily="34" charset="0"/>
                <a:cs typeface="Arial" panose="020B0604020202020204" pitchFamily="34" charset="0"/>
              </a:rPr>
              <a:t>Correlation between detection and abundance </a:t>
            </a:r>
            <a:r>
              <a:rPr lang="en-US" sz="2000" spc="-8" dirty="0">
                <a:latin typeface="Arial" panose="020B0604020202020204" pitchFamily="34" charset="0"/>
                <a:cs typeface="Arial" panose="020B0604020202020204" pitchFamily="34" charset="0"/>
              </a:rPr>
              <a:t>– if higher abundance = higher detection </a:t>
            </a:r>
          </a:p>
          <a:p>
            <a:pPr marL="390525" indent="-342900">
              <a:spcBef>
                <a:spcPts val="75"/>
              </a:spcBef>
              <a:buFontTx/>
              <a:buChar char="-"/>
              <a:tabLst>
                <a:tab pos="3632835" algn="l"/>
              </a:tabLst>
            </a:pPr>
            <a:r>
              <a:rPr lang="en-US" sz="2000" b="1" spc="-8" dirty="0">
                <a:latin typeface="Arial" panose="020B0604020202020204" pitchFamily="34" charset="0"/>
                <a:cs typeface="Arial" panose="020B0604020202020204" pitchFamily="34" charset="0"/>
              </a:rPr>
              <a:t>Species-specific or taxonomic group-specific responses </a:t>
            </a:r>
            <a:r>
              <a:rPr lang="en-US" sz="2000" spc="-8" dirty="0">
                <a:latin typeface="Arial" panose="020B0604020202020204" pitchFamily="34" charset="0"/>
                <a:cs typeface="Arial" panose="020B0604020202020204" pitchFamily="34" charset="0"/>
              </a:rPr>
              <a:t>to environment – added as random effects </a:t>
            </a:r>
          </a:p>
          <a:p>
            <a:pPr marL="390525" indent="-342900">
              <a:spcBef>
                <a:spcPts val="75"/>
              </a:spcBef>
              <a:buFontTx/>
              <a:buChar char="-"/>
              <a:tabLst>
                <a:tab pos="3632835" algn="l"/>
              </a:tabLst>
            </a:pPr>
            <a:endParaRPr lang="en-US" sz="2000" spc="-8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1F7D8B-138E-DC55-9CFD-5FB22DC39D1F}"/>
              </a:ext>
            </a:extLst>
          </p:cNvPr>
          <p:cNvSpPr txBox="1"/>
          <p:nvPr/>
        </p:nvSpPr>
        <p:spPr>
          <a:xfrm>
            <a:off x="1139371" y="5464629"/>
            <a:ext cx="576952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IMPLEMENTATION in a Bayesian framework: </a:t>
            </a:r>
          </a:p>
          <a:p>
            <a:pPr marL="285750" indent="-285750">
              <a:buFontTx/>
              <a:buChar char="-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package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spOccupancy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JAGS via program R (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packages ‘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jagsUI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’, ‘R2Jags’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91805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D16A3A8-A129-7DD0-DB21-477169F03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E74094-9993-C3C0-EBE4-D45917B2DA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9299" y="0"/>
            <a:ext cx="5625402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731A707-4879-9CCA-8F83-550D41821D22}"/>
              </a:ext>
            </a:extLst>
          </p:cNvPr>
          <p:cNvSpPr txBox="1"/>
          <p:nvPr/>
        </p:nvSpPr>
        <p:spPr>
          <a:xfrm>
            <a:off x="7200583" y="6547074"/>
            <a:ext cx="19434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Devarajan et al. 2020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4773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ABCAA3F-FBBC-9241-A662-7A2E130CEC78}"/>
              </a:ext>
            </a:extLst>
          </p:cNvPr>
          <p:cNvSpPr txBox="1"/>
          <p:nvPr/>
        </p:nvSpPr>
        <p:spPr>
          <a:xfrm>
            <a:off x="399144" y="194677"/>
            <a:ext cx="8280400" cy="5724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Frequentist and Bayesian Model Comparison</a:t>
            </a:r>
            <a:endParaRPr lang="en-US" b="1" i="0" dirty="0"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0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Bayesian (JAGS)</a:t>
            </a:r>
            <a:b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1) </a:t>
            </a:r>
            <a:r>
              <a:rPr lang="en-US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Based on Bayes’ Rule of Probability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probability of the hypothesis given the data</a:t>
            </a:r>
            <a:b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2) We </a:t>
            </a:r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 priors to inform our parameter estimates 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before analysis.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We use the prior probability distributions and the likelihood of the data to inform our posterior distributions for our parameter estimates.</a:t>
            </a:r>
            <a:b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3) </a:t>
            </a:r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Posterior distributions 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 parameters.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posterior mean is usually taken as the point estimate for the parameter value.</a:t>
            </a:r>
            <a:b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4) </a:t>
            </a:r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Credible intervals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because we have distributions for our parameter estimates, we can make a different inference for credible intervals than confidence intervals.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“We can be 95% certain that the true parameter value lies within this 95% credible interval (degree of belief).”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ABCAA3F-FBBC-9241-A662-7A2E130CEC78}"/>
              </a:ext>
            </a:extLst>
          </p:cNvPr>
          <p:cNvSpPr txBox="1"/>
          <p:nvPr/>
        </p:nvSpPr>
        <p:spPr>
          <a:xfrm>
            <a:off x="399144" y="194677"/>
            <a:ext cx="8280400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Frequentist and Bayesian Model Comparison</a:t>
            </a:r>
            <a:endParaRPr lang="en-US" b="1" i="0" dirty="0"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0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Frequentist (‘unmarked’ package)</a:t>
            </a:r>
          </a:p>
          <a:p>
            <a:pPr algn="l"/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1) </a:t>
            </a:r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probability of the data given the hypothesis</a:t>
            </a:r>
            <a:endParaRPr lang="en-US" b="1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2) </a:t>
            </a:r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Confidence intervals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because the parameters we are trying to estimate our fixed point that exist, we interpret these differently than Bayesian credible intervals.</a:t>
            </a:r>
            <a:b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Definition of the 95% Confidence Interval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“If I take a sample from the population an infinity number of times, then the 95% confidence interval will encompass the true parameter value 95% of the time.”</a:t>
            </a:r>
            <a:b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721736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2MwZTM1NDgyZTEzMGYwNDQyOTIwZWQ0YmNlZDc4ZDA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588</TotalTime>
  <Words>620</Words>
  <Application>Microsoft Office PowerPoint</Application>
  <PresentationFormat>On-screen Show (4:3)</PresentationFormat>
  <Paragraphs>68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Comic Sans MS</vt:lpstr>
      <vt:lpstr>Office Theme</vt:lpstr>
      <vt:lpstr>Multi-Species Occupancy Models</vt:lpstr>
      <vt:lpstr>Multi-Species Occupancy Models</vt:lpstr>
      <vt:lpstr>Multi-Species Occupancy Models</vt:lpstr>
      <vt:lpstr>Multi-Species Occupancy Models</vt:lpstr>
      <vt:lpstr>PowerPoint Presentation</vt:lpstr>
      <vt:lpstr>PowerPoint Presentation</vt:lpstr>
      <vt:lpstr>PowerPoint Presentation</vt:lpstr>
    </vt:vector>
  </TitlesOfParts>
  <Company>University of Victoria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 Baum;dan_popescu@sfu.ca</dc:creator>
  <cp:lastModifiedBy>Viorel Popescu</cp:lastModifiedBy>
  <cp:revision>556</cp:revision>
  <dcterms:created xsi:type="dcterms:W3CDTF">2012-09-18T22:01:00Z</dcterms:created>
  <dcterms:modified xsi:type="dcterms:W3CDTF">2024-04-15T00:45:34Z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A12F139B1F244AD5B126111D9EA09D7B_13</vt:lpwstr>
  </property>
  <property fmtid="{D5CDD505-2E9C-101B-9397-08002B2CF9AE}" pid="3" name="KSOProductBuildVer">
    <vt:lpwstr>2052-12.1.0.16250</vt:lpwstr>
  </property>
</Properties>
</file>