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handoutMasterIdLst>
    <p:handoutMasterId r:id="rId21"/>
  </p:handoutMasterIdLst>
  <p:sldIdLst>
    <p:sldId id="256" r:id="rId2"/>
    <p:sldId id="1041" r:id="rId3"/>
    <p:sldId id="1152" r:id="rId4"/>
    <p:sldId id="851" r:id="rId5"/>
    <p:sldId id="899" r:id="rId6"/>
    <p:sldId id="898" r:id="rId7"/>
    <p:sldId id="1146" r:id="rId8"/>
    <p:sldId id="937" r:id="rId9"/>
    <p:sldId id="990" r:id="rId10"/>
    <p:sldId id="1132" r:id="rId11"/>
    <p:sldId id="974" r:id="rId12"/>
    <p:sldId id="1153" r:id="rId13"/>
    <p:sldId id="1154" r:id="rId14"/>
    <p:sldId id="1155" r:id="rId15"/>
    <p:sldId id="1156" r:id="rId16"/>
    <p:sldId id="1056" r:id="rId17"/>
    <p:sldId id="1163" r:id="rId18"/>
    <p:sldId id="1167" r:id="rId19"/>
  </p:sldIdLst>
  <p:sldSz cx="9144000" cy="6858000" type="screen4x3"/>
  <p:notesSz cx="6858000" cy="9144000"/>
  <p:defaultTextStyle>
    <a:defPPr>
      <a:defRPr lang="en-US"/>
    </a:defPPr>
    <a:lvl1pPr marL="0" algn="l" defTabSz="456895" rtl="0" eaLnBrk="1" latinLnBrk="0" hangingPunct="1">
      <a:defRPr sz="1800" kern="1200">
        <a:solidFill>
          <a:schemeClr val="tx1"/>
        </a:solidFill>
        <a:latin typeface="+mn-lt"/>
        <a:ea typeface="+mn-ea"/>
        <a:cs typeface="+mn-cs"/>
      </a:defRPr>
    </a:lvl1pPr>
    <a:lvl2pPr marL="456895" algn="l" defTabSz="456895" rtl="0" eaLnBrk="1" latinLnBrk="0" hangingPunct="1">
      <a:defRPr sz="1800" kern="1200">
        <a:solidFill>
          <a:schemeClr val="tx1"/>
        </a:solidFill>
        <a:latin typeface="+mn-lt"/>
        <a:ea typeface="+mn-ea"/>
        <a:cs typeface="+mn-cs"/>
      </a:defRPr>
    </a:lvl2pPr>
    <a:lvl3pPr marL="913790" algn="l" defTabSz="456895" rtl="0" eaLnBrk="1" latinLnBrk="0" hangingPunct="1">
      <a:defRPr sz="1800" kern="1200">
        <a:solidFill>
          <a:schemeClr val="tx1"/>
        </a:solidFill>
        <a:latin typeface="+mn-lt"/>
        <a:ea typeface="+mn-ea"/>
        <a:cs typeface="+mn-cs"/>
      </a:defRPr>
    </a:lvl3pPr>
    <a:lvl4pPr marL="1370684" algn="l" defTabSz="456895" rtl="0" eaLnBrk="1" latinLnBrk="0" hangingPunct="1">
      <a:defRPr sz="1800" kern="1200">
        <a:solidFill>
          <a:schemeClr val="tx1"/>
        </a:solidFill>
        <a:latin typeface="+mn-lt"/>
        <a:ea typeface="+mn-ea"/>
        <a:cs typeface="+mn-cs"/>
      </a:defRPr>
    </a:lvl4pPr>
    <a:lvl5pPr marL="1827579" algn="l" defTabSz="456895" rtl="0" eaLnBrk="1" latinLnBrk="0" hangingPunct="1">
      <a:defRPr sz="1800" kern="1200">
        <a:solidFill>
          <a:schemeClr val="tx1"/>
        </a:solidFill>
        <a:latin typeface="+mn-lt"/>
        <a:ea typeface="+mn-ea"/>
        <a:cs typeface="+mn-cs"/>
      </a:defRPr>
    </a:lvl5pPr>
    <a:lvl6pPr marL="2284475" algn="l" defTabSz="456895" rtl="0" eaLnBrk="1" latinLnBrk="0" hangingPunct="1">
      <a:defRPr sz="1800" kern="1200">
        <a:solidFill>
          <a:schemeClr val="tx1"/>
        </a:solidFill>
        <a:latin typeface="+mn-lt"/>
        <a:ea typeface="+mn-ea"/>
        <a:cs typeface="+mn-cs"/>
      </a:defRPr>
    </a:lvl6pPr>
    <a:lvl7pPr marL="2741369" algn="l" defTabSz="456895" rtl="0" eaLnBrk="1" latinLnBrk="0" hangingPunct="1">
      <a:defRPr sz="1800" kern="1200">
        <a:solidFill>
          <a:schemeClr val="tx1"/>
        </a:solidFill>
        <a:latin typeface="+mn-lt"/>
        <a:ea typeface="+mn-ea"/>
        <a:cs typeface="+mn-cs"/>
      </a:defRPr>
    </a:lvl7pPr>
    <a:lvl8pPr marL="3198263" algn="l" defTabSz="456895" rtl="0" eaLnBrk="1" latinLnBrk="0" hangingPunct="1">
      <a:defRPr sz="1800" kern="1200">
        <a:solidFill>
          <a:schemeClr val="tx1"/>
        </a:solidFill>
        <a:latin typeface="+mn-lt"/>
        <a:ea typeface="+mn-ea"/>
        <a:cs typeface="+mn-cs"/>
      </a:defRPr>
    </a:lvl8pPr>
    <a:lvl9pPr marL="3655157" algn="l" defTabSz="456895"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Nick Dulvy" initials="ND" lastIdx="12" clrIdx="0"/>
</p:cmAuthorLst>
</file>

<file path=ppt/presProps.xml><?xml version="1.0" encoding="utf-8"?>
<p:presentationPr xmlns:a="http://schemas.openxmlformats.org/drawingml/2006/main" xmlns:r="http://schemas.openxmlformats.org/officeDocument/2006/relationships" xmlns:p="http://schemas.openxmlformats.org/presentationml/2006/main">
  <p:prnPr prnWhat="handouts3" frameSlides="1"/>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CC00FF"/>
    <a:srgbClr val="E2EC64"/>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2915E1-5A56-4062-973B-D7ED5DA0737E}" v="5" dt="2024-04-10T08:17:36.8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816" autoAdjust="0"/>
    <p:restoredTop sz="68274" autoAdjust="0"/>
  </p:normalViewPr>
  <p:slideViewPr>
    <p:cSldViewPr snapToGrid="0" snapToObjects="1">
      <p:cViewPr varScale="1">
        <p:scale>
          <a:sx n="60" d="100"/>
          <a:sy n="60" d="100"/>
        </p:scale>
        <p:origin x="1767" y="36"/>
      </p:cViewPr>
      <p:guideLst>
        <p:guide orient="horz"/>
        <p:guide pos="2880"/>
      </p:guideLst>
    </p:cSldViewPr>
  </p:slideViewPr>
  <p:notesTextViewPr>
    <p:cViewPr>
      <p:scale>
        <a:sx n="125" d="100"/>
        <a:sy n="125" d="100"/>
      </p:scale>
      <p:origin x="0" y="0"/>
    </p:cViewPr>
  </p:notesTextViewPr>
  <p:sorterViewPr>
    <p:cViewPr varScale="1">
      <p:scale>
        <a:sx n="1" d="1"/>
        <a:sy n="1" d="1"/>
      </p:scale>
      <p:origin x="0" y="-9588"/>
    </p:cViewPr>
  </p:sorterViewPr>
  <p:notesViewPr>
    <p:cSldViewPr snapToGrid="0" snapToObjects="1">
      <p:cViewPr varScale="1">
        <p:scale>
          <a:sx n="118" d="100"/>
          <a:sy n="118" d="100"/>
        </p:scale>
        <p:origin x="-5048" y="-10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orel Popescu" userId="9f284cf50f70590d" providerId="LiveId" clId="{9C2915E1-5A56-4062-973B-D7ED5DA0737E}"/>
    <pc:docChg chg="custSel addSld delSld modSld sldOrd">
      <pc:chgData name="Viorel Popescu" userId="9f284cf50f70590d" providerId="LiveId" clId="{9C2915E1-5A56-4062-973B-D7ED5DA0737E}" dt="2024-04-10T08:17:36.865" v="42" actId="27636"/>
      <pc:docMkLst>
        <pc:docMk/>
      </pc:docMkLst>
      <pc:sldChg chg="addSp delSp modSp add mod modNotesTx">
        <pc:chgData name="Viorel Popescu" userId="9f284cf50f70590d" providerId="LiveId" clId="{9C2915E1-5A56-4062-973B-D7ED5DA0737E}" dt="2024-04-10T08:12:44.653" v="34" actId="20577"/>
        <pc:sldMkLst>
          <pc:docMk/>
          <pc:sldMk cId="1809492685" sldId="851"/>
        </pc:sldMkLst>
        <pc:spChg chg="mod">
          <ac:chgData name="Viorel Popescu" userId="9f284cf50f70590d" providerId="LiveId" clId="{9C2915E1-5A56-4062-973B-D7ED5DA0737E}" dt="2024-04-10T08:12:22.872" v="31" actId="6549"/>
          <ac:spMkLst>
            <pc:docMk/>
            <pc:sldMk cId="1809492685" sldId="851"/>
            <ac:spMk id="2" creationId="{00000000-0000-0000-0000-000000000000}"/>
          </ac:spMkLst>
        </pc:spChg>
        <pc:spChg chg="add del mod">
          <ac:chgData name="Viorel Popescu" userId="9f284cf50f70590d" providerId="LiveId" clId="{9C2915E1-5A56-4062-973B-D7ED5DA0737E}" dt="2024-04-10T08:11:52.009" v="8" actId="478"/>
          <ac:spMkLst>
            <pc:docMk/>
            <pc:sldMk cId="1809492685" sldId="851"/>
            <ac:spMk id="6" creationId="{A70361BD-8D38-579C-D624-7FC2D7148C29}"/>
          </ac:spMkLst>
        </pc:spChg>
        <pc:spChg chg="add mod">
          <ac:chgData name="Viorel Popescu" userId="9f284cf50f70590d" providerId="LiveId" clId="{9C2915E1-5A56-4062-973B-D7ED5DA0737E}" dt="2024-04-10T08:11:57.475" v="24" actId="1035"/>
          <ac:spMkLst>
            <pc:docMk/>
            <pc:sldMk cId="1809492685" sldId="851"/>
            <ac:spMk id="7" creationId="{2169D6D2-43B3-46A6-9141-4D837DDD8B82}"/>
          </ac:spMkLst>
        </pc:spChg>
        <pc:spChg chg="del">
          <ac:chgData name="Viorel Popescu" userId="9f284cf50f70590d" providerId="LiveId" clId="{9C2915E1-5A56-4062-973B-D7ED5DA0737E}" dt="2024-04-10T08:11:48.925" v="7" actId="478"/>
          <ac:spMkLst>
            <pc:docMk/>
            <pc:sldMk cId="1809492685" sldId="851"/>
            <ac:spMk id="12" creationId="{00000000-0000-0000-0000-000000000000}"/>
          </ac:spMkLst>
        </pc:spChg>
      </pc:sldChg>
      <pc:sldChg chg="addSp delSp modSp add mod">
        <pc:chgData name="Viorel Popescu" userId="9f284cf50f70590d" providerId="LiveId" clId="{9C2915E1-5A56-4062-973B-D7ED5DA0737E}" dt="2024-04-10T08:12:32.795" v="33" actId="6549"/>
        <pc:sldMkLst>
          <pc:docMk/>
          <pc:sldMk cId="4245623803" sldId="898"/>
        </pc:sldMkLst>
        <pc:spChg chg="mod">
          <ac:chgData name="Viorel Popescu" userId="9f284cf50f70590d" providerId="LiveId" clId="{9C2915E1-5A56-4062-973B-D7ED5DA0737E}" dt="2024-04-10T08:12:32.795" v="33" actId="6549"/>
          <ac:spMkLst>
            <pc:docMk/>
            <pc:sldMk cId="4245623803" sldId="898"/>
            <ac:spMk id="2" creationId="{00000000-0000-0000-0000-000000000000}"/>
          </ac:spMkLst>
        </pc:spChg>
        <pc:spChg chg="add del mod">
          <ac:chgData name="Viorel Popescu" userId="9f284cf50f70590d" providerId="LiveId" clId="{9C2915E1-5A56-4062-973B-D7ED5DA0737E}" dt="2024-04-10T08:12:15.588" v="29" actId="478"/>
          <ac:spMkLst>
            <pc:docMk/>
            <pc:sldMk cId="4245623803" sldId="898"/>
            <ac:spMk id="7" creationId="{77AF6126-ABC8-27CB-FA89-E9DEE547ADB7}"/>
          </ac:spMkLst>
        </pc:spChg>
        <pc:spChg chg="add mod">
          <ac:chgData name="Viorel Popescu" userId="9f284cf50f70590d" providerId="LiveId" clId="{9C2915E1-5A56-4062-973B-D7ED5DA0737E}" dt="2024-04-10T08:12:16.008" v="30"/>
          <ac:spMkLst>
            <pc:docMk/>
            <pc:sldMk cId="4245623803" sldId="898"/>
            <ac:spMk id="8" creationId="{91C771E3-457C-5300-AFE2-4E08901D747E}"/>
          </ac:spMkLst>
        </pc:spChg>
        <pc:spChg chg="del">
          <ac:chgData name="Viorel Popescu" userId="9f284cf50f70590d" providerId="LiveId" clId="{9C2915E1-5A56-4062-973B-D7ED5DA0737E}" dt="2024-04-10T08:12:12.335" v="28" actId="478"/>
          <ac:spMkLst>
            <pc:docMk/>
            <pc:sldMk cId="4245623803" sldId="898"/>
            <ac:spMk id="12" creationId="{00000000-0000-0000-0000-000000000000}"/>
          </ac:spMkLst>
        </pc:spChg>
      </pc:sldChg>
      <pc:sldChg chg="addSp delSp modSp add mod">
        <pc:chgData name="Viorel Popescu" userId="9f284cf50f70590d" providerId="LiveId" clId="{9C2915E1-5A56-4062-973B-D7ED5DA0737E}" dt="2024-04-10T08:12:28.396" v="32" actId="6549"/>
        <pc:sldMkLst>
          <pc:docMk/>
          <pc:sldMk cId="3123672260" sldId="899"/>
        </pc:sldMkLst>
        <pc:spChg chg="mod">
          <ac:chgData name="Viorel Popescu" userId="9f284cf50f70590d" providerId="LiveId" clId="{9C2915E1-5A56-4062-973B-D7ED5DA0737E}" dt="2024-04-10T08:12:28.396" v="32" actId="6549"/>
          <ac:spMkLst>
            <pc:docMk/>
            <pc:sldMk cId="3123672260" sldId="899"/>
            <ac:spMk id="2" creationId="{00000000-0000-0000-0000-000000000000}"/>
          </ac:spMkLst>
        </pc:spChg>
        <pc:spChg chg="add del mod">
          <ac:chgData name="Viorel Popescu" userId="9f284cf50f70590d" providerId="LiveId" clId="{9C2915E1-5A56-4062-973B-D7ED5DA0737E}" dt="2024-04-10T08:12:08.357" v="26" actId="478"/>
          <ac:spMkLst>
            <pc:docMk/>
            <pc:sldMk cId="3123672260" sldId="899"/>
            <ac:spMk id="6" creationId="{10537F45-7101-3C6F-2111-514D1453A719}"/>
          </ac:spMkLst>
        </pc:spChg>
        <pc:spChg chg="add mod">
          <ac:chgData name="Viorel Popescu" userId="9f284cf50f70590d" providerId="LiveId" clId="{9C2915E1-5A56-4062-973B-D7ED5DA0737E}" dt="2024-04-10T08:12:08.660" v="27"/>
          <ac:spMkLst>
            <pc:docMk/>
            <pc:sldMk cId="3123672260" sldId="899"/>
            <ac:spMk id="7" creationId="{F468CD2B-AB3F-519C-FEC3-8781A38DEB9A}"/>
          </ac:spMkLst>
        </pc:spChg>
        <pc:spChg chg="del">
          <ac:chgData name="Viorel Popescu" userId="9f284cf50f70590d" providerId="LiveId" clId="{9C2915E1-5A56-4062-973B-D7ED5DA0737E}" dt="2024-04-10T08:12:06.097" v="25" actId="478"/>
          <ac:spMkLst>
            <pc:docMk/>
            <pc:sldMk cId="3123672260" sldId="899"/>
            <ac:spMk id="12" creationId="{00000000-0000-0000-0000-000000000000}"/>
          </ac:spMkLst>
        </pc:spChg>
      </pc:sldChg>
      <pc:sldChg chg="modSp mod">
        <pc:chgData name="Viorel Popescu" userId="9f284cf50f70590d" providerId="LiveId" clId="{9C2915E1-5A56-4062-973B-D7ED5DA0737E}" dt="2024-04-10T08:17:17.925" v="40" actId="113"/>
        <pc:sldMkLst>
          <pc:docMk/>
          <pc:sldMk cId="2029643108" sldId="1041"/>
        </pc:sldMkLst>
        <pc:spChg chg="mod">
          <ac:chgData name="Viorel Popescu" userId="9f284cf50f70590d" providerId="LiveId" clId="{9C2915E1-5A56-4062-973B-D7ED5DA0737E}" dt="2024-04-10T08:17:17.925" v="40" actId="113"/>
          <ac:spMkLst>
            <pc:docMk/>
            <pc:sldMk cId="2029643108" sldId="1041"/>
            <ac:spMk id="89093" creationId="{00000000-0000-0000-0000-000000000000}"/>
          </ac:spMkLst>
        </pc:spChg>
      </pc:sldChg>
      <pc:sldChg chg="modSp del mod">
        <pc:chgData name="Viorel Popescu" userId="9f284cf50f70590d" providerId="LiveId" clId="{9C2915E1-5A56-4062-973B-D7ED5DA0737E}" dt="2024-04-10T08:16:42.112" v="36" actId="47"/>
        <pc:sldMkLst>
          <pc:docMk/>
          <pc:sldMk cId="2118695638" sldId="1042"/>
        </pc:sldMkLst>
        <pc:spChg chg="mod">
          <ac:chgData name="Viorel Popescu" userId="9f284cf50f70590d" providerId="LiveId" clId="{9C2915E1-5A56-4062-973B-D7ED5DA0737E}" dt="2024-04-10T08:16:30.709" v="35" actId="6549"/>
          <ac:spMkLst>
            <pc:docMk/>
            <pc:sldMk cId="2118695638" sldId="1042"/>
            <ac:spMk id="125957" creationId="{00000000-0000-0000-0000-000000000000}"/>
          </ac:spMkLst>
        </pc:spChg>
      </pc:sldChg>
      <pc:sldChg chg="del">
        <pc:chgData name="Viorel Popescu" userId="9f284cf50f70590d" providerId="LiveId" clId="{9C2915E1-5A56-4062-973B-D7ED5DA0737E}" dt="2024-04-10T08:08:18.337" v="1" actId="47"/>
        <pc:sldMkLst>
          <pc:docMk/>
          <pc:sldMk cId="194618434" sldId="1043"/>
        </pc:sldMkLst>
      </pc:sldChg>
      <pc:sldChg chg="del">
        <pc:chgData name="Viorel Popescu" userId="9f284cf50f70590d" providerId="LiveId" clId="{9C2915E1-5A56-4062-973B-D7ED5DA0737E}" dt="2024-04-10T08:08:04.525" v="0" actId="47"/>
        <pc:sldMkLst>
          <pc:docMk/>
          <pc:sldMk cId="2055965966" sldId="1044"/>
        </pc:sldMkLst>
      </pc:sldChg>
      <pc:sldChg chg="del">
        <pc:chgData name="Viorel Popescu" userId="9f284cf50f70590d" providerId="LiveId" clId="{9C2915E1-5A56-4062-973B-D7ED5DA0737E}" dt="2024-04-10T08:08:04.525" v="0" actId="47"/>
        <pc:sldMkLst>
          <pc:docMk/>
          <pc:sldMk cId="3367492530" sldId="1045"/>
        </pc:sldMkLst>
      </pc:sldChg>
      <pc:sldChg chg="del">
        <pc:chgData name="Viorel Popescu" userId="9f284cf50f70590d" providerId="LiveId" clId="{9C2915E1-5A56-4062-973B-D7ED5DA0737E}" dt="2024-04-10T08:08:18.337" v="1" actId="47"/>
        <pc:sldMkLst>
          <pc:docMk/>
          <pc:sldMk cId="4054976976" sldId="1046"/>
        </pc:sldMkLst>
      </pc:sldChg>
      <pc:sldChg chg="del">
        <pc:chgData name="Viorel Popescu" userId="9f284cf50f70590d" providerId="LiveId" clId="{9C2915E1-5A56-4062-973B-D7ED5DA0737E}" dt="2024-04-10T08:08:18.337" v="1" actId="47"/>
        <pc:sldMkLst>
          <pc:docMk/>
          <pc:sldMk cId="3851096160" sldId="1047"/>
        </pc:sldMkLst>
      </pc:sldChg>
      <pc:sldChg chg="del">
        <pc:chgData name="Viorel Popescu" userId="9f284cf50f70590d" providerId="LiveId" clId="{9C2915E1-5A56-4062-973B-D7ED5DA0737E}" dt="2024-04-10T08:08:04.525" v="0" actId="47"/>
        <pc:sldMkLst>
          <pc:docMk/>
          <pc:sldMk cId="509104837" sldId="1048"/>
        </pc:sldMkLst>
      </pc:sldChg>
      <pc:sldChg chg="del">
        <pc:chgData name="Viorel Popescu" userId="9f284cf50f70590d" providerId="LiveId" clId="{9C2915E1-5A56-4062-973B-D7ED5DA0737E}" dt="2024-04-10T08:08:04.525" v="0" actId="47"/>
        <pc:sldMkLst>
          <pc:docMk/>
          <pc:sldMk cId="2592268904" sldId="1049"/>
        </pc:sldMkLst>
      </pc:sldChg>
      <pc:sldChg chg="del">
        <pc:chgData name="Viorel Popescu" userId="9f284cf50f70590d" providerId="LiveId" clId="{9C2915E1-5A56-4062-973B-D7ED5DA0737E}" dt="2024-04-10T08:08:18.337" v="1" actId="47"/>
        <pc:sldMkLst>
          <pc:docMk/>
          <pc:sldMk cId="3353179820" sldId="1050"/>
        </pc:sldMkLst>
      </pc:sldChg>
      <pc:sldChg chg="del">
        <pc:chgData name="Viorel Popescu" userId="9f284cf50f70590d" providerId="LiveId" clId="{9C2915E1-5A56-4062-973B-D7ED5DA0737E}" dt="2024-04-10T08:08:18.337" v="1" actId="47"/>
        <pc:sldMkLst>
          <pc:docMk/>
          <pc:sldMk cId="775199724" sldId="1051"/>
        </pc:sldMkLst>
      </pc:sldChg>
      <pc:sldChg chg="del">
        <pc:chgData name="Viorel Popescu" userId="9f284cf50f70590d" providerId="LiveId" clId="{9C2915E1-5A56-4062-973B-D7ED5DA0737E}" dt="2024-04-10T08:08:18.337" v="1" actId="47"/>
        <pc:sldMkLst>
          <pc:docMk/>
          <pc:sldMk cId="1350349063" sldId="1052"/>
        </pc:sldMkLst>
      </pc:sldChg>
      <pc:sldChg chg="del">
        <pc:chgData name="Viorel Popescu" userId="9f284cf50f70590d" providerId="LiveId" clId="{9C2915E1-5A56-4062-973B-D7ED5DA0737E}" dt="2024-04-10T08:08:04.525" v="0" actId="47"/>
        <pc:sldMkLst>
          <pc:docMk/>
          <pc:sldMk cId="3667517845" sldId="1053"/>
        </pc:sldMkLst>
      </pc:sldChg>
      <pc:sldChg chg="del">
        <pc:chgData name="Viorel Popescu" userId="9f284cf50f70590d" providerId="LiveId" clId="{9C2915E1-5A56-4062-973B-D7ED5DA0737E}" dt="2024-04-10T08:08:04.525" v="0" actId="47"/>
        <pc:sldMkLst>
          <pc:docMk/>
          <pc:sldMk cId="767017025" sldId="1081"/>
        </pc:sldMkLst>
      </pc:sldChg>
      <pc:sldChg chg="del">
        <pc:chgData name="Viorel Popescu" userId="9f284cf50f70590d" providerId="LiveId" clId="{9C2915E1-5A56-4062-973B-D7ED5DA0737E}" dt="2024-04-10T08:08:04.525" v="0" actId="47"/>
        <pc:sldMkLst>
          <pc:docMk/>
          <pc:sldMk cId="1145170304" sldId="1082"/>
        </pc:sldMkLst>
      </pc:sldChg>
      <pc:sldChg chg="del">
        <pc:chgData name="Viorel Popescu" userId="9f284cf50f70590d" providerId="LiveId" clId="{9C2915E1-5A56-4062-973B-D7ED5DA0737E}" dt="2024-04-10T08:08:04.525" v="0" actId="47"/>
        <pc:sldMkLst>
          <pc:docMk/>
          <pc:sldMk cId="2811150327" sldId="1083"/>
        </pc:sldMkLst>
      </pc:sldChg>
      <pc:sldChg chg="del">
        <pc:chgData name="Viorel Popescu" userId="9f284cf50f70590d" providerId="LiveId" clId="{9C2915E1-5A56-4062-973B-D7ED5DA0737E}" dt="2024-04-10T08:08:04.525" v="0" actId="47"/>
        <pc:sldMkLst>
          <pc:docMk/>
          <pc:sldMk cId="560561734" sldId="1084"/>
        </pc:sldMkLst>
      </pc:sldChg>
      <pc:sldChg chg="del">
        <pc:chgData name="Viorel Popescu" userId="9f284cf50f70590d" providerId="LiveId" clId="{9C2915E1-5A56-4062-973B-D7ED5DA0737E}" dt="2024-04-10T08:08:04.525" v="0" actId="47"/>
        <pc:sldMkLst>
          <pc:docMk/>
          <pc:sldMk cId="2096820401" sldId="1085"/>
        </pc:sldMkLst>
      </pc:sldChg>
      <pc:sldChg chg="del">
        <pc:chgData name="Viorel Popescu" userId="9f284cf50f70590d" providerId="LiveId" clId="{9C2915E1-5A56-4062-973B-D7ED5DA0737E}" dt="2024-04-10T08:08:18.337" v="1" actId="47"/>
        <pc:sldMkLst>
          <pc:docMk/>
          <pc:sldMk cId="2652899224" sldId="1142"/>
        </pc:sldMkLst>
      </pc:sldChg>
      <pc:sldChg chg="del">
        <pc:chgData name="Viorel Popescu" userId="9f284cf50f70590d" providerId="LiveId" clId="{9C2915E1-5A56-4062-973B-D7ED5DA0737E}" dt="2024-04-10T08:08:18.337" v="1" actId="47"/>
        <pc:sldMkLst>
          <pc:docMk/>
          <pc:sldMk cId="4111346348" sldId="1143"/>
        </pc:sldMkLst>
      </pc:sldChg>
      <pc:sldChg chg="del">
        <pc:chgData name="Viorel Popescu" userId="9f284cf50f70590d" providerId="LiveId" clId="{9C2915E1-5A56-4062-973B-D7ED5DA0737E}" dt="2024-04-10T08:08:18.337" v="1" actId="47"/>
        <pc:sldMkLst>
          <pc:docMk/>
          <pc:sldMk cId="1562615930" sldId="1144"/>
        </pc:sldMkLst>
      </pc:sldChg>
      <pc:sldChg chg="del">
        <pc:chgData name="Viorel Popescu" userId="9f284cf50f70590d" providerId="LiveId" clId="{9C2915E1-5A56-4062-973B-D7ED5DA0737E}" dt="2024-04-10T08:08:18.337" v="1" actId="47"/>
        <pc:sldMkLst>
          <pc:docMk/>
          <pc:sldMk cId="1502146200" sldId="1145"/>
        </pc:sldMkLst>
      </pc:sldChg>
      <pc:sldChg chg="modSp mod modAnim">
        <pc:chgData name="Viorel Popescu" userId="9f284cf50f70590d" providerId="LiveId" clId="{9C2915E1-5A56-4062-973B-D7ED5DA0737E}" dt="2024-04-10T08:17:36.865" v="42" actId="27636"/>
        <pc:sldMkLst>
          <pc:docMk/>
          <pc:sldMk cId="2491477537" sldId="1152"/>
        </pc:sldMkLst>
        <pc:spChg chg="mod">
          <ac:chgData name="Viorel Popescu" userId="9f284cf50f70590d" providerId="LiveId" clId="{9C2915E1-5A56-4062-973B-D7ED5DA0737E}" dt="2024-04-10T08:17:36.865" v="42" actId="27636"/>
          <ac:spMkLst>
            <pc:docMk/>
            <pc:sldMk cId="2491477537" sldId="1152"/>
            <ac:spMk id="8195" creationId="{00000000-0000-0000-0000-000000000000}"/>
          </ac:spMkLst>
        </pc:spChg>
      </pc:sldChg>
      <pc:sldChg chg="del">
        <pc:chgData name="Viorel Popescu" userId="9f284cf50f70590d" providerId="LiveId" clId="{9C2915E1-5A56-4062-973B-D7ED5DA0737E}" dt="2024-04-10T08:08:04.525" v="0" actId="47"/>
        <pc:sldMkLst>
          <pc:docMk/>
          <pc:sldMk cId="3998605605" sldId="1157"/>
        </pc:sldMkLst>
      </pc:sldChg>
      <pc:sldChg chg="del">
        <pc:chgData name="Viorel Popescu" userId="9f284cf50f70590d" providerId="LiveId" clId="{9C2915E1-5A56-4062-973B-D7ED5DA0737E}" dt="2024-04-10T08:08:04.525" v="0" actId="47"/>
        <pc:sldMkLst>
          <pc:docMk/>
          <pc:sldMk cId="3778949545" sldId="1159"/>
        </pc:sldMkLst>
      </pc:sldChg>
      <pc:sldChg chg="del">
        <pc:chgData name="Viorel Popescu" userId="9f284cf50f70590d" providerId="LiveId" clId="{9C2915E1-5A56-4062-973B-D7ED5DA0737E}" dt="2024-04-10T08:08:04.525" v="0" actId="47"/>
        <pc:sldMkLst>
          <pc:docMk/>
          <pc:sldMk cId="3426092151" sldId="1160"/>
        </pc:sldMkLst>
      </pc:sldChg>
      <pc:sldChg chg="del">
        <pc:chgData name="Viorel Popescu" userId="9f284cf50f70590d" providerId="LiveId" clId="{9C2915E1-5A56-4062-973B-D7ED5DA0737E}" dt="2024-04-10T08:08:04.525" v="0" actId="47"/>
        <pc:sldMkLst>
          <pc:docMk/>
          <pc:sldMk cId="1945804053" sldId="1161"/>
        </pc:sldMkLst>
      </pc:sldChg>
      <pc:sldChg chg="del">
        <pc:chgData name="Viorel Popescu" userId="9f284cf50f70590d" providerId="LiveId" clId="{9C2915E1-5A56-4062-973B-D7ED5DA0737E}" dt="2024-04-10T08:08:04.525" v="0" actId="47"/>
        <pc:sldMkLst>
          <pc:docMk/>
          <pc:sldMk cId="1017672128" sldId="1162"/>
        </pc:sldMkLst>
      </pc:sldChg>
      <pc:sldChg chg="ord">
        <pc:chgData name="Viorel Popescu" userId="9f284cf50f70590d" providerId="LiveId" clId="{9C2915E1-5A56-4062-973B-D7ED5DA0737E}" dt="2024-04-10T08:09:37.309" v="5"/>
        <pc:sldMkLst>
          <pc:docMk/>
          <pc:sldMk cId="3922426166" sldId="1163"/>
        </pc:sldMkLst>
      </pc:sldChg>
      <pc:sldChg chg="del">
        <pc:chgData name="Viorel Popescu" userId="9f284cf50f70590d" providerId="LiveId" clId="{9C2915E1-5A56-4062-973B-D7ED5DA0737E}" dt="2024-04-10T08:08:23.819" v="2" actId="47"/>
        <pc:sldMkLst>
          <pc:docMk/>
          <pc:sldMk cId="2956724944" sldId="1165"/>
        </pc:sldMkLst>
      </pc:sldChg>
      <pc:sldChg chg="del">
        <pc:chgData name="Viorel Popescu" userId="9f284cf50f70590d" providerId="LiveId" clId="{9C2915E1-5A56-4062-973B-D7ED5DA0737E}" dt="2024-04-10T08:08:27.677" v="3" actId="47"/>
        <pc:sldMkLst>
          <pc:docMk/>
          <pc:sldMk cId="1978772288" sldId="1166"/>
        </pc:sldMkLst>
      </pc:sldChg>
      <pc:sldChg chg="ord">
        <pc:chgData name="Viorel Popescu" userId="9f284cf50f70590d" providerId="LiveId" clId="{9C2915E1-5A56-4062-973B-D7ED5DA0737E}" dt="2024-04-10T08:09:37.309" v="5"/>
        <pc:sldMkLst>
          <pc:docMk/>
          <pc:sldMk cId="1285612193" sldId="1167"/>
        </pc:sldMkLst>
      </pc:sldChg>
      <pc:sldChg chg="del">
        <pc:chgData name="Viorel Popescu" userId="9f284cf50f70590d" providerId="LiveId" clId="{9C2915E1-5A56-4062-973B-D7ED5DA0737E}" dt="2024-04-10T08:08:23.819" v="2" actId="47"/>
        <pc:sldMkLst>
          <pc:docMk/>
          <pc:sldMk cId="3888800312" sldId="116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F32BA1C-DB3A-774D-BF63-C74147DF77EA}" type="datetimeFigureOut">
              <a:rPr lang="en-US" smtClean="0"/>
              <a:t>4/10/2024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FE6B3A4-733A-9E48-9D0C-CC9BA8AFA5AB}" type="slidenum">
              <a:rPr lang="en-US" smtClean="0"/>
              <a:t>‹#›</a:t>
            </a:fld>
            <a:endParaRPr lang="en-US"/>
          </a:p>
        </p:txBody>
      </p:sp>
    </p:spTree>
    <p:extLst>
      <p:ext uri="{BB962C8B-B14F-4D97-AF65-F5344CB8AC3E}">
        <p14:creationId xmlns:p14="http://schemas.microsoft.com/office/powerpoint/2010/main" val="238873035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60A4FFD-2244-BD43-ADCC-55C407AA6B4E}" type="datetimeFigureOut">
              <a:rPr lang="en-US" smtClean="0"/>
              <a:t>4/10/2024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C8DFA54-D39D-1D48-8493-93DD07969464}" type="slidenum">
              <a:rPr lang="en-US" smtClean="0"/>
              <a:t>‹#›</a:t>
            </a:fld>
            <a:endParaRPr lang="en-US"/>
          </a:p>
        </p:txBody>
      </p:sp>
    </p:spTree>
    <p:extLst>
      <p:ext uri="{BB962C8B-B14F-4D97-AF65-F5344CB8AC3E}">
        <p14:creationId xmlns:p14="http://schemas.microsoft.com/office/powerpoint/2010/main" val="1667427288"/>
      </p:ext>
    </p:extLst>
  </p:cSld>
  <p:clrMap bg1="lt1" tx1="dk1" bg2="lt2" tx2="dk2" accent1="accent1" accent2="accent2" accent3="accent3" accent4="accent4" accent5="accent5" accent6="accent6" hlink="hlink" folHlink="folHlink"/>
  <p:hf hdr="0" ftr="0" dt="0"/>
  <p:notesStyle>
    <a:lvl1pPr marL="0" algn="l" defTabSz="456895" rtl="0" eaLnBrk="1" latinLnBrk="0" hangingPunct="1">
      <a:defRPr sz="1200" kern="1200">
        <a:solidFill>
          <a:schemeClr val="tx1"/>
        </a:solidFill>
        <a:latin typeface="+mn-lt"/>
        <a:ea typeface="+mn-ea"/>
        <a:cs typeface="+mn-cs"/>
      </a:defRPr>
    </a:lvl1pPr>
    <a:lvl2pPr marL="456895" algn="l" defTabSz="456895" rtl="0" eaLnBrk="1" latinLnBrk="0" hangingPunct="1">
      <a:defRPr sz="1200" kern="1200">
        <a:solidFill>
          <a:schemeClr val="tx1"/>
        </a:solidFill>
        <a:latin typeface="+mn-lt"/>
        <a:ea typeface="+mn-ea"/>
        <a:cs typeface="+mn-cs"/>
      </a:defRPr>
    </a:lvl2pPr>
    <a:lvl3pPr marL="913790" algn="l" defTabSz="456895" rtl="0" eaLnBrk="1" latinLnBrk="0" hangingPunct="1">
      <a:defRPr sz="1200" kern="1200">
        <a:solidFill>
          <a:schemeClr val="tx1"/>
        </a:solidFill>
        <a:latin typeface="+mn-lt"/>
        <a:ea typeface="+mn-ea"/>
        <a:cs typeface="+mn-cs"/>
      </a:defRPr>
    </a:lvl3pPr>
    <a:lvl4pPr marL="1370684" algn="l" defTabSz="456895" rtl="0" eaLnBrk="1" latinLnBrk="0" hangingPunct="1">
      <a:defRPr sz="1200" kern="1200">
        <a:solidFill>
          <a:schemeClr val="tx1"/>
        </a:solidFill>
        <a:latin typeface="+mn-lt"/>
        <a:ea typeface="+mn-ea"/>
        <a:cs typeface="+mn-cs"/>
      </a:defRPr>
    </a:lvl4pPr>
    <a:lvl5pPr marL="1827579" algn="l" defTabSz="456895" rtl="0" eaLnBrk="1" latinLnBrk="0" hangingPunct="1">
      <a:defRPr sz="1200" kern="1200">
        <a:solidFill>
          <a:schemeClr val="tx1"/>
        </a:solidFill>
        <a:latin typeface="+mn-lt"/>
        <a:ea typeface="+mn-ea"/>
        <a:cs typeface="+mn-cs"/>
      </a:defRPr>
    </a:lvl5pPr>
    <a:lvl6pPr marL="2284475" algn="l" defTabSz="456895" rtl="0" eaLnBrk="1" latinLnBrk="0" hangingPunct="1">
      <a:defRPr sz="1200" kern="1200">
        <a:solidFill>
          <a:schemeClr val="tx1"/>
        </a:solidFill>
        <a:latin typeface="+mn-lt"/>
        <a:ea typeface="+mn-ea"/>
        <a:cs typeface="+mn-cs"/>
      </a:defRPr>
    </a:lvl6pPr>
    <a:lvl7pPr marL="2741369" algn="l" defTabSz="456895" rtl="0" eaLnBrk="1" latinLnBrk="0" hangingPunct="1">
      <a:defRPr sz="1200" kern="1200">
        <a:solidFill>
          <a:schemeClr val="tx1"/>
        </a:solidFill>
        <a:latin typeface="+mn-lt"/>
        <a:ea typeface="+mn-ea"/>
        <a:cs typeface="+mn-cs"/>
      </a:defRPr>
    </a:lvl7pPr>
    <a:lvl8pPr marL="3198263" algn="l" defTabSz="456895" rtl="0" eaLnBrk="1" latinLnBrk="0" hangingPunct="1">
      <a:defRPr sz="1200" kern="1200">
        <a:solidFill>
          <a:schemeClr val="tx1"/>
        </a:solidFill>
        <a:latin typeface="+mn-lt"/>
        <a:ea typeface="+mn-ea"/>
        <a:cs typeface="+mn-cs"/>
      </a:defRPr>
    </a:lvl8pPr>
    <a:lvl9pPr marL="3655157" algn="l" defTabSz="45689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AC839AD-B6BC-43CD-A7B0-458814FC8A09}" type="slidenum">
              <a:rPr lang="en-US" smtClean="0"/>
              <a:t>1</a:t>
            </a:fld>
            <a:endParaRPr lang="en-US"/>
          </a:p>
        </p:txBody>
      </p:sp>
    </p:spTree>
    <p:extLst>
      <p:ext uri="{BB962C8B-B14F-4D97-AF65-F5344CB8AC3E}">
        <p14:creationId xmlns:p14="http://schemas.microsoft.com/office/powerpoint/2010/main" val="32528798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84B7BB1-14C8-3C48-8A14-383C85034362}" type="slidenum">
              <a:rPr lang="en-US"/>
              <a:pPr/>
              <a:t>2</a:t>
            </a:fld>
            <a:endParaRPr lang="en-US"/>
          </a:p>
        </p:txBody>
      </p:sp>
      <p:sp>
        <p:nvSpPr>
          <p:cNvPr id="101378" name="Rectangle 2"/>
          <p:cNvSpPr>
            <a:spLocks noGrp="1" noRot="1" noChangeAspect="1" noChangeArrowheads="1" noTextEdit="1"/>
          </p:cNvSpPr>
          <p:nvPr>
            <p:ph type="sldImg"/>
          </p:nvPr>
        </p:nvSpPr>
        <p:spPr>
          <a:xfrm>
            <a:off x="1143000" y="685800"/>
            <a:ext cx="4572000" cy="3429000"/>
          </a:xfrm>
          <a:ln/>
          <a:extLst>
            <a:ext uri="{FAA26D3D-D897-4be2-8F04-BA451C77F1D7}">
              <ma14:placeholderFlag xmlns="" xmlns:ma14="http://schemas.microsoft.com/office/mac/drawingml/2011/main" val="1"/>
            </a:ext>
          </a:extLst>
        </p:spPr>
      </p:sp>
      <p:sp>
        <p:nvSpPr>
          <p:cNvPr id="101379" name="Rectangle 3"/>
          <p:cNvSpPr>
            <a:spLocks noGrp="1" noChangeArrowheads="1"/>
          </p:cNvSpPr>
          <p:nvPr>
            <p:ph type="body" idx="1"/>
          </p:nvPr>
        </p:nvSpPr>
        <p:spPr/>
        <p:txBody>
          <a:bodyPr/>
          <a:lstStyle/>
          <a:p>
            <a:pPr marL="0" marR="0" indent="0" algn="l" defTabSz="457017" rtl="0" eaLnBrk="1" fontAlgn="auto" latinLnBrk="0" hangingPunct="1">
              <a:lnSpc>
                <a:spcPct val="100000"/>
              </a:lnSpc>
              <a:spcBef>
                <a:spcPts val="0"/>
              </a:spcBef>
              <a:spcAft>
                <a:spcPts val="0"/>
              </a:spcAft>
              <a:buClrTx/>
              <a:buSzTx/>
              <a:buFontTx/>
              <a:buNone/>
              <a:tabLst/>
              <a:defRPr/>
            </a:pPr>
            <a:endParaRPr lang="en-US" baseline="0" dirty="0"/>
          </a:p>
        </p:txBody>
      </p:sp>
    </p:spTree>
    <p:extLst>
      <p:ext uri="{BB962C8B-B14F-4D97-AF65-F5344CB8AC3E}">
        <p14:creationId xmlns:p14="http://schemas.microsoft.com/office/powerpoint/2010/main" val="9430177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C8DFA54-D39D-1D48-8493-93DD07969464}" type="slidenum">
              <a:rPr lang="en-US" smtClean="0"/>
              <a:t>3</a:t>
            </a:fld>
            <a:endParaRPr lang="en-US"/>
          </a:p>
        </p:txBody>
      </p:sp>
    </p:spTree>
    <p:extLst>
      <p:ext uri="{BB962C8B-B14F-4D97-AF65-F5344CB8AC3E}">
        <p14:creationId xmlns:p14="http://schemas.microsoft.com/office/powerpoint/2010/main" val="21689962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baseline="0" dirty="0"/>
              <a:t>To better understand extinction, we need to go back to famous theory of Island Biogeography of MacArthur and Wilson. At its core, this theory deals with species-area relationships, or the interplay between the area of a habitat and its species richness. The experiment they conducted in the 60’s dealt with islands because it is easier to simulate these relationships for species on discrete patches, such as islands. The theory suggests that the number of species in any given region is at an equilibrium determined by extinction and colonization (or immigration).</a:t>
            </a:r>
          </a:p>
        </p:txBody>
      </p:sp>
      <p:sp>
        <p:nvSpPr>
          <p:cNvPr id="4" name="Slide Number Placeholder 3"/>
          <p:cNvSpPr>
            <a:spLocks noGrp="1"/>
          </p:cNvSpPr>
          <p:nvPr>
            <p:ph type="sldNum" sz="quarter" idx="10"/>
          </p:nvPr>
        </p:nvSpPr>
        <p:spPr/>
        <p:txBody>
          <a:bodyPr/>
          <a:lstStyle/>
          <a:p>
            <a:fld id="{65B8F8E1-D159-A145-A392-F8B20AEDF9EE}" type="slidenum">
              <a:rPr lang="en-US" smtClean="0"/>
              <a:t>4</a:t>
            </a:fld>
            <a:endParaRPr lang="en-US"/>
          </a:p>
        </p:txBody>
      </p:sp>
    </p:spTree>
    <p:extLst>
      <p:ext uri="{BB962C8B-B14F-4D97-AF65-F5344CB8AC3E}">
        <p14:creationId xmlns:p14="http://schemas.microsoft.com/office/powerpoint/2010/main" val="37258788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baseline="0" dirty="0"/>
              <a:t>What McArthur and Wilson did, is to select a bunch of small mangrove islands off the coast of Florida: some were small, some were large; some were close to the mainland, some were farther away. They went ahead and fumigated all islands, thus killed all the invertebrate (insect) fauna. They counted the number of species, when then waited to see who recolonizes the islands. They found that islands close to mainland were colonized quicker and accumulated species more rapidly than islands gar from the mainland. That makes sense, as only some species were able to fly long distances across water.</a:t>
            </a:r>
          </a:p>
          <a:p>
            <a:pPr marL="0" marR="0" indent="0" algn="l" defTabSz="457200" rtl="0" eaLnBrk="1" fontAlgn="auto" latinLnBrk="0" hangingPunct="1">
              <a:lnSpc>
                <a:spcPct val="100000"/>
              </a:lnSpc>
              <a:spcBef>
                <a:spcPts val="0"/>
              </a:spcBef>
              <a:spcAft>
                <a:spcPts val="0"/>
              </a:spcAft>
              <a:buClrTx/>
              <a:buSzTx/>
              <a:buFontTx/>
              <a:buNone/>
              <a:tabLst/>
              <a:defRPr/>
            </a:pPr>
            <a:endParaRPr lang="en-US" baseline="0" dirty="0"/>
          </a:p>
          <a:p>
            <a:endParaRPr lang="en-US" baseline="0" dirty="0"/>
          </a:p>
          <a:p>
            <a:endParaRPr lang="en-US" dirty="0"/>
          </a:p>
        </p:txBody>
      </p:sp>
      <p:sp>
        <p:nvSpPr>
          <p:cNvPr id="4" name="Slide Number Placeholder 3"/>
          <p:cNvSpPr>
            <a:spLocks noGrp="1"/>
          </p:cNvSpPr>
          <p:nvPr>
            <p:ph type="sldNum" sz="quarter" idx="10"/>
          </p:nvPr>
        </p:nvSpPr>
        <p:spPr/>
        <p:txBody>
          <a:bodyPr/>
          <a:lstStyle/>
          <a:p>
            <a:fld id="{65B8F8E1-D159-A145-A392-F8B20AEDF9EE}" type="slidenum">
              <a:rPr lang="en-US" smtClean="0"/>
              <a:t>5</a:t>
            </a:fld>
            <a:endParaRPr lang="en-US"/>
          </a:p>
        </p:txBody>
      </p:sp>
    </p:spTree>
    <p:extLst>
      <p:ext uri="{BB962C8B-B14F-4D97-AF65-F5344CB8AC3E}">
        <p14:creationId xmlns:p14="http://schemas.microsoft.com/office/powerpoint/2010/main" val="9141377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baseline="0" dirty="0"/>
              <a:t>At the same time, larger island were able to host more species, ad had lower overall extinction risk than small islands. So, if you are a small island far from mainland, you could be doomed. If you are a large island close to mainland, species are likely to persist because colonization.</a:t>
            </a:r>
          </a:p>
          <a:p>
            <a:pPr marL="0" marR="0" indent="0" algn="l" defTabSz="4572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457200" rtl="0" eaLnBrk="1" fontAlgn="auto" latinLnBrk="0" hangingPunct="1">
              <a:lnSpc>
                <a:spcPct val="100000"/>
              </a:lnSpc>
              <a:spcBef>
                <a:spcPts val="0"/>
              </a:spcBef>
              <a:spcAft>
                <a:spcPts val="0"/>
              </a:spcAft>
              <a:buClrTx/>
              <a:buSzTx/>
              <a:buFontTx/>
              <a:buNone/>
              <a:tabLst/>
              <a:defRPr/>
            </a:pPr>
            <a:r>
              <a:rPr lang="en-US" baseline="0" dirty="0"/>
              <a:t>This became a widely accepted theory, and despite assumptions and shortcomings, I is sill one of the strongest theories we have in ecology to this day.</a:t>
            </a:r>
          </a:p>
          <a:p>
            <a:pPr marL="0" marR="0" indent="0" algn="l" defTabSz="457200" rtl="0" eaLnBrk="1" fontAlgn="auto" latinLnBrk="0" hangingPunct="1">
              <a:lnSpc>
                <a:spcPct val="100000"/>
              </a:lnSpc>
              <a:spcBef>
                <a:spcPts val="0"/>
              </a:spcBef>
              <a:spcAft>
                <a:spcPts val="0"/>
              </a:spcAft>
              <a:buClrTx/>
              <a:buSzTx/>
              <a:buFontTx/>
              <a:buNone/>
              <a:tabLst/>
              <a:defRPr/>
            </a:pPr>
            <a:endParaRPr lang="en-US" baseline="0" dirty="0"/>
          </a:p>
          <a:p>
            <a:endParaRPr lang="en-US" baseline="0" dirty="0"/>
          </a:p>
          <a:p>
            <a:endParaRPr lang="en-US" dirty="0"/>
          </a:p>
        </p:txBody>
      </p:sp>
      <p:sp>
        <p:nvSpPr>
          <p:cNvPr id="4" name="Slide Number Placeholder 3"/>
          <p:cNvSpPr>
            <a:spLocks noGrp="1"/>
          </p:cNvSpPr>
          <p:nvPr>
            <p:ph type="sldNum" sz="quarter" idx="10"/>
          </p:nvPr>
        </p:nvSpPr>
        <p:spPr/>
        <p:txBody>
          <a:bodyPr/>
          <a:lstStyle/>
          <a:p>
            <a:fld id="{65B8F8E1-D159-A145-A392-F8B20AEDF9EE}" type="slidenum">
              <a:rPr lang="en-US" smtClean="0"/>
              <a:t>6</a:t>
            </a:fld>
            <a:endParaRPr lang="en-US"/>
          </a:p>
        </p:txBody>
      </p:sp>
    </p:spTree>
    <p:extLst>
      <p:ext uri="{BB962C8B-B14F-4D97-AF65-F5344CB8AC3E}">
        <p14:creationId xmlns:p14="http://schemas.microsoft.com/office/powerpoint/2010/main" val="40925577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pPr marL="0" marR="0" indent="0" algn="l" defTabSz="457017"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5C8DFA54-D39D-1D48-8493-93DD07969464}" type="slidenum">
              <a:rPr lang="en-US" smtClean="0"/>
              <a:t>7</a:t>
            </a:fld>
            <a:endParaRPr lang="en-US"/>
          </a:p>
        </p:txBody>
      </p:sp>
    </p:spTree>
    <p:extLst>
      <p:ext uri="{BB962C8B-B14F-4D97-AF65-F5344CB8AC3E}">
        <p14:creationId xmlns:p14="http://schemas.microsoft.com/office/powerpoint/2010/main" val="21343731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DE696DC-D2AC-B144-B493-BCAE920B0CE8}" type="slidenum">
              <a:rPr lang="en-US"/>
              <a:pPr/>
              <a:t>8</a:t>
            </a:fld>
            <a:endParaRPr lang="en-US"/>
          </a:p>
        </p:txBody>
      </p:sp>
      <p:sp>
        <p:nvSpPr>
          <p:cNvPr id="122882" name="Rectangle 2"/>
          <p:cNvSpPr>
            <a:spLocks noGrp="1" noRot="1" noChangeAspect="1" noChangeArrowheads="1" noTextEdit="1"/>
          </p:cNvSpPr>
          <p:nvPr>
            <p:ph type="sldImg"/>
          </p:nvPr>
        </p:nvSpPr>
        <p:spPr>
          <a:xfrm>
            <a:off x="1143000" y="685800"/>
            <a:ext cx="4572000" cy="3429000"/>
          </a:xfrm>
          <a:ln/>
          <a:extLst>
            <a:ext uri="{FAA26D3D-D897-4be2-8F04-BA451C77F1D7}">
              <ma14:placeholderFlag xmlns="" xmlns:ma14="http://schemas.microsoft.com/office/mac/drawingml/2011/main" val="1"/>
            </a:ext>
          </a:extLst>
        </p:spPr>
      </p:sp>
      <p:sp>
        <p:nvSpPr>
          <p:cNvPr id="122883" name="Rectangle 3"/>
          <p:cNvSpPr>
            <a:spLocks noGrp="1" noChangeArrowheads="1"/>
          </p:cNvSpPr>
          <p:nvPr>
            <p:ph type="body" idx="1"/>
          </p:nvPr>
        </p:nvSpPr>
        <p:spPr/>
        <p:txBody>
          <a:bodyPr/>
          <a:lstStyle/>
          <a:p>
            <a:r>
              <a:rPr lang="en-US" dirty="0"/>
              <a:t>Occupies 4000 dry meadows</a:t>
            </a:r>
            <a:r>
              <a:rPr lang="en-US" baseline="0" dirty="0"/>
              <a:t> in an area 50 X 70 km… suitable habitat lost to farming etc. Now only 20% left of the habitat that was there 50 year ago</a:t>
            </a:r>
          </a:p>
          <a:p>
            <a:r>
              <a:rPr lang="en-US" dirty="0"/>
              <a:t>All known suitable meadows are shown as small circles, with meadows in which Glanville fritillary larvae were present in autumn 1995 indicated by black circles (and large symbols), and unoccupied meadows by white circles. </a:t>
            </a:r>
          </a:p>
          <a:p>
            <a:r>
              <a:rPr lang="en-US" dirty="0"/>
              <a:t>Of the 42 local populations sampled, the 35 that survived to autumn 1996 (green circles) are distinguished from the seven that went extinct (red triangles).</a:t>
            </a:r>
          </a:p>
        </p:txBody>
      </p:sp>
    </p:spTree>
    <p:extLst>
      <p:ext uri="{BB962C8B-B14F-4D97-AF65-F5344CB8AC3E}">
        <p14:creationId xmlns:p14="http://schemas.microsoft.com/office/powerpoint/2010/main" val="5131849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9DB3D31-BA9C-064F-9998-89C6AFAA04D6}" type="slidenum">
              <a:rPr lang="en-US"/>
              <a:pPr/>
              <a:t>9</a:t>
            </a:fld>
            <a:endParaRPr lang="en-US"/>
          </a:p>
        </p:txBody>
      </p:sp>
      <p:sp>
        <p:nvSpPr>
          <p:cNvPr id="102402" name="Rectangle 2"/>
          <p:cNvSpPr>
            <a:spLocks noGrp="1" noRot="1" noChangeAspect="1" noChangeArrowheads="1" noTextEdit="1"/>
          </p:cNvSpPr>
          <p:nvPr>
            <p:ph type="sldImg"/>
          </p:nvPr>
        </p:nvSpPr>
        <p:spPr>
          <a:xfrm>
            <a:off x="1143000" y="685800"/>
            <a:ext cx="4572000" cy="3429000"/>
          </a:xfrm>
          <a:ln/>
          <a:extLst>
            <a:ext uri="{FAA26D3D-D897-4be2-8F04-BA451C77F1D7}">
              <ma14:placeholderFlag xmlns="" xmlns:ma14="http://schemas.microsoft.com/office/mac/drawingml/2011/main" val="1"/>
            </a:ext>
          </a:extLst>
        </p:spPr>
      </p:sp>
      <p:sp>
        <p:nvSpPr>
          <p:cNvPr id="102403" name="Rectangle 3"/>
          <p:cNvSpPr>
            <a:spLocks noGrp="1" noChangeArrowheads="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t>1. EXTINCTION RISK depends</a:t>
            </a:r>
            <a:r>
              <a:rPr lang="en-US" baseline="0" dirty="0"/>
              <a:t> upon balance b/w LOSS of </a:t>
            </a:r>
            <a:r>
              <a:rPr lang="en-US" baseline="0" dirty="0" err="1"/>
              <a:t>subpops</a:t>
            </a:r>
            <a:r>
              <a:rPr lang="en-US" baseline="0" dirty="0"/>
              <a:t> due to LOCAL EXTINCTION and the gain of SUBPOPS due to COLONIZATION of </a:t>
            </a:r>
            <a:r>
              <a:rPr lang="en-US" b="1" baseline="0" dirty="0"/>
              <a:t>VACANT HABITAT</a:t>
            </a:r>
            <a:endParaRPr lang="en-US" b="1" dirty="0"/>
          </a:p>
          <a:p>
            <a:r>
              <a:rPr lang="en-US" dirty="0"/>
              <a:t>2. EQUILIBRIUM exists where LOSSES</a:t>
            </a:r>
            <a:r>
              <a:rPr lang="en-US" baseline="0" dirty="0"/>
              <a:t> = GAINS (but can still have turnover).  </a:t>
            </a:r>
          </a:p>
          <a:p>
            <a:pPr marL="0" marR="0" indent="0" algn="l" defTabSz="457200" rtl="0" eaLnBrk="1" fontAlgn="auto" latinLnBrk="0" hangingPunct="1">
              <a:lnSpc>
                <a:spcPct val="100000"/>
              </a:lnSpc>
              <a:spcBef>
                <a:spcPts val="0"/>
              </a:spcBef>
              <a:spcAft>
                <a:spcPts val="0"/>
              </a:spcAft>
              <a:buClrTx/>
              <a:buSzTx/>
              <a:buFontTx/>
              <a:buNone/>
              <a:tabLst/>
              <a:defRPr/>
            </a:pPr>
            <a:r>
              <a:rPr lang="en-US" dirty="0"/>
              <a:t>3. This EQUIBILIBRIUM</a:t>
            </a:r>
            <a:r>
              <a:rPr lang="en-US" baseline="0" dirty="0"/>
              <a:t> depends upon RATE of DISPERSAL AMONG HABITAT PATCHES (b/c dispersal governs colonization) &amp;&amp; PER-PATCH EXTINCTION RATE. </a:t>
            </a:r>
          </a:p>
          <a:p>
            <a:endParaRPr lang="en-US" dirty="0"/>
          </a:p>
        </p:txBody>
      </p:sp>
    </p:spTree>
    <p:extLst>
      <p:ext uri="{BB962C8B-B14F-4D97-AF65-F5344CB8AC3E}">
        <p14:creationId xmlns:p14="http://schemas.microsoft.com/office/powerpoint/2010/main" val="16336688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9DB3D31-BA9C-064F-9998-89C6AFAA04D6}" type="slidenum">
              <a:rPr lang="en-US"/>
              <a:pPr/>
              <a:t>10</a:t>
            </a:fld>
            <a:endParaRPr lang="en-US"/>
          </a:p>
        </p:txBody>
      </p:sp>
      <p:sp>
        <p:nvSpPr>
          <p:cNvPr id="102402" name="Rectangle 2"/>
          <p:cNvSpPr>
            <a:spLocks noGrp="1" noRot="1" noChangeAspect="1" noChangeArrowheads="1" noTextEdit="1"/>
          </p:cNvSpPr>
          <p:nvPr>
            <p:ph type="sldImg"/>
          </p:nvPr>
        </p:nvSpPr>
        <p:spPr>
          <a:xfrm>
            <a:off x="1143000" y="685800"/>
            <a:ext cx="4572000" cy="3429000"/>
          </a:xfrm>
          <a:ln/>
          <a:extLst>
            <a:ext uri="{FAA26D3D-D897-4be2-8F04-BA451C77F1D7}">
              <ma14:placeholderFlag xmlns="" xmlns:ma14="http://schemas.microsoft.com/office/mac/drawingml/2011/main" val="1"/>
            </a:ext>
          </a:extLst>
        </p:spPr>
      </p:sp>
      <p:sp>
        <p:nvSpPr>
          <p:cNvPr id="102403" name="Rectangle 3"/>
          <p:cNvSpPr>
            <a:spLocks noGrp="1" noChangeArrowheads="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t>1. EXTINCTION RISK depends</a:t>
            </a:r>
            <a:r>
              <a:rPr lang="en-US" baseline="0" dirty="0"/>
              <a:t> upon balance b/w LOSS of </a:t>
            </a:r>
            <a:r>
              <a:rPr lang="en-US" baseline="0" dirty="0" err="1"/>
              <a:t>subpops</a:t>
            </a:r>
            <a:r>
              <a:rPr lang="en-US" baseline="0" dirty="0"/>
              <a:t> due to LOCAL EXTINCTION and the gain of SUBPOPS due to COLONIZATION of </a:t>
            </a:r>
            <a:r>
              <a:rPr lang="en-US" b="1" baseline="0" dirty="0"/>
              <a:t>VACANT HABITAT</a:t>
            </a:r>
            <a:endParaRPr lang="en-US" b="1" dirty="0"/>
          </a:p>
          <a:p>
            <a:r>
              <a:rPr lang="en-US" dirty="0"/>
              <a:t>2. EQUILIBRIUM exists where LOSSES</a:t>
            </a:r>
            <a:r>
              <a:rPr lang="en-US" baseline="0" dirty="0"/>
              <a:t> = GAINS (but can still have turnover).  </a:t>
            </a:r>
          </a:p>
          <a:p>
            <a:pPr marL="0" marR="0" indent="0" algn="l" defTabSz="457200" rtl="0" eaLnBrk="1" fontAlgn="auto" latinLnBrk="0" hangingPunct="1">
              <a:lnSpc>
                <a:spcPct val="100000"/>
              </a:lnSpc>
              <a:spcBef>
                <a:spcPts val="0"/>
              </a:spcBef>
              <a:spcAft>
                <a:spcPts val="0"/>
              </a:spcAft>
              <a:buClrTx/>
              <a:buSzTx/>
              <a:buFontTx/>
              <a:buNone/>
              <a:tabLst/>
              <a:defRPr/>
            </a:pPr>
            <a:r>
              <a:rPr lang="en-US" dirty="0"/>
              <a:t>3. This EQUIBILIBRIUM</a:t>
            </a:r>
            <a:r>
              <a:rPr lang="en-US" baseline="0" dirty="0"/>
              <a:t> depends upon RATE of DISPERSAL AMONG HABITAT PATCHES (b/c dispersal governs colonization) &amp;&amp; PER-PATCH EXTINCTION RATE. </a:t>
            </a:r>
          </a:p>
          <a:p>
            <a:pPr marL="0" marR="0" indent="0" algn="l" defTabSz="4572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457017" rtl="0" eaLnBrk="1" fontAlgn="auto" latinLnBrk="0" hangingPunct="1">
              <a:lnSpc>
                <a:spcPct val="100000"/>
              </a:lnSpc>
              <a:spcBef>
                <a:spcPts val="0"/>
              </a:spcBef>
              <a:spcAft>
                <a:spcPts val="0"/>
              </a:spcAft>
              <a:buClrTx/>
              <a:buSzTx/>
              <a:buFontTx/>
              <a:buNone/>
              <a:tabLst/>
              <a:defRPr/>
            </a:pPr>
            <a:r>
              <a:rPr lang="en-US" baseline="0" dirty="0"/>
              <a:t>** </a:t>
            </a:r>
            <a:r>
              <a:rPr lang="en-US" i="1" baseline="0" dirty="0"/>
              <a:t>This equilibrium depends upon the RATE OF DISPERSAL AMONGST HABITAT PATCHES (because dispersal governs COLONIZATION) and the PER-PATCH EXTINCTION RATE.**</a:t>
            </a:r>
            <a:endParaRPr lang="en-US" baseline="0" dirty="0"/>
          </a:p>
          <a:p>
            <a:r>
              <a:rPr lang="en-US" baseline="0" dirty="0"/>
              <a:t>Even when EQUILIBRIUM of OCCUPANCY reached (i.e. roughly same % occupied each year), TURNOVER CAN CONTINUE – EMPTY PATCHES CONTINUALLY SHIFT FROM PLACE TO PLACE – </a:t>
            </a:r>
          </a:p>
          <a:p>
            <a:r>
              <a:rPr lang="en-US" baseline="0" dirty="0"/>
              <a:t>At risk of EXTINCTION if further HABITAT LOSS / INTERFERENCE with DISPERSAL reduces colonization rates so severely that they can’t balance extinctions…. But how much? To answer that, we need a model!</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endParaRPr lang="en-US" baseline="0" dirty="0"/>
          </a:p>
          <a:p>
            <a:endParaRPr lang="en-US" dirty="0"/>
          </a:p>
        </p:txBody>
      </p:sp>
    </p:spTree>
    <p:extLst>
      <p:ext uri="{BB962C8B-B14F-4D97-AF65-F5344CB8AC3E}">
        <p14:creationId xmlns:p14="http://schemas.microsoft.com/office/powerpoint/2010/main" val="21415431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pPr marL="0" marR="0" indent="0" algn="l" defTabSz="457017" rtl="0" eaLnBrk="1" fontAlgn="auto" latinLnBrk="0" hangingPunct="1">
              <a:lnSpc>
                <a:spcPct val="100000"/>
              </a:lnSpc>
              <a:spcBef>
                <a:spcPts val="0"/>
              </a:spcBef>
              <a:spcAft>
                <a:spcPts val="0"/>
              </a:spcAft>
              <a:buClrTx/>
              <a:buSzTx/>
              <a:buFontTx/>
              <a:buNone/>
              <a:tabLst/>
              <a:defRPr/>
            </a:pPr>
            <a:r>
              <a:rPr lang="en-US" baseline="0" dirty="0"/>
              <a:t>** </a:t>
            </a:r>
            <a:r>
              <a:rPr lang="en-US" i="1" baseline="0" dirty="0"/>
              <a:t>This equilibrium depends upon the RATE OF DISPERSAL AMONGST HABITAT PATCHES (because dispersal governs COLONIZATION) and the PER-PATCH EXTINCTION RATE.**</a:t>
            </a:r>
            <a:endParaRPr lang="en-US" baseline="0" dirty="0"/>
          </a:p>
          <a:p>
            <a:r>
              <a:rPr lang="en-US" baseline="0" dirty="0"/>
              <a:t>Even when EQUILIBRIUM of OCCUPANCY reached (i.e. roughly same % occupied each year), TURNOVER CAN CONTINUE – EMPTY PATCHES CONTINUALLY SHIFT FROM PLACE TO PLACE – </a:t>
            </a:r>
          </a:p>
          <a:p>
            <a:r>
              <a:rPr lang="en-US" baseline="0" dirty="0"/>
              <a:t>At risk of EXTINCTION if further HABITAT LOSS / INTERFERENCE with DISPERSAL reduces colonization rates so severely that they can’t balance extinctions…. But how much? To answer that, we need a model!</a:t>
            </a:r>
            <a:endParaRPr lang="en-US" dirty="0"/>
          </a:p>
        </p:txBody>
      </p:sp>
      <p:sp>
        <p:nvSpPr>
          <p:cNvPr id="4" name="Slide Number Placeholder 3"/>
          <p:cNvSpPr>
            <a:spLocks noGrp="1"/>
          </p:cNvSpPr>
          <p:nvPr>
            <p:ph type="sldNum" sz="quarter" idx="10"/>
          </p:nvPr>
        </p:nvSpPr>
        <p:spPr/>
        <p:txBody>
          <a:bodyPr/>
          <a:lstStyle/>
          <a:p>
            <a:fld id="{5C8DFA54-D39D-1D48-8493-93DD07969464}" type="slidenum">
              <a:rPr lang="en-US" smtClean="0"/>
              <a:t>11</a:t>
            </a:fld>
            <a:endParaRPr lang="en-US"/>
          </a:p>
        </p:txBody>
      </p:sp>
    </p:spTree>
    <p:extLst>
      <p:ext uri="{BB962C8B-B14F-4D97-AF65-F5344CB8AC3E}">
        <p14:creationId xmlns:p14="http://schemas.microsoft.com/office/powerpoint/2010/main" val="620457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91C2B6D-8A74-2840-921B-890DC5716CAA}" type="slidenum">
              <a:rPr lang="en-US"/>
              <a:pPr/>
              <a:t>16</a:t>
            </a:fld>
            <a:endParaRPr lang="en-US"/>
          </a:p>
        </p:txBody>
      </p:sp>
      <p:sp>
        <p:nvSpPr>
          <p:cNvPr id="114690" name="Rectangle 2"/>
          <p:cNvSpPr>
            <a:spLocks noGrp="1" noRot="1" noChangeAspect="1" noChangeArrowheads="1" noTextEdit="1"/>
          </p:cNvSpPr>
          <p:nvPr>
            <p:ph type="sldImg"/>
          </p:nvPr>
        </p:nvSpPr>
        <p:spPr>
          <a:xfrm>
            <a:off x="1143000" y="685800"/>
            <a:ext cx="4572000" cy="3429000"/>
          </a:xfrm>
          <a:ln/>
          <a:extLst>
            <a:ext uri="{FAA26D3D-D897-4be2-8F04-BA451C77F1D7}">
              <ma14:placeholderFlag xmlns="" xmlns:ma14="http://schemas.microsoft.com/office/mac/drawingml/2011/main" val="1"/>
            </a:ext>
          </a:extLst>
        </p:spPr>
      </p:sp>
      <p:sp>
        <p:nvSpPr>
          <p:cNvPr id="114691" name="Rectangle 3"/>
          <p:cNvSpPr>
            <a:spLocks noGrp="1" noChangeArrowheads="1"/>
          </p:cNvSpPr>
          <p:nvPr>
            <p:ph type="body" idx="1"/>
          </p:nvPr>
        </p:nvSpPr>
        <p:spPr/>
        <p:txBody>
          <a:bodyPr/>
          <a:lstStyle/>
          <a:p>
            <a:pPr marL="0" indent="0">
              <a:buFontTx/>
              <a:buNone/>
            </a:pPr>
            <a:endParaRPr lang="en-US" i="1" dirty="0"/>
          </a:p>
        </p:txBody>
      </p:sp>
    </p:spTree>
    <p:extLst>
      <p:ext uri="{BB962C8B-B14F-4D97-AF65-F5344CB8AC3E}">
        <p14:creationId xmlns:p14="http://schemas.microsoft.com/office/powerpoint/2010/main" val="34171400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4" y="2130425"/>
            <a:ext cx="7772401" cy="1470025"/>
          </a:xfrm>
        </p:spPr>
        <p:txBody>
          <a:bodyPr/>
          <a:lstStyle/>
          <a:p>
            <a:r>
              <a:rPr lang="en-CA"/>
              <a:t>Click to edit Master title style</a:t>
            </a:r>
            <a:endParaRPr lang="en-US"/>
          </a:p>
        </p:txBody>
      </p:sp>
      <p:sp>
        <p:nvSpPr>
          <p:cNvPr id="3" name="Subtitle 2"/>
          <p:cNvSpPr>
            <a:spLocks noGrp="1"/>
          </p:cNvSpPr>
          <p:nvPr>
            <p:ph type="subTitle" idx="1"/>
          </p:nvPr>
        </p:nvSpPr>
        <p:spPr>
          <a:xfrm>
            <a:off x="1371601" y="3886200"/>
            <a:ext cx="6400800" cy="1752600"/>
          </a:xfrm>
        </p:spPr>
        <p:txBody>
          <a:bodyPr/>
          <a:lstStyle>
            <a:lvl1pPr marL="0" indent="0" algn="ctr">
              <a:buNone/>
              <a:defRPr>
                <a:solidFill>
                  <a:schemeClr val="tx1">
                    <a:tint val="75000"/>
                  </a:schemeClr>
                </a:solidFill>
              </a:defRPr>
            </a:lvl1pPr>
            <a:lvl2pPr marL="456895" indent="0" algn="ctr">
              <a:buNone/>
              <a:defRPr>
                <a:solidFill>
                  <a:schemeClr val="tx1">
                    <a:tint val="75000"/>
                  </a:schemeClr>
                </a:solidFill>
              </a:defRPr>
            </a:lvl2pPr>
            <a:lvl3pPr marL="913790" indent="0" algn="ctr">
              <a:buNone/>
              <a:defRPr>
                <a:solidFill>
                  <a:schemeClr val="tx1">
                    <a:tint val="75000"/>
                  </a:schemeClr>
                </a:solidFill>
              </a:defRPr>
            </a:lvl3pPr>
            <a:lvl4pPr marL="1370684" indent="0" algn="ctr">
              <a:buNone/>
              <a:defRPr>
                <a:solidFill>
                  <a:schemeClr val="tx1">
                    <a:tint val="75000"/>
                  </a:schemeClr>
                </a:solidFill>
              </a:defRPr>
            </a:lvl4pPr>
            <a:lvl5pPr marL="1827579" indent="0" algn="ctr">
              <a:buNone/>
              <a:defRPr>
                <a:solidFill>
                  <a:schemeClr val="tx1">
                    <a:tint val="75000"/>
                  </a:schemeClr>
                </a:solidFill>
              </a:defRPr>
            </a:lvl5pPr>
            <a:lvl6pPr marL="2284475" indent="0" algn="ctr">
              <a:buNone/>
              <a:defRPr>
                <a:solidFill>
                  <a:schemeClr val="tx1">
                    <a:tint val="75000"/>
                  </a:schemeClr>
                </a:solidFill>
              </a:defRPr>
            </a:lvl6pPr>
            <a:lvl7pPr marL="2741369" indent="0" algn="ctr">
              <a:buNone/>
              <a:defRPr>
                <a:solidFill>
                  <a:schemeClr val="tx1">
                    <a:tint val="75000"/>
                  </a:schemeClr>
                </a:solidFill>
              </a:defRPr>
            </a:lvl7pPr>
            <a:lvl8pPr marL="3198263" indent="0" algn="ctr">
              <a:buNone/>
              <a:defRPr>
                <a:solidFill>
                  <a:schemeClr val="tx1">
                    <a:tint val="75000"/>
                  </a:schemeClr>
                </a:solidFill>
              </a:defRPr>
            </a:lvl8pPr>
            <a:lvl9pPr marL="3655157" indent="0" algn="ctr">
              <a:buNone/>
              <a:defRPr>
                <a:solidFill>
                  <a:schemeClr val="tx1">
                    <a:tint val="75000"/>
                  </a:schemeClr>
                </a:solidFill>
              </a:defRPr>
            </a:lvl9pPr>
          </a:lstStyle>
          <a:p>
            <a:r>
              <a:rPr lang="en-CA"/>
              <a:t>Click to edit Master subtitle style</a:t>
            </a:r>
            <a:endParaRPr lang="en-US"/>
          </a:p>
        </p:txBody>
      </p:sp>
      <p:sp>
        <p:nvSpPr>
          <p:cNvPr id="4" name="Date Placeholder 3"/>
          <p:cNvSpPr>
            <a:spLocks noGrp="1"/>
          </p:cNvSpPr>
          <p:nvPr>
            <p:ph type="dt" sz="half" idx="10"/>
          </p:nvPr>
        </p:nvSpPr>
        <p:spPr/>
        <p:txBody>
          <a:bodyPr/>
          <a:lstStyle/>
          <a:p>
            <a:fld id="{3C37BFD8-13BE-B34C-9D38-93A96E46EA28}" type="datetime1">
              <a:rPr lang="en-CA" smtClean="0"/>
              <a:t>2024-04-10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36FFF3-8FBC-2144-A340-2B54F44226F0}" type="slidenum">
              <a:rPr lang="en-US" smtClean="0"/>
              <a:t>‹#›</a:t>
            </a:fld>
            <a:endParaRPr lang="en-US"/>
          </a:p>
        </p:txBody>
      </p:sp>
    </p:spTree>
    <p:extLst>
      <p:ext uri="{BB962C8B-B14F-4D97-AF65-F5344CB8AC3E}">
        <p14:creationId xmlns:p14="http://schemas.microsoft.com/office/powerpoint/2010/main" val="1055820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
        <p:nvSpPr>
          <p:cNvPr id="3" name="Content Placeholder 2"/>
          <p:cNvSpPr>
            <a:spLocks noGrp="1"/>
          </p:cNvSpPr>
          <p:nvPr>
            <p:ph idx="1"/>
          </p:nvPr>
        </p:nvSpPr>
        <p:spPr/>
        <p:txBody>
          <a:body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Date Placeholder 3"/>
          <p:cNvSpPr>
            <a:spLocks noGrp="1"/>
          </p:cNvSpPr>
          <p:nvPr>
            <p:ph type="dt" sz="half" idx="10"/>
          </p:nvPr>
        </p:nvSpPr>
        <p:spPr/>
        <p:txBody>
          <a:bodyPr/>
          <a:lstStyle/>
          <a:p>
            <a:fld id="{29610203-3692-EE42-9F0C-0A601B9B7F08}" type="datetime1">
              <a:rPr lang="en-CA" smtClean="0"/>
              <a:t>2024-04-10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36FFF3-8FBC-2144-A340-2B54F44226F0}" type="slidenum">
              <a:rPr lang="en-US" smtClean="0"/>
              <a:t>‹#›</a:t>
            </a:fld>
            <a:endParaRPr lang="en-US"/>
          </a:p>
        </p:txBody>
      </p:sp>
    </p:spTree>
    <p:extLst>
      <p:ext uri="{BB962C8B-B14F-4D97-AF65-F5344CB8AC3E}">
        <p14:creationId xmlns:p14="http://schemas.microsoft.com/office/powerpoint/2010/main" val="8563732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7" y="4406905"/>
            <a:ext cx="7772401" cy="1362075"/>
          </a:xfrm>
        </p:spPr>
        <p:txBody>
          <a:bodyPr anchor="t"/>
          <a:lstStyle>
            <a:lvl1pPr algn="l">
              <a:defRPr sz="4000" b="1" cap="all"/>
            </a:lvl1pPr>
          </a:lstStyle>
          <a:p>
            <a:r>
              <a:rPr lang="en-CA"/>
              <a:t>Click to edit Master title style</a:t>
            </a:r>
            <a:endParaRPr lang="en-US"/>
          </a:p>
        </p:txBody>
      </p:sp>
      <p:sp>
        <p:nvSpPr>
          <p:cNvPr id="3" name="Text Placeholder 2"/>
          <p:cNvSpPr>
            <a:spLocks noGrp="1"/>
          </p:cNvSpPr>
          <p:nvPr>
            <p:ph type="body" idx="1"/>
          </p:nvPr>
        </p:nvSpPr>
        <p:spPr>
          <a:xfrm>
            <a:off x="722317" y="2906713"/>
            <a:ext cx="7772401" cy="1500187"/>
          </a:xfrm>
        </p:spPr>
        <p:txBody>
          <a:bodyPr anchor="b"/>
          <a:lstStyle>
            <a:lvl1pPr marL="0" indent="0">
              <a:buNone/>
              <a:defRPr sz="2000">
                <a:solidFill>
                  <a:schemeClr val="tx1">
                    <a:tint val="75000"/>
                  </a:schemeClr>
                </a:solidFill>
              </a:defRPr>
            </a:lvl1pPr>
            <a:lvl2pPr marL="456895" indent="0">
              <a:buNone/>
              <a:defRPr sz="1800">
                <a:solidFill>
                  <a:schemeClr val="tx1">
                    <a:tint val="75000"/>
                  </a:schemeClr>
                </a:solidFill>
              </a:defRPr>
            </a:lvl2pPr>
            <a:lvl3pPr marL="913790" indent="0">
              <a:buNone/>
              <a:defRPr sz="1600">
                <a:solidFill>
                  <a:schemeClr val="tx1">
                    <a:tint val="75000"/>
                  </a:schemeClr>
                </a:solidFill>
              </a:defRPr>
            </a:lvl3pPr>
            <a:lvl4pPr marL="1370684" indent="0">
              <a:buNone/>
              <a:defRPr sz="1400">
                <a:solidFill>
                  <a:schemeClr val="tx1">
                    <a:tint val="75000"/>
                  </a:schemeClr>
                </a:solidFill>
              </a:defRPr>
            </a:lvl4pPr>
            <a:lvl5pPr marL="1827579" indent="0">
              <a:buNone/>
              <a:defRPr sz="1400">
                <a:solidFill>
                  <a:schemeClr val="tx1">
                    <a:tint val="75000"/>
                  </a:schemeClr>
                </a:solidFill>
              </a:defRPr>
            </a:lvl5pPr>
            <a:lvl6pPr marL="2284475" indent="0">
              <a:buNone/>
              <a:defRPr sz="1400">
                <a:solidFill>
                  <a:schemeClr val="tx1">
                    <a:tint val="75000"/>
                  </a:schemeClr>
                </a:solidFill>
              </a:defRPr>
            </a:lvl6pPr>
            <a:lvl7pPr marL="2741369" indent="0">
              <a:buNone/>
              <a:defRPr sz="1400">
                <a:solidFill>
                  <a:schemeClr val="tx1">
                    <a:tint val="75000"/>
                  </a:schemeClr>
                </a:solidFill>
              </a:defRPr>
            </a:lvl7pPr>
            <a:lvl8pPr marL="3198263" indent="0">
              <a:buNone/>
              <a:defRPr sz="1400">
                <a:solidFill>
                  <a:schemeClr val="tx1">
                    <a:tint val="75000"/>
                  </a:schemeClr>
                </a:solidFill>
              </a:defRPr>
            </a:lvl8pPr>
            <a:lvl9pPr marL="3655157" indent="0">
              <a:buNone/>
              <a:defRPr sz="1400">
                <a:solidFill>
                  <a:schemeClr val="tx1">
                    <a:tint val="75000"/>
                  </a:schemeClr>
                </a:solidFill>
              </a:defRPr>
            </a:lvl9pPr>
          </a:lstStyle>
          <a:p>
            <a:pPr lvl="0"/>
            <a:r>
              <a:rPr lang="en-CA"/>
              <a:t>Click to edit Master text styles</a:t>
            </a:r>
          </a:p>
        </p:txBody>
      </p:sp>
      <p:sp>
        <p:nvSpPr>
          <p:cNvPr id="4" name="Date Placeholder 3"/>
          <p:cNvSpPr>
            <a:spLocks noGrp="1"/>
          </p:cNvSpPr>
          <p:nvPr>
            <p:ph type="dt" sz="half" idx="10"/>
          </p:nvPr>
        </p:nvSpPr>
        <p:spPr/>
        <p:txBody>
          <a:bodyPr/>
          <a:lstStyle/>
          <a:p>
            <a:fld id="{1DFC2748-9D98-3F49-B5F9-742FAC37F4F9}" type="datetime1">
              <a:rPr lang="en-CA" smtClean="0"/>
              <a:t>2024-04-10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36FFF3-8FBC-2144-A340-2B54F44226F0}" type="slidenum">
              <a:rPr lang="en-US" smtClean="0"/>
              <a:t>‹#›</a:t>
            </a:fld>
            <a:endParaRPr lang="en-US"/>
          </a:p>
        </p:txBody>
      </p:sp>
    </p:spTree>
    <p:extLst>
      <p:ext uri="{BB962C8B-B14F-4D97-AF65-F5344CB8AC3E}">
        <p14:creationId xmlns:p14="http://schemas.microsoft.com/office/powerpoint/2010/main" val="2058697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
        <p:nvSpPr>
          <p:cNvPr id="3" name="Content Placeholder 2"/>
          <p:cNvSpPr>
            <a:spLocks noGrp="1"/>
          </p:cNvSpPr>
          <p:nvPr>
            <p:ph sz="half" idx="1"/>
          </p:nvPr>
        </p:nvSpPr>
        <p:spPr>
          <a:xfrm>
            <a:off x="457200" y="1600205"/>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Content Placeholder 3"/>
          <p:cNvSpPr>
            <a:spLocks noGrp="1"/>
          </p:cNvSpPr>
          <p:nvPr>
            <p:ph sz="half" idx="2"/>
          </p:nvPr>
        </p:nvSpPr>
        <p:spPr>
          <a:xfrm>
            <a:off x="4648205" y="1600205"/>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5" name="Date Placeholder 4"/>
          <p:cNvSpPr>
            <a:spLocks noGrp="1"/>
          </p:cNvSpPr>
          <p:nvPr>
            <p:ph type="dt" sz="half" idx="10"/>
          </p:nvPr>
        </p:nvSpPr>
        <p:spPr/>
        <p:txBody>
          <a:bodyPr/>
          <a:lstStyle/>
          <a:p>
            <a:fld id="{5777F1FD-AACD-9948-9283-1F9691DFC0B4}" type="datetime1">
              <a:rPr lang="en-CA" smtClean="0"/>
              <a:t>2024-04-10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36FFF3-8FBC-2144-A340-2B54F44226F0}" type="slidenum">
              <a:rPr lang="en-US" smtClean="0"/>
              <a:t>‹#›</a:t>
            </a:fld>
            <a:endParaRPr lang="en-US"/>
          </a:p>
        </p:txBody>
      </p:sp>
    </p:spTree>
    <p:extLst>
      <p:ext uri="{BB962C8B-B14F-4D97-AF65-F5344CB8AC3E}">
        <p14:creationId xmlns:p14="http://schemas.microsoft.com/office/powerpoint/2010/main" val="1791771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CA"/>
              <a:t>Click to edit Master title style</a:t>
            </a:r>
            <a:endParaRPr lang="en-US"/>
          </a:p>
        </p:txBody>
      </p:sp>
      <p:sp>
        <p:nvSpPr>
          <p:cNvPr id="3" name="Text Placeholder 2"/>
          <p:cNvSpPr>
            <a:spLocks noGrp="1"/>
          </p:cNvSpPr>
          <p:nvPr>
            <p:ph type="body" idx="1"/>
          </p:nvPr>
        </p:nvSpPr>
        <p:spPr>
          <a:xfrm>
            <a:off x="457205" y="1535118"/>
            <a:ext cx="4040188" cy="639762"/>
          </a:xfrm>
        </p:spPr>
        <p:txBody>
          <a:bodyPr anchor="b"/>
          <a:lstStyle>
            <a:lvl1pPr marL="0" indent="0">
              <a:buNone/>
              <a:defRPr sz="2400" b="1"/>
            </a:lvl1pPr>
            <a:lvl2pPr marL="456895" indent="0">
              <a:buNone/>
              <a:defRPr sz="2000" b="1"/>
            </a:lvl2pPr>
            <a:lvl3pPr marL="913790" indent="0">
              <a:buNone/>
              <a:defRPr sz="1800" b="1"/>
            </a:lvl3pPr>
            <a:lvl4pPr marL="1370684" indent="0">
              <a:buNone/>
              <a:defRPr sz="1600" b="1"/>
            </a:lvl4pPr>
            <a:lvl5pPr marL="1827579" indent="0">
              <a:buNone/>
              <a:defRPr sz="1600" b="1"/>
            </a:lvl5pPr>
            <a:lvl6pPr marL="2284475" indent="0">
              <a:buNone/>
              <a:defRPr sz="1600" b="1"/>
            </a:lvl6pPr>
            <a:lvl7pPr marL="2741369" indent="0">
              <a:buNone/>
              <a:defRPr sz="1600" b="1"/>
            </a:lvl7pPr>
            <a:lvl8pPr marL="3198263" indent="0">
              <a:buNone/>
              <a:defRPr sz="1600" b="1"/>
            </a:lvl8pPr>
            <a:lvl9pPr marL="3655157" indent="0">
              <a:buNone/>
              <a:defRPr sz="1600" b="1"/>
            </a:lvl9pPr>
          </a:lstStyle>
          <a:p>
            <a:pPr lvl="0"/>
            <a:r>
              <a:rPr lang="en-CA"/>
              <a:t>Click to edit Master text styles</a:t>
            </a:r>
          </a:p>
        </p:txBody>
      </p:sp>
      <p:sp>
        <p:nvSpPr>
          <p:cNvPr id="4" name="Content Placeholder 3"/>
          <p:cNvSpPr>
            <a:spLocks noGrp="1"/>
          </p:cNvSpPr>
          <p:nvPr>
            <p:ph sz="half" idx="2"/>
          </p:nvPr>
        </p:nvSpPr>
        <p:spPr>
          <a:xfrm>
            <a:off x="457205"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5" name="Text Placeholder 4"/>
          <p:cNvSpPr>
            <a:spLocks noGrp="1"/>
          </p:cNvSpPr>
          <p:nvPr>
            <p:ph type="body" sz="quarter" idx="3"/>
          </p:nvPr>
        </p:nvSpPr>
        <p:spPr>
          <a:xfrm>
            <a:off x="4645030" y="1535118"/>
            <a:ext cx="4041775" cy="639762"/>
          </a:xfrm>
        </p:spPr>
        <p:txBody>
          <a:bodyPr anchor="b"/>
          <a:lstStyle>
            <a:lvl1pPr marL="0" indent="0">
              <a:buNone/>
              <a:defRPr sz="2400" b="1"/>
            </a:lvl1pPr>
            <a:lvl2pPr marL="456895" indent="0">
              <a:buNone/>
              <a:defRPr sz="2000" b="1"/>
            </a:lvl2pPr>
            <a:lvl3pPr marL="913790" indent="0">
              <a:buNone/>
              <a:defRPr sz="1800" b="1"/>
            </a:lvl3pPr>
            <a:lvl4pPr marL="1370684" indent="0">
              <a:buNone/>
              <a:defRPr sz="1600" b="1"/>
            </a:lvl4pPr>
            <a:lvl5pPr marL="1827579" indent="0">
              <a:buNone/>
              <a:defRPr sz="1600" b="1"/>
            </a:lvl5pPr>
            <a:lvl6pPr marL="2284475" indent="0">
              <a:buNone/>
              <a:defRPr sz="1600" b="1"/>
            </a:lvl6pPr>
            <a:lvl7pPr marL="2741369" indent="0">
              <a:buNone/>
              <a:defRPr sz="1600" b="1"/>
            </a:lvl7pPr>
            <a:lvl8pPr marL="3198263" indent="0">
              <a:buNone/>
              <a:defRPr sz="1600" b="1"/>
            </a:lvl8pPr>
            <a:lvl9pPr marL="3655157" indent="0">
              <a:buNone/>
              <a:defRPr sz="1600" b="1"/>
            </a:lvl9pPr>
          </a:lstStyle>
          <a:p>
            <a:pPr lvl="0"/>
            <a:r>
              <a:rPr lang="en-CA"/>
              <a:t>Click to edit Master text styles</a:t>
            </a:r>
          </a:p>
        </p:txBody>
      </p:sp>
      <p:sp>
        <p:nvSpPr>
          <p:cNvPr id="6" name="Content Placeholder 5"/>
          <p:cNvSpPr>
            <a:spLocks noGrp="1"/>
          </p:cNvSpPr>
          <p:nvPr>
            <p:ph sz="quarter" idx="4"/>
          </p:nvPr>
        </p:nvSpPr>
        <p:spPr>
          <a:xfrm>
            <a:off x="4645030"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7" name="Date Placeholder 6"/>
          <p:cNvSpPr>
            <a:spLocks noGrp="1"/>
          </p:cNvSpPr>
          <p:nvPr>
            <p:ph type="dt" sz="half" idx="10"/>
          </p:nvPr>
        </p:nvSpPr>
        <p:spPr/>
        <p:txBody>
          <a:bodyPr/>
          <a:lstStyle/>
          <a:p>
            <a:fld id="{790B582B-6698-EC48-875C-50CEAA3C67F4}" type="datetime1">
              <a:rPr lang="en-CA" smtClean="0"/>
              <a:t>2024-04-10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36FFF3-8FBC-2144-A340-2B54F44226F0}" type="slidenum">
              <a:rPr lang="en-US" smtClean="0"/>
              <a:t>‹#›</a:t>
            </a:fld>
            <a:endParaRPr lang="en-US"/>
          </a:p>
        </p:txBody>
      </p:sp>
    </p:spTree>
    <p:extLst>
      <p:ext uri="{BB962C8B-B14F-4D97-AF65-F5344CB8AC3E}">
        <p14:creationId xmlns:p14="http://schemas.microsoft.com/office/powerpoint/2010/main" val="17338371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
        <p:nvSpPr>
          <p:cNvPr id="3" name="Date Placeholder 2"/>
          <p:cNvSpPr>
            <a:spLocks noGrp="1"/>
          </p:cNvSpPr>
          <p:nvPr>
            <p:ph type="dt" sz="half" idx="10"/>
          </p:nvPr>
        </p:nvSpPr>
        <p:spPr/>
        <p:txBody>
          <a:bodyPr/>
          <a:lstStyle/>
          <a:p>
            <a:fld id="{95E36D6D-CCCE-B749-8D34-846F8A67EFC0}" type="datetime1">
              <a:rPr lang="en-CA" smtClean="0"/>
              <a:t>2024-04-10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36FFF3-8FBC-2144-A340-2B54F44226F0}" type="slidenum">
              <a:rPr lang="en-US" smtClean="0"/>
              <a:t>‹#›</a:t>
            </a:fld>
            <a:endParaRPr lang="en-US"/>
          </a:p>
        </p:txBody>
      </p:sp>
    </p:spTree>
    <p:extLst>
      <p:ext uri="{BB962C8B-B14F-4D97-AF65-F5344CB8AC3E}">
        <p14:creationId xmlns:p14="http://schemas.microsoft.com/office/powerpoint/2010/main" val="32037844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D6EB7D-0180-5147-9FFD-9F568677AE1E}" type="datetime1">
              <a:rPr lang="en-CA" smtClean="0"/>
              <a:t>2024-04-10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36FFF3-8FBC-2144-A340-2B54F44226F0}" type="slidenum">
              <a:rPr lang="en-US" smtClean="0"/>
              <a:t>‹#›</a:t>
            </a:fld>
            <a:endParaRPr lang="en-US"/>
          </a:p>
        </p:txBody>
      </p:sp>
    </p:spTree>
    <p:extLst>
      <p:ext uri="{BB962C8B-B14F-4D97-AF65-F5344CB8AC3E}">
        <p14:creationId xmlns:p14="http://schemas.microsoft.com/office/powerpoint/2010/main" val="14471880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5" y="273052"/>
            <a:ext cx="3008313" cy="1162050"/>
          </a:xfrm>
        </p:spPr>
        <p:txBody>
          <a:bodyPr anchor="b"/>
          <a:lstStyle>
            <a:lvl1pPr algn="l">
              <a:defRPr sz="2000" b="1"/>
            </a:lvl1pPr>
          </a:lstStyle>
          <a:p>
            <a:r>
              <a:rPr lang="en-CA"/>
              <a:t>Click to edit Master title style</a:t>
            </a:r>
            <a:endParaRPr lang="en-US"/>
          </a:p>
        </p:txBody>
      </p:sp>
      <p:sp>
        <p:nvSpPr>
          <p:cNvPr id="3" name="Content Placeholder 2"/>
          <p:cNvSpPr>
            <a:spLocks noGrp="1"/>
          </p:cNvSpPr>
          <p:nvPr>
            <p:ph idx="1"/>
          </p:nvPr>
        </p:nvSpPr>
        <p:spPr>
          <a:xfrm>
            <a:off x="3575051" y="273055"/>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Text Placeholder 3"/>
          <p:cNvSpPr>
            <a:spLocks noGrp="1"/>
          </p:cNvSpPr>
          <p:nvPr>
            <p:ph type="body" sz="half" idx="2"/>
          </p:nvPr>
        </p:nvSpPr>
        <p:spPr>
          <a:xfrm>
            <a:off x="457205" y="1435105"/>
            <a:ext cx="3008313" cy="4691063"/>
          </a:xfrm>
        </p:spPr>
        <p:txBody>
          <a:bodyPr/>
          <a:lstStyle>
            <a:lvl1pPr marL="0" indent="0">
              <a:buNone/>
              <a:defRPr sz="1400"/>
            </a:lvl1pPr>
            <a:lvl2pPr marL="456895" indent="0">
              <a:buNone/>
              <a:defRPr sz="1200"/>
            </a:lvl2pPr>
            <a:lvl3pPr marL="913790" indent="0">
              <a:buNone/>
              <a:defRPr sz="1000"/>
            </a:lvl3pPr>
            <a:lvl4pPr marL="1370684" indent="0">
              <a:buNone/>
              <a:defRPr sz="900"/>
            </a:lvl4pPr>
            <a:lvl5pPr marL="1827579" indent="0">
              <a:buNone/>
              <a:defRPr sz="900"/>
            </a:lvl5pPr>
            <a:lvl6pPr marL="2284475" indent="0">
              <a:buNone/>
              <a:defRPr sz="900"/>
            </a:lvl6pPr>
            <a:lvl7pPr marL="2741369" indent="0">
              <a:buNone/>
              <a:defRPr sz="900"/>
            </a:lvl7pPr>
            <a:lvl8pPr marL="3198263" indent="0">
              <a:buNone/>
              <a:defRPr sz="900"/>
            </a:lvl8pPr>
            <a:lvl9pPr marL="3655157" indent="0">
              <a:buNone/>
              <a:defRPr sz="900"/>
            </a:lvl9pPr>
          </a:lstStyle>
          <a:p>
            <a:pPr lvl="0"/>
            <a:r>
              <a:rPr lang="en-CA"/>
              <a:t>Click to edit Master text styles</a:t>
            </a:r>
          </a:p>
        </p:txBody>
      </p:sp>
      <p:sp>
        <p:nvSpPr>
          <p:cNvPr id="5" name="Date Placeholder 4"/>
          <p:cNvSpPr>
            <a:spLocks noGrp="1"/>
          </p:cNvSpPr>
          <p:nvPr>
            <p:ph type="dt" sz="half" idx="10"/>
          </p:nvPr>
        </p:nvSpPr>
        <p:spPr/>
        <p:txBody>
          <a:bodyPr/>
          <a:lstStyle/>
          <a:p>
            <a:fld id="{09853B9D-1BC3-8D45-B4A5-24010FA1B146}" type="datetime1">
              <a:rPr lang="en-CA" smtClean="0"/>
              <a:t>2024-04-10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36FFF3-8FBC-2144-A340-2B54F44226F0}" type="slidenum">
              <a:rPr lang="en-US" smtClean="0"/>
              <a:t>‹#›</a:t>
            </a:fld>
            <a:endParaRPr lang="en-US"/>
          </a:p>
        </p:txBody>
      </p:sp>
    </p:spTree>
    <p:extLst>
      <p:ext uri="{BB962C8B-B14F-4D97-AF65-F5344CB8AC3E}">
        <p14:creationId xmlns:p14="http://schemas.microsoft.com/office/powerpoint/2010/main" val="37838676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CA"/>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6895" indent="0">
              <a:buNone/>
              <a:defRPr sz="2800"/>
            </a:lvl2pPr>
            <a:lvl3pPr marL="913790" indent="0">
              <a:buNone/>
              <a:defRPr sz="2400"/>
            </a:lvl3pPr>
            <a:lvl4pPr marL="1370684" indent="0">
              <a:buNone/>
              <a:defRPr sz="2000"/>
            </a:lvl4pPr>
            <a:lvl5pPr marL="1827579" indent="0">
              <a:buNone/>
              <a:defRPr sz="2000"/>
            </a:lvl5pPr>
            <a:lvl6pPr marL="2284475" indent="0">
              <a:buNone/>
              <a:defRPr sz="2000"/>
            </a:lvl6pPr>
            <a:lvl7pPr marL="2741369" indent="0">
              <a:buNone/>
              <a:defRPr sz="2000"/>
            </a:lvl7pPr>
            <a:lvl8pPr marL="3198263" indent="0">
              <a:buNone/>
              <a:defRPr sz="2000"/>
            </a:lvl8pPr>
            <a:lvl9pPr marL="3655157"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6895" indent="0">
              <a:buNone/>
              <a:defRPr sz="1200"/>
            </a:lvl2pPr>
            <a:lvl3pPr marL="913790" indent="0">
              <a:buNone/>
              <a:defRPr sz="1000"/>
            </a:lvl3pPr>
            <a:lvl4pPr marL="1370684" indent="0">
              <a:buNone/>
              <a:defRPr sz="900"/>
            </a:lvl4pPr>
            <a:lvl5pPr marL="1827579" indent="0">
              <a:buNone/>
              <a:defRPr sz="900"/>
            </a:lvl5pPr>
            <a:lvl6pPr marL="2284475" indent="0">
              <a:buNone/>
              <a:defRPr sz="900"/>
            </a:lvl6pPr>
            <a:lvl7pPr marL="2741369" indent="0">
              <a:buNone/>
              <a:defRPr sz="900"/>
            </a:lvl7pPr>
            <a:lvl8pPr marL="3198263" indent="0">
              <a:buNone/>
              <a:defRPr sz="900"/>
            </a:lvl8pPr>
            <a:lvl9pPr marL="3655157" indent="0">
              <a:buNone/>
              <a:defRPr sz="900"/>
            </a:lvl9pPr>
          </a:lstStyle>
          <a:p>
            <a:pPr lvl="0"/>
            <a:r>
              <a:rPr lang="en-CA"/>
              <a:t>Click to edit Master text styles</a:t>
            </a:r>
          </a:p>
        </p:txBody>
      </p:sp>
      <p:sp>
        <p:nvSpPr>
          <p:cNvPr id="5" name="Date Placeholder 4"/>
          <p:cNvSpPr>
            <a:spLocks noGrp="1"/>
          </p:cNvSpPr>
          <p:nvPr>
            <p:ph type="dt" sz="half" idx="10"/>
          </p:nvPr>
        </p:nvSpPr>
        <p:spPr/>
        <p:txBody>
          <a:bodyPr/>
          <a:lstStyle/>
          <a:p>
            <a:fld id="{511B706C-2B08-8E43-97C9-BC50088B1CD1}" type="datetime1">
              <a:rPr lang="en-CA" smtClean="0"/>
              <a:t>2024-04-10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36FFF3-8FBC-2144-A340-2B54F44226F0}" type="slidenum">
              <a:rPr lang="en-US" smtClean="0"/>
              <a:t>‹#›</a:t>
            </a:fld>
            <a:endParaRPr lang="en-US"/>
          </a:p>
        </p:txBody>
      </p:sp>
    </p:spTree>
    <p:extLst>
      <p:ext uri="{BB962C8B-B14F-4D97-AF65-F5344CB8AC3E}">
        <p14:creationId xmlns:p14="http://schemas.microsoft.com/office/powerpoint/2010/main" val="1289674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Date Placeholder 3"/>
          <p:cNvSpPr>
            <a:spLocks noGrp="1"/>
          </p:cNvSpPr>
          <p:nvPr>
            <p:ph type="dt" sz="half" idx="10"/>
          </p:nvPr>
        </p:nvSpPr>
        <p:spPr/>
        <p:txBody>
          <a:bodyPr/>
          <a:lstStyle/>
          <a:p>
            <a:fld id="{06F60D8B-6047-3E47-9E7D-4122E207D896}" type="datetime1">
              <a:rPr lang="en-CA" smtClean="0"/>
              <a:t>2024-04-10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36FFF3-8FBC-2144-A340-2B54F44226F0}" type="slidenum">
              <a:rPr lang="en-US" smtClean="0"/>
              <a:t>‹#›</a:t>
            </a:fld>
            <a:endParaRPr lang="en-US"/>
          </a:p>
        </p:txBody>
      </p:sp>
    </p:spTree>
    <p:extLst>
      <p:ext uri="{BB962C8B-B14F-4D97-AF65-F5344CB8AC3E}">
        <p14:creationId xmlns:p14="http://schemas.microsoft.com/office/powerpoint/2010/main" val="10242907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5" y="274643"/>
            <a:ext cx="2057400" cy="5851525"/>
          </a:xfrm>
        </p:spPr>
        <p:txBody>
          <a:bodyPr vert="eaVert"/>
          <a:lstStyle/>
          <a:p>
            <a:r>
              <a:rPr lang="en-CA"/>
              <a:t>Click to edit Master title style</a:t>
            </a:r>
            <a:endParaRPr lang="en-US"/>
          </a:p>
        </p:txBody>
      </p:sp>
      <p:sp>
        <p:nvSpPr>
          <p:cNvPr id="3" name="Vertical Text Placeholder 2"/>
          <p:cNvSpPr>
            <a:spLocks noGrp="1"/>
          </p:cNvSpPr>
          <p:nvPr>
            <p:ph type="body" orient="vert" idx="1"/>
          </p:nvPr>
        </p:nvSpPr>
        <p:spPr>
          <a:xfrm>
            <a:off x="457200" y="274643"/>
            <a:ext cx="6019800" cy="5851525"/>
          </a:xfrm>
        </p:spPr>
        <p:txBody>
          <a:bodyPr vert="eaVert"/>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Date Placeholder 3"/>
          <p:cNvSpPr>
            <a:spLocks noGrp="1"/>
          </p:cNvSpPr>
          <p:nvPr>
            <p:ph type="dt" sz="half" idx="10"/>
          </p:nvPr>
        </p:nvSpPr>
        <p:spPr/>
        <p:txBody>
          <a:bodyPr/>
          <a:lstStyle/>
          <a:p>
            <a:fld id="{CDA80F54-3091-F744-960B-084737488211}" type="datetime1">
              <a:rPr lang="en-CA" smtClean="0"/>
              <a:t>2024-04-10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36FFF3-8FBC-2144-A340-2B54F44226F0}" type="slidenum">
              <a:rPr lang="en-US" smtClean="0"/>
              <a:t>‹#›</a:t>
            </a:fld>
            <a:endParaRPr lang="en-US"/>
          </a:p>
        </p:txBody>
      </p:sp>
    </p:spTree>
    <p:extLst>
      <p:ext uri="{BB962C8B-B14F-4D97-AF65-F5344CB8AC3E}">
        <p14:creationId xmlns:p14="http://schemas.microsoft.com/office/powerpoint/2010/main" val="30614665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1" y="274640"/>
            <a:ext cx="8229600" cy="1143001"/>
          </a:xfrm>
          <a:prstGeom prst="rect">
            <a:avLst/>
          </a:prstGeom>
        </p:spPr>
        <p:txBody>
          <a:bodyPr vert="horz" lIns="91379" tIns="45689" rIns="91379" bIns="45689" rtlCol="0" anchor="ctr">
            <a:normAutofit/>
          </a:bodyPr>
          <a:lstStyle/>
          <a:p>
            <a:r>
              <a:rPr lang="en-CA" dirty="0"/>
              <a:t>Click to edit Master title style</a:t>
            </a:r>
            <a:endParaRPr lang="en-US" dirty="0"/>
          </a:p>
        </p:txBody>
      </p:sp>
      <p:sp>
        <p:nvSpPr>
          <p:cNvPr id="3" name="Text Placeholder 2"/>
          <p:cNvSpPr>
            <a:spLocks noGrp="1"/>
          </p:cNvSpPr>
          <p:nvPr>
            <p:ph type="body" idx="1"/>
          </p:nvPr>
        </p:nvSpPr>
        <p:spPr>
          <a:xfrm>
            <a:off x="457201" y="1600205"/>
            <a:ext cx="8229600" cy="4525963"/>
          </a:xfrm>
          <a:prstGeom prst="rect">
            <a:avLst/>
          </a:prstGeom>
        </p:spPr>
        <p:txBody>
          <a:bodyPr vert="horz" lIns="91379" tIns="45689" rIns="91379" bIns="45689" rtlCol="0">
            <a:normAutofit/>
          </a:bodyPr>
          <a:lstStyle/>
          <a:p>
            <a:pPr lvl="0"/>
            <a:r>
              <a:rPr lang="en-CA" dirty="0"/>
              <a:t>Click to edit Master text styles</a:t>
            </a:r>
          </a:p>
          <a:p>
            <a:pPr lvl="1"/>
            <a:r>
              <a:rPr lang="en-CA" dirty="0"/>
              <a:t>Second level</a:t>
            </a:r>
          </a:p>
          <a:p>
            <a:pPr lvl="2"/>
            <a:r>
              <a:rPr lang="en-CA" dirty="0"/>
              <a:t>Third level</a:t>
            </a:r>
          </a:p>
          <a:p>
            <a:pPr lvl="3"/>
            <a:r>
              <a:rPr lang="en-CA" dirty="0"/>
              <a:t>Fourth level</a:t>
            </a:r>
          </a:p>
          <a:p>
            <a:pPr lvl="4"/>
            <a:r>
              <a:rPr lang="en-CA" dirty="0"/>
              <a:t>Fifth level</a:t>
            </a:r>
            <a:endParaRPr lang="en-US" dirty="0"/>
          </a:p>
        </p:txBody>
      </p:sp>
      <p:sp>
        <p:nvSpPr>
          <p:cNvPr id="4" name="Date Placeholder 3"/>
          <p:cNvSpPr>
            <a:spLocks noGrp="1"/>
          </p:cNvSpPr>
          <p:nvPr>
            <p:ph type="dt" sz="half" idx="2"/>
          </p:nvPr>
        </p:nvSpPr>
        <p:spPr>
          <a:xfrm>
            <a:off x="457200" y="6356356"/>
            <a:ext cx="2133600" cy="365125"/>
          </a:xfrm>
          <a:prstGeom prst="rect">
            <a:avLst/>
          </a:prstGeom>
        </p:spPr>
        <p:txBody>
          <a:bodyPr vert="horz" lIns="91379" tIns="45689" rIns="91379" bIns="45689" rtlCol="0" anchor="ctr"/>
          <a:lstStyle>
            <a:lvl1pPr algn="l">
              <a:defRPr sz="1200">
                <a:solidFill>
                  <a:schemeClr val="tx1">
                    <a:tint val="75000"/>
                  </a:schemeClr>
                </a:solidFill>
              </a:defRPr>
            </a:lvl1pPr>
          </a:lstStyle>
          <a:p>
            <a:fld id="{0F5A7869-BEC3-AC47-8AE5-EC3C0C76D79E}" type="datetime1">
              <a:rPr lang="en-CA" smtClean="0"/>
              <a:t>2024-04-10</a:t>
            </a:fld>
            <a:endParaRPr lang="en-US"/>
          </a:p>
        </p:txBody>
      </p:sp>
      <p:sp>
        <p:nvSpPr>
          <p:cNvPr id="5" name="Footer Placeholder 4"/>
          <p:cNvSpPr>
            <a:spLocks noGrp="1"/>
          </p:cNvSpPr>
          <p:nvPr>
            <p:ph type="ftr" sz="quarter" idx="3"/>
          </p:nvPr>
        </p:nvSpPr>
        <p:spPr>
          <a:xfrm>
            <a:off x="3124201" y="6356356"/>
            <a:ext cx="2895600" cy="365125"/>
          </a:xfrm>
          <a:prstGeom prst="rect">
            <a:avLst/>
          </a:prstGeom>
        </p:spPr>
        <p:txBody>
          <a:bodyPr vert="horz" lIns="91379" tIns="45689" rIns="91379" bIns="45689"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6"/>
            <a:ext cx="2133600" cy="365125"/>
          </a:xfrm>
          <a:prstGeom prst="rect">
            <a:avLst/>
          </a:prstGeom>
        </p:spPr>
        <p:txBody>
          <a:bodyPr vert="horz" lIns="91379" tIns="45689" rIns="91379" bIns="45689" rtlCol="0" anchor="ctr"/>
          <a:lstStyle>
            <a:lvl1pPr algn="r">
              <a:defRPr sz="1200">
                <a:solidFill>
                  <a:schemeClr val="tx1">
                    <a:tint val="75000"/>
                  </a:schemeClr>
                </a:solidFill>
              </a:defRPr>
            </a:lvl1pPr>
          </a:lstStyle>
          <a:p>
            <a:fld id="{5E36FFF3-8FBC-2144-A340-2B54F44226F0}" type="slidenum">
              <a:rPr lang="en-US" smtClean="0"/>
              <a:t>‹#›</a:t>
            </a:fld>
            <a:endParaRPr lang="en-US" dirty="0"/>
          </a:p>
        </p:txBody>
      </p:sp>
    </p:spTree>
    <p:extLst>
      <p:ext uri="{BB962C8B-B14F-4D97-AF65-F5344CB8AC3E}">
        <p14:creationId xmlns:p14="http://schemas.microsoft.com/office/powerpoint/2010/main" val="20496867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6895" rtl="0" eaLnBrk="1" latinLnBrk="0" hangingPunct="1">
        <a:spcBef>
          <a:spcPct val="0"/>
        </a:spcBef>
        <a:buNone/>
        <a:defRPr sz="3600" kern="1200">
          <a:solidFill>
            <a:srgbClr val="000090"/>
          </a:solidFill>
          <a:latin typeface="Arial"/>
          <a:ea typeface="+mj-ea"/>
          <a:cs typeface="Arial"/>
        </a:defRPr>
      </a:lvl1pPr>
    </p:titleStyle>
    <p:bodyStyle>
      <a:lvl1pPr marL="342675" indent="-342675" algn="l" defTabSz="456895" rtl="0" eaLnBrk="1" latinLnBrk="0" hangingPunct="1">
        <a:spcBef>
          <a:spcPct val="20000"/>
        </a:spcBef>
        <a:buFont typeface="Arial"/>
        <a:buChar char="•"/>
        <a:defRPr sz="3200" kern="1200">
          <a:solidFill>
            <a:schemeClr val="tx1"/>
          </a:solidFill>
          <a:latin typeface="Arial"/>
          <a:ea typeface="+mn-ea"/>
          <a:cs typeface="Arial"/>
        </a:defRPr>
      </a:lvl1pPr>
      <a:lvl2pPr marL="742454" indent="-285559" algn="l" defTabSz="456895" rtl="0" eaLnBrk="1" latinLnBrk="0" hangingPunct="1">
        <a:spcBef>
          <a:spcPct val="20000"/>
        </a:spcBef>
        <a:buFont typeface="Arial"/>
        <a:buChar char="–"/>
        <a:defRPr sz="2800" kern="1200">
          <a:solidFill>
            <a:schemeClr val="tx1"/>
          </a:solidFill>
          <a:latin typeface="Arial"/>
          <a:ea typeface="+mn-ea"/>
          <a:cs typeface="Arial"/>
        </a:defRPr>
      </a:lvl2pPr>
      <a:lvl3pPr marL="1142237" indent="-228447" algn="l" defTabSz="456895" rtl="0" eaLnBrk="1" latinLnBrk="0" hangingPunct="1">
        <a:spcBef>
          <a:spcPct val="20000"/>
        </a:spcBef>
        <a:buFont typeface="Arial"/>
        <a:buChar char="•"/>
        <a:defRPr sz="2400" kern="1200">
          <a:solidFill>
            <a:schemeClr val="tx1"/>
          </a:solidFill>
          <a:latin typeface="Arial"/>
          <a:ea typeface="+mn-ea"/>
          <a:cs typeface="Arial"/>
        </a:defRPr>
      </a:lvl3pPr>
      <a:lvl4pPr marL="1599130" indent="-228447" algn="l" defTabSz="456895" rtl="0" eaLnBrk="1" latinLnBrk="0" hangingPunct="1">
        <a:spcBef>
          <a:spcPct val="20000"/>
        </a:spcBef>
        <a:buFont typeface="Arial"/>
        <a:buChar char="–"/>
        <a:defRPr sz="2000" kern="1200">
          <a:solidFill>
            <a:schemeClr val="tx1"/>
          </a:solidFill>
          <a:latin typeface="Arial"/>
          <a:ea typeface="+mn-ea"/>
          <a:cs typeface="Arial"/>
        </a:defRPr>
      </a:lvl4pPr>
      <a:lvl5pPr marL="2056027" indent="-228447" algn="l" defTabSz="456895" rtl="0" eaLnBrk="1" latinLnBrk="0" hangingPunct="1">
        <a:spcBef>
          <a:spcPct val="20000"/>
        </a:spcBef>
        <a:buFont typeface="Arial"/>
        <a:buChar char="»"/>
        <a:defRPr sz="2000" kern="1200">
          <a:solidFill>
            <a:schemeClr val="tx1"/>
          </a:solidFill>
          <a:latin typeface="Arial"/>
          <a:ea typeface="+mn-ea"/>
          <a:cs typeface="Arial"/>
        </a:defRPr>
      </a:lvl5pPr>
      <a:lvl6pPr marL="2512921" indent="-228447" algn="l" defTabSz="456895" rtl="0" eaLnBrk="1" latinLnBrk="0" hangingPunct="1">
        <a:spcBef>
          <a:spcPct val="20000"/>
        </a:spcBef>
        <a:buFont typeface="Arial"/>
        <a:buChar char="•"/>
        <a:defRPr sz="2000" kern="1200">
          <a:solidFill>
            <a:schemeClr val="tx1"/>
          </a:solidFill>
          <a:latin typeface="+mn-lt"/>
          <a:ea typeface="+mn-ea"/>
          <a:cs typeface="+mn-cs"/>
        </a:defRPr>
      </a:lvl6pPr>
      <a:lvl7pPr marL="2969815" indent="-228447" algn="l" defTabSz="456895" rtl="0" eaLnBrk="1" latinLnBrk="0" hangingPunct="1">
        <a:spcBef>
          <a:spcPct val="20000"/>
        </a:spcBef>
        <a:buFont typeface="Arial"/>
        <a:buChar char="•"/>
        <a:defRPr sz="2000" kern="1200">
          <a:solidFill>
            <a:schemeClr val="tx1"/>
          </a:solidFill>
          <a:latin typeface="+mn-lt"/>
          <a:ea typeface="+mn-ea"/>
          <a:cs typeface="+mn-cs"/>
        </a:defRPr>
      </a:lvl7pPr>
      <a:lvl8pPr marL="3426710" indent="-228447" algn="l" defTabSz="456895" rtl="0" eaLnBrk="1" latinLnBrk="0" hangingPunct="1">
        <a:spcBef>
          <a:spcPct val="20000"/>
        </a:spcBef>
        <a:buFont typeface="Arial"/>
        <a:buChar char="•"/>
        <a:defRPr sz="2000" kern="1200">
          <a:solidFill>
            <a:schemeClr val="tx1"/>
          </a:solidFill>
          <a:latin typeface="+mn-lt"/>
          <a:ea typeface="+mn-ea"/>
          <a:cs typeface="+mn-cs"/>
        </a:defRPr>
      </a:lvl8pPr>
      <a:lvl9pPr marL="3883606" indent="-228447" algn="l" defTabSz="456895"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6895" rtl="0" eaLnBrk="1" latinLnBrk="0" hangingPunct="1">
        <a:defRPr sz="1800" kern="1200">
          <a:solidFill>
            <a:schemeClr val="tx1"/>
          </a:solidFill>
          <a:latin typeface="+mn-lt"/>
          <a:ea typeface="+mn-ea"/>
          <a:cs typeface="+mn-cs"/>
        </a:defRPr>
      </a:lvl1pPr>
      <a:lvl2pPr marL="456895" algn="l" defTabSz="456895" rtl="0" eaLnBrk="1" latinLnBrk="0" hangingPunct="1">
        <a:defRPr sz="1800" kern="1200">
          <a:solidFill>
            <a:schemeClr val="tx1"/>
          </a:solidFill>
          <a:latin typeface="+mn-lt"/>
          <a:ea typeface="+mn-ea"/>
          <a:cs typeface="+mn-cs"/>
        </a:defRPr>
      </a:lvl2pPr>
      <a:lvl3pPr marL="913790" algn="l" defTabSz="456895" rtl="0" eaLnBrk="1" latinLnBrk="0" hangingPunct="1">
        <a:defRPr sz="1800" kern="1200">
          <a:solidFill>
            <a:schemeClr val="tx1"/>
          </a:solidFill>
          <a:latin typeface="+mn-lt"/>
          <a:ea typeface="+mn-ea"/>
          <a:cs typeface="+mn-cs"/>
        </a:defRPr>
      </a:lvl3pPr>
      <a:lvl4pPr marL="1370684" algn="l" defTabSz="456895" rtl="0" eaLnBrk="1" latinLnBrk="0" hangingPunct="1">
        <a:defRPr sz="1800" kern="1200">
          <a:solidFill>
            <a:schemeClr val="tx1"/>
          </a:solidFill>
          <a:latin typeface="+mn-lt"/>
          <a:ea typeface="+mn-ea"/>
          <a:cs typeface="+mn-cs"/>
        </a:defRPr>
      </a:lvl4pPr>
      <a:lvl5pPr marL="1827579" algn="l" defTabSz="456895" rtl="0" eaLnBrk="1" latinLnBrk="0" hangingPunct="1">
        <a:defRPr sz="1800" kern="1200">
          <a:solidFill>
            <a:schemeClr val="tx1"/>
          </a:solidFill>
          <a:latin typeface="+mn-lt"/>
          <a:ea typeface="+mn-ea"/>
          <a:cs typeface="+mn-cs"/>
        </a:defRPr>
      </a:lvl5pPr>
      <a:lvl6pPr marL="2284475" algn="l" defTabSz="456895" rtl="0" eaLnBrk="1" latinLnBrk="0" hangingPunct="1">
        <a:defRPr sz="1800" kern="1200">
          <a:solidFill>
            <a:schemeClr val="tx1"/>
          </a:solidFill>
          <a:latin typeface="+mn-lt"/>
          <a:ea typeface="+mn-ea"/>
          <a:cs typeface="+mn-cs"/>
        </a:defRPr>
      </a:lvl6pPr>
      <a:lvl7pPr marL="2741369" algn="l" defTabSz="456895" rtl="0" eaLnBrk="1" latinLnBrk="0" hangingPunct="1">
        <a:defRPr sz="1800" kern="1200">
          <a:solidFill>
            <a:schemeClr val="tx1"/>
          </a:solidFill>
          <a:latin typeface="+mn-lt"/>
          <a:ea typeface="+mn-ea"/>
          <a:cs typeface="+mn-cs"/>
        </a:defRPr>
      </a:lvl7pPr>
      <a:lvl8pPr marL="3198263" algn="l" defTabSz="456895" rtl="0" eaLnBrk="1" latinLnBrk="0" hangingPunct="1">
        <a:defRPr sz="1800" kern="1200">
          <a:solidFill>
            <a:schemeClr val="tx1"/>
          </a:solidFill>
          <a:latin typeface="+mn-lt"/>
          <a:ea typeface="+mn-ea"/>
          <a:cs typeface="+mn-cs"/>
        </a:defRPr>
      </a:lvl8pPr>
      <a:lvl9pPr marL="3655157" algn="l" defTabSz="45689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oleObject" Target="../embeddings/oleObject2.bin"/><Relationship Id="rId10" Type="http://schemas.openxmlformats.org/officeDocument/2006/relationships/oleObject" Target="../embeddings/oleObject6.bin"/><Relationship Id="rId4" Type="http://schemas.openxmlformats.org/officeDocument/2006/relationships/image" Target="../media/image7.png"/><Relationship Id="rId9" Type="http://schemas.openxmlformats.org/officeDocument/2006/relationships/oleObject" Target="../embeddings/oleObject5.bin"/></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oleObject" Target="../embeddings/oleObject13.bin"/><Relationship Id="rId5" Type="http://schemas.openxmlformats.org/officeDocument/2006/relationships/oleObject" Target="../embeddings/oleObject8.bin"/><Relationship Id="rId10" Type="http://schemas.openxmlformats.org/officeDocument/2006/relationships/oleObject" Target="../embeddings/oleObject12.bin"/><Relationship Id="rId4" Type="http://schemas.openxmlformats.org/officeDocument/2006/relationships/image" Target="../media/image7.png"/><Relationship Id="rId9" Type="http://schemas.openxmlformats.org/officeDocument/2006/relationships/oleObject" Target="../embeddings/oleObject11.bin"/></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4.jpg"/><Relationship Id="rId5" Type="http://schemas.openxmlformats.org/officeDocument/2006/relationships/image" Target="../media/image13.jpg"/><Relationship Id="rId4" Type="http://schemas.openxmlformats.org/officeDocument/2006/relationships/image" Target="../media/image12.jpg"/></Relationships>
</file>

<file path=ppt/slides/_rels/slide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026" name="Picture 2" descr="Image result for space the final fronti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99247"/>
            <a:ext cx="9135020" cy="51389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9137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092" name="Picture 4" descr="Western_NY_landscape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880"/>
            <a:ext cx="9144000" cy="6842125"/>
          </a:xfrm>
          <a:prstGeom prst="rect">
            <a:avLst/>
          </a:prstGeom>
          <a:noFill/>
          <a:extLst>
            <a:ext uri="{909E8E84-426E-40dd-AFC4-6F175D3DCCD1}">
              <a14:hiddenFill xmlns="" xmlns:a14="http://schemas.microsoft.com/office/drawing/2010/main">
                <a:solidFill>
                  <a:srgbClr val="FFFFFF"/>
                </a:solidFill>
              </a14:hiddenFill>
            </a:ext>
          </a:extLst>
        </p:spPr>
      </p:pic>
      <p:sp>
        <p:nvSpPr>
          <p:cNvPr id="89093" name="Text Box 5"/>
          <p:cNvSpPr txBox="1">
            <a:spLocks noChangeArrowheads="1"/>
          </p:cNvSpPr>
          <p:nvPr/>
        </p:nvSpPr>
        <p:spPr bwMode="auto">
          <a:xfrm>
            <a:off x="365919" y="247557"/>
            <a:ext cx="8412162" cy="3339313"/>
          </a:xfrm>
          <a:prstGeom prst="rect">
            <a:avLst/>
          </a:prstGeom>
          <a:solidFill>
            <a:schemeClr val="bg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lIns="91379" tIns="45689" rIns="91379" bIns="45689">
            <a:spAutoFit/>
          </a:bodyPr>
          <a:lstStyle/>
          <a:p>
            <a:pPr algn="l"/>
            <a:r>
              <a:rPr lang="en-US" sz="2800" dirty="0">
                <a:solidFill>
                  <a:srgbClr val="FF3300"/>
                </a:solidFill>
                <a:latin typeface="Arial"/>
                <a:cs typeface="Arial"/>
              </a:rPr>
              <a:t>METAPOPULATION</a:t>
            </a:r>
          </a:p>
          <a:p>
            <a:pPr algn="l"/>
            <a:r>
              <a:rPr lang="en-US" sz="2400" dirty="0">
                <a:latin typeface="Arial"/>
                <a:cs typeface="Arial"/>
              </a:rPr>
              <a:t>a set of spatially isolated subpopulations of the same species that interact at some level (</a:t>
            </a:r>
            <a:r>
              <a:rPr lang="en-US" sz="2400" dirty="0" err="1">
                <a:latin typeface="Arial"/>
                <a:cs typeface="Arial"/>
              </a:rPr>
              <a:t>Levins</a:t>
            </a:r>
            <a:r>
              <a:rPr lang="en-US" sz="2400" dirty="0">
                <a:latin typeface="Arial"/>
                <a:cs typeface="Arial"/>
              </a:rPr>
              <a:t> 1970)</a:t>
            </a:r>
          </a:p>
          <a:p>
            <a:pPr algn="l"/>
            <a:endParaRPr lang="en-US" sz="2400" dirty="0">
              <a:latin typeface="Arial"/>
              <a:cs typeface="Arial"/>
            </a:endParaRPr>
          </a:p>
          <a:p>
            <a:pPr algn="l"/>
            <a:endParaRPr lang="en-US" sz="1200" dirty="0">
              <a:solidFill>
                <a:srgbClr val="FF3300"/>
              </a:solidFill>
            </a:endParaRPr>
          </a:p>
          <a:p>
            <a:pPr algn="l"/>
            <a:r>
              <a:rPr lang="en-US" sz="2000" dirty="0">
                <a:latin typeface="Arial" panose="020B0604020202020204" pitchFamily="34" charset="0"/>
                <a:cs typeface="Arial" panose="020B0604020202020204" pitchFamily="34" charset="0"/>
              </a:rPr>
              <a:t>- Small subpopulations within fragments – prone to </a:t>
            </a:r>
            <a:r>
              <a:rPr lang="en-US" sz="2000" b="1" dirty="0">
                <a:latin typeface="Arial" panose="020B0604020202020204" pitchFamily="34" charset="0"/>
                <a:cs typeface="Arial" panose="020B0604020202020204" pitchFamily="34" charset="0"/>
              </a:rPr>
              <a:t>local extinction</a:t>
            </a:r>
          </a:p>
          <a:p>
            <a:pPr algn="l"/>
            <a:endParaRPr lang="en-US" sz="1000" dirty="0">
              <a:latin typeface="Arial" panose="020B0604020202020204" pitchFamily="34" charset="0"/>
              <a:cs typeface="Arial" panose="020B0604020202020204" pitchFamily="34" charset="0"/>
            </a:endParaRPr>
          </a:p>
          <a:p>
            <a:pPr algn="l"/>
            <a:r>
              <a:rPr lang="en-US" sz="2000" dirty="0">
                <a:latin typeface="Arial" panose="020B0604020202020204" pitchFamily="34" charset="0"/>
                <a:cs typeface="Arial" panose="020B0604020202020204" pitchFamily="34" charset="0"/>
              </a:rPr>
              <a:t>- Connected by </a:t>
            </a:r>
            <a:r>
              <a:rPr lang="en-US" sz="2000" b="1" dirty="0">
                <a:latin typeface="Arial" panose="020B0604020202020204" pitchFamily="34" charset="0"/>
                <a:cs typeface="Arial" panose="020B0604020202020204" pitchFamily="34" charset="0"/>
              </a:rPr>
              <a:t>dispersal</a:t>
            </a:r>
            <a:r>
              <a:rPr lang="en-US" sz="2000"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recolonization</a:t>
            </a:r>
            <a:r>
              <a:rPr lang="en-US" sz="2000" dirty="0">
                <a:latin typeface="Arial" panose="020B0604020202020204" pitchFamily="34" charset="0"/>
                <a:cs typeface="Arial" panose="020B0604020202020204" pitchFamily="34" charset="0"/>
              </a:rPr>
              <a:t> of empty patches from occupied patches</a:t>
            </a:r>
          </a:p>
          <a:p>
            <a:pPr algn="l"/>
            <a:endParaRPr lang="en-US" sz="900" dirty="0">
              <a:latin typeface="Arial" panose="020B0604020202020204" pitchFamily="34" charset="0"/>
              <a:cs typeface="Arial" panose="020B0604020202020204" pitchFamily="34" charset="0"/>
            </a:endParaRPr>
          </a:p>
          <a:p>
            <a:pPr algn="l"/>
            <a:r>
              <a:rPr lang="en-US" sz="2000" dirty="0">
                <a:latin typeface="Arial" panose="020B0604020202020204" pitchFamily="34" charset="0"/>
                <a:cs typeface="Arial" panose="020B0604020202020204" pitchFamily="34" charset="0"/>
              </a:rPr>
              <a:t>- Persistence at regional scale: </a:t>
            </a:r>
            <a:r>
              <a:rPr lang="en-US" sz="2000" b="1" dirty="0">
                <a:latin typeface="Arial" panose="020B0604020202020204" pitchFamily="34" charset="0"/>
                <a:cs typeface="Arial" panose="020B0604020202020204" pitchFamily="34" charset="0"/>
              </a:rPr>
              <a:t>extinction-colonization balance</a:t>
            </a:r>
          </a:p>
        </p:txBody>
      </p:sp>
      <p:sp>
        <p:nvSpPr>
          <p:cNvPr id="4" name="Slide Number Placeholder 3"/>
          <p:cNvSpPr>
            <a:spLocks noGrp="1"/>
          </p:cNvSpPr>
          <p:nvPr>
            <p:ph type="sldNum" sz="quarter" idx="12"/>
          </p:nvPr>
        </p:nvSpPr>
        <p:spPr>
          <a:xfrm>
            <a:off x="6553200" y="6369055"/>
            <a:ext cx="2133600" cy="365125"/>
          </a:xfrm>
        </p:spPr>
        <p:txBody>
          <a:bodyPr/>
          <a:lstStyle/>
          <a:p>
            <a:fld id="{5E36FFF3-8FBC-2144-A340-2B54F44226F0}" type="slidenum">
              <a:rPr lang="en-US" smtClean="0"/>
              <a:pPr/>
              <a:t>2</a:t>
            </a:fld>
            <a:endParaRPr lang="en-US"/>
          </a:p>
        </p:txBody>
      </p:sp>
    </p:spTree>
    <p:extLst>
      <p:ext uri="{BB962C8B-B14F-4D97-AF65-F5344CB8AC3E}">
        <p14:creationId xmlns:p14="http://schemas.microsoft.com/office/powerpoint/2010/main" val="2029643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b="1" dirty="0">
                <a:solidFill>
                  <a:srgbClr val="00B0F0"/>
                </a:solidFill>
              </a:rPr>
              <a:t>Key Processes</a:t>
            </a:r>
          </a:p>
        </p:txBody>
      </p:sp>
      <p:sp>
        <p:nvSpPr>
          <p:cNvPr id="8195" name="Rectangle 3"/>
          <p:cNvSpPr>
            <a:spLocks noGrp="1" noChangeArrowheads="1"/>
          </p:cNvSpPr>
          <p:nvPr>
            <p:ph type="body" idx="1"/>
          </p:nvPr>
        </p:nvSpPr>
        <p:spPr/>
        <p:txBody>
          <a:bodyPr>
            <a:normAutofit/>
          </a:bodyPr>
          <a:lstStyle/>
          <a:p>
            <a:pPr>
              <a:lnSpc>
                <a:spcPct val="90000"/>
              </a:lnSpc>
            </a:pPr>
            <a:r>
              <a:rPr lang="en-US" altLang="en-US" sz="2800" b="1" dirty="0"/>
              <a:t>Extinction</a:t>
            </a:r>
          </a:p>
          <a:p>
            <a:pPr lvl="1">
              <a:lnSpc>
                <a:spcPct val="90000"/>
              </a:lnSpc>
            </a:pPr>
            <a:r>
              <a:rPr lang="en-US" altLang="en-US" sz="2400" dirty="0"/>
              <a:t>usually a constant risk </a:t>
            </a:r>
            <a:r>
              <a:rPr lang="en-US" altLang="en-US" sz="2400" b="1" dirty="0"/>
              <a:t>multiplied</a:t>
            </a:r>
            <a:r>
              <a:rPr lang="en-US" altLang="en-US" sz="2400" dirty="0"/>
              <a:t> times number of occupied patches</a:t>
            </a:r>
          </a:p>
          <a:p>
            <a:pPr>
              <a:lnSpc>
                <a:spcPct val="90000"/>
              </a:lnSpc>
            </a:pPr>
            <a:r>
              <a:rPr lang="en-US" altLang="en-US" sz="2800" b="1" dirty="0"/>
              <a:t>Colonization</a:t>
            </a:r>
          </a:p>
          <a:p>
            <a:pPr lvl="1">
              <a:lnSpc>
                <a:spcPct val="90000"/>
              </a:lnSpc>
            </a:pPr>
            <a:r>
              <a:rPr lang="en-US" altLang="en-US" sz="2400" dirty="0"/>
              <a:t>dependent on number of </a:t>
            </a:r>
            <a:r>
              <a:rPr lang="en-US" altLang="en-US" sz="2400" b="1" dirty="0"/>
              <a:t>occupied</a:t>
            </a:r>
            <a:r>
              <a:rPr lang="en-US" altLang="en-US" sz="2400" dirty="0"/>
              <a:t> (sources of colonists) and </a:t>
            </a:r>
            <a:r>
              <a:rPr lang="en-US" altLang="en-US" sz="2400" b="1" dirty="0"/>
              <a:t>empty</a:t>
            </a:r>
            <a:r>
              <a:rPr lang="en-US" altLang="en-US" sz="2400" dirty="0"/>
              <a:t> (targets) patches</a:t>
            </a:r>
          </a:p>
          <a:p>
            <a:pPr>
              <a:lnSpc>
                <a:spcPct val="90000"/>
              </a:lnSpc>
            </a:pPr>
            <a:r>
              <a:rPr lang="en-US" altLang="en-US" sz="2800" b="1" dirty="0"/>
              <a:t>Turnover</a:t>
            </a:r>
          </a:p>
          <a:p>
            <a:pPr lvl="1">
              <a:lnSpc>
                <a:spcPct val="90000"/>
              </a:lnSpc>
            </a:pPr>
            <a:r>
              <a:rPr lang="en-US" altLang="en-US" sz="2400" dirty="0"/>
              <a:t>Extinction of local populations and establishment of new local populations in empty habitat patches by migrants from existing local populations</a:t>
            </a:r>
          </a:p>
          <a:p>
            <a:pPr lvl="2">
              <a:lnSpc>
                <a:spcPct val="90000"/>
              </a:lnSpc>
              <a:buFontTx/>
              <a:buNone/>
            </a:pPr>
            <a:endParaRPr lang="en-US" altLang="en-US" sz="2000" dirty="0"/>
          </a:p>
        </p:txBody>
      </p:sp>
    </p:spTree>
    <p:extLst>
      <p:ext uri="{BB962C8B-B14F-4D97-AF65-F5344CB8AC3E}">
        <p14:creationId xmlns:p14="http://schemas.microsoft.com/office/powerpoint/2010/main" val="2491477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195">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195">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19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0CFEC368-1D7A-4F81-ABF6-AE0E36BAF64C}" type="slidenum">
              <a:rPr lang="en-US" smtClean="0"/>
              <a:pPr/>
              <a:t>4</a:t>
            </a:fld>
            <a:endParaRPr lang="en-US" dirty="0"/>
          </a:p>
        </p:txBody>
      </p:sp>
      <p:sp>
        <p:nvSpPr>
          <p:cNvPr id="2" name="Rectangle 1"/>
          <p:cNvSpPr/>
          <p:nvPr/>
        </p:nvSpPr>
        <p:spPr>
          <a:xfrm>
            <a:off x="0" y="1110734"/>
            <a:ext cx="9143999" cy="400110"/>
          </a:xfrm>
          <a:prstGeom prst="rect">
            <a:avLst/>
          </a:prstGeom>
        </p:spPr>
        <p:txBody>
          <a:bodyPr wrap="square">
            <a:spAutoFit/>
          </a:bodyPr>
          <a:lstStyle/>
          <a:p>
            <a:pPr algn="ctr"/>
            <a:r>
              <a:rPr lang="en-US" sz="2000" i="1" dirty="0">
                <a:latin typeface="Arial"/>
                <a:cs typeface="Arial"/>
              </a:rPr>
              <a:t>MacArthur and Wilson (1967)</a:t>
            </a:r>
          </a:p>
        </p:txBody>
      </p:sp>
      <p:pic>
        <p:nvPicPr>
          <p:cNvPr id="6148" name="Picture 4" descr="http://www.anoleannals.org/wp-content/uploads/2011/12/TEIB.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2" y="2124597"/>
            <a:ext cx="9143999" cy="305231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6450801" y="5281714"/>
            <a:ext cx="2338397" cy="307777"/>
          </a:xfrm>
          <a:prstGeom prst="rect">
            <a:avLst/>
          </a:prstGeom>
        </p:spPr>
        <p:txBody>
          <a:bodyPr wrap="none">
            <a:spAutoFit/>
          </a:bodyPr>
          <a:lstStyle/>
          <a:p>
            <a:r>
              <a:rPr lang="en-US" sz="1400" i="1" dirty="0"/>
              <a:t>http://www.anoleannals.org/</a:t>
            </a:r>
          </a:p>
        </p:txBody>
      </p:sp>
      <p:sp>
        <p:nvSpPr>
          <p:cNvPr id="8" name="Rectangle 7">
            <a:extLst>
              <a:ext uri="{FF2B5EF4-FFF2-40B4-BE49-F238E27FC236}">
                <a16:creationId xmlns:a16="http://schemas.microsoft.com/office/drawing/2014/main" id="{30B76073-3013-47E3-A4D1-4CA32A06FE2E}"/>
              </a:ext>
            </a:extLst>
          </p:cNvPr>
          <p:cNvSpPr/>
          <p:nvPr/>
        </p:nvSpPr>
        <p:spPr>
          <a:xfrm>
            <a:off x="2920881" y="1966458"/>
            <a:ext cx="6146915" cy="3315256"/>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Title 1">
            <a:extLst>
              <a:ext uri="{FF2B5EF4-FFF2-40B4-BE49-F238E27FC236}">
                <a16:creationId xmlns:a16="http://schemas.microsoft.com/office/drawing/2014/main" id="{2169D6D2-43B3-46A6-9141-4D837DDD8B82}"/>
              </a:ext>
            </a:extLst>
          </p:cNvPr>
          <p:cNvSpPr>
            <a:spLocks noGrp="1"/>
          </p:cNvSpPr>
          <p:nvPr>
            <p:ph type="title"/>
          </p:nvPr>
        </p:nvSpPr>
        <p:spPr>
          <a:xfrm>
            <a:off x="457201" y="-19558"/>
            <a:ext cx="8229600" cy="1143001"/>
          </a:xfrm>
        </p:spPr>
        <p:txBody>
          <a:bodyPr>
            <a:normAutofit fontScale="90000"/>
          </a:bodyPr>
          <a:lstStyle/>
          <a:p>
            <a:r>
              <a:rPr lang="en-US" b="1" dirty="0">
                <a:solidFill>
                  <a:srgbClr val="00B0F0"/>
                </a:solidFill>
              </a:rPr>
              <a:t>Equilibrium Theory of Island Biogeography</a:t>
            </a:r>
          </a:p>
        </p:txBody>
      </p:sp>
    </p:spTree>
    <p:extLst>
      <p:ext uri="{BB962C8B-B14F-4D97-AF65-F5344CB8AC3E}">
        <p14:creationId xmlns:p14="http://schemas.microsoft.com/office/powerpoint/2010/main" val="18094926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0CFEC368-1D7A-4F81-ABF6-AE0E36BAF64C}" type="slidenum">
              <a:rPr lang="en-US" smtClean="0"/>
              <a:pPr/>
              <a:t>5</a:t>
            </a:fld>
            <a:endParaRPr lang="en-US" dirty="0"/>
          </a:p>
        </p:txBody>
      </p:sp>
      <p:sp>
        <p:nvSpPr>
          <p:cNvPr id="2" name="Rectangle 1"/>
          <p:cNvSpPr/>
          <p:nvPr/>
        </p:nvSpPr>
        <p:spPr>
          <a:xfrm>
            <a:off x="0" y="1110734"/>
            <a:ext cx="9143999" cy="400110"/>
          </a:xfrm>
          <a:prstGeom prst="rect">
            <a:avLst/>
          </a:prstGeom>
        </p:spPr>
        <p:txBody>
          <a:bodyPr wrap="square">
            <a:spAutoFit/>
          </a:bodyPr>
          <a:lstStyle/>
          <a:p>
            <a:pPr algn="ctr"/>
            <a:r>
              <a:rPr lang="en-US" sz="2000" i="1" dirty="0">
                <a:latin typeface="Arial"/>
                <a:cs typeface="Arial"/>
              </a:rPr>
              <a:t>MacArthur and Wilson (1967)</a:t>
            </a:r>
          </a:p>
        </p:txBody>
      </p:sp>
      <p:pic>
        <p:nvPicPr>
          <p:cNvPr id="6148" name="Picture 4" descr="http://www.anoleannals.org/wp-content/uploads/2011/12/TEIB.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2" y="2124597"/>
            <a:ext cx="9143999" cy="305231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6450801" y="5281714"/>
            <a:ext cx="2338397" cy="307777"/>
          </a:xfrm>
          <a:prstGeom prst="rect">
            <a:avLst/>
          </a:prstGeom>
        </p:spPr>
        <p:txBody>
          <a:bodyPr wrap="none">
            <a:spAutoFit/>
          </a:bodyPr>
          <a:lstStyle/>
          <a:p>
            <a:r>
              <a:rPr lang="en-US" sz="1400" i="1" dirty="0"/>
              <a:t>http://www.anoleannals.org/</a:t>
            </a:r>
          </a:p>
        </p:txBody>
      </p:sp>
      <p:sp>
        <p:nvSpPr>
          <p:cNvPr id="8" name="Rectangle 7">
            <a:extLst>
              <a:ext uri="{FF2B5EF4-FFF2-40B4-BE49-F238E27FC236}">
                <a16:creationId xmlns:a16="http://schemas.microsoft.com/office/drawing/2014/main" id="{30B76073-3013-47E3-A4D1-4CA32A06FE2E}"/>
              </a:ext>
            </a:extLst>
          </p:cNvPr>
          <p:cNvSpPr/>
          <p:nvPr/>
        </p:nvSpPr>
        <p:spPr>
          <a:xfrm>
            <a:off x="2920882" y="1966458"/>
            <a:ext cx="3363804" cy="3315256"/>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Title 1">
            <a:extLst>
              <a:ext uri="{FF2B5EF4-FFF2-40B4-BE49-F238E27FC236}">
                <a16:creationId xmlns:a16="http://schemas.microsoft.com/office/drawing/2014/main" id="{F468CD2B-AB3F-519C-FEC3-8781A38DEB9A}"/>
              </a:ext>
            </a:extLst>
          </p:cNvPr>
          <p:cNvSpPr>
            <a:spLocks noGrp="1"/>
          </p:cNvSpPr>
          <p:nvPr>
            <p:ph type="title"/>
          </p:nvPr>
        </p:nvSpPr>
        <p:spPr>
          <a:xfrm>
            <a:off x="457201" y="-19558"/>
            <a:ext cx="8229600" cy="1143001"/>
          </a:xfrm>
        </p:spPr>
        <p:txBody>
          <a:bodyPr>
            <a:normAutofit fontScale="90000"/>
          </a:bodyPr>
          <a:lstStyle/>
          <a:p>
            <a:r>
              <a:rPr lang="en-US" b="1" dirty="0">
                <a:solidFill>
                  <a:srgbClr val="00B0F0"/>
                </a:solidFill>
              </a:rPr>
              <a:t>Equilibrium Theory of Island Biogeography</a:t>
            </a:r>
          </a:p>
        </p:txBody>
      </p:sp>
    </p:spTree>
    <p:extLst>
      <p:ext uri="{BB962C8B-B14F-4D97-AF65-F5344CB8AC3E}">
        <p14:creationId xmlns:p14="http://schemas.microsoft.com/office/powerpoint/2010/main" val="31236722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0CFEC368-1D7A-4F81-ABF6-AE0E36BAF64C}" type="slidenum">
              <a:rPr lang="en-US" smtClean="0"/>
              <a:pPr/>
              <a:t>6</a:t>
            </a:fld>
            <a:endParaRPr lang="en-US" dirty="0"/>
          </a:p>
        </p:txBody>
      </p:sp>
      <p:sp>
        <p:nvSpPr>
          <p:cNvPr id="2" name="Rectangle 1"/>
          <p:cNvSpPr/>
          <p:nvPr/>
        </p:nvSpPr>
        <p:spPr>
          <a:xfrm>
            <a:off x="0" y="1110734"/>
            <a:ext cx="9143999" cy="400110"/>
          </a:xfrm>
          <a:prstGeom prst="rect">
            <a:avLst/>
          </a:prstGeom>
        </p:spPr>
        <p:txBody>
          <a:bodyPr wrap="square">
            <a:spAutoFit/>
          </a:bodyPr>
          <a:lstStyle/>
          <a:p>
            <a:pPr algn="ctr"/>
            <a:r>
              <a:rPr lang="en-US" sz="2000" i="1" dirty="0">
                <a:latin typeface="Arial"/>
                <a:cs typeface="Arial"/>
              </a:rPr>
              <a:t>MacArthur and Wilson (1967)</a:t>
            </a:r>
          </a:p>
        </p:txBody>
      </p:sp>
      <p:pic>
        <p:nvPicPr>
          <p:cNvPr id="6148" name="Picture 4" descr="http://www.anoleannals.org/wp-content/uploads/2011/12/TEIB.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2" y="2124597"/>
            <a:ext cx="9143999" cy="305231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6450801" y="5281714"/>
            <a:ext cx="2338397" cy="307777"/>
          </a:xfrm>
          <a:prstGeom prst="rect">
            <a:avLst/>
          </a:prstGeom>
        </p:spPr>
        <p:txBody>
          <a:bodyPr wrap="none">
            <a:spAutoFit/>
          </a:bodyPr>
          <a:lstStyle/>
          <a:p>
            <a:r>
              <a:rPr lang="en-US" sz="1400" i="1" dirty="0"/>
              <a:t>http://www.anoleannals.org/</a:t>
            </a:r>
          </a:p>
        </p:txBody>
      </p:sp>
      <p:sp>
        <p:nvSpPr>
          <p:cNvPr id="3" name="TextBox 2"/>
          <p:cNvSpPr txBox="1"/>
          <p:nvPr/>
        </p:nvSpPr>
        <p:spPr>
          <a:xfrm>
            <a:off x="824819" y="5605214"/>
            <a:ext cx="7622600" cy="646331"/>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Widely accepted ecological theory </a:t>
            </a:r>
            <a:r>
              <a:rPr lang="en-US" b="1" dirty="0">
                <a:latin typeface="Arial" panose="020B0604020202020204" pitchFamily="34" charset="0"/>
                <a:cs typeface="Arial" panose="020B0604020202020204" pitchFamily="34" charset="0"/>
                <a:sym typeface="Wingdings" panose="05000000000000000000" pitchFamily="2" charset="2"/>
              </a:rPr>
              <a:t> </a:t>
            </a:r>
          </a:p>
          <a:p>
            <a:r>
              <a:rPr lang="en-US" b="1" dirty="0">
                <a:latin typeface="Arial" panose="020B0604020202020204" pitchFamily="34" charset="0"/>
                <a:cs typeface="Arial" panose="020B0604020202020204" pitchFamily="34" charset="0"/>
                <a:sym typeface="Wingdings" panose="05000000000000000000" pitchFamily="2" charset="2"/>
              </a:rPr>
              <a:t>		applicable to how we assess extinctions based on land area</a:t>
            </a:r>
            <a:endParaRPr lang="en-US" b="1" dirty="0">
              <a:latin typeface="Arial" panose="020B0604020202020204" pitchFamily="34" charset="0"/>
              <a:cs typeface="Arial" panose="020B0604020202020204" pitchFamily="34" charset="0"/>
            </a:endParaRPr>
          </a:p>
        </p:txBody>
      </p:sp>
      <p:sp>
        <p:nvSpPr>
          <p:cNvPr id="8" name="Title 1">
            <a:extLst>
              <a:ext uri="{FF2B5EF4-FFF2-40B4-BE49-F238E27FC236}">
                <a16:creationId xmlns:a16="http://schemas.microsoft.com/office/drawing/2014/main" id="{91C771E3-457C-5300-AFE2-4E08901D747E}"/>
              </a:ext>
            </a:extLst>
          </p:cNvPr>
          <p:cNvSpPr>
            <a:spLocks noGrp="1"/>
          </p:cNvSpPr>
          <p:nvPr>
            <p:ph type="title"/>
          </p:nvPr>
        </p:nvSpPr>
        <p:spPr>
          <a:xfrm>
            <a:off x="457201" y="-19558"/>
            <a:ext cx="8229600" cy="1143001"/>
          </a:xfrm>
        </p:spPr>
        <p:txBody>
          <a:bodyPr>
            <a:normAutofit fontScale="90000"/>
          </a:bodyPr>
          <a:lstStyle/>
          <a:p>
            <a:r>
              <a:rPr lang="en-US" b="1" dirty="0">
                <a:solidFill>
                  <a:srgbClr val="00B0F0"/>
                </a:solidFill>
              </a:rPr>
              <a:t>Equilibrium Theory of Island Biogeography</a:t>
            </a:r>
          </a:p>
        </p:txBody>
      </p:sp>
    </p:spTree>
    <p:extLst>
      <p:ext uri="{BB962C8B-B14F-4D97-AF65-F5344CB8AC3E}">
        <p14:creationId xmlns:p14="http://schemas.microsoft.com/office/powerpoint/2010/main" val="4245623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B0F0"/>
                </a:solidFill>
              </a:rPr>
              <a:t>Equilibrium Theory of Island Biogeography</a:t>
            </a:r>
          </a:p>
        </p:txBody>
      </p:sp>
      <p:sp>
        <p:nvSpPr>
          <p:cNvPr id="9" name="TextBox 8"/>
          <p:cNvSpPr txBox="1"/>
          <p:nvPr/>
        </p:nvSpPr>
        <p:spPr>
          <a:xfrm>
            <a:off x="5424099" y="3443461"/>
            <a:ext cx="3606001" cy="925444"/>
          </a:xfrm>
          <a:prstGeom prst="rect">
            <a:avLst/>
          </a:prstGeom>
          <a:noFill/>
        </p:spPr>
        <p:txBody>
          <a:bodyPr wrap="square" lIns="93534" tIns="46767" rIns="93534" bIns="46767" rtlCol="0">
            <a:spAutoFit/>
          </a:bodyPr>
          <a:lstStyle/>
          <a:p>
            <a:pPr marL="285750" indent="-285750">
              <a:buFontTx/>
              <a:buChar char="-"/>
            </a:pPr>
            <a:r>
              <a:rPr lang="en-US" dirty="0">
                <a:latin typeface="Arial"/>
                <a:cs typeface="Arial"/>
              </a:rPr>
              <a:t>Describes the relationship between rates of colonization and extinction on islands </a:t>
            </a:r>
          </a:p>
        </p:txBody>
      </p:sp>
      <p:pic>
        <p:nvPicPr>
          <p:cNvPr id="18" name="Picture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675" y="1417641"/>
            <a:ext cx="5050561" cy="3864444"/>
          </a:xfrm>
          <a:prstGeom prst="rect">
            <a:avLst/>
          </a:prstGeom>
        </p:spPr>
      </p:pic>
      <p:sp>
        <p:nvSpPr>
          <p:cNvPr id="7" name="Rectangle 6"/>
          <p:cNvSpPr/>
          <p:nvPr/>
        </p:nvSpPr>
        <p:spPr>
          <a:xfrm>
            <a:off x="4995875" y="2176635"/>
            <a:ext cx="4462450" cy="1015663"/>
          </a:xfrm>
          <a:prstGeom prst="rect">
            <a:avLst/>
          </a:prstGeom>
        </p:spPr>
        <p:txBody>
          <a:bodyPr wrap="square">
            <a:spAutoFit/>
          </a:bodyPr>
          <a:lstStyle/>
          <a:p>
            <a:pPr algn="ctr"/>
            <a:r>
              <a:rPr lang="en-US" sz="2000" dirty="0">
                <a:latin typeface="Arial"/>
                <a:cs typeface="Arial"/>
              </a:rPr>
              <a:t>Island Biogeography: </a:t>
            </a:r>
          </a:p>
          <a:p>
            <a:pPr algn="ctr"/>
            <a:r>
              <a:rPr lang="en-US" sz="2000" dirty="0">
                <a:latin typeface="Arial"/>
                <a:cs typeface="Arial"/>
              </a:rPr>
              <a:t>Species-Area Relationship</a:t>
            </a:r>
          </a:p>
          <a:p>
            <a:pPr algn="ctr"/>
            <a:r>
              <a:rPr lang="en-US" sz="2000" i="1" dirty="0">
                <a:latin typeface="Arial"/>
                <a:cs typeface="Arial"/>
              </a:rPr>
              <a:t>MacArthur and Wilson (1967)</a:t>
            </a:r>
          </a:p>
        </p:txBody>
      </p:sp>
      <p:sp>
        <p:nvSpPr>
          <p:cNvPr id="3" name="TextBox 2"/>
          <p:cNvSpPr txBox="1"/>
          <p:nvPr/>
        </p:nvSpPr>
        <p:spPr>
          <a:xfrm>
            <a:off x="223025" y="5737740"/>
            <a:ext cx="8807076" cy="830997"/>
          </a:xfrm>
          <a:prstGeom prst="rect">
            <a:avLst/>
          </a:prstGeom>
          <a:noFill/>
        </p:spPr>
        <p:txBody>
          <a:bodyPr wrap="square" rtlCol="0">
            <a:spAutoFit/>
          </a:bodyPr>
          <a:lstStyle/>
          <a:p>
            <a:pPr algn="ctr"/>
            <a:r>
              <a:rPr lang="en-US" sz="2400" b="1" dirty="0">
                <a:latin typeface="Arial" panose="020B0604020202020204" pitchFamily="34" charset="0"/>
                <a:cs typeface="Arial" panose="020B0604020202020204" pitchFamily="34" charset="0"/>
              </a:rPr>
              <a:t>Patch size, distance between patches, and matrix between patches --- </a:t>
            </a:r>
            <a:r>
              <a:rPr lang="en-US" sz="2400" b="1" dirty="0">
                <a:solidFill>
                  <a:srgbClr val="FF0000"/>
                </a:solidFill>
                <a:latin typeface="Arial" panose="020B0604020202020204" pitchFamily="34" charset="0"/>
                <a:cs typeface="Arial" panose="020B0604020202020204" pitchFamily="34" charset="0"/>
              </a:rPr>
              <a:t>THEY ALL MATTER </a:t>
            </a:r>
          </a:p>
        </p:txBody>
      </p:sp>
    </p:spTree>
    <p:extLst>
      <p:ext uri="{BB962C8B-B14F-4D97-AF65-F5344CB8AC3E}">
        <p14:creationId xmlns:p14="http://schemas.microsoft.com/office/powerpoint/2010/main" val="2138452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186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068" y="1973576"/>
            <a:ext cx="3363913" cy="25003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pic>
        <p:nvPicPr>
          <p:cNvPr id="121861" name="Picture 5" descr="Saccheri_Nature199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91907" y="1374372"/>
            <a:ext cx="4516863" cy="5090433"/>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sp>
        <p:nvSpPr>
          <p:cNvPr id="121862" name="Rectangle 6"/>
          <p:cNvSpPr>
            <a:spLocks noChangeArrowheads="1"/>
          </p:cNvSpPr>
          <p:nvPr/>
        </p:nvSpPr>
        <p:spPr bwMode="auto">
          <a:xfrm>
            <a:off x="7271570" y="6003636"/>
            <a:ext cx="1540902" cy="379335"/>
          </a:xfrm>
          <a:prstGeom prst="rect">
            <a:avLst/>
          </a:prstGeom>
          <a:solidFill>
            <a:schemeClr val="bg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lIns="91379" tIns="45689" rIns="91379" bIns="45689" anchor="ctr">
            <a:spAutoFit/>
          </a:bodyPr>
          <a:lstStyle/>
          <a:p>
            <a:pPr algn="l"/>
            <a:r>
              <a:rPr lang="en-US" dirty="0" err="1"/>
              <a:t>Åland</a:t>
            </a:r>
            <a:r>
              <a:rPr lang="en-US" dirty="0"/>
              <a:t>, Finland</a:t>
            </a:r>
          </a:p>
        </p:txBody>
      </p:sp>
      <p:sp>
        <p:nvSpPr>
          <p:cNvPr id="121863" name="Text Box 7"/>
          <p:cNvSpPr txBox="1">
            <a:spLocks noChangeArrowheads="1"/>
          </p:cNvSpPr>
          <p:nvPr/>
        </p:nvSpPr>
        <p:spPr bwMode="auto">
          <a:xfrm>
            <a:off x="373068" y="114303"/>
            <a:ext cx="8367810" cy="169270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lIns="91379" tIns="45689" rIns="91379" bIns="45689">
            <a:spAutoFit/>
          </a:bodyPr>
          <a:lstStyle/>
          <a:p>
            <a:r>
              <a:rPr lang="en-US" sz="2400" dirty="0">
                <a:solidFill>
                  <a:srgbClr val="FF3300"/>
                </a:solidFill>
                <a:latin typeface="Arial" panose="020B0604020202020204" pitchFamily="34" charset="0"/>
                <a:cs typeface="Arial" panose="020B0604020202020204" pitchFamily="34" charset="0"/>
              </a:rPr>
              <a:t>A classic </a:t>
            </a:r>
            <a:r>
              <a:rPr lang="en-US" sz="2400" dirty="0" err="1">
                <a:solidFill>
                  <a:srgbClr val="FF3300"/>
                </a:solidFill>
                <a:latin typeface="Arial" panose="020B0604020202020204" pitchFamily="34" charset="0"/>
                <a:cs typeface="Arial" panose="020B0604020202020204" pitchFamily="34" charset="0"/>
              </a:rPr>
              <a:t>metapopulation</a:t>
            </a:r>
            <a:r>
              <a:rPr lang="en-US" sz="2400" dirty="0">
                <a:solidFill>
                  <a:srgbClr val="FF3300"/>
                </a:solidFill>
                <a:latin typeface="Arial" panose="020B0604020202020204" pitchFamily="34" charset="0"/>
                <a:cs typeface="Arial" panose="020B0604020202020204" pitchFamily="34" charset="0"/>
              </a:rPr>
              <a:t>: the Glanville Fritillary</a:t>
            </a: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Small populations specialized on particular host plant species</a:t>
            </a: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High rates of local extinction and colonization – dependent on area &amp; connectivity</a:t>
            </a: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Regional persistence</a:t>
            </a:r>
          </a:p>
        </p:txBody>
      </p:sp>
      <p:sp>
        <p:nvSpPr>
          <p:cNvPr id="121864" name="Text Box 8"/>
          <p:cNvSpPr txBox="1">
            <a:spLocks noChangeArrowheads="1"/>
          </p:cNvSpPr>
          <p:nvPr/>
        </p:nvSpPr>
        <p:spPr bwMode="auto">
          <a:xfrm>
            <a:off x="279090" y="4511070"/>
            <a:ext cx="2518515" cy="584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lIns="91379" tIns="45689" rIns="91379" bIns="45689">
            <a:spAutoFit/>
          </a:bodyPr>
          <a:lstStyle/>
          <a:p>
            <a:r>
              <a:rPr lang="en-US" sz="1600" dirty="0" err="1">
                <a:latin typeface="Arial" panose="020B0604020202020204" pitchFamily="34" charset="0"/>
                <a:cs typeface="Arial" panose="020B0604020202020204" pitchFamily="34" charset="0"/>
              </a:rPr>
              <a:t>Ilkka</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Hanski</a:t>
            </a:r>
            <a:r>
              <a:rPr lang="en-US" sz="1600" dirty="0">
                <a:latin typeface="Arial" panose="020B0604020202020204" pitchFamily="34" charset="0"/>
                <a:cs typeface="Arial" panose="020B0604020202020204" pitchFamily="34" charset="0"/>
              </a:rPr>
              <a:t> &amp; colleagues</a:t>
            </a:r>
          </a:p>
          <a:p>
            <a:r>
              <a:rPr lang="en-US" sz="1600" i="1" dirty="0">
                <a:latin typeface="Arial" panose="020B0604020202020204" pitchFamily="34" charset="0"/>
                <a:cs typeface="Arial" panose="020B0604020202020204" pitchFamily="34" charset="0"/>
              </a:rPr>
              <a:t>University of Helsinki</a:t>
            </a:r>
          </a:p>
        </p:txBody>
      </p:sp>
      <p:sp>
        <p:nvSpPr>
          <p:cNvPr id="2" name="Oval 1"/>
          <p:cNvSpPr/>
          <p:nvPr/>
        </p:nvSpPr>
        <p:spPr>
          <a:xfrm>
            <a:off x="2197927" y="5198730"/>
            <a:ext cx="186813" cy="167149"/>
          </a:xfrm>
          <a:prstGeom prst="ellipse">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Isosceles Triangle 2"/>
          <p:cNvSpPr/>
          <p:nvPr/>
        </p:nvSpPr>
        <p:spPr>
          <a:xfrm flipV="1">
            <a:off x="2182763" y="5540702"/>
            <a:ext cx="226142" cy="216309"/>
          </a:xfrm>
          <a:prstGeom prst="triangl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TextBox 3"/>
          <p:cNvSpPr txBox="1"/>
          <p:nvPr/>
        </p:nvSpPr>
        <p:spPr>
          <a:xfrm>
            <a:off x="2350655" y="5136750"/>
            <a:ext cx="1369286"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Pops. sampled</a:t>
            </a:r>
          </a:p>
        </p:txBody>
      </p:sp>
      <p:sp>
        <p:nvSpPr>
          <p:cNvPr id="10" name="TextBox 9"/>
          <p:cNvSpPr txBox="1"/>
          <p:nvPr/>
        </p:nvSpPr>
        <p:spPr>
          <a:xfrm>
            <a:off x="2350655" y="5483639"/>
            <a:ext cx="1996059"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Pops. extinct next year</a:t>
            </a:r>
          </a:p>
        </p:txBody>
      </p:sp>
      <p:sp>
        <p:nvSpPr>
          <p:cNvPr id="11" name="Oval 10"/>
          <p:cNvSpPr/>
          <p:nvPr/>
        </p:nvSpPr>
        <p:spPr>
          <a:xfrm>
            <a:off x="2247458" y="5881344"/>
            <a:ext cx="87749" cy="83827"/>
          </a:xfrm>
          <a:prstGeom prst="ellipse">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TextBox 11"/>
          <p:cNvSpPr txBox="1"/>
          <p:nvPr/>
        </p:nvSpPr>
        <p:spPr>
          <a:xfrm>
            <a:off x="2350655" y="5783439"/>
            <a:ext cx="1862478" cy="523220"/>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All known suitable sites with larvae</a:t>
            </a:r>
          </a:p>
        </p:txBody>
      </p:sp>
      <p:sp>
        <p:nvSpPr>
          <p:cNvPr id="13" name="Oval 12"/>
          <p:cNvSpPr/>
          <p:nvPr/>
        </p:nvSpPr>
        <p:spPr>
          <a:xfrm>
            <a:off x="2247458" y="6382971"/>
            <a:ext cx="87749" cy="83827"/>
          </a:xfrm>
          <a:prstGeom prst="ellipse">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TextBox 13"/>
          <p:cNvSpPr txBox="1"/>
          <p:nvPr/>
        </p:nvSpPr>
        <p:spPr>
          <a:xfrm>
            <a:off x="2350655" y="6285066"/>
            <a:ext cx="1862478" cy="523220"/>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All known suitable unoccupied sites</a:t>
            </a:r>
          </a:p>
        </p:txBody>
      </p:sp>
    </p:spTree>
    <p:extLst>
      <p:ext uri="{BB962C8B-B14F-4D97-AF65-F5344CB8AC3E}">
        <p14:creationId xmlns:p14="http://schemas.microsoft.com/office/powerpoint/2010/main" val="25433172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2950" name="Object 6"/>
          <p:cNvGraphicFramePr>
            <a:graphicFrameLocks noChangeAspect="1"/>
          </p:cNvGraphicFramePr>
          <p:nvPr/>
        </p:nvGraphicFramePr>
        <p:xfrm>
          <a:off x="0" y="1176343"/>
          <a:ext cx="9144000" cy="4014787"/>
        </p:xfrm>
        <a:graphic>
          <a:graphicData uri="http://schemas.openxmlformats.org/presentationml/2006/ole">
            <mc:AlternateContent xmlns:mc="http://schemas.openxmlformats.org/markup-compatibility/2006">
              <mc:Choice xmlns:v="urn:schemas-microsoft-com:vml" Requires="v">
                <p:oleObj name="Image" r:id="rId3" imgW="18107937" imgH="7949206" progId="PhotoshopElements.Image.2">
                  <p:embed/>
                </p:oleObj>
              </mc:Choice>
              <mc:Fallback>
                <p:oleObj name="Image" r:id="rId3" imgW="18107937" imgH="7949206" progId="PhotoshopElements.Image.2">
                  <p:embed/>
                  <p:pic>
                    <p:nvPicPr>
                      <p:cNvPr id="8295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176343"/>
                        <a:ext cx="9144000" cy="40147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82957" name="Text Box 13"/>
          <p:cNvSpPr txBox="1">
            <a:spLocks noChangeArrowheads="1"/>
          </p:cNvSpPr>
          <p:nvPr/>
        </p:nvSpPr>
        <p:spPr bwMode="auto">
          <a:xfrm>
            <a:off x="0" y="287342"/>
            <a:ext cx="9144000" cy="52315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lIns="91379" tIns="45689" rIns="91379" bIns="45689">
            <a:spAutoFit/>
          </a:bodyPr>
          <a:lstStyle/>
          <a:p>
            <a:pPr algn="ctr"/>
            <a:r>
              <a:rPr lang="en-US" sz="2800" dirty="0">
                <a:solidFill>
                  <a:srgbClr val="FF3300"/>
                </a:solidFill>
                <a:latin typeface="Arial" panose="020B0604020202020204" pitchFamily="34" charset="0"/>
                <a:cs typeface="Arial" panose="020B0604020202020204" pitchFamily="34" charset="0"/>
              </a:rPr>
              <a:t>EXTINCTION</a:t>
            </a:r>
            <a:r>
              <a:rPr lang="en-US" sz="2800" dirty="0">
                <a:latin typeface="Arial" panose="020B0604020202020204" pitchFamily="34" charset="0"/>
                <a:cs typeface="Arial" panose="020B0604020202020204" pitchFamily="34" charset="0"/>
              </a:rPr>
              <a:t> and </a:t>
            </a:r>
            <a:r>
              <a:rPr lang="en-US" sz="2800" dirty="0">
                <a:solidFill>
                  <a:srgbClr val="000099"/>
                </a:solidFill>
                <a:latin typeface="Arial" panose="020B0604020202020204" pitchFamily="34" charset="0"/>
                <a:cs typeface="Arial" panose="020B0604020202020204" pitchFamily="34" charset="0"/>
              </a:rPr>
              <a:t>COLONIZATION</a:t>
            </a:r>
          </a:p>
        </p:txBody>
      </p:sp>
      <p:grpSp>
        <p:nvGrpSpPr>
          <p:cNvPr id="82959" name="Group 15"/>
          <p:cNvGrpSpPr>
            <a:grpSpLocks/>
          </p:cNvGrpSpPr>
          <p:nvPr/>
        </p:nvGrpSpPr>
        <p:grpSpPr bwMode="auto">
          <a:xfrm>
            <a:off x="430213" y="1312868"/>
            <a:ext cx="7053262" cy="4376737"/>
            <a:chOff x="271" y="597"/>
            <a:chExt cx="4443" cy="2757"/>
          </a:xfrm>
        </p:grpSpPr>
        <p:grpSp>
          <p:nvGrpSpPr>
            <p:cNvPr id="82956" name="Group 12"/>
            <p:cNvGrpSpPr>
              <a:grpSpLocks/>
            </p:cNvGrpSpPr>
            <p:nvPr/>
          </p:nvGrpSpPr>
          <p:grpSpPr bwMode="auto">
            <a:xfrm>
              <a:off x="519" y="597"/>
              <a:ext cx="4195" cy="2019"/>
              <a:chOff x="519" y="1022"/>
              <a:chExt cx="4195" cy="2019"/>
            </a:xfrm>
          </p:grpSpPr>
          <p:graphicFrame>
            <p:nvGraphicFramePr>
              <p:cNvPr id="82951" name="Object 7"/>
              <p:cNvGraphicFramePr>
                <a:graphicFrameLocks noChangeAspect="1"/>
              </p:cNvGraphicFramePr>
              <p:nvPr/>
            </p:nvGraphicFramePr>
            <p:xfrm>
              <a:off x="519" y="1022"/>
              <a:ext cx="286" cy="531"/>
            </p:xfrm>
            <a:graphic>
              <a:graphicData uri="http://schemas.openxmlformats.org/presentationml/2006/ole">
                <mc:AlternateContent xmlns:mc="http://schemas.openxmlformats.org/markup-compatibility/2006">
                  <mc:Choice xmlns:v="urn:schemas-microsoft-com:vml" Requires="v">
                    <p:oleObj name="Image" r:id="rId5" imgW="1980952" imgH="3682540" progId="PhotoshopElements.Image.2">
                      <p:embed/>
                    </p:oleObj>
                  </mc:Choice>
                  <mc:Fallback>
                    <p:oleObj name="Image" r:id="rId5" imgW="1980952" imgH="3682540" progId="PhotoshopElements.Image.2">
                      <p:embed/>
                      <p:pic>
                        <p:nvPicPr>
                          <p:cNvPr id="82951"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9" y="1022"/>
                            <a:ext cx="286" cy="531"/>
                          </a:xfrm>
                          <a:prstGeom prst="rect">
                            <a:avLst/>
                          </a:prstGeom>
                          <a:noFill/>
                          <a:ln w="1905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82952" name="Object 8"/>
              <p:cNvGraphicFramePr>
                <a:graphicFrameLocks noChangeAspect="1"/>
              </p:cNvGraphicFramePr>
              <p:nvPr/>
            </p:nvGraphicFramePr>
            <p:xfrm>
              <a:off x="3943" y="2328"/>
              <a:ext cx="286" cy="531"/>
            </p:xfrm>
            <a:graphic>
              <a:graphicData uri="http://schemas.openxmlformats.org/presentationml/2006/ole">
                <mc:AlternateContent xmlns:mc="http://schemas.openxmlformats.org/markup-compatibility/2006">
                  <mc:Choice xmlns:v="urn:schemas-microsoft-com:vml" Requires="v">
                    <p:oleObj name="Image" r:id="rId7" imgW="1980952" imgH="3682540" progId="PhotoshopElements.Image.2">
                      <p:embed/>
                    </p:oleObj>
                  </mc:Choice>
                  <mc:Fallback>
                    <p:oleObj name="Image" r:id="rId7" imgW="1980952" imgH="3682540" progId="PhotoshopElements.Image.2">
                      <p:embed/>
                      <p:pic>
                        <p:nvPicPr>
                          <p:cNvPr id="82952"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43" y="2328"/>
                            <a:ext cx="286" cy="531"/>
                          </a:xfrm>
                          <a:prstGeom prst="rect">
                            <a:avLst/>
                          </a:prstGeom>
                          <a:noFill/>
                          <a:ln w="1905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82953" name="Object 9"/>
              <p:cNvGraphicFramePr>
                <a:graphicFrameLocks noChangeAspect="1"/>
              </p:cNvGraphicFramePr>
              <p:nvPr/>
            </p:nvGraphicFramePr>
            <p:xfrm>
              <a:off x="2551" y="2510"/>
              <a:ext cx="286" cy="531"/>
            </p:xfrm>
            <a:graphic>
              <a:graphicData uri="http://schemas.openxmlformats.org/presentationml/2006/ole">
                <mc:AlternateContent xmlns:mc="http://schemas.openxmlformats.org/markup-compatibility/2006">
                  <mc:Choice xmlns:v="urn:schemas-microsoft-com:vml" Requires="v">
                    <p:oleObj name="Image" r:id="rId8" imgW="1980952" imgH="3682540" progId="PhotoshopElements.Image.2">
                      <p:embed/>
                    </p:oleObj>
                  </mc:Choice>
                  <mc:Fallback>
                    <p:oleObj name="Image" r:id="rId8" imgW="1980952" imgH="3682540" progId="PhotoshopElements.Image.2">
                      <p:embed/>
                      <p:pic>
                        <p:nvPicPr>
                          <p:cNvPr id="82953"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51" y="2510"/>
                            <a:ext cx="286" cy="531"/>
                          </a:xfrm>
                          <a:prstGeom prst="rect">
                            <a:avLst/>
                          </a:prstGeom>
                          <a:noFill/>
                          <a:ln w="1905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82954" name="Object 10"/>
              <p:cNvGraphicFramePr>
                <a:graphicFrameLocks noChangeAspect="1"/>
              </p:cNvGraphicFramePr>
              <p:nvPr/>
            </p:nvGraphicFramePr>
            <p:xfrm>
              <a:off x="939" y="1786"/>
              <a:ext cx="286" cy="531"/>
            </p:xfrm>
            <a:graphic>
              <a:graphicData uri="http://schemas.openxmlformats.org/presentationml/2006/ole">
                <mc:AlternateContent xmlns:mc="http://schemas.openxmlformats.org/markup-compatibility/2006">
                  <mc:Choice xmlns:v="urn:schemas-microsoft-com:vml" Requires="v">
                    <p:oleObj name="Image" r:id="rId9" imgW="1980952" imgH="3682540" progId="PhotoshopElements.Image.2">
                      <p:embed/>
                    </p:oleObj>
                  </mc:Choice>
                  <mc:Fallback>
                    <p:oleObj name="Image" r:id="rId9" imgW="1980952" imgH="3682540" progId="PhotoshopElements.Image.2">
                      <p:embed/>
                      <p:pic>
                        <p:nvPicPr>
                          <p:cNvPr id="82954"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39" y="1786"/>
                            <a:ext cx="286" cy="531"/>
                          </a:xfrm>
                          <a:prstGeom prst="rect">
                            <a:avLst/>
                          </a:prstGeom>
                          <a:noFill/>
                          <a:ln w="1905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82955" name="Object 11"/>
              <p:cNvGraphicFramePr>
                <a:graphicFrameLocks noChangeAspect="1"/>
              </p:cNvGraphicFramePr>
              <p:nvPr/>
            </p:nvGraphicFramePr>
            <p:xfrm>
              <a:off x="4428" y="1307"/>
              <a:ext cx="286" cy="531"/>
            </p:xfrm>
            <a:graphic>
              <a:graphicData uri="http://schemas.openxmlformats.org/presentationml/2006/ole">
                <mc:AlternateContent xmlns:mc="http://schemas.openxmlformats.org/markup-compatibility/2006">
                  <mc:Choice xmlns:v="urn:schemas-microsoft-com:vml" Requires="v">
                    <p:oleObj name="Image" r:id="rId10" imgW="1980952" imgH="3682540" progId="PhotoshopElements.Image.2">
                      <p:embed/>
                    </p:oleObj>
                  </mc:Choice>
                  <mc:Fallback>
                    <p:oleObj name="Image" r:id="rId10" imgW="1980952" imgH="3682540" progId="PhotoshopElements.Image.2">
                      <p:embed/>
                      <p:pic>
                        <p:nvPicPr>
                          <p:cNvPr id="82955"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28" y="1307"/>
                            <a:ext cx="286" cy="531"/>
                          </a:xfrm>
                          <a:prstGeom prst="rect">
                            <a:avLst/>
                          </a:prstGeom>
                          <a:noFill/>
                          <a:ln w="1905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pSp>
        <p:sp>
          <p:nvSpPr>
            <p:cNvPr id="82958" name="Text Box 14"/>
            <p:cNvSpPr txBox="1">
              <a:spLocks noChangeArrowheads="1"/>
            </p:cNvSpPr>
            <p:nvPr/>
          </p:nvSpPr>
          <p:spPr bwMode="auto">
            <a:xfrm>
              <a:off x="271" y="3102"/>
              <a:ext cx="2583" cy="25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sz="2000" dirty="0">
                  <a:latin typeface="Arial" panose="020B0604020202020204" pitchFamily="34" charset="0"/>
                  <a:cs typeface="Arial" panose="020B0604020202020204" pitchFamily="34" charset="0"/>
                </a:rPr>
                <a:t>12 habitat patches, 5 are occupied</a:t>
              </a:r>
            </a:p>
          </p:txBody>
        </p:sp>
      </p:grpSp>
      <p:grpSp>
        <p:nvGrpSpPr>
          <p:cNvPr id="82967" name="Group 23"/>
          <p:cNvGrpSpPr>
            <a:grpSpLocks/>
          </p:cNvGrpSpPr>
          <p:nvPr/>
        </p:nvGrpSpPr>
        <p:grpSpPr bwMode="auto">
          <a:xfrm>
            <a:off x="471489" y="822326"/>
            <a:ext cx="7361236" cy="5330825"/>
            <a:chOff x="297" y="288"/>
            <a:chExt cx="4637" cy="3358"/>
          </a:xfrm>
        </p:grpSpPr>
        <p:grpSp>
          <p:nvGrpSpPr>
            <p:cNvPr id="82965" name="Group 21"/>
            <p:cNvGrpSpPr>
              <a:grpSpLocks/>
            </p:cNvGrpSpPr>
            <p:nvPr/>
          </p:nvGrpSpPr>
          <p:grpSpPr bwMode="auto">
            <a:xfrm>
              <a:off x="477" y="288"/>
              <a:ext cx="4457" cy="2120"/>
              <a:chOff x="477" y="288"/>
              <a:chExt cx="4457" cy="2120"/>
            </a:xfrm>
          </p:grpSpPr>
          <p:sp>
            <p:nvSpPr>
              <p:cNvPr id="82960" name="Text Box 16"/>
              <p:cNvSpPr txBox="1">
                <a:spLocks noChangeArrowheads="1"/>
              </p:cNvSpPr>
              <p:nvPr/>
            </p:nvSpPr>
            <p:spPr bwMode="auto">
              <a:xfrm>
                <a:off x="477" y="481"/>
                <a:ext cx="359" cy="64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sz="6000">
                    <a:solidFill>
                      <a:srgbClr val="FF3300"/>
                    </a:solidFill>
                    <a:latin typeface="Arial" panose="020B0604020202020204" pitchFamily="34" charset="0"/>
                    <a:cs typeface="Arial" panose="020B0604020202020204" pitchFamily="34" charset="0"/>
                  </a:rPr>
                  <a:t>x</a:t>
                </a:r>
              </a:p>
            </p:txBody>
          </p:sp>
          <p:sp>
            <p:nvSpPr>
              <p:cNvPr id="82961" name="Text Box 17"/>
              <p:cNvSpPr txBox="1">
                <a:spLocks noChangeArrowheads="1"/>
              </p:cNvSpPr>
              <p:nvPr/>
            </p:nvSpPr>
            <p:spPr bwMode="auto">
              <a:xfrm>
                <a:off x="3899" y="1768"/>
                <a:ext cx="359" cy="64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sz="6000">
                    <a:solidFill>
                      <a:srgbClr val="FF3300"/>
                    </a:solidFill>
                    <a:latin typeface="Arial" panose="020B0604020202020204" pitchFamily="34" charset="0"/>
                    <a:cs typeface="Arial" panose="020B0604020202020204" pitchFamily="34" charset="0"/>
                  </a:rPr>
                  <a:t>x</a:t>
                </a:r>
              </a:p>
            </p:txBody>
          </p:sp>
          <p:sp>
            <p:nvSpPr>
              <p:cNvPr id="82962" name="Freeform 18"/>
              <p:cNvSpPr>
                <a:spLocks/>
              </p:cNvSpPr>
              <p:nvPr/>
            </p:nvSpPr>
            <p:spPr bwMode="auto">
              <a:xfrm>
                <a:off x="2268" y="1378"/>
                <a:ext cx="350" cy="653"/>
              </a:xfrm>
              <a:custGeom>
                <a:avLst/>
                <a:gdLst>
                  <a:gd name="T0" fmla="*/ 350 w 350"/>
                  <a:gd name="T1" fmla="*/ 653 h 653"/>
                  <a:gd name="T2" fmla="*/ 262 w 350"/>
                  <a:gd name="T3" fmla="*/ 191 h 653"/>
                  <a:gd name="T4" fmla="*/ 0 w 350"/>
                  <a:gd name="T5" fmla="*/ 0 h 653"/>
                </a:gdLst>
                <a:ahLst/>
                <a:cxnLst>
                  <a:cxn ang="0">
                    <a:pos x="T0" y="T1"/>
                  </a:cxn>
                  <a:cxn ang="0">
                    <a:pos x="T2" y="T3"/>
                  </a:cxn>
                  <a:cxn ang="0">
                    <a:pos x="T4" y="T5"/>
                  </a:cxn>
                </a:cxnLst>
                <a:rect l="0" t="0" r="r" b="b"/>
                <a:pathLst>
                  <a:path w="350" h="653">
                    <a:moveTo>
                      <a:pt x="350" y="653"/>
                    </a:moveTo>
                    <a:cubicBezTo>
                      <a:pt x="335" y="476"/>
                      <a:pt x="320" y="300"/>
                      <a:pt x="262" y="191"/>
                    </a:cubicBezTo>
                    <a:cubicBezTo>
                      <a:pt x="204" y="82"/>
                      <a:pt x="102" y="41"/>
                      <a:pt x="0" y="0"/>
                    </a:cubicBezTo>
                  </a:path>
                </a:pathLst>
              </a:custGeom>
              <a:noFill/>
              <a:ln w="38100" cmpd="sng">
                <a:solidFill>
                  <a:schemeClr val="accent2"/>
                </a:solidFill>
                <a:round/>
                <a:headEnd/>
                <a:tailEnd type="stealth" w="lg" len="lg"/>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1600">
                  <a:latin typeface="Arial" panose="020B0604020202020204" pitchFamily="34" charset="0"/>
                  <a:cs typeface="Arial" panose="020B0604020202020204" pitchFamily="34" charset="0"/>
                </a:endParaRPr>
              </a:p>
            </p:txBody>
          </p:sp>
          <p:sp>
            <p:nvSpPr>
              <p:cNvPr id="82963" name="Freeform 19"/>
              <p:cNvSpPr>
                <a:spLocks/>
              </p:cNvSpPr>
              <p:nvPr/>
            </p:nvSpPr>
            <p:spPr bwMode="auto">
              <a:xfrm rot="-2540233">
                <a:off x="3529" y="288"/>
                <a:ext cx="576" cy="1060"/>
              </a:xfrm>
              <a:custGeom>
                <a:avLst/>
                <a:gdLst>
                  <a:gd name="T0" fmla="*/ 350 w 350"/>
                  <a:gd name="T1" fmla="*/ 653 h 653"/>
                  <a:gd name="T2" fmla="*/ 262 w 350"/>
                  <a:gd name="T3" fmla="*/ 191 h 653"/>
                  <a:gd name="T4" fmla="*/ 0 w 350"/>
                  <a:gd name="T5" fmla="*/ 0 h 653"/>
                </a:gdLst>
                <a:ahLst/>
                <a:cxnLst>
                  <a:cxn ang="0">
                    <a:pos x="T0" y="T1"/>
                  </a:cxn>
                  <a:cxn ang="0">
                    <a:pos x="T2" y="T3"/>
                  </a:cxn>
                  <a:cxn ang="0">
                    <a:pos x="T4" y="T5"/>
                  </a:cxn>
                </a:cxnLst>
                <a:rect l="0" t="0" r="r" b="b"/>
                <a:pathLst>
                  <a:path w="350" h="653">
                    <a:moveTo>
                      <a:pt x="350" y="653"/>
                    </a:moveTo>
                    <a:cubicBezTo>
                      <a:pt x="335" y="476"/>
                      <a:pt x="320" y="300"/>
                      <a:pt x="262" y="191"/>
                    </a:cubicBezTo>
                    <a:cubicBezTo>
                      <a:pt x="204" y="82"/>
                      <a:pt x="102" y="41"/>
                      <a:pt x="0" y="0"/>
                    </a:cubicBezTo>
                  </a:path>
                </a:pathLst>
              </a:custGeom>
              <a:noFill/>
              <a:ln w="38100" cmpd="sng">
                <a:solidFill>
                  <a:schemeClr val="accent2"/>
                </a:solidFill>
                <a:round/>
                <a:headEnd/>
                <a:tailEnd type="stealth" w="lg" len="lg"/>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1600">
                  <a:latin typeface="Arial" panose="020B0604020202020204" pitchFamily="34" charset="0"/>
                  <a:cs typeface="Arial" panose="020B0604020202020204" pitchFamily="34" charset="0"/>
                </a:endParaRPr>
              </a:p>
            </p:txBody>
          </p:sp>
          <p:sp>
            <p:nvSpPr>
              <p:cNvPr id="82964" name="Freeform 20"/>
              <p:cNvSpPr>
                <a:spLocks/>
              </p:cNvSpPr>
              <p:nvPr/>
            </p:nvSpPr>
            <p:spPr bwMode="auto">
              <a:xfrm rot="10800000">
                <a:off x="4641" y="1458"/>
                <a:ext cx="293" cy="381"/>
              </a:xfrm>
              <a:custGeom>
                <a:avLst/>
                <a:gdLst>
                  <a:gd name="T0" fmla="*/ 350 w 350"/>
                  <a:gd name="T1" fmla="*/ 653 h 653"/>
                  <a:gd name="T2" fmla="*/ 262 w 350"/>
                  <a:gd name="T3" fmla="*/ 191 h 653"/>
                  <a:gd name="T4" fmla="*/ 0 w 350"/>
                  <a:gd name="T5" fmla="*/ 0 h 653"/>
                </a:gdLst>
                <a:ahLst/>
                <a:cxnLst>
                  <a:cxn ang="0">
                    <a:pos x="T0" y="T1"/>
                  </a:cxn>
                  <a:cxn ang="0">
                    <a:pos x="T2" y="T3"/>
                  </a:cxn>
                  <a:cxn ang="0">
                    <a:pos x="T4" y="T5"/>
                  </a:cxn>
                </a:cxnLst>
                <a:rect l="0" t="0" r="r" b="b"/>
                <a:pathLst>
                  <a:path w="350" h="653">
                    <a:moveTo>
                      <a:pt x="350" y="653"/>
                    </a:moveTo>
                    <a:cubicBezTo>
                      <a:pt x="335" y="476"/>
                      <a:pt x="320" y="300"/>
                      <a:pt x="262" y="191"/>
                    </a:cubicBezTo>
                    <a:cubicBezTo>
                      <a:pt x="204" y="82"/>
                      <a:pt x="102" y="41"/>
                      <a:pt x="0" y="0"/>
                    </a:cubicBezTo>
                  </a:path>
                </a:pathLst>
              </a:custGeom>
              <a:noFill/>
              <a:ln w="38100" cmpd="sng">
                <a:solidFill>
                  <a:schemeClr val="accent2"/>
                </a:solidFill>
                <a:round/>
                <a:headEnd/>
                <a:tailEnd type="stealth" w="lg" len="lg"/>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sz="1600">
                  <a:latin typeface="Arial" panose="020B0604020202020204" pitchFamily="34" charset="0"/>
                  <a:cs typeface="Arial" panose="020B0604020202020204" pitchFamily="34" charset="0"/>
                </a:endParaRPr>
              </a:p>
            </p:txBody>
          </p:sp>
        </p:grpSp>
        <p:sp>
          <p:nvSpPr>
            <p:cNvPr id="82966" name="Text Box 22"/>
            <p:cNvSpPr txBox="1">
              <a:spLocks noChangeArrowheads="1"/>
            </p:cNvSpPr>
            <p:nvPr/>
          </p:nvSpPr>
          <p:spPr bwMode="auto">
            <a:xfrm>
              <a:off x="297" y="3394"/>
              <a:ext cx="2908" cy="25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sz="2000" dirty="0">
                  <a:latin typeface="Arial" panose="020B0604020202020204" pitchFamily="34" charset="0"/>
                  <a:cs typeface="Arial" panose="020B0604020202020204" pitchFamily="34" charset="0"/>
                </a:rPr>
                <a:t>2 local </a:t>
              </a:r>
              <a:r>
                <a:rPr lang="en-US" sz="2000" dirty="0">
                  <a:solidFill>
                    <a:srgbClr val="FF3300"/>
                  </a:solidFill>
                  <a:latin typeface="Arial" panose="020B0604020202020204" pitchFamily="34" charset="0"/>
                  <a:cs typeface="Arial" panose="020B0604020202020204" pitchFamily="34" charset="0"/>
                </a:rPr>
                <a:t>extinctions</a:t>
              </a:r>
              <a:r>
                <a:rPr lang="en-US" sz="2000" dirty="0">
                  <a:latin typeface="Arial" panose="020B0604020202020204" pitchFamily="34" charset="0"/>
                  <a:cs typeface="Arial" panose="020B0604020202020204" pitchFamily="34" charset="0"/>
                </a:rPr>
                <a:t>, 3 patches </a:t>
              </a:r>
              <a:r>
                <a:rPr lang="en-US" sz="2000" dirty="0">
                  <a:solidFill>
                    <a:srgbClr val="000099"/>
                  </a:solidFill>
                  <a:latin typeface="Arial" panose="020B0604020202020204" pitchFamily="34" charset="0"/>
                  <a:cs typeface="Arial" panose="020B0604020202020204" pitchFamily="34" charset="0"/>
                </a:rPr>
                <a:t>colonized</a:t>
              </a:r>
            </a:p>
          </p:txBody>
        </p:sp>
      </p:grpSp>
      <p:sp>
        <p:nvSpPr>
          <p:cNvPr id="20" name="Slide Number Placeholder 3"/>
          <p:cNvSpPr>
            <a:spLocks noGrp="1"/>
          </p:cNvSpPr>
          <p:nvPr>
            <p:ph type="sldNum" sz="quarter" idx="12"/>
          </p:nvPr>
        </p:nvSpPr>
        <p:spPr>
          <a:xfrm>
            <a:off x="6553200" y="6356356"/>
            <a:ext cx="2133600" cy="365125"/>
          </a:xfrm>
        </p:spPr>
        <p:txBody>
          <a:bodyPr/>
          <a:lstStyle/>
          <a:p>
            <a:fld id="{5E36FFF3-8FBC-2144-A340-2B54F44226F0}" type="slidenum">
              <a:rPr lang="en-US" smtClean="0"/>
              <a:pPr/>
              <a:t>9</a:t>
            </a:fld>
            <a:endParaRPr lang="en-US"/>
          </a:p>
        </p:txBody>
      </p:sp>
    </p:spTree>
    <p:extLst>
      <p:ext uri="{BB962C8B-B14F-4D97-AF65-F5344CB8AC3E}">
        <p14:creationId xmlns:p14="http://schemas.microsoft.com/office/powerpoint/2010/main" val="2465834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295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29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2950" name="Object 6"/>
          <p:cNvGraphicFramePr>
            <a:graphicFrameLocks noChangeAspect="1"/>
          </p:cNvGraphicFramePr>
          <p:nvPr/>
        </p:nvGraphicFramePr>
        <p:xfrm>
          <a:off x="0" y="1176343"/>
          <a:ext cx="9144000" cy="4014787"/>
        </p:xfrm>
        <a:graphic>
          <a:graphicData uri="http://schemas.openxmlformats.org/presentationml/2006/ole">
            <mc:AlternateContent xmlns:mc="http://schemas.openxmlformats.org/markup-compatibility/2006">
              <mc:Choice xmlns:v="urn:schemas-microsoft-com:vml" Requires="v">
                <p:oleObj name="Image" r:id="rId3" imgW="18107937" imgH="7949206" progId="PhotoshopElements.Image.2">
                  <p:embed/>
                </p:oleObj>
              </mc:Choice>
              <mc:Fallback>
                <p:oleObj name="Image" r:id="rId3" imgW="18107937" imgH="7949206" progId="PhotoshopElements.Image.2">
                  <p:embed/>
                  <p:pic>
                    <p:nvPicPr>
                      <p:cNvPr id="8295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176343"/>
                        <a:ext cx="9144000" cy="40147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82957" name="Text Box 13"/>
          <p:cNvSpPr txBox="1">
            <a:spLocks noChangeArrowheads="1"/>
          </p:cNvSpPr>
          <p:nvPr/>
        </p:nvSpPr>
        <p:spPr bwMode="auto">
          <a:xfrm>
            <a:off x="0" y="287342"/>
            <a:ext cx="9144000" cy="52315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lIns="91379" tIns="45689" rIns="91379" bIns="45689">
            <a:spAutoFit/>
          </a:bodyPr>
          <a:lstStyle/>
          <a:p>
            <a:pPr algn="ctr"/>
            <a:r>
              <a:rPr lang="en-US" sz="2800" dirty="0">
                <a:solidFill>
                  <a:srgbClr val="FF3300"/>
                </a:solidFill>
                <a:latin typeface="Arial" panose="020B0604020202020204" pitchFamily="34" charset="0"/>
                <a:cs typeface="Arial" panose="020B0604020202020204" pitchFamily="34" charset="0"/>
              </a:rPr>
              <a:t>EXTINCTION</a:t>
            </a:r>
            <a:r>
              <a:rPr lang="en-US" sz="2800" dirty="0">
                <a:latin typeface="Arial" panose="020B0604020202020204" pitchFamily="34" charset="0"/>
                <a:cs typeface="Arial" panose="020B0604020202020204" pitchFamily="34" charset="0"/>
              </a:rPr>
              <a:t> and </a:t>
            </a:r>
            <a:r>
              <a:rPr lang="en-US" sz="2800" dirty="0">
                <a:solidFill>
                  <a:srgbClr val="000099"/>
                </a:solidFill>
                <a:latin typeface="Arial" panose="020B0604020202020204" pitchFamily="34" charset="0"/>
                <a:cs typeface="Arial" panose="020B0604020202020204" pitchFamily="34" charset="0"/>
              </a:rPr>
              <a:t>COLONIZATION</a:t>
            </a:r>
          </a:p>
        </p:txBody>
      </p:sp>
      <p:grpSp>
        <p:nvGrpSpPr>
          <p:cNvPr id="82959" name="Group 15"/>
          <p:cNvGrpSpPr>
            <a:grpSpLocks/>
          </p:cNvGrpSpPr>
          <p:nvPr/>
        </p:nvGrpSpPr>
        <p:grpSpPr bwMode="auto">
          <a:xfrm>
            <a:off x="430213" y="1765306"/>
            <a:ext cx="8123237" cy="3924300"/>
            <a:chOff x="271" y="882"/>
            <a:chExt cx="5117" cy="2472"/>
          </a:xfrm>
        </p:grpSpPr>
        <p:grpSp>
          <p:nvGrpSpPr>
            <p:cNvPr id="82956" name="Group 12"/>
            <p:cNvGrpSpPr>
              <a:grpSpLocks/>
            </p:cNvGrpSpPr>
            <p:nvPr/>
          </p:nvGrpSpPr>
          <p:grpSpPr bwMode="auto">
            <a:xfrm>
              <a:off x="939" y="882"/>
              <a:ext cx="4449" cy="1734"/>
              <a:chOff x="939" y="1307"/>
              <a:chExt cx="4449" cy="1734"/>
            </a:xfrm>
          </p:grpSpPr>
          <p:graphicFrame>
            <p:nvGraphicFramePr>
              <p:cNvPr id="82951" name="Object 7"/>
              <p:cNvGraphicFramePr>
                <a:graphicFrameLocks noChangeAspect="1"/>
              </p:cNvGraphicFramePr>
              <p:nvPr>
                <p:extLst>
                  <p:ext uri="{D42A27DB-BD31-4B8C-83A1-F6EECF244321}">
                    <p14:modId xmlns:p14="http://schemas.microsoft.com/office/powerpoint/2010/main" val="1676153457"/>
                  </p:ext>
                </p:extLst>
              </p:nvPr>
            </p:nvGraphicFramePr>
            <p:xfrm>
              <a:off x="1982" y="1483"/>
              <a:ext cx="286" cy="531"/>
            </p:xfrm>
            <a:graphic>
              <a:graphicData uri="http://schemas.openxmlformats.org/presentationml/2006/ole">
                <mc:AlternateContent xmlns:mc="http://schemas.openxmlformats.org/markup-compatibility/2006">
                  <mc:Choice xmlns:v="urn:schemas-microsoft-com:vml" Requires="v">
                    <p:oleObj name="Image" r:id="rId5" imgW="1980952" imgH="3682540" progId="PhotoshopElements.Image.2">
                      <p:embed/>
                    </p:oleObj>
                  </mc:Choice>
                  <mc:Fallback>
                    <p:oleObj name="Image" r:id="rId5" imgW="1980952" imgH="3682540" progId="PhotoshopElements.Image.2">
                      <p:embed/>
                      <p:pic>
                        <p:nvPicPr>
                          <p:cNvPr id="82951"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2" y="1483"/>
                            <a:ext cx="286" cy="531"/>
                          </a:xfrm>
                          <a:prstGeom prst="rect">
                            <a:avLst/>
                          </a:prstGeom>
                          <a:noFill/>
                          <a:ln w="1905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82952" name="Object 8"/>
              <p:cNvGraphicFramePr>
                <a:graphicFrameLocks noChangeAspect="1"/>
              </p:cNvGraphicFramePr>
              <p:nvPr>
                <p:extLst>
                  <p:ext uri="{D42A27DB-BD31-4B8C-83A1-F6EECF244321}">
                    <p14:modId xmlns:p14="http://schemas.microsoft.com/office/powerpoint/2010/main" val="418827479"/>
                  </p:ext>
                </p:extLst>
              </p:nvPr>
            </p:nvGraphicFramePr>
            <p:xfrm>
              <a:off x="5102" y="2052"/>
              <a:ext cx="286" cy="531"/>
            </p:xfrm>
            <a:graphic>
              <a:graphicData uri="http://schemas.openxmlformats.org/presentationml/2006/ole">
                <mc:AlternateContent xmlns:mc="http://schemas.openxmlformats.org/markup-compatibility/2006">
                  <mc:Choice xmlns:v="urn:schemas-microsoft-com:vml" Requires="v">
                    <p:oleObj name="Image" r:id="rId7" imgW="1980952" imgH="3682540" progId="PhotoshopElements.Image.2">
                      <p:embed/>
                    </p:oleObj>
                  </mc:Choice>
                  <mc:Fallback>
                    <p:oleObj name="Image" r:id="rId7" imgW="1980952" imgH="3682540" progId="PhotoshopElements.Image.2">
                      <p:embed/>
                      <p:pic>
                        <p:nvPicPr>
                          <p:cNvPr id="82952"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02" y="2052"/>
                            <a:ext cx="286" cy="531"/>
                          </a:xfrm>
                          <a:prstGeom prst="rect">
                            <a:avLst/>
                          </a:prstGeom>
                          <a:noFill/>
                          <a:ln w="1905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82953" name="Object 9"/>
              <p:cNvGraphicFramePr>
                <a:graphicFrameLocks noChangeAspect="1"/>
              </p:cNvGraphicFramePr>
              <p:nvPr/>
            </p:nvGraphicFramePr>
            <p:xfrm>
              <a:off x="2551" y="2510"/>
              <a:ext cx="286" cy="531"/>
            </p:xfrm>
            <a:graphic>
              <a:graphicData uri="http://schemas.openxmlformats.org/presentationml/2006/ole">
                <mc:AlternateContent xmlns:mc="http://schemas.openxmlformats.org/markup-compatibility/2006">
                  <mc:Choice xmlns:v="urn:schemas-microsoft-com:vml" Requires="v">
                    <p:oleObj name="Image" r:id="rId8" imgW="1980952" imgH="3682540" progId="PhotoshopElements.Image.2">
                      <p:embed/>
                    </p:oleObj>
                  </mc:Choice>
                  <mc:Fallback>
                    <p:oleObj name="Image" r:id="rId8" imgW="1980952" imgH="3682540" progId="PhotoshopElements.Image.2">
                      <p:embed/>
                      <p:pic>
                        <p:nvPicPr>
                          <p:cNvPr id="82953"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51" y="2510"/>
                            <a:ext cx="286" cy="531"/>
                          </a:xfrm>
                          <a:prstGeom prst="rect">
                            <a:avLst/>
                          </a:prstGeom>
                          <a:noFill/>
                          <a:ln w="1905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82954" name="Object 10"/>
              <p:cNvGraphicFramePr>
                <a:graphicFrameLocks noChangeAspect="1"/>
              </p:cNvGraphicFramePr>
              <p:nvPr/>
            </p:nvGraphicFramePr>
            <p:xfrm>
              <a:off x="939" y="1786"/>
              <a:ext cx="286" cy="531"/>
            </p:xfrm>
            <a:graphic>
              <a:graphicData uri="http://schemas.openxmlformats.org/presentationml/2006/ole">
                <mc:AlternateContent xmlns:mc="http://schemas.openxmlformats.org/markup-compatibility/2006">
                  <mc:Choice xmlns:v="urn:schemas-microsoft-com:vml" Requires="v">
                    <p:oleObj name="Image" r:id="rId9" imgW="1980952" imgH="3682540" progId="PhotoshopElements.Image.2">
                      <p:embed/>
                    </p:oleObj>
                  </mc:Choice>
                  <mc:Fallback>
                    <p:oleObj name="Image" r:id="rId9" imgW="1980952" imgH="3682540" progId="PhotoshopElements.Image.2">
                      <p:embed/>
                      <p:pic>
                        <p:nvPicPr>
                          <p:cNvPr id="82954"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39" y="1786"/>
                            <a:ext cx="286" cy="531"/>
                          </a:xfrm>
                          <a:prstGeom prst="rect">
                            <a:avLst/>
                          </a:prstGeom>
                          <a:noFill/>
                          <a:ln w="1905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82955" name="Object 11"/>
              <p:cNvGraphicFramePr>
                <a:graphicFrameLocks noChangeAspect="1"/>
              </p:cNvGraphicFramePr>
              <p:nvPr/>
            </p:nvGraphicFramePr>
            <p:xfrm>
              <a:off x="4428" y="1307"/>
              <a:ext cx="286" cy="531"/>
            </p:xfrm>
            <a:graphic>
              <a:graphicData uri="http://schemas.openxmlformats.org/presentationml/2006/ole">
                <mc:AlternateContent xmlns:mc="http://schemas.openxmlformats.org/markup-compatibility/2006">
                  <mc:Choice xmlns:v="urn:schemas-microsoft-com:vml" Requires="v">
                    <p:oleObj name="Image" r:id="rId10" imgW="1980952" imgH="3682540" progId="PhotoshopElements.Image.2">
                      <p:embed/>
                    </p:oleObj>
                  </mc:Choice>
                  <mc:Fallback>
                    <p:oleObj name="Image" r:id="rId10" imgW="1980952" imgH="3682540" progId="PhotoshopElements.Image.2">
                      <p:embed/>
                      <p:pic>
                        <p:nvPicPr>
                          <p:cNvPr id="82955"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28" y="1307"/>
                            <a:ext cx="286" cy="531"/>
                          </a:xfrm>
                          <a:prstGeom prst="rect">
                            <a:avLst/>
                          </a:prstGeom>
                          <a:noFill/>
                          <a:ln w="1905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pSp>
        <p:sp>
          <p:nvSpPr>
            <p:cNvPr id="82958" name="Text Box 14"/>
            <p:cNvSpPr txBox="1">
              <a:spLocks noChangeArrowheads="1"/>
            </p:cNvSpPr>
            <p:nvPr/>
          </p:nvSpPr>
          <p:spPr bwMode="auto">
            <a:xfrm>
              <a:off x="271" y="3102"/>
              <a:ext cx="2583" cy="25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sz="2000" dirty="0">
                  <a:latin typeface="Arial" panose="020B0604020202020204" pitchFamily="34" charset="0"/>
                  <a:cs typeface="Arial" panose="020B0604020202020204" pitchFamily="34" charset="0"/>
                </a:rPr>
                <a:t>12 habitat patches, 5 are occupied</a:t>
              </a:r>
            </a:p>
          </p:txBody>
        </p:sp>
      </p:grpSp>
      <p:sp>
        <p:nvSpPr>
          <p:cNvPr id="82966" name="Text Box 22"/>
          <p:cNvSpPr txBox="1">
            <a:spLocks noChangeArrowheads="1"/>
          </p:cNvSpPr>
          <p:nvPr/>
        </p:nvSpPr>
        <p:spPr bwMode="auto">
          <a:xfrm>
            <a:off x="471489" y="5753101"/>
            <a:ext cx="7124699" cy="4000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l"/>
            <a:r>
              <a:rPr lang="en-US" sz="2000" dirty="0">
                <a:latin typeface="Arial" panose="020B0604020202020204" pitchFamily="34" charset="0"/>
                <a:cs typeface="Arial" panose="020B0604020202020204" pitchFamily="34" charset="0"/>
              </a:rPr>
              <a:t>2 local </a:t>
            </a:r>
            <a:r>
              <a:rPr lang="en-US" sz="2000" dirty="0">
                <a:solidFill>
                  <a:srgbClr val="FF3300"/>
                </a:solidFill>
                <a:latin typeface="Arial" panose="020B0604020202020204" pitchFamily="34" charset="0"/>
                <a:cs typeface="Arial" panose="020B0604020202020204" pitchFamily="34" charset="0"/>
              </a:rPr>
              <a:t>extinctions</a:t>
            </a:r>
            <a:r>
              <a:rPr lang="en-US" sz="2000" dirty="0">
                <a:latin typeface="Arial" panose="020B0604020202020204" pitchFamily="34" charset="0"/>
                <a:cs typeface="Arial" panose="020B0604020202020204" pitchFamily="34" charset="0"/>
              </a:rPr>
              <a:t>, 3 patches </a:t>
            </a:r>
            <a:r>
              <a:rPr lang="en-US" sz="2000" dirty="0">
                <a:solidFill>
                  <a:srgbClr val="000099"/>
                </a:solidFill>
                <a:latin typeface="Arial" panose="020B0604020202020204" pitchFamily="34" charset="0"/>
                <a:cs typeface="Arial" panose="020B0604020202020204" pitchFamily="34" charset="0"/>
              </a:rPr>
              <a:t>colonized</a:t>
            </a:r>
            <a:r>
              <a:rPr lang="en-US" sz="2000" dirty="0">
                <a:latin typeface="Arial" panose="020B0604020202020204" pitchFamily="34" charset="0"/>
                <a:cs typeface="Arial" panose="020B0604020202020204" pitchFamily="34" charset="0"/>
              </a:rPr>
              <a:t> – now 6 are occupied</a:t>
            </a:r>
          </a:p>
        </p:txBody>
      </p:sp>
      <p:sp>
        <p:nvSpPr>
          <p:cNvPr id="20" name="Slide Number Placeholder 3"/>
          <p:cNvSpPr>
            <a:spLocks noGrp="1"/>
          </p:cNvSpPr>
          <p:nvPr>
            <p:ph type="sldNum" sz="quarter" idx="12"/>
          </p:nvPr>
        </p:nvSpPr>
        <p:spPr>
          <a:xfrm>
            <a:off x="6553200" y="6356356"/>
            <a:ext cx="2133600" cy="365125"/>
          </a:xfrm>
        </p:spPr>
        <p:txBody>
          <a:bodyPr/>
          <a:lstStyle/>
          <a:p>
            <a:fld id="{5E36FFF3-8FBC-2144-A340-2B54F44226F0}" type="slidenum">
              <a:rPr lang="en-US" smtClean="0"/>
              <a:pPr/>
              <a:t>10</a:t>
            </a:fld>
            <a:endParaRPr lang="en-US"/>
          </a:p>
        </p:txBody>
      </p:sp>
      <p:graphicFrame>
        <p:nvGraphicFramePr>
          <p:cNvPr id="21" name="Object 8"/>
          <p:cNvGraphicFramePr>
            <a:graphicFrameLocks noChangeAspect="1"/>
          </p:cNvGraphicFramePr>
          <p:nvPr>
            <p:extLst>
              <p:ext uri="{D42A27DB-BD31-4B8C-83A1-F6EECF244321}">
                <p14:modId xmlns:p14="http://schemas.microsoft.com/office/powerpoint/2010/main" val="2772952383"/>
              </p:ext>
            </p:extLst>
          </p:nvPr>
        </p:nvGraphicFramePr>
        <p:xfrm>
          <a:off x="4593994" y="1242219"/>
          <a:ext cx="454025" cy="842963"/>
        </p:xfrm>
        <a:graphic>
          <a:graphicData uri="http://schemas.openxmlformats.org/presentationml/2006/ole">
            <mc:AlternateContent xmlns:mc="http://schemas.openxmlformats.org/markup-compatibility/2006">
              <mc:Choice xmlns:v="urn:schemas-microsoft-com:vml" Requires="v">
                <p:oleObj name="Image" r:id="rId11" imgW="1980952" imgH="3682540" progId="PhotoshopElements.Image.2">
                  <p:embed/>
                </p:oleObj>
              </mc:Choice>
              <mc:Fallback>
                <p:oleObj name="Image" r:id="rId11" imgW="1980952" imgH="3682540" progId="PhotoshopElements.Image.2">
                  <p:embed/>
                  <p:pic>
                    <p:nvPicPr>
                      <p:cNvPr id="21"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93994" y="1242219"/>
                        <a:ext cx="454025" cy="842963"/>
                      </a:xfrm>
                      <a:prstGeom prst="rect">
                        <a:avLst/>
                      </a:prstGeom>
                      <a:noFill/>
                      <a:ln w="1905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Tree>
    <p:extLst>
      <p:ext uri="{BB962C8B-B14F-4D97-AF65-F5344CB8AC3E}">
        <p14:creationId xmlns:p14="http://schemas.microsoft.com/office/powerpoint/2010/main" val="23690648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60342"/>
            <a:ext cx="8229600" cy="1143001"/>
          </a:xfrm>
        </p:spPr>
        <p:txBody>
          <a:bodyPr>
            <a:normAutofit/>
          </a:bodyPr>
          <a:lstStyle/>
          <a:p>
            <a:r>
              <a:rPr lang="en-US" dirty="0"/>
              <a:t>Turnover of patch occupancy over time</a:t>
            </a:r>
          </a:p>
        </p:txBody>
      </p:sp>
      <p:sp>
        <p:nvSpPr>
          <p:cNvPr id="4" name="Slide Number Placeholder 3"/>
          <p:cNvSpPr>
            <a:spLocks noGrp="1"/>
          </p:cNvSpPr>
          <p:nvPr>
            <p:ph type="sldNum" sz="quarter" idx="12"/>
          </p:nvPr>
        </p:nvSpPr>
        <p:spPr/>
        <p:txBody>
          <a:bodyPr/>
          <a:lstStyle/>
          <a:p>
            <a:fld id="{5E36FFF3-8FBC-2144-A340-2B54F44226F0}" type="slidenum">
              <a:rPr lang="en-US" smtClean="0"/>
              <a:pPr/>
              <a:t>11</a:t>
            </a:fld>
            <a:endParaRPr lang="en-US"/>
          </a:p>
        </p:txBody>
      </p:sp>
      <p:pic>
        <p:nvPicPr>
          <p:cNvPr id="5" name="Picture 4" descr="10_CH10_009.png"/>
          <p:cNvPicPr>
            <a:picLocks noChangeAspect="1"/>
          </p:cNvPicPr>
          <p:nvPr/>
        </p:nvPicPr>
        <p:blipFill>
          <a:blip r:embed="rId3"/>
          <a:stretch>
            <a:fillRect/>
          </a:stretch>
        </p:blipFill>
        <p:spPr>
          <a:xfrm>
            <a:off x="2244078" y="1250950"/>
            <a:ext cx="4309122" cy="5607050"/>
          </a:xfrm>
          <a:prstGeom prst="rect">
            <a:avLst/>
          </a:prstGeom>
        </p:spPr>
      </p:pic>
    </p:spTree>
    <p:extLst>
      <p:ext uri="{BB962C8B-B14F-4D97-AF65-F5344CB8AC3E}">
        <p14:creationId xmlns:p14="http://schemas.microsoft.com/office/powerpoint/2010/main" val="18981661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ltLang="en-US" b="1" dirty="0"/>
              <a:t>Formal Definitions </a:t>
            </a:r>
            <a:r>
              <a:rPr lang="en-US" altLang="en-US" sz="2000" b="1" dirty="0"/>
              <a:t>(</a:t>
            </a:r>
            <a:r>
              <a:rPr lang="en-US" altLang="en-US" sz="2000" b="1" dirty="0" err="1"/>
              <a:t>Hanski</a:t>
            </a:r>
            <a:r>
              <a:rPr lang="en-US" altLang="en-US" sz="2000" b="1" dirty="0"/>
              <a:t> and </a:t>
            </a:r>
            <a:r>
              <a:rPr lang="en-US" altLang="en-US" sz="2000" b="1" dirty="0" err="1"/>
              <a:t>Simberloff</a:t>
            </a:r>
            <a:r>
              <a:rPr lang="en-US" altLang="en-US" sz="2000" b="1" dirty="0"/>
              <a:t> 1997)</a:t>
            </a:r>
          </a:p>
        </p:txBody>
      </p:sp>
      <p:sp>
        <p:nvSpPr>
          <p:cNvPr id="5123" name="Rectangle 3"/>
          <p:cNvSpPr>
            <a:spLocks noGrp="1" noChangeArrowheads="1"/>
          </p:cNvSpPr>
          <p:nvPr>
            <p:ph type="body" idx="1"/>
          </p:nvPr>
        </p:nvSpPr>
        <p:spPr>
          <a:xfrm>
            <a:off x="123826" y="1600205"/>
            <a:ext cx="9020174" cy="4525963"/>
          </a:xfrm>
        </p:spPr>
        <p:txBody>
          <a:bodyPr>
            <a:normAutofit/>
          </a:bodyPr>
          <a:lstStyle/>
          <a:p>
            <a:pPr>
              <a:lnSpc>
                <a:spcPct val="90000"/>
              </a:lnSpc>
            </a:pPr>
            <a:r>
              <a:rPr lang="en-US" altLang="en-US" sz="2800" b="1" dirty="0">
                <a:solidFill>
                  <a:srgbClr val="FF0000"/>
                </a:solidFill>
              </a:rPr>
              <a:t>Local Population: </a:t>
            </a:r>
            <a:r>
              <a:rPr lang="en-US" altLang="en-US" sz="2400" b="1" i="1" dirty="0">
                <a:solidFill>
                  <a:srgbClr val="FF0000"/>
                </a:solidFill>
              </a:rPr>
              <a:t>“Population, subpopulation, deme”</a:t>
            </a:r>
          </a:p>
          <a:p>
            <a:pPr lvl="1">
              <a:lnSpc>
                <a:spcPct val="90000"/>
              </a:lnSpc>
            </a:pPr>
            <a:r>
              <a:rPr lang="en-US" altLang="en-US" sz="2400" dirty="0"/>
              <a:t>Set of individuals that live in the same habitat patch and therefore interact with each other; most practically applied to “populations” living in such small patches that all individuals practically share a common environment</a:t>
            </a:r>
          </a:p>
          <a:p>
            <a:pPr>
              <a:lnSpc>
                <a:spcPct val="90000"/>
              </a:lnSpc>
            </a:pPr>
            <a:endParaRPr lang="en-US" altLang="en-US" sz="2800" dirty="0"/>
          </a:p>
          <a:p>
            <a:pPr>
              <a:lnSpc>
                <a:spcPct val="90000"/>
              </a:lnSpc>
            </a:pPr>
            <a:r>
              <a:rPr lang="en-US" altLang="en-US" sz="2800" b="1" dirty="0" err="1">
                <a:solidFill>
                  <a:srgbClr val="FF0000"/>
                </a:solidFill>
              </a:rPr>
              <a:t>Metapopulation</a:t>
            </a:r>
            <a:r>
              <a:rPr lang="en-US" altLang="en-US" sz="2800" b="1" dirty="0">
                <a:solidFill>
                  <a:srgbClr val="FF0000"/>
                </a:solidFill>
              </a:rPr>
              <a:t>:</a:t>
            </a:r>
          </a:p>
          <a:p>
            <a:pPr lvl="1">
              <a:lnSpc>
                <a:spcPct val="90000"/>
              </a:lnSpc>
            </a:pPr>
            <a:r>
              <a:rPr lang="en-US" altLang="en-US" sz="2400" dirty="0"/>
              <a:t>Set of local populations within some larger area, where typically migration from one local population to at least some other patches is possible (but see non-equilibrium </a:t>
            </a:r>
            <a:r>
              <a:rPr lang="en-US" altLang="en-US" sz="2400" dirty="0" err="1"/>
              <a:t>metapopulation</a:t>
            </a:r>
            <a:r>
              <a:rPr lang="en-US" altLang="en-US" sz="2400" dirty="0"/>
              <a:t> where this is not needed)</a:t>
            </a:r>
          </a:p>
        </p:txBody>
      </p:sp>
    </p:spTree>
    <p:extLst>
      <p:ext uri="{BB962C8B-B14F-4D97-AF65-F5344CB8AC3E}">
        <p14:creationId xmlns:p14="http://schemas.microsoft.com/office/powerpoint/2010/main" val="3055342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2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609600" y="0"/>
            <a:ext cx="7772400" cy="1143000"/>
          </a:xfrm>
        </p:spPr>
        <p:txBody>
          <a:bodyPr/>
          <a:lstStyle/>
          <a:p>
            <a:r>
              <a:rPr lang="en-US" altLang="en-US" b="1" dirty="0"/>
              <a:t>Types of Metapopulations</a:t>
            </a:r>
          </a:p>
        </p:txBody>
      </p:sp>
      <p:sp>
        <p:nvSpPr>
          <p:cNvPr id="6147" name="Rectangle 3"/>
          <p:cNvSpPr>
            <a:spLocks noGrp="1" noChangeArrowheads="1"/>
          </p:cNvSpPr>
          <p:nvPr>
            <p:ph type="body" idx="1"/>
          </p:nvPr>
        </p:nvSpPr>
        <p:spPr>
          <a:xfrm>
            <a:off x="381000" y="1295399"/>
            <a:ext cx="8001000" cy="5063359"/>
          </a:xfrm>
        </p:spPr>
        <p:txBody>
          <a:bodyPr>
            <a:normAutofit lnSpcReduction="10000"/>
          </a:bodyPr>
          <a:lstStyle/>
          <a:p>
            <a:pPr>
              <a:lnSpc>
                <a:spcPct val="90000"/>
              </a:lnSpc>
            </a:pPr>
            <a:r>
              <a:rPr lang="en-US" altLang="en-US" sz="2800" b="1" dirty="0" err="1">
                <a:solidFill>
                  <a:srgbClr val="FF0000"/>
                </a:solidFill>
              </a:rPr>
              <a:t>Levins</a:t>
            </a:r>
            <a:r>
              <a:rPr lang="en-US" altLang="en-US" sz="2800" b="1" dirty="0">
                <a:solidFill>
                  <a:srgbClr val="FF0000"/>
                </a:solidFill>
              </a:rPr>
              <a:t> </a:t>
            </a:r>
            <a:r>
              <a:rPr lang="en-US" altLang="en-US" sz="2800" b="1" dirty="0" err="1">
                <a:solidFill>
                  <a:srgbClr val="FF0000"/>
                </a:solidFill>
              </a:rPr>
              <a:t>metapopulation</a:t>
            </a:r>
            <a:r>
              <a:rPr lang="en-US" altLang="en-US" sz="2800" b="1" dirty="0">
                <a:solidFill>
                  <a:srgbClr val="FF0000"/>
                </a:solidFill>
              </a:rPr>
              <a:t> </a:t>
            </a:r>
          </a:p>
          <a:p>
            <a:pPr marL="0" indent="0">
              <a:lnSpc>
                <a:spcPct val="90000"/>
              </a:lnSpc>
              <a:buNone/>
            </a:pPr>
            <a:r>
              <a:rPr lang="en-US" altLang="en-US" sz="2800" b="1" i="1" dirty="0"/>
              <a:t>	</a:t>
            </a:r>
            <a:r>
              <a:rPr lang="en-US" altLang="en-US" sz="2000" b="1" i="1" dirty="0"/>
              <a:t>“classical </a:t>
            </a:r>
            <a:r>
              <a:rPr lang="en-US" altLang="en-US" sz="2000" b="1" i="1" dirty="0" err="1"/>
              <a:t>metapopulation</a:t>
            </a:r>
            <a:r>
              <a:rPr lang="en-US" altLang="en-US" sz="2000" b="1" i="1" dirty="0"/>
              <a:t>”</a:t>
            </a:r>
          </a:p>
          <a:p>
            <a:pPr lvl="1">
              <a:lnSpc>
                <a:spcPct val="90000"/>
              </a:lnSpc>
            </a:pPr>
            <a:r>
              <a:rPr lang="en-US" altLang="en-US" sz="2400" dirty="0"/>
              <a:t>A large network of similar small patches, with local dynamics occurring at a much faster time scale than </a:t>
            </a:r>
            <a:r>
              <a:rPr lang="en-US" altLang="en-US" sz="2400" dirty="0" err="1"/>
              <a:t>metapopulation</a:t>
            </a:r>
            <a:r>
              <a:rPr lang="en-US" altLang="en-US" sz="2400" dirty="0"/>
              <a:t> dynamics; sometimes used to describe a system in which all local populations have a </a:t>
            </a:r>
            <a:r>
              <a:rPr lang="en-US" altLang="en-US" sz="2400" b="1" dirty="0"/>
              <a:t>high risk of extinction</a:t>
            </a:r>
          </a:p>
          <a:p>
            <a:pPr>
              <a:lnSpc>
                <a:spcPct val="90000"/>
              </a:lnSpc>
            </a:pPr>
            <a:endParaRPr lang="en-US" altLang="en-US" sz="2800" dirty="0"/>
          </a:p>
          <a:p>
            <a:pPr>
              <a:lnSpc>
                <a:spcPct val="90000"/>
              </a:lnSpc>
            </a:pPr>
            <a:r>
              <a:rPr lang="en-US" altLang="en-US" sz="2800" b="1" dirty="0">
                <a:solidFill>
                  <a:srgbClr val="FF0000"/>
                </a:solidFill>
              </a:rPr>
              <a:t>Mainland-island </a:t>
            </a:r>
            <a:r>
              <a:rPr lang="en-US" altLang="en-US" sz="2800" b="1" dirty="0" err="1">
                <a:solidFill>
                  <a:srgbClr val="FF0000"/>
                </a:solidFill>
              </a:rPr>
              <a:t>metapopulation</a:t>
            </a:r>
            <a:r>
              <a:rPr lang="en-US" altLang="en-US" sz="2800" b="1" dirty="0">
                <a:solidFill>
                  <a:srgbClr val="FF0000"/>
                </a:solidFill>
              </a:rPr>
              <a:t> </a:t>
            </a:r>
          </a:p>
          <a:p>
            <a:pPr marL="0" indent="0">
              <a:lnSpc>
                <a:spcPct val="90000"/>
              </a:lnSpc>
              <a:buNone/>
            </a:pPr>
            <a:r>
              <a:rPr lang="en-US" altLang="en-US" sz="2800" b="1" i="1" dirty="0"/>
              <a:t>	</a:t>
            </a:r>
            <a:r>
              <a:rPr lang="en-US" altLang="en-US" sz="2000" b="1" i="1" dirty="0"/>
              <a:t>“</a:t>
            </a:r>
            <a:r>
              <a:rPr lang="en-US" altLang="en-US" sz="2000" b="1" i="1" dirty="0" err="1"/>
              <a:t>Boorman</a:t>
            </a:r>
            <a:r>
              <a:rPr lang="en-US" altLang="en-US" sz="2000" b="1" i="1" dirty="0"/>
              <a:t>-Levitt </a:t>
            </a:r>
            <a:r>
              <a:rPr lang="en-US" altLang="en-US" sz="2000" b="1" i="1" dirty="0" err="1"/>
              <a:t>metapopulation</a:t>
            </a:r>
            <a:r>
              <a:rPr lang="en-US" altLang="en-US" sz="2000" b="1" i="1" dirty="0"/>
              <a:t>”</a:t>
            </a:r>
          </a:p>
          <a:p>
            <a:pPr lvl="1">
              <a:lnSpc>
                <a:spcPct val="90000"/>
              </a:lnSpc>
            </a:pPr>
            <a:r>
              <a:rPr lang="en-US" altLang="en-US" sz="2400" dirty="0"/>
              <a:t>System of habitat patches located within dispersal distance from a very large habitat patch where the local population never goes extinct (hence, M-I </a:t>
            </a:r>
            <a:r>
              <a:rPr lang="en-US" altLang="en-US" sz="2400" dirty="0" err="1"/>
              <a:t>metapopulations</a:t>
            </a:r>
            <a:r>
              <a:rPr lang="en-US" altLang="en-US" sz="2400" dirty="0"/>
              <a:t> </a:t>
            </a:r>
            <a:r>
              <a:rPr lang="en-US" altLang="en-US" sz="2400" b="1" dirty="0"/>
              <a:t>never go extinct</a:t>
            </a:r>
            <a:r>
              <a:rPr lang="en-US" altLang="en-US" sz="2400" dirty="0"/>
              <a:t>)</a:t>
            </a:r>
          </a:p>
          <a:p>
            <a:pPr lvl="1">
              <a:lnSpc>
                <a:spcPct val="90000"/>
              </a:lnSpc>
              <a:buFontTx/>
              <a:buNone/>
            </a:pPr>
            <a:endParaRPr lang="en-US" altLang="en-US" sz="2400" dirty="0"/>
          </a:p>
        </p:txBody>
      </p:sp>
    </p:spTree>
    <p:extLst>
      <p:ext uri="{BB962C8B-B14F-4D97-AF65-F5344CB8AC3E}">
        <p14:creationId xmlns:p14="http://schemas.microsoft.com/office/powerpoint/2010/main" val="3120567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7">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47">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14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09600" y="0"/>
            <a:ext cx="7772400" cy="1143000"/>
          </a:xfrm>
        </p:spPr>
        <p:txBody>
          <a:bodyPr/>
          <a:lstStyle/>
          <a:p>
            <a:r>
              <a:rPr lang="en-US" altLang="en-US" b="1" dirty="0"/>
              <a:t>More Types of Metapopulations</a:t>
            </a:r>
          </a:p>
        </p:txBody>
      </p:sp>
      <p:sp>
        <p:nvSpPr>
          <p:cNvPr id="7171" name="Rectangle 3"/>
          <p:cNvSpPr>
            <a:spLocks noGrp="1" noChangeArrowheads="1"/>
          </p:cNvSpPr>
          <p:nvPr>
            <p:ph type="body" idx="1"/>
          </p:nvPr>
        </p:nvSpPr>
        <p:spPr>
          <a:xfrm>
            <a:off x="381000" y="1295400"/>
            <a:ext cx="8458200" cy="5042338"/>
          </a:xfrm>
        </p:spPr>
        <p:txBody>
          <a:bodyPr/>
          <a:lstStyle/>
          <a:p>
            <a:r>
              <a:rPr lang="en-US" altLang="en-US" sz="2800" b="1" dirty="0">
                <a:solidFill>
                  <a:srgbClr val="FF0000"/>
                </a:solidFill>
              </a:rPr>
              <a:t>Source-sink </a:t>
            </a:r>
            <a:r>
              <a:rPr lang="en-US" altLang="en-US" sz="2800" b="1" dirty="0" err="1">
                <a:solidFill>
                  <a:srgbClr val="FF0000"/>
                </a:solidFill>
              </a:rPr>
              <a:t>metapopulation</a:t>
            </a:r>
            <a:endParaRPr lang="en-US" altLang="en-US" sz="2800" b="1" dirty="0">
              <a:solidFill>
                <a:srgbClr val="FF0000"/>
              </a:solidFill>
            </a:endParaRPr>
          </a:p>
          <a:p>
            <a:pPr lvl="1"/>
            <a:r>
              <a:rPr lang="en-US" altLang="en-US" sz="2400" dirty="0"/>
              <a:t>System where at low density there are subpopulations with negative growth rates (in absence of dispersal) and positive growth rates</a:t>
            </a:r>
          </a:p>
          <a:p>
            <a:endParaRPr lang="en-US" altLang="en-US" sz="2800" dirty="0"/>
          </a:p>
          <a:p>
            <a:r>
              <a:rPr lang="en-US" altLang="en-US" sz="2800" b="1" dirty="0">
                <a:solidFill>
                  <a:srgbClr val="FF0000"/>
                </a:solidFill>
              </a:rPr>
              <a:t>Non-equilibrium </a:t>
            </a:r>
            <a:r>
              <a:rPr lang="en-US" altLang="en-US" sz="2800" b="1" dirty="0" err="1">
                <a:solidFill>
                  <a:srgbClr val="FF0000"/>
                </a:solidFill>
              </a:rPr>
              <a:t>metapopulation</a:t>
            </a:r>
            <a:endParaRPr lang="en-US" altLang="en-US" sz="2800" b="1" dirty="0">
              <a:solidFill>
                <a:srgbClr val="FF0000"/>
              </a:solidFill>
            </a:endParaRPr>
          </a:p>
          <a:p>
            <a:pPr lvl="1"/>
            <a:r>
              <a:rPr lang="en-US" altLang="en-US" sz="2400" dirty="0"/>
              <a:t>System in which long-term extinction rates exceed colonization </a:t>
            </a:r>
            <a:r>
              <a:rPr lang="en-US" altLang="en-US" sz="2400" b="1" dirty="0"/>
              <a:t>or</a:t>
            </a:r>
            <a:r>
              <a:rPr lang="en-US" altLang="en-US" sz="2400" dirty="0"/>
              <a:t> vice-versa; an extreme case is where isolation among subpopulations is so great that dispersal (and hence recolonization) is precluded</a:t>
            </a:r>
          </a:p>
        </p:txBody>
      </p:sp>
    </p:spTree>
    <p:extLst>
      <p:ext uri="{BB962C8B-B14F-4D97-AF65-F5344CB8AC3E}">
        <p14:creationId xmlns:p14="http://schemas.microsoft.com/office/powerpoint/2010/main" val="3551918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1">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7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Image resul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7403" y="1128545"/>
            <a:ext cx="6738712" cy="50756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76996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8" name="Text Box 4"/>
          <p:cNvSpPr txBox="1">
            <a:spLocks noChangeArrowheads="1"/>
          </p:cNvSpPr>
          <p:nvPr/>
        </p:nvSpPr>
        <p:spPr bwMode="auto">
          <a:xfrm>
            <a:off x="-81275" y="122680"/>
            <a:ext cx="6718050" cy="95404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lIns="91379" tIns="45689" rIns="91379" bIns="45689">
            <a:spAutoFit/>
          </a:bodyPr>
          <a:lstStyle/>
          <a:p>
            <a:pPr algn="ctr"/>
            <a:r>
              <a:rPr lang="en-US" sz="2800" b="1" dirty="0">
                <a:solidFill>
                  <a:srgbClr val="C00000"/>
                </a:solidFill>
                <a:latin typeface="Arial"/>
                <a:cs typeface="Arial"/>
              </a:rPr>
              <a:t>Key conservation messages </a:t>
            </a:r>
          </a:p>
          <a:p>
            <a:pPr algn="ctr"/>
            <a:r>
              <a:rPr lang="en-US" sz="2800" b="1" dirty="0">
                <a:solidFill>
                  <a:srgbClr val="C00000"/>
                </a:solidFill>
                <a:latin typeface="Arial"/>
                <a:cs typeface="Arial"/>
              </a:rPr>
              <a:t>from </a:t>
            </a:r>
            <a:r>
              <a:rPr lang="en-US" sz="2800" b="1" dirty="0" err="1">
                <a:solidFill>
                  <a:srgbClr val="C00000"/>
                </a:solidFill>
                <a:latin typeface="Arial"/>
                <a:cs typeface="Arial"/>
              </a:rPr>
              <a:t>metapopulation</a:t>
            </a:r>
            <a:r>
              <a:rPr lang="en-US" sz="2800" b="1" dirty="0">
                <a:solidFill>
                  <a:srgbClr val="C00000"/>
                </a:solidFill>
                <a:latin typeface="Arial"/>
                <a:cs typeface="Arial"/>
              </a:rPr>
              <a:t> theory</a:t>
            </a:r>
          </a:p>
        </p:txBody>
      </p:sp>
      <p:sp>
        <p:nvSpPr>
          <p:cNvPr id="113669" name="Text Box 5"/>
          <p:cNvSpPr txBox="1">
            <a:spLocks noChangeArrowheads="1"/>
          </p:cNvSpPr>
          <p:nvPr/>
        </p:nvSpPr>
        <p:spPr bwMode="auto">
          <a:xfrm>
            <a:off x="250011" y="1348585"/>
            <a:ext cx="6386764" cy="470891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lIns="91379" tIns="45689" rIns="91379" bIns="45689">
            <a:spAutoFit/>
          </a:bodyPr>
          <a:lstStyle/>
          <a:p>
            <a:pPr marL="342675" indent="-342675">
              <a:buFont typeface="Wingdings" charset="2"/>
              <a:buChar char="§"/>
            </a:pPr>
            <a:r>
              <a:rPr lang="en-US" sz="2000" dirty="0">
                <a:latin typeface="Arial"/>
                <a:cs typeface="Arial"/>
              </a:rPr>
              <a:t>Unoccupied but suitable habitat can be very important</a:t>
            </a:r>
          </a:p>
          <a:p>
            <a:pPr algn="l"/>
            <a:endParaRPr lang="en-US" sz="2000" dirty="0">
              <a:latin typeface="Arial"/>
              <a:cs typeface="Arial"/>
            </a:endParaRPr>
          </a:p>
          <a:p>
            <a:pPr marL="342675" indent="-342675">
              <a:buFont typeface="Wingdings" charset="2"/>
              <a:buChar char="§"/>
            </a:pPr>
            <a:r>
              <a:rPr lang="en-US" sz="2000" dirty="0">
                <a:latin typeface="Arial"/>
                <a:cs typeface="Arial"/>
              </a:rPr>
              <a:t>Reduced dispersal success can cause a </a:t>
            </a:r>
            <a:r>
              <a:rPr lang="en-US" sz="2000" dirty="0" err="1">
                <a:latin typeface="Arial"/>
                <a:cs typeface="Arial"/>
              </a:rPr>
              <a:t>metapopulation</a:t>
            </a:r>
            <a:r>
              <a:rPr lang="en-US" sz="2000" dirty="0">
                <a:latin typeface="Arial"/>
                <a:cs typeface="Arial"/>
              </a:rPr>
              <a:t> to become extinct</a:t>
            </a:r>
          </a:p>
          <a:p>
            <a:pPr algn="l"/>
            <a:endParaRPr lang="en-US" sz="2000" dirty="0">
              <a:latin typeface="Arial"/>
              <a:cs typeface="Arial"/>
            </a:endParaRPr>
          </a:p>
          <a:p>
            <a:pPr marL="342675" indent="-342675">
              <a:buFont typeface="Wingdings" charset="2"/>
              <a:buChar char="§"/>
            </a:pPr>
            <a:r>
              <a:rPr lang="en-US" sz="2000" dirty="0">
                <a:latin typeface="Arial"/>
                <a:cs typeface="Arial"/>
              </a:rPr>
              <a:t>A </a:t>
            </a:r>
            <a:r>
              <a:rPr lang="en-US" sz="2000" dirty="0" err="1">
                <a:latin typeface="Arial"/>
                <a:cs typeface="Arial"/>
              </a:rPr>
              <a:t>metapopulation</a:t>
            </a:r>
            <a:r>
              <a:rPr lang="en-US" sz="2000" dirty="0">
                <a:latin typeface="Arial"/>
                <a:cs typeface="Arial"/>
              </a:rPr>
              <a:t> can become extinct long before all of the habitat patches are destroyed     </a:t>
            </a:r>
            <a:r>
              <a:rPr lang="en-US" sz="2000" dirty="0">
                <a:latin typeface="Arial"/>
                <a:cs typeface="Arial"/>
                <a:sym typeface="Wingdings" panose="05000000000000000000" pitchFamily="2" charset="2"/>
              </a:rPr>
              <a:t></a:t>
            </a:r>
            <a:r>
              <a:rPr lang="en-US" sz="2000" dirty="0">
                <a:latin typeface="Arial"/>
                <a:cs typeface="Arial"/>
              </a:rPr>
              <a:t>  </a:t>
            </a:r>
            <a:r>
              <a:rPr lang="en-US" sz="2000" dirty="0">
                <a:solidFill>
                  <a:srgbClr val="FF0000"/>
                </a:solidFill>
                <a:latin typeface="Arial"/>
                <a:cs typeface="Arial"/>
              </a:rPr>
              <a:t>Critical Threshold for Habitat Destruction</a:t>
            </a:r>
          </a:p>
          <a:p>
            <a:pPr algn="l"/>
            <a:r>
              <a:rPr lang="en-US" sz="2000" dirty="0">
                <a:latin typeface="Arial"/>
                <a:cs typeface="Arial"/>
              </a:rPr>
              <a:t> </a:t>
            </a:r>
          </a:p>
          <a:p>
            <a:pPr marL="456895" indent="-456895">
              <a:buFont typeface="Wingdings" charset="2"/>
              <a:buChar char="§"/>
            </a:pPr>
            <a:r>
              <a:rPr lang="en-US" sz="2000" dirty="0">
                <a:latin typeface="Arial"/>
                <a:cs typeface="Arial"/>
              </a:rPr>
              <a:t>Arrangement and connectivity of patches can be just as important as the absolute amount of habitat that remains</a:t>
            </a:r>
          </a:p>
          <a:p>
            <a:pPr marL="342675" indent="-342675">
              <a:buFont typeface="Wingdings" charset="2"/>
              <a:buChar char="§"/>
            </a:pPr>
            <a:endParaRPr lang="en-US" sz="2000" dirty="0">
              <a:latin typeface="Arial"/>
              <a:cs typeface="Arial"/>
            </a:endParaRPr>
          </a:p>
          <a:p>
            <a:pPr marL="342675" indent="-342675">
              <a:buFont typeface="Wingdings" charset="2"/>
              <a:buChar char="§"/>
            </a:pPr>
            <a:r>
              <a:rPr lang="en-US" sz="2000" dirty="0">
                <a:latin typeface="Arial"/>
                <a:cs typeface="Arial"/>
              </a:rPr>
              <a:t>What happens locally depends on regional context</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36775" y="-108154"/>
            <a:ext cx="2507225" cy="1849079"/>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36775" y="1598357"/>
            <a:ext cx="2507225" cy="1880419"/>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36775" y="3201598"/>
            <a:ext cx="2507225" cy="1903924"/>
          </a:xfrm>
          <a:prstGeom prst="rect">
            <a:avLst/>
          </a:prstGeom>
        </p:spPr>
      </p:pic>
      <p:pic>
        <p:nvPicPr>
          <p:cNvPr id="8" name="Picture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36775" y="5055136"/>
            <a:ext cx="2507225" cy="1880419"/>
          </a:xfrm>
          <a:prstGeom prst="rect">
            <a:avLst/>
          </a:prstGeom>
        </p:spPr>
      </p:pic>
    </p:spTree>
    <p:extLst>
      <p:ext uri="{BB962C8B-B14F-4D97-AF65-F5344CB8AC3E}">
        <p14:creationId xmlns:p14="http://schemas.microsoft.com/office/powerpoint/2010/main" val="37727674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09600" y="0"/>
            <a:ext cx="7772400" cy="1143000"/>
          </a:xfrm>
        </p:spPr>
        <p:txBody>
          <a:bodyPr>
            <a:normAutofit/>
          </a:bodyPr>
          <a:lstStyle/>
          <a:p>
            <a:r>
              <a:rPr lang="en-US" altLang="en-US" b="1" dirty="0"/>
              <a:t>More on Sources and Sinks</a:t>
            </a:r>
          </a:p>
        </p:txBody>
      </p:sp>
      <p:pic>
        <p:nvPicPr>
          <p:cNvPr id="12290" name="Picture 2">
            <a:extLst>
              <a:ext uri="{FF2B5EF4-FFF2-40B4-BE49-F238E27FC236}">
                <a16:creationId xmlns:a16="http://schemas.microsoft.com/office/drawing/2014/main" id="{483AC557-C952-3C0C-9590-DDAD3E222C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945" y="1387534"/>
            <a:ext cx="3911517" cy="348125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22D9F3B-A95F-371A-48B6-86DFFF6373E7}"/>
              </a:ext>
            </a:extLst>
          </p:cNvPr>
          <p:cNvSpPr txBox="1"/>
          <p:nvPr/>
        </p:nvSpPr>
        <p:spPr>
          <a:xfrm>
            <a:off x="4401879" y="1234494"/>
            <a:ext cx="4327990" cy="3970318"/>
          </a:xfrm>
          <a:prstGeom prst="rect">
            <a:avLst/>
          </a:prstGeom>
          <a:noFill/>
        </p:spPr>
        <p:txBody>
          <a:bodyPr wrap="square">
            <a:spAutoFit/>
          </a:bodyPr>
          <a:lstStyle/>
          <a:p>
            <a:pPr algn="l"/>
            <a:r>
              <a:rPr lang="en-US" b="1" i="0" dirty="0">
                <a:effectLst/>
                <a:latin typeface="Arial" panose="020B0604020202020204" pitchFamily="34" charset="0"/>
                <a:cs typeface="Arial" panose="020B0604020202020204" pitchFamily="34" charset="0"/>
              </a:rPr>
              <a:t>Source </a:t>
            </a:r>
            <a:r>
              <a:rPr lang="en-US" b="0" i="0" dirty="0">
                <a:effectLst/>
                <a:latin typeface="Arial" panose="020B0604020202020204" pitchFamily="34" charset="0"/>
                <a:cs typeface="Arial" panose="020B0604020202020204" pitchFamily="34" charset="0"/>
              </a:rPr>
              <a:t>= a patch with a positive intrinsic growth rate (r&gt;0) that contributes more </a:t>
            </a:r>
            <a:r>
              <a:rPr lang="en-US" b="1" i="0" dirty="0">
                <a:effectLst/>
                <a:latin typeface="Arial" panose="020B0604020202020204" pitchFamily="34" charset="0"/>
                <a:cs typeface="Arial" panose="020B0604020202020204" pitchFamily="34" charset="0"/>
              </a:rPr>
              <a:t>immigrants</a:t>
            </a:r>
            <a:r>
              <a:rPr lang="en-US" b="0" i="0" dirty="0">
                <a:effectLst/>
                <a:latin typeface="Arial" panose="020B0604020202020204" pitchFamily="34" charset="0"/>
                <a:cs typeface="Arial" panose="020B0604020202020204" pitchFamily="34" charset="0"/>
              </a:rPr>
              <a:t> to nearby patches than it receives back from these neighboring patches. A source population should persist indefinitely, even in isolation.</a:t>
            </a:r>
          </a:p>
          <a:p>
            <a:pPr algn="l"/>
            <a:endParaRPr lang="en-US" b="0" i="0" dirty="0">
              <a:effectLst/>
              <a:latin typeface="Arial" panose="020B0604020202020204" pitchFamily="34" charset="0"/>
              <a:cs typeface="Arial" panose="020B0604020202020204" pitchFamily="34" charset="0"/>
            </a:endParaRPr>
          </a:p>
          <a:p>
            <a:pPr algn="l"/>
            <a:r>
              <a:rPr lang="en-US" b="1" dirty="0">
                <a:latin typeface="Arial" panose="020B0604020202020204" pitchFamily="34" charset="0"/>
                <a:cs typeface="Arial" panose="020B0604020202020204" pitchFamily="34" charset="0"/>
              </a:rPr>
              <a:t>S</a:t>
            </a:r>
            <a:r>
              <a:rPr lang="en-US" b="1" i="0" dirty="0">
                <a:effectLst/>
                <a:latin typeface="Arial" panose="020B0604020202020204" pitchFamily="34" charset="0"/>
                <a:cs typeface="Arial" panose="020B0604020202020204" pitchFamily="34" charset="0"/>
              </a:rPr>
              <a:t>ink </a:t>
            </a:r>
            <a:r>
              <a:rPr lang="en-US" i="0" dirty="0">
                <a:effectLst/>
                <a:latin typeface="Arial" panose="020B0604020202020204" pitchFamily="34" charset="0"/>
                <a:cs typeface="Arial" panose="020B0604020202020204" pitchFamily="34" charset="0"/>
              </a:rPr>
              <a:t>= </a:t>
            </a:r>
            <a:r>
              <a:rPr lang="en-US" b="0" i="0" dirty="0">
                <a:effectLst/>
                <a:latin typeface="Arial" panose="020B0604020202020204" pitchFamily="34" charset="0"/>
                <a:cs typeface="Arial" panose="020B0604020202020204" pitchFamily="34" charset="0"/>
              </a:rPr>
              <a:t>a patch with a negative intrinsic growth rate (r&lt;0). A sink population </a:t>
            </a:r>
            <a:r>
              <a:rPr lang="en-US" b="0" i="1" dirty="0">
                <a:effectLst/>
                <a:latin typeface="Arial" panose="020B0604020202020204" pitchFamily="34" charset="0"/>
                <a:cs typeface="Arial" panose="020B0604020202020204" pitchFamily="34" charset="0"/>
              </a:rPr>
              <a:t>would go extinct</a:t>
            </a:r>
            <a:r>
              <a:rPr lang="en-US" b="0" i="0" dirty="0">
                <a:effectLst/>
                <a:latin typeface="Arial" panose="020B0604020202020204" pitchFamily="34" charset="0"/>
                <a:cs typeface="Arial" panose="020B0604020202020204" pitchFamily="34" charset="0"/>
              </a:rPr>
              <a:t> if it were not for the constant input of immigrants from nearby </a:t>
            </a:r>
            <a:r>
              <a:rPr lang="en-US" b="1" i="0" dirty="0">
                <a:effectLst/>
                <a:latin typeface="Arial" panose="020B0604020202020204" pitchFamily="34" charset="0"/>
                <a:cs typeface="Arial" panose="020B0604020202020204" pitchFamily="34" charset="0"/>
              </a:rPr>
              <a:t>source populations</a:t>
            </a:r>
            <a:r>
              <a:rPr lang="en-US" b="0" i="0" dirty="0">
                <a:effectLst/>
                <a:latin typeface="Arial" panose="020B0604020202020204" pitchFamily="34" charset="0"/>
                <a:cs typeface="Arial" panose="020B0604020202020204" pitchFamily="34" charset="0"/>
              </a:rPr>
              <a:t>. Sink populations can not persist in isolation.</a:t>
            </a:r>
          </a:p>
        </p:txBody>
      </p:sp>
      <p:sp>
        <p:nvSpPr>
          <p:cNvPr id="7" name="TextBox 6">
            <a:extLst>
              <a:ext uri="{FF2B5EF4-FFF2-40B4-BE49-F238E27FC236}">
                <a16:creationId xmlns:a16="http://schemas.microsoft.com/office/drawing/2014/main" id="{37D96B95-EB1B-F519-C93E-A1F122DE9B7C}"/>
              </a:ext>
            </a:extLst>
          </p:cNvPr>
          <p:cNvSpPr txBox="1"/>
          <p:nvPr/>
        </p:nvSpPr>
        <p:spPr>
          <a:xfrm>
            <a:off x="400878" y="5540840"/>
            <a:ext cx="8600662" cy="369332"/>
          </a:xfrm>
          <a:prstGeom prst="rect">
            <a:avLst/>
          </a:prstGeom>
          <a:noFill/>
        </p:spPr>
        <p:txBody>
          <a:bodyPr wrap="square">
            <a:spAutoFit/>
          </a:bodyPr>
          <a:lstStyle/>
          <a:p>
            <a:pPr algn="l"/>
            <a:r>
              <a:rPr lang="en-US" b="1" i="0" dirty="0">
                <a:solidFill>
                  <a:srgbClr val="FF0000"/>
                </a:solidFill>
                <a:effectLst/>
                <a:latin typeface="Arial" panose="020B0604020202020204" pitchFamily="34" charset="0"/>
                <a:cs typeface="Arial" panose="020B0604020202020204" pitchFamily="34" charset="0"/>
              </a:rPr>
              <a:t>Are Sink populations always bad for conservation? </a:t>
            </a:r>
            <a:endParaRPr lang="en-US" b="0" i="0" dirty="0">
              <a:solidFill>
                <a:srgbClr val="FF0000"/>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22426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09600" y="0"/>
            <a:ext cx="7772400" cy="1143000"/>
          </a:xfrm>
        </p:spPr>
        <p:txBody>
          <a:bodyPr>
            <a:normAutofit/>
          </a:bodyPr>
          <a:lstStyle/>
          <a:p>
            <a:r>
              <a:rPr lang="en-US" altLang="en-US" dirty="0"/>
              <a:t>More on Sources and Sinks</a:t>
            </a:r>
          </a:p>
        </p:txBody>
      </p:sp>
      <p:pic>
        <p:nvPicPr>
          <p:cNvPr id="12290" name="Picture 2">
            <a:extLst>
              <a:ext uri="{FF2B5EF4-FFF2-40B4-BE49-F238E27FC236}">
                <a16:creationId xmlns:a16="http://schemas.microsoft.com/office/drawing/2014/main" id="{483AC557-C952-3C0C-9590-DDAD3E222C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669" y="1259715"/>
            <a:ext cx="3490792" cy="310680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7D96B95-EB1B-F519-C93E-A1F122DE9B7C}"/>
              </a:ext>
            </a:extLst>
          </p:cNvPr>
          <p:cNvSpPr txBox="1"/>
          <p:nvPr/>
        </p:nvSpPr>
        <p:spPr>
          <a:xfrm>
            <a:off x="4134678" y="1520455"/>
            <a:ext cx="4668079" cy="2585323"/>
          </a:xfrm>
          <a:prstGeom prst="rect">
            <a:avLst/>
          </a:prstGeom>
          <a:noFill/>
        </p:spPr>
        <p:txBody>
          <a:bodyPr wrap="square">
            <a:spAutoFit/>
          </a:bodyPr>
          <a:lstStyle/>
          <a:p>
            <a:pPr algn="l"/>
            <a:r>
              <a:rPr lang="en-US" b="1" i="0" dirty="0">
                <a:effectLst/>
                <a:latin typeface="Arial" panose="020B0604020202020204" pitchFamily="34" charset="0"/>
                <a:cs typeface="Arial" panose="020B0604020202020204" pitchFamily="34" charset="0"/>
              </a:rPr>
              <a:t>Pseudo-sink </a:t>
            </a:r>
            <a:r>
              <a:rPr lang="en-US" i="0" dirty="0">
                <a:effectLst/>
                <a:latin typeface="Arial" panose="020B0604020202020204" pitchFamily="34" charset="0"/>
                <a:cs typeface="Arial" panose="020B0604020202020204" pitchFamily="34" charset="0"/>
              </a:rPr>
              <a:t>= </a:t>
            </a:r>
            <a:r>
              <a:rPr lang="en-US" b="0" i="0" dirty="0">
                <a:effectLst/>
                <a:latin typeface="Arial" panose="020B0604020202020204" pitchFamily="34" charset="0"/>
                <a:cs typeface="Arial" panose="020B0604020202020204" pitchFamily="34" charset="0"/>
              </a:rPr>
              <a:t>a patch with positive population growth (r&gt;0) whose </a:t>
            </a:r>
            <a:r>
              <a:rPr lang="en-US" b="1" i="0" u="sng" dirty="0">
                <a:effectLst/>
                <a:latin typeface="Arial" panose="020B0604020202020204" pitchFamily="34" charset="0"/>
                <a:cs typeface="Arial" panose="020B0604020202020204" pitchFamily="34" charset="0"/>
              </a:rPr>
              <a:t>abundance </a:t>
            </a:r>
            <a:r>
              <a:rPr lang="en-US" b="0" i="0" dirty="0">
                <a:effectLst/>
                <a:latin typeface="Arial" panose="020B0604020202020204" pitchFamily="34" charset="0"/>
                <a:cs typeface="Arial" panose="020B0604020202020204" pitchFamily="34" charset="0"/>
              </a:rPr>
              <a:t>is </a:t>
            </a:r>
            <a:r>
              <a:rPr lang="en-US" u="sng" dirty="0">
                <a:effectLst/>
                <a:latin typeface="Arial" panose="020B0604020202020204" pitchFamily="34" charset="0"/>
                <a:cs typeface="Arial" panose="020B0604020202020204" pitchFamily="34" charset="0"/>
              </a:rPr>
              <a:t>artificially augmented </a:t>
            </a:r>
            <a:r>
              <a:rPr lang="en-US" b="0" i="0" dirty="0">
                <a:effectLst/>
                <a:latin typeface="Arial" panose="020B0604020202020204" pitchFamily="34" charset="0"/>
                <a:cs typeface="Arial" panose="020B0604020202020204" pitchFamily="34" charset="0"/>
              </a:rPr>
              <a:t>above its own carrying capacity by immigrants from nearby source populations. In isolation (in the absence of a nearby source population) a pseudo-sink would </a:t>
            </a:r>
            <a:r>
              <a:rPr lang="en-US" b="0" i="0" u="sng" dirty="0">
                <a:effectLst/>
                <a:latin typeface="Arial" panose="020B0604020202020204" pitchFamily="34" charset="0"/>
                <a:cs typeface="Arial" panose="020B0604020202020204" pitchFamily="34" charset="0"/>
              </a:rPr>
              <a:t>not go extinct </a:t>
            </a:r>
            <a:r>
              <a:rPr lang="en-US" b="0" i="0" dirty="0">
                <a:effectLst/>
                <a:latin typeface="Arial" panose="020B0604020202020204" pitchFamily="34" charset="0"/>
                <a:cs typeface="Arial" panose="020B0604020202020204" pitchFamily="34" charset="0"/>
              </a:rPr>
              <a:t>but would settle down at a lower equilibrium abundance (i.e., its own carrying capacity).</a:t>
            </a:r>
          </a:p>
        </p:txBody>
      </p:sp>
      <p:sp>
        <p:nvSpPr>
          <p:cNvPr id="2" name="TextBox 1">
            <a:extLst>
              <a:ext uri="{FF2B5EF4-FFF2-40B4-BE49-F238E27FC236}">
                <a16:creationId xmlns:a16="http://schemas.microsoft.com/office/drawing/2014/main" id="{9155ACD9-7A4A-8213-49C7-D085C640D408}"/>
              </a:ext>
            </a:extLst>
          </p:cNvPr>
          <p:cNvSpPr txBox="1"/>
          <p:nvPr/>
        </p:nvSpPr>
        <p:spPr>
          <a:xfrm>
            <a:off x="510787" y="4875880"/>
            <a:ext cx="8361544" cy="1754326"/>
          </a:xfrm>
          <a:prstGeom prst="rect">
            <a:avLst/>
          </a:prstGeom>
          <a:noFill/>
        </p:spPr>
        <p:txBody>
          <a:bodyPr wrap="square">
            <a:spAutoFit/>
          </a:bodyPr>
          <a:lstStyle/>
          <a:p>
            <a:pPr algn="l"/>
            <a:r>
              <a:rPr lang="en-US" b="1" i="0" dirty="0">
                <a:effectLst/>
                <a:latin typeface="Arial" panose="020B0604020202020204" pitchFamily="34" charset="0"/>
                <a:cs typeface="Arial" panose="020B0604020202020204" pitchFamily="34" charset="0"/>
              </a:rPr>
              <a:t>Ecological trap </a:t>
            </a:r>
            <a:r>
              <a:rPr lang="en-US" i="0" dirty="0">
                <a:effectLst/>
                <a:latin typeface="Arial" panose="020B0604020202020204" pitchFamily="34" charset="0"/>
                <a:cs typeface="Arial" panose="020B0604020202020204" pitchFamily="34" charset="0"/>
              </a:rPr>
              <a:t>= </a:t>
            </a:r>
            <a:r>
              <a:rPr lang="en-US" b="0" i="0" dirty="0">
                <a:effectLst/>
                <a:latin typeface="Arial" panose="020B0604020202020204" pitchFamily="34" charset="0"/>
                <a:cs typeface="Arial" panose="020B0604020202020204" pitchFamily="34" charset="0"/>
              </a:rPr>
              <a:t>a patch with low quality </a:t>
            </a:r>
            <a:r>
              <a:rPr lang="en-US" dirty="0">
                <a:latin typeface="Arial" panose="020B0604020202020204" pitchFamily="34" charset="0"/>
                <a:cs typeface="Arial" panose="020B0604020202020204" pitchFamily="34" charset="0"/>
              </a:rPr>
              <a:t>(likely a true sink!) that attracts a disproportionate number of immigrants from nearby patches. The survival and reproductive value of an ecological trap is low, thus leading to an </a:t>
            </a:r>
            <a:r>
              <a:rPr lang="en-US" u="sng" dirty="0">
                <a:latin typeface="Arial" panose="020B0604020202020204" pitchFamily="34" charset="0"/>
                <a:cs typeface="Arial" panose="020B0604020202020204" pitchFamily="34" charset="0"/>
              </a:rPr>
              <a:t>increased likelihood of global or regional extinction</a:t>
            </a:r>
            <a:r>
              <a:rPr lang="en-US" dirty="0">
                <a:latin typeface="Arial" panose="020B0604020202020204" pitchFamily="34" charset="0"/>
                <a:cs typeface="Arial" panose="020B0604020202020204" pitchFamily="34" charset="0"/>
              </a:rPr>
              <a:t>. Ecological traps occur due to maladaptive habitat selection due to mismatches between habitat quality and cues that animals use to select habitat.</a:t>
            </a:r>
            <a:endParaRPr lang="en-US" b="0" i="0"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85612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2170</TotalTime>
  <Words>1615</Words>
  <Application>Microsoft Office PowerPoint</Application>
  <PresentationFormat>On-screen Show (4:3)</PresentationFormat>
  <Paragraphs>134</Paragraphs>
  <Slides>18</Slides>
  <Notes>12</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18</vt:i4>
      </vt:variant>
    </vt:vector>
  </HeadingPairs>
  <TitlesOfParts>
    <vt:vector size="23" baseType="lpstr">
      <vt:lpstr>Arial</vt:lpstr>
      <vt:lpstr>Calibri</vt:lpstr>
      <vt:lpstr>Wingdings</vt:lpstr>
      <vt:lpstr>Office Theme</vt:lpstr>
      <vt:lpstr>Image</vt:lpstr>
      <vt:lpstr>PowerPoint Presentation</vt:lpstr>
      <vt:lpstr>PowerPoint Presentation</vt:lpstr>
      <vt:lpstr>Key Processes</vt:lpstr>
      <vt:lpstr>Equilibrium Theory of Island Biogeography</vt:lpstr>
      <vt:lpstr>Equilibrium Theory of Island Biogeography</vt:lpstr>
      <vt:lpstr>Equilibrium Theory of Island Biogeography</vt:lpstr>
      <vt:lpstr>Equilibrium Theory of Island Biogeography</vt:lpstr>
      <vt:lpstr>PowerPoint Presentation</vt:lpstr>
      <vt:lpstr>PowerPoint Presentation</vt:lpstr>
      <vt:lpstr>PowerPoint Presentation</vt:lpstr>
      <vt:lpstr>Turnover of patch occupancy over time</vt:lpstr>
      <vt:lpstr>Formal Definitions (Hanski and Simberloff 1997)</vt:lpstr>
      <vt:lpstr>Types of Metapopulations</vt:lpstr>
      <vt:lpstr>More Types of Metapopulations</vt:lpstr>
      <vt:lpstr>PowerPoint Presentation</vt:lpstr>
      <vt:lpstr>PowerPoint Presentation</vt:lpstr>
      <vt:lpstr>More on Sources and Sinks</vt:lpstr>
      <vt:lpstr>More on Sources and Sinks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Popescu, Viorel</dc:creator>
  <cp:lastModifiedBy>Viorel Popescu</cp:lastModifiedBy>
  <cp:revision>77</cp:revision>
  <dcterms:created xsi:type="dcterms:W3CDTF">2019-11-12T18:56:38Z</dcterms:created>
  <dcterms:modified xsi:type="dcterms:W3CDTF">2024-04-10T08:17:37Z</dcterms:modified>
</cp:coreProperties>
</file>