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1042" r:id="rId2"/>
    <p:sldId id="1044" r:id="rId3"/>
    <p:sldId id="1045" r:id="rId4"/>
    <p:sldId id="1046" r:id="rId5"/>
    <p:sldId id="1047" r:id="rId6"/>
    <p:sldId id="1048" r:id="rId7"/>
    <p:sldId id="1049" r:id="rId8"/>
    <p:sldId id="1050" r:id="rId9"/>
    <p:sldId id="1051" r:id="rId10"/>
    <p:sldId id="1086" r:id="rId11"/>
    <p:sldId id="1085" r:id="rId12"/>
    <p:sldId id="1052" r:id="rId13"/>
    <p:sldId id="1053" r:id="rId14"/>
    <p:sldId id="1082" r:id="rId15"/>
    <p:sldId id="1083" r:id="rId16"/>
    <p:sldId id="1084" r:id="rId17"/>
    <p:sldId id="1081" r:id="rId18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0099"/>
    <a:srgbClr val="E2E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796E0-3D59-4536-AADF-6A0512D04B14}" v="66" dt="2024-04-10T07:50:15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83878" autoAdjust="0"/>
  </p:normalViewPr>
  <p:slideViewPr>
    <p:cSldViewPr snapToGrid="0" snapToObjects="1" showGuides="1">
      <p:cViewPr varScale="1">
        <p:scale>
          <a:sx n="58" d="100"/>
          <a:sy n="58" d="100"/>
        </p:scale>
        <p:origin x="51" y="378"/>
      </p:cViewPr>
      <p:guideLst>
        <p:guide orient="horz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588"/>
    </p:cViewPr>
  </p:sorterViewPr>
  <p:notesViewPr>
    <p:cSldViewPr snapToGrid="0" snapToObjects="1">
      <p:cViewPr varScale="1">
        <p:scale>
          <a:sx n="118" d="100"/>
          <a:sy n="118" d="100"/>
        </p:scale>
        <p:origin x="-5048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orel Popescu" userId="9f284cf50f70590d" providerId="LiveId" clId="{A9C796E0-3D59-4536-AADF-6A0512D04B14}"/>
    <pc:docChg chg="custSel modSld">
      <pc:chgData name="Viorel Popescu" userId="9f284cf50f70590d" providerId="LiveId" clId="{A9C796E0-3D59-4536-AADF-6A0512D04B14}" dt="2024-04-10T07:50:19.132" v="122" actId="14100"/>
      <pc:docMkLst>
        <pc:docMk/>
      </pc:docMkLst>
      <pc:sldChg chg="modSp mod">
        <pc:chgData name="Viorel Popescu" userId="9f284cf50f70590d" providerId="LiveId" clId="{A9C796E0-3D59-4536-AADF-6A0512D04B14}" dt="2024-04-10T07:46:02.360" v="5" actId="27636"/>
        <pc:sldMkLst>
          <pc:docMk/>
          <pc:sldMk cId="0" sldId="1042"/>
        </pc:sldMkLst>
        <pc:spChg chg="mod">
          <ac:chgData name="Viorel Popescu" userId="9f284cf50f70590d" providerId="LiveId" clId="{A9C796E0-3D59-4536-AADF-6A0512D04B14}" dt="2024-04-10T07:46:02.360" v="5" actId="27636"/>
          <ac:spMkLst>
            <pc:docMk/>
            <pc:sldMk cId="0" sldId="1042"/>
            <ac:spMk id="16387" creationId="{00000000-0000-0000-0000-000000000000}"/>
          </ac:spMkLst>
        </pc:spChg>
      </pc:sldChg>
      <pc:sldChg chg="modSp mod">
        <pc:chgData name="Viorel Popescu" userId="9f284cf50f70590d" providerId="LiveId" clId="{A9C796E0-3D59-4536-AADF-6A0512D04B14}" dt="2024-04-10T07:46:02.407" v="6" actId="27636"/>
        <pc:sldMkLst>
          <pc:docMk/>
          <pc:sldMk cId="0" sldId="1044"/>
        </pc:sldMkLst>
        <pc:spChg chg="mod">
          <ac:chgData name="Viorel Popescu" userId="9f284cf50f70590d" providerId="LiveId" clId="{A9C796E0-3D59-4536-AADF-6A0512D04B14}" dt="2024-04-10T07:46:02.407" v="6" actId="27636"/>
          <ac:spMkLst>
            <pc:docMk/>
            <pc:sldMk cId="0" sldId="1044"/>
            <ac:spMk id="45059" creationId="{00000000-0000-0000-0000-000000000000}"/>
          </ac:spMkLst>
        </pc:spChg>
      </pc:sldChg>
      <pc:sldChg chg="modSp mod">
        <pc:chgData name="Viorel Popescu" userId="9f284cf50f70590d" providerId="LiveId" clId="{A9C796E0-3D59-4536-AADF-6A0512D04B14}" dt="2024-04-10T07:46:02.438" v="7" actId="27636"/>
        <pc:sldMkLst>
          <pc:docMk/>
          <pc:sldMk cId="0" sldId="1045"/>
        </pc:sldMkLst>
        <pc:spChg chg="mod">
          <ac:chgData name="Viorel Popescu" userId="9f284cf50f70590d" providerId="LiveId" clId="{A9C796E0-3D59-4536-AADF-6A0512D04B14}" dt="2024-04-10T07:46:02.438" v="7" actId="27636"/>
          <ac:spMkLst>
            <pc:docMk/>
            <pc:sldMk cId="0" sldId="1045"/>
            <ac:spMk id="22531" creationId="{00000000-0000-0000-0000-000000000000}"/>
          </ac:spMkLst>
        </pc:spChg>
      </pc:sldChg>
      <pc:sldChg chg="modSp mod">
        <pc:chgData name="Viorel Popescu" userId="9f284cf50f70590d" providerId="LiveId" clId="{A9C796E0-3D59-4536-AADF-6A0512D04B14}" dt="2024-04-10T07:46:02.470" v="8" actId="27636"/>
        <pc:sldMkLst>
          <pc:docMk/>
          <pc:sldMk cId="0" sldId="1046"/>
        </pc:sldMkLst>
        <pc:spChg chg="mod">
          <ac:chgData name="Viorel Popescu" userId="9f284cf50f70590d" providerId="LiveId" clId="{A9C796E0-3D59-4536-AADF-6A0512D04B14}" dt="2024-04-10T07:46:02.470" v="8" actId="27636"/>
          <ac:spMkLst>
            <pc:docMk/>
            <pc:sldMk cId="0" sldId="1046"/>
            <ac:spMk id="23555" creationId="{00000000-0000-0000-0000-000000000000}"/>
          </ac:spMkLst>
        </pc:spChg>
      </pc:sldChg>
      <pc:sldChg chg="modSp mod">
        <pc:chgData name="Viorel Popescu" userId="9f284cf50f70590d" providerId="LiveId" clId="{A9C796E0-3D59-4536-AADF-6A0512D04B14}" dt="2024-04-10T07:46:02.501" v="9" actId="27636"/>
        <pc:sldMkLst>
          <pc:docMk/>
          <pc:sldMk cId="0" sldId="1047"/>
        </pc:sldMkLst>
        <pc:spChg chg="mod">
          <ac:chgData name="Viorel Popescu" userId="9f284cf50f70590d" providerId="LiveId" clId="{A9C796E0-3D59-4536-AADF-6A0512D04B14}" dt="2024-04-10T07:46:02.501" v="9" actId="27636"/>
          <ac:spMkLst>
            <pc:docMk/>
            <pc:sldMk cId="0" sldId="1047"/>
            <ac:spMk id="53251" creationId="{00000000-0000-0000-0000-000000000000}"/>
          </ac:spMkLst>
        </pc:spChg>
      </pc:sldChg>
      <pc:sldChg chg="modSp mod">
        <pc:chgData name="Viorel Popescu" userId="9f284cf50f70590d" providerId="LiveId" clId="{A9C796E0-3D59-4536-AADF-6A0512D04B14}" dt="2024-04-10T07:46:02.328" v="4" actId="27636"/>
        <pc:sldMkLst>
          <pc:docMk/>
          <pc:sldMk cId="0" sldId="1081"/>
        </pc:sldMkLst>
        <pc:spChg chg="mod">
          <ac:chgData name="Viorel Popescu" userId="9f284cf50f70590d" providerId="LiveId" clId="{A9C796E0-3D59-4536-AADF-6A0512D04B14}" dt="2024-04-10T07:46:02.328" v="4" actId="27636"/>
          <ac:spMkLst>
            <pc:docMk/>
            <pc:sldMk cId="0" sldId="1081"/>
            <ac:spMk id="70659" creationId="{00000000-0000-0000-0000-000000000000}"/>
          </ac:spMkLst>
        </pc:spChg>
      </pc:sldChg>
      <pc:sldChg chg="addSp delSp modSp mod">
        <pc:chgData name="Viorel Popescu" userId="9f284cf50f70590d" providerId="LiveId" clId="{A9C796E0-3D59-4536-AADF-6A0512D04B14}" dt="2024-04-10T07:50:19.132" v="122" actId="14100"/>
        <pc:sldMkLst>
          <pc:docMk/>
          <pc:sldMk cId="0" sldId="1082"/>
        </pc:sldMkLst>
        <pc:spChg chg="add mod">
          <ac:chgData name="Viorel Popescu" userId="9f284cf50f70590d" providerId="LiveId" clId="{A9C796E0-3D59-4536-AADF-6A0512D04B14}" dt="2024-04-10T07:50:19.132" v="122" actId="14100"/>
          <ac:spMkLst>
            <pc:docMk/>
            <pc:sldMk cId="0" sldId="1082"/>
            <ac:spMk id="7" creationId="{00000000-0000-0000-0000-000000000000}"/>
          </ac:spMkLst>
        </pc:spChg>
        <pc:graphicFrameChg chg="del mod replId">
          <ac:chgData name="Viorel Popescu" userId="9f284cf50f70590d" providerId="LiveId" clId="{A9C796E0-3D59-4536-AADF-6A0512D04B14}" dt="2024-04-10T07:49:59.392" v="119"/>
          <ac:graphicFrameMkLst>
            <pc:docMk/>
            <pc:sldMk cId="0" sldId="1082"/>
            <ac:graphicFrameMk id="2" creationId="{00000000-0000-0000-0000-000000000000}"/>
          </ac:graphicFrameMkLst>
        </pc:graphicFrameChg>
      </pc:sldChg>
      <pc:sldChg chg="addSp delSp modSp mod">
        <pc:chgData name="Viorel Popescu" userId="9f284cf50f70590d" providerId="LiveId" clId="{A9C796E0-3D59-4536-AADF-6A0512D04B14}" dt="2024-04-10T07:49:46.875" v="117" actId="207"/>
        <pc:sldMkLst>
          <pc:docMk/>
          <pc:sldMk cId="0" sldId="1083"/>
        </pc:sldMkLst>
        <pc:spChg chg="mod">
          <ac:chgData name="Viorel Popescu" userId="9f284cf50f70590d" providerId="LiveId" clId="{A9C796E0-3D59-4536-AADF-6A0512D04B14}" dt="2024-04-10T07:49:41.461" v="116" actId="207"/>
          <ac:spMkLst>
            <pc:docMk/>
            <pc:sldMk cId="0" sldId="1083"/>
            <ac:spMk id="6" creationId="{00000000-0000-0000-0000-000000000000}"/>
          </ac:spMkLst>
        </pc:spChg>
        <pc:spChg chg="add mod">
          <ac:chgData name="Viorel Popescu" userId="9f284cf50f70590d" providerId="LiveId" clId="{A9C796E0-3D59-4536-AADF-6A0512D04B14}" dt="2024-04-10T07:49:46.875" v="117" actId="207"/>
          <ac:spMkLst>
            <pc:docMk/>
            <pc:sldMk cId="0" sldId="1083"/>
            <ac:spMk id="90116" creationId="{00000000-0000-0000-0000-000000000000}"/>
          </ac:spMkLst>
        </pc:spChg>
        <pc:graphicFrameChg chg="del mod replId">
          <ac:chgData name="Viorel Popescu" userId="9f284cf50f70590d" providerId="LiveId" clId="{A9C796E0-3D59-4536-AADF-6A0512D04B14}" dt="2024-04-10T07:48:21.497" v="49"/>
          <ac:graphicFrameMkLst>
            <pc:docMk/>
            <pc:sldMk cId="0" sldId="1083"/>
            <ac:graphicFrameMk id="2" creationId="{00000000-0000-0000-0000-000000000000}"/>
          </ac:graphicFrameMkLst>
        </pc:graphicFrameChg>
      </pc:sldChg>
      <pc:sldChg chg="addSp delSp modSp mod">
        <pc:chgData name="Viorel Popescu" userId="9f284cf50f70590d" providerId="LiveId" clId="{A9C796E0-3D59-4536-AADF-6A0512D04B14}" dt="2024-04-10T07:48:07.066" v="47" actId="207"/>
        <pc:sldMkLst>
          <pc:docMk/>
          <pc:sldMk cId="0" sldId="1084"/>
        </pc:sldMkLst>
        <pc:spChg chg="add mod">
          <ac:chgData name="Viorel Popescu" userId="9f284cf50f70590d" providerId="LiveId" clId="{A9C796E0-3D59-4536-AADF-6A0512D04B14}" dt="2024-04-10T07:47:59.214" v="45" actId="207"/>
          <ac:spMkLst>
            <pc:docMk/>
            <pc:sldMk cId="0" sldId="1084"/>
            <ac:spMk id="2" creationId="{00000000-0000-0000-0000-000000000000}"/>
          </ac:spMkLst>
        </pc:spChg>
        <pc:spChg chg="mod">
          <ac:chgData name="Viorel Popescu" userId="9f284cf50f70590d" providerId="LiveId" clId="{A9C796E0-3D59-4536-AADF-6A0512D04B14}" dt="2024-04-10T07:48:07.066" v="47" actId="207"/>
          <ac:spMkLst>
            <pc:docMk/>
            <pc:sldMk cId="0" sldId="1084"/>
            <ac:spMk id="8" creationId="{00000000-0000-0000-0000-000000000000}"/>
          </ac:spMkLst>
        </pc:spChg>
        <pc:graphicFrameChg chg="del mod replId">
          <ac:chgData name="Viorel Popescu" userId="9f284cf50f70590d" providerId="LiveId" clId="{A9C796E0-3D59-4536-AADF-6A0512D04B14}" dt="2024-04-10T07:45:55.544" v="1"/>
          <ac:graphicFrameMkLst>
            <pc:docMk/>
            <pc:sldMk cId="0" sldId="1084"/>
            <ac:graphicFrameMk id="3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BA1C-DB3A-774D-BF63-C74147DF77EA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6B3A4-733A-9E48-9D0C-CC9BA8AFA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  <a:t>4/10/2024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3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495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6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3E72B4D-2ECC-4C20-83B0-76D522B51B74}" type="slidenum">
              <a:rPr lang="en-US"/>
              <a:t>7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</a:rPr>
              <a:t>Changes in population size through time are a function of births, deaths, immigration, and emigration.  </a:t>
            </a:r>
          </a:p>
          <a:p>
            <a:r>
              <a:rPr lang="en-US" b="1" dirty="0">
                <a:latin typeface="Tahoma" panose="020B0604030504040204" pitchFamily="34" charset="0"/>
              </a:rPr>
              <a:t>The open population </a:t>
            </a:r>
            <a:r>
              <a:rPr lang="en-US" b="1" dirty="0" err="1">
                <a:latin typeface="Tahoma" panose="020B0604030504040204" pitchFamily="34" charset="0"/>
              </a:rPr>
              <a:t>CMR</a:t>
            </a:r>
            <a:r>
              <a:rPr lang="en-US" b="1" dirty="0">
                <a:latin typeface="Tahoma" panose="020B0604030504040204" pitchFamily="34" charset="0"/>
              </a:rPr>
              <a:t> models we have considered until now have only estimated apparent survival rates. </a:t>
            </a:r>
          </a:p>
          <a:p>
            <a:r>
              <a:rPr lang="en-US" b="1" dirty="0">
                <a:latin typeface="Tahoma" panose="020B0604030504040204" pitchFamily="34" charset="0"/>
              </a:rPr>
              <a:t>That is, true survival, the portion of individuals surviving between sampling occasions is confounded with permanent emigration.  </a:t>
            </a:r>
          </a:p>
          <a:p>
            <a:r>
              <a:rPr lang="en-US" b="1" dirty="0">
                <a:latin typeface="Tahoma" panose="020B0604030504040204" pitchFamily="34" charset="0"/>
              </a:rPr>
              <a:t>I spoke briefly on closed models that assume that size of the population remained unchanged between sampling events.  </a:t>
            </a:r>
          </a:p>
          <a:p>
            <a:r>
              <a:rPr lang="en-US" b="1" dirty="0">
                <a:latin typeface="Tahoma" panose="020B0604030504040204" pitchFamily="34" charset="0"/>
              </a:rPr>
              <a:t>Robust design integrates the advantages of both types of models.  </a:t>
            </a:r>
          </a:p>
          <a:p>
            <a:r>
              <a:rPr lang="en-US" b="1" dirty="0">
                <a:latin typeface="Tahoma" panose="020B0604030504040204" pitchFamily="34" charset="0"/>
              </a:rPr>
              <a:t>Although this model is complicated, it brings more biological reality to the analysis of population dynamics.  </a:t>
            </a:r>
          </a:p>
          <a:p>
            <a:r>
              <a:rPr lang="en-US" b="1" dirty="0">
                <a:latin typeface="Tahoma" panose="020B0604030504040204" pitchFamily="34" charset="0"/>
              </a:rPr>
              <a:t>This method provides for the estimation of parameters that are not estimable under either open or closed models as well as more robust estimates of the familiar parameters of interest.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3E72B4D-2ECC-4C20-83B0-76D522B51B74}" type="slidenum">
              <a:rPr lang="en-US"/>
              <a:t>8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Tahoma" panose="020B0604030504040204" pitchFamily="34" charset="0"/>
              </a:rPr>
              <a:t>Changes in population size through time are a function of births, deaths, immigration, and emigration.  </a:t>
            </a:r>
          </a:p>
          <a:p>
            <a:r>
              <a:rPr lang="en-US" b="1" dirty="0">
                <a:latin typeface="Tahoma" panose="020B0604030504040204" pitchFamily="34" charset="0"/>
              </a:rPr>
              <a:t>The open population </a:t>
            </a:r>
            <a:r>
              <a:rPr lang="en-US" b="1" dirty="0" err="1">
                <a:latin typeface="Tahoma" panose="020B0604030504040204" pitchFamily="34" charset="0"/>
              </a:rPr>
              <a:t>CMR</a:t>
            </a:r>
            <a:r>
              <a:rPr lang="en-US" b="1" dirty="0">
                <a:latin typeface="Tahoma" panose="020B0604030504040204" pitchFamily="34" charset="0"/>
              </a:rPr>
              <a:t> models we have considered until now have only estimated apparent survival rates. </a:t>
            </a:r>
          </a:p>
          <a:p>
            <a:r>
              <a:rPr lang="en-US" b="1" dirty="0">
                <a:latin typeface="Tahoma" panose="020B0604030504040204" pitchFamily="34" charset="0"/>
              </a:rPr>
              <a:t>That is, true survival, the portion of individuals surviving between sampling occasions is confounded with permanent emigration.  </a:t>
            </a:r>
          </a:p>
          <a:p>
            <a:r>
              <a:rPr lang="en-US" b="1" dirty="0">
                <a:latin typeface="Tahoma" panose="020B0604030504040204" pitchFamily="34" charset="0"/>
              </a:rPr>
              <a:t>I spoke briefly on closed models that assume that size of the population remained unchanged between sampling events.  </a:t>
            </a:r>
          </a:p>
          <a:p>
            <a:r>
              <a:rPr lang="en-US" b="1" dirty="0">
                <a:latin typeface="Tahoma" panose="020B0604030504040204" pitchFamily="34" charset="0"/>
              </a:rPr>
              <a:t>Robust design integrates the advantages of both types of models.  </a:t>
            </a:r>
          </a:p>
          <a:p>
            <a:r>
              <a:rPr lang="en-US" b="1" dirty="0">
                <a:latin typeface="Tahoma" panose="020B0604030504040204" pitchFamily="34" charset="0"/>
              </a:rPr>
              <a:t>Although this model is complicated, it brings more biological reality to the analysis of population dynamics.  </a:t>
            </a:r>
          </a:p>
          <a:p>
            <a:r>
              <a:rPr lang="en-US" b="1" dirty="0">
                <a:latin typeface="Tahoma" panose="020B0604030504040204" pitchFamily="34" charset="0"/>
              </a:rPr>
              <a:t>This method provides for the estimation of parameters that are not estimable under either open or closed models as well as more robust estimates of the familiar parameters of interest.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F822814-AE0B-44AD-8B1E-57DEEA455097}" type="slidenum">
              <a:rPr lang="en-US"/>
              <a:t>9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F822814-AE0B-44AD-8B1E-57DEEA455097}" type="slidenum">
              <a:rPr lang="en-US"/>
              <a:t>10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F822814-AE0B-44AD-8B1E-57DEEA455097}" type="slidenum">
              <a:rPr lang="en-US"/>
              <a:t>11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5"/>
            <a:ext cx="7772401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2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BFD8-13BE-B34C-9D38-93A96E46EA28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0203-3692-EE42-9F0C-0A601B9B7F08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7" y="4406905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7" y="2906713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2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0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2748-9D98-3F49-B5F9-742FAC37F4F9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F1FD-AACD-9948-9283-1F9691DFC0B4}" type="datetime1">
              <a:rPr lang="en-CA" smtClean="0"/>
              <a:t>2024-04-10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5" y="153511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5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295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06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582B-6698-EC48-875C-50CEAA3C67F4}" type="datetime1">
              <a:rPr lang="en-CA" smtClean="0"/>
              <a:t>2024-04-10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6D6D-CCCE-B749-8D34-846F8A67EFC0}" type="datetime1">
              <a:rPr lang="en-CA" smtClean="0"/>
              <a:t>2024-04-10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EB7D-0180-5147-9FFD-9F568677AE1E}" type="datetime1">
              <a:rPr lang="en-CA" smtClean="0"/>
              <a:t>2024-04-10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3B9D-1BC3-8D45-B4A5-24010FA1B146}" type="datetime1">
              <a:rPr lang="en-CA" smtClean="0"/>
              <a:t>2024-04-10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295" indent="0">
              <a:buNone/>
              <a:defRPr sz="2000"/>
            </a:lvl7pPr>
            <a:lvl8pPr marL="3198495" indent="0">
              <a:buNone/>
              <a:defRPr sz="2000"/>
            </a:lvl8pPr>
            <a:lvl9pPr marL="365506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3765" indent="0">
              <a:buNone/>
              <a:defRPr sz="1000"/>
            </a:lvl3pPr>
            <a:lvl4pPr marL="1370965" indent="0">
              <a:buNone/>
              <a:defRPr sz="900"/>
            </a:lvl4pPr>
            <a:lvl5pPr marL="1827530" indent="0">
              <a:buNone/>
              <a:defRPr sz="900"/>
            </a:lvl5pPr>
            <a:lvl6pPr marL="2284730" indent="0">
              <a:buNone/>
              <a:defRPr sz="900"/>
            </a:lvl6pPr>
            <a:lvl7pPr marL="2741295" indent="0">
              <a:buNone/>
              <a:defRPr sz="900"/>
            </a:lvl7pPr>
            <a:lvl8pPr marL="3198495" indent="0">
              <a:buNone/>
              <a:defRPr sz="900"/>
            </a:lvl8pPr>
            <a:lvl9pPr marL="365506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706C-2B08-8E43-97C9-BC50088B1CD1}" type="datetime1">
              <a:rPr lang="en-CA" smtClean="0"/>
              <a:t>2024-04-10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8B-6047-3E47-9E7D-4122E207D896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5" y="274643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0F54-3091-F744-960B-084737488211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40"/>
            <a:ext cx="8229600" cy="1143001"/>
          </a:xfrm>
          <a:prstGeom prst="rect">
            <a:avLst/>
          </a:prstGeom>
        </p:spPr>
        <p:txBody>
          <a:bodyPr vert="horz" lIns="91379" tIns="45689" rIns="91379" bIns="45689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379" tIns="45689" rIns="91379" bIns="45689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A7869-BEC3-AC47-8AE5-EC3C0C76D79E}" type="datetime1">
              <a:rPr lang="en-CA" smtClean="0"/>
              <a:t>2024-04-10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6"/>
            <a:ext cx="2895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315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236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59893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613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26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95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4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6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06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457200" eaLnBrk="1" hangingPunct="1"/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Dynamic Occupancy Models</a:t>
            </a:r>
            <a:b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en-US" sz="4000" b="1">
                <a:latin typeface="Arial" panose="020B0604020202020204" pitchFamily="34" charset="0"/>
                <a:cs typeface="Arial" panose="020B0604020202020204" pitchFamily="34" charset="0"/>
              </a:rPr>
              <a:t>动态占用模型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886200"/>
            <a:ext cx="5640705" cy="2588895"/>
          </a:xfrm>
        </p:spPr>
        <p:txBody>
          <a:bodyPr>
            <a:normAutofit fontScale="90000" lnSpcReduction="10000"/>
          </a:bodyPr>
          <a:lstStyle/>
          <a:p>
            <a:pPr marL="574675" indent="-509905" algn="l" eaLnBrk="1" hangingPunct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AKA: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Multi-season Occupancy,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Robust Design Occupancy</a:t>
            </a:r>
          </a:p>
          <a:p>
            <a:pPr marL="574675" indent="-509905" algn="l" eaLnBrk="1" hangingPunct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又名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多季节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占用模型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稳健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设计占用模型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Single-season – model assumptions</a:t>
            </a:r>
            <a:br>
              <a:rPr lang="en-US" dirty="0"/>
            </a:br>
            <a:r>
              <a:rPr lang="zh-CN" altLang="en-US" dirty="0"/>
              <a:t>单季节</a:t>
            </a:r>
            <a:r>
              <a:rPr lang="en-US" altLang="zh-CN" dirty="0"/>
              <a:t>—</a:t>
            </a:r>
            <a:r>
              <a:rPr lang="zh-CN" altLang="en-US" dirty="0"/>
              <a:t>模型假设</a:t>
            </a:r>
          </a:p>
        </p:txBody>
      </p:sp>
      <p:sp>
        <p:nvSpPr>
          <p:cNvPr id="45059" name="Rectangle 8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257165"/>
          </a:xfrm>
        </p:spPr>
        <p:txBody>
          <a:bodyPr>
            <a:normAutofit fontScale="67500" lnSpcReduction="10000"/>
          </a:bodyPr>
          <a:lstStyle/>
          <a:p>
            <a:pPr marL="342900" lvl="1" indent="-342900" eaLnBrk="1" hangingPunct="1">
              <a:buSzPct val="60000"/>
            </a:pPr>
            <a:r>
              <a:rPr lang="en-US" b="1" dirty="0">
                <a:solidFill>
                  <a:srgbClr val="C00000"/>
                </a:solidFill>
              </a:rPr>
              <a:t>Sites are closed to changes in occupancy state between sampling occasions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Species are not falsely detected. 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The detection process is independent at each site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Far enough apart to be biologically independent.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heterogeneity in occupancy 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than cannot be explained by covariates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heterogeneity in detection 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that cannot be explained by covariates</a:t>
            </a:r>
          </a:p>
          <a:p>
            <a:pPr marL="742950" lvl="2" indent="-342900" eaLnBrk="1" hangingPunct="1">
              <a:buSzPct val="60000"/>
            </a:pPr>
            <a:endParaRPr lang="en-US" dirty="0"/>
          </a:p>
          <a:p>
            <a:pPr marL="342900" lvl="1" indent="-342900" eaLnBrk="1" hangingPunct="1">
              <a:buSzPct val="60000"/>
            </a:pPr>
            <a:r>
              <a:rPr lang="en-US" sz="2400" b="1" dirty="0">
                <a:solidFill>
                  <a:srgbClr val="C00000"/>
                </a:solidFill>
                <a:sym typeface="+mn-ea"/>
              </a:rPr>
              <a:t>样点在两次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采</a:t>
            </a:r>
            <a:r>
              <a:rPr lang="en-US" sz="2400" b="1" dirty="0">
                <a:solidFill>
                  <a:srgbClr val="C00000"/>
                </a:solidFill>
                <a:sym typeface="+mn-ea"/>
              </a:rPr>
              <a:t>样之间的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占用</a:t>
            </a:r>
            <a:r>
              <a:rPr lang="en-US" sz="2400" b="1" dirty="0">
                <a:solidFill>
                  <a:srgbClr val="C00000"/>
                </a:solidFill>
                <a:sym typeface="+mn-ea"/>
              </a:rPr>
              <a:t>状态变化是封闭的</a:t>
            </a:r>
            <a:endParaRPr lang="en-US" sz="2400" b="1" dirty="0">
              <a:solidFill>
                <a:srgbClr val="C00000"/>
              </a:solidFill>
            </a:endParaRPr>
          </a:p>
          <a:p>
            <a:pPr marL="342900" lvl="1" indent="-342900" eaLnBrk="1" hangingPunct="1">
              <a:buSzPct val="60000"/>
            </a:pPr>
            <a:r>
              <a:rPr lang="en-US" sz="2400" dirty="0">
                <a:sym typeface="+mn-ea"/>
              </a:rPr>
              <a:t>物种不会被错误地检测到。 </a:t>
            </a:r>
            <a:endParaRPr lang="en-US" sz="2400" dirty="0"/>
          </a:p>
          <a:p>
            <a:pPr marL="342900" lvl="1" indent="-342900" eaLnBrk="1" hangingPunct="1">
              <a:buSzPct val="60000"/>
            </a:pPr>
            <a:r>
              <a:rPr lang="en-US" sz="2400" dirty="0">
                <a:sym typeface="+mn-ea"/>
              </a:rPr>
              <a:t>每个</a:t>
            </a:r>
            <a:r>
              <a:rPr lang="zh-CN" altLang="en-US" sz="2400" dirty="0">
                <a:sym typeface="+mn-ea"/>
              </a:rPr>
              <a:t>样点</a:t>
            </a:r>
            <a:r>
              <a:rPr lang="en-US" sz="2400" dirty="0">
                <a:sym typeface="+mn-ea"/>
              </a:rPr>
              <a:t>的检测过程都是独立的</a:t>
            </a:r>
            <a:endParaRPr lang="en-US" sz="2400" dirty="0"/>
          </a:p>
          <a:p>
            <a:pPr marL="742950" lvl="2" indent="-342900" eaLnBrk="1" hangingPunct="1">
              <a:buSzPct val="60000"/>
            </a:pPr>
            <a:r>
              <a:rPr lang="zh-CN" altLang="en-US" sz="2400" dirty="0">
                <a:sym typeface="+mn-ea"/>
              </a:rPr>
              <a:t>样点</a:t>
            </a:r>
            <a:r>
              <a:rPr lang="en-US" sz="2400" dirty="0">
                <a:sym typeface="+mn-ea"/>
              </a:rPr>
              <a:t>相距足够远，</a:t>
            </a:r>
            <a:r>
              <a:rPr lang="zh-CN" altLang="en-US" sz="2400" dirty="0">
                <a:sym typeface="+mn-ea"/>
              </a:rPr>
              <a:t>以保持</a:t>
            </a:r>
            <a:r>
              <a:rPr lang="en-US" sz="2400" dirty="0">
                <a:sym typeface="+mn-ea"/>
              </a:rPr>
              <a:t>生物学上</a:t>
            </a:r>
            <a:r>
              <a:rPr lang="zh-CN" altLang="en-US" sz="2400" dirty="0">
                <a:sym typeface="+mn-ea"/>
              </a:rPr>
              <a:t>的</a:t>
            </a:r>
            <a:r>
              <a:rPr lang="en-US" sz="2400" dirty="0">
                <a:sym typeface="+mn-ea"/>
              </a:rPr>
              <a:t>独立</a:t>
            </a:r>
            <a:r>
              <a:rPr lang="zh-CN" altLang="en-US" sz="2400" dirty="0">
                <a:sym typeface="+mn-ea"/>
              </a:rPr>
              <a:t>性</a:t>
            </a:r>
            <a:r>
              <a:rPr lang="en-US" sz="2400" dirty="0">
                <a:sym typeface="+mn-ea"/>
              </a:rPr>
              <a:t>。</a:t>
            </a:r>
            <a:endParaRPr lang="en-US" sz="2400" dirty="0"/>
          </a:p>
          <a:p>
            <a:pPr marL="342900" lvl="1" indent="-342900" eaLnBrk="1" hangingPunct="1">
              <a:buSzPct val="60000"/>
            </a:pPr>
            <a:r>
              <a:rPr lang="zh-CN" altLang="en-US" sz="2400" dirty="0">
                <a:sym typeface="+mn-ea"/>
              </a:rPr>
              <a:t>占用状态没有异质性</a:t>
            </a:r>
            <a:endParaRPr lang="en-US" sz="2400" dirty="0"/>
          </a:p>
          <a:p>
            <a:pPr marL="742950" lvl="2" indent="-342900" eaLnBrk="1" hangingPunct="1">
              <a:buSzPct val="60000"/>
            </a:pPr>
            <a:r>
              <a:rPr lang="en-US" sz="2400" dirty="0">
                <a:sym typeface="+mn-ea"/>
              </a:rPr>
              <a:t>没有无法通过协变量解释的差异</a:t>
            </a:r>
          </a:p>
          <a:p>
            <a:pPr marL="342900" lvl="1" indent="-342900" eaLnBrk="1" hangingPunct="1">
              <a:buSzPct val="60000"/>
            </a:pPr>
            <a:r>
              <a:rPr lang="en-US" sz="2400" dirty="0">
                <a:sym typeface="+mn-ea"/>
              </a:rPr>
              <a:t>检测无异质性 </a:t>
            </a:r>
            <a:endParaRPr lang="en-US" sz="2400" dirty="0"/>
          </a:p>
          <a:p>
            <a:pPr marL="742950" lvl="2" indent="-342900" eaLnBrk="1" hangingPunct="1">
              <a:buSzPct val="60000"/>
            </a:pPr>
            <a:r>
              <a:rPr lang="en-US" sz="2400" dirty="0">
                <a:sym typeface="+mn-ea"/>
              </a:rPr>
              <a:t>没有无法通过协变量解释的差异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dirty="0"/>
              <a:t>Basic sampling protocol same</a:t>
            </a:r>
            <a:br>
              <a:rPr lang="en-US" dirty="0"/>
            </a:br>
            <a:r>
              <a:rPr lang="en-US" dirty="0"/>
              <a:t>基本的</a:t>
            </a:r>
            <a:r>
              <a:rPr lang="zh-CN" altLang="en-US" dirty="0"/>
              <a:t>采样流程</a:t>
            </a:r>
            <a:r>
              <a:rPr lang="en-US" dirty="0"/>
              <a:t>相同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93335"/>
          </a:xfrm>
        </p:spPr>
        <p:txBody>
          <a:bodyPr>
            <a:normAutofit fontScale="87500"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/>
              <a:t>Visit sites and spend time looking for individuals of interest or evidence that they are present</a:t>
            </a:r>
          </a:p>
          <a:p>
            <a:pPr eaLnBrk="1" hangingPunct="1">
              <a:spcBef>
                <a:spcPts val="600"/>
              </a:spcBef>
            </a:pPr>
            <a:r>
              <a:rPr lang="zh-CN" altLang="en-US"/>
              <a:t>到样点考察，</a:t>
            </a:r>
            <a:r>
              <a:rPr lang="en-US"/>
              <a:t>并花时间寻找</a:t>
            </a:r>
            <a:r>
              <a:rPr lang="zh-CN" altLang="en-US"/>
              <a:t>研究相关</a:t>
            </a:r>
            <a:r>
              <a:rPr lang="en-US"/>
              <a:t>的个体或</a:t>
            </a:r>
            <a:r>
              <a:rPr lang="en-US">
                <a:sym typeface="+mn-ea"/>
              </a:rPr>
              <a:t>表明它们存在</a:t>
            </a:r>
            <a:r>
              <a:rPr lang="zh-CN" altLang="en-US">
                <a:sym typeface="+mn-ea"/>
              </a:rPr>
              <a:t>的</a:t>
            </a:r>
            <a:r>
              <a:rPr lang="en-US"/>
              <a:t>证据</a:t>
            </a:r>
          </a:p>
          <a:p>
            <a:pPr eaLnBrk="1" hangingPunct="1">
              <a:spcBef>
                <a:spcPts val="600"/>
              </a:spcBef>
            </a:pPr>
            <a:endParaRPr lang="en-US"/>
          </a:p>
          <a:p>
            <a:pPr eaLnBrk="1" hangingPunct="1">
              <a:spcBef>
                <a:spcPts val="600"/>
              </a:spcBef>
            </a:pPr>
            <a:r>
              <a:rPr lang="en-US"/>
              <a:t>Repeated presence-absence surveys</a:t>
            </a:r>
          </a:p>
          <a:p>
            <a:pPr lvl="1" eaLnBrk="1" hangingPunct="1"/>
            <a:r>
              <a:rPr lang="en-US"/>
              <a:t>Temporal replication at same site</a:t>
            </a:r>
          </a:p>
          <a:p>
            <a:pPr lvl="1" eaLnBrk="1" hangingPunct="1"/>
            <a:r>
              <a:rPr lang="en-US"/>
              <a:t>Spatial replication</a:t>
            </a:r>
            <a:endParaRPr lang="en-US" sz="3200">
              <a:sym typeface="+mn-ea"/>
            </a:endParaRPr>
          </a:p>
          <a:p>
            <a:pPr marL="0" lvl="1" fontAlgn="auto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200">
                <a:sym typeface="+mn-ea"/>
              </a:rPr>
              <a:t>重复的“存在—缺席”调查</a:t>
            </a:r>
            <a:endParaRPr lang="en-US" sz="3200"/>
          </a:p>
          <a:p>
            <a:pPr lvl="1" eaLnBrk="1" hangingPunct="1"/>
            <a:r>
              <a:rPr lang="en-US">
                <a:sym typeface="+mn-ea"/>
              </a:rPr>
              <a:t>同一地点的时间复制</a:t>
            </a:r>
            <a:endParaRPr lang="en-US"/>
          </a:p>
          <a:p>
            <a:pPr lvl="1" eaLnBrk="1" hangingPunct="1"/>
            <a:r>
              <a:rPr lang="en-US">
                <a:sym typeface="+mn-ea"/>
              </a:rPr>
              <a:t>空间复制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b="1" dirty="0"/>
              <a:t>Important considerations</a:t>
            </a:r>
            <a:br>
              <a:rPr lang="en-US" b="1" dirty="0"/>
            </a:br>
            <a:r>
              <a:rPr lang="en-US" b="1" dirty="0"/>
              <a:t>重要考虑因素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36675"/>
            <a:ext cx="8477250" cy="5688965"/>
          </a:xfrm>
        </p:spPr>
        <p:txBody>
          <a:bodyPr>
            <a:normAutofit fontScale="57500"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sz="3200" b="1" dirty="0"/>
              <a:t>Study design 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Scope of inference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Elements of stratification and randomization</a:t>
            </a:r>
          </a:p>
          <a:p>
            <a:pPr eaLnBrk="1" hangingPunct="1">
              <a:spcBef>
                <a:spcPts val="600"/>
              </a:spcBef>
            </a:pPr>
            <a:r>
              <a:rPr lang="en-US" sz="3200" b="1" dirty="0"/>
              <a:t>Strength of inference!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Strongest – experimental manipulation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Weaker – constrained designs (e.g., before &amp; after)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Weaker still – a prior modeling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sz="3200" dirty="0"/>
              <a:t>Worst – a posteriori storytelling</a:t>
            </a:r>
          </a:p>
          <a:p>
            <a:pPr lvl="1" eaLnBrk="1" hangingPunct="1">
              <a:spcBef>
                <a:spcPts val="600"/>
              </a:spcBef>
            </a:pPr>
            <a:endParaRPr lang="en-US" sz="3200" dirty="0"/>
          </a:p>
          <a:p>
            <a:pPr marL="0" lvl="1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研究设计</a:t>
            </a:r>
          </a:p>
          <a:p>
            <a:pPr lvl="1" eaLnBrk="1" hangingPunct="1">
              <a:spcBef>
                <a:spcPts val="600"/>
              </a:spcBef>
              <a:buFont typeface="微软雅黑" panose="020B0503020204020204" charset="-122"/>
              <a:buChar char="-"/>
            </a:pPr>
            <a:r>
              <a:rPr lang="en-US" sz="3200" dirty="0"/>
              <a:t>推断范围</a:t>
            </a:r>
          </a:p>
          <a:p>
            <a:pPr lvl="1" eaLnBrk="1" hangingPunct="1">
              <a:spcBef>
                <a:spcPts val="600"/>
              </a:spcBef>
              <a:buFont typeface="微软雅黑" panose="020B0503020204020204" charset="-122"/>
              <a:buChar char="-"/>
            </a:pPr>
            <a:r>
              <a:rPr lang="en-US" sz="3200" dirty="0"/>
              <a:t>分层和随机化的要素</a:t>
            </a:r>
          </a:p>
          <a:p>
            <a:pPr marL="0" lvl="1" fontAlgn="auto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推断的强度</a:t>
            </a:r>
            <a:r>
              <a:rPr lang="zh-CN" altLang="en-US" sz="3200" b="1" dirty="0"/>
              <a:t>！</a:t>
            </a:r>
          </a:p>
          <a:p>
            <a:pPr lvl="1" algn="l" eaLnBrk="1" hangingPunct="1">
              <a:spcBef>
                <a:spcPts val="600"/>
              </a:spcBef>
              <a:buClrTx/>
              <a:buSzTx/>
              <a:buFont typeface="微软雅黑" panose="020B0503020204020204" charset="-122"/>
              <a:buChar char="-"/>
            </a:pPr>
            <a:r>
              <a:rPr lang="en-US" sz="3200" dirty="0"/>
              <a:t>最强—实验操作</a:t>
            </a:r>
          </a:p>
          <a:p>
            <a:pPr lvl="1" algn="l" eaLnBrk="1" hangingPunct="1">
              <a:spcBef>
                <a:spcPts val="600"/>
              </a:spcBef>
              <a:buClrTx/>
              <a:buSzTx/>
              <a:buFont typeface="微软雅黑" panose="020B0503020204020204" charset="-122"/>
              <a:buChar char="-"/>
            </a:pPr>
            <a:r>
              <a:rPr lang="en-US" sz="3200" dirty="0"/>
              <a:t>较弱—受限制的设计（如前后对比）</a:t>
            </a:r>
          </a:p>
          <a:p>
            <a:pPr lvl="1" algn="l" eaLnBrk="1" hangingPunct="1">
              <a:spcBef>
                <a:spcPts val="600"/>
              </a:spcBef>
              <a:buClrTx/>
              <a:buSzTx/>
              <a:buFont typeface="微软雅黑" panose="020B0503020204020204" charset="-122"/>
              <a:buChar char="-"/>
            </a:pPr>
            <a:r>
              <a:rPr lang="en-US" sz="3200" dirty="0"/>
              <a:t>更弱—先验建模</a:t>
            </a:r>
          </a:p>
          <a:p>
            <a:pPr lvl="1" algn="l" eaLnBrk="1" hangingPunct="1">
              <a:spcBef>
                <a:spcPts val="600"/>
              </a:spcBef>
              <a:buClrTx/>
              <a:buSzTx/>
              <a:buFont typeface="微软雅黑" panose="020B0503020204020204" charset="-122"/>
              <a:buChar char="-"/>
            </a:pPr>
            <a:r>
              <a:rPr lang="en-US" sz="3200" dirty="0"/>
              <a:t>最差—事后故事叙述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1" y="355920"/>
            <a:ext cx="8229600" cy="114300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110" dirty="0"/>
              <a:t>Patch Occupancy Dynamics:  </a:t>
            </a:r>
            <a:br>
              <a:rPr lang="en-US" sz="3110" dirty="0"/>
            </a:br>
            <a:r>
              <a:rPr lang="en-US" sz="3110" dirty="0"/>
              <a:t>Pollock’s Robust Design</a:t>
            </a:r>
            <a:br>
              <a:rPr lang="en-US" sz="3110" dirty="0"/>
            </a:br>
            <a:r>
              <a:rPr lang="zh-CN" altLang="en-US" sz="3110" dirty="0">
                <a:sym typeface="+mn-ea"/>
              </a:rPr>
              <a:t>地块占用</a:t>
            </a:r>
            <a:r>
              <a:rPr lang="en-US" sz="3110" dirty="0">
                <a:sym typeface="+mn-ea"/>
              </a:rPr>
              <a:t>动态：  </a:t>
            </a:r>
            <a:br>
              <a:rPr lang="en-US" sz="3110" dirty="0">
                <a:sym typeface="+mn-ea"/>
              </a:rPr>
            </a:br>
            <a:r>
              <a:rPr lang="en-US" sz="3110" dirty="0">
                <a:sym typeface="+mn-ea"/>
              </a:rPr>
              <a:t>波洛克的稳健设计</a:t>
            </a:r>
            <a:endParaRPr lang="en-US" sz="3110" dirty="0"/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894840"/>
            <a:ext cx="8229600" cy="5258435"/>
          </a:xfrm>
        </p:spPr>
        <p:txBody>
          <a:bodyPr>
            <a:normAutofit fontScale="77500" lnSpcReduction="10000"/>
          </a:bodyPr>
          <a:lstStyle/>
          <a:p>
            <a:pPr marL="0" indent="0" eaLnBrk="1" hangingPunct="1">
              <a:buNone/>
            </a:pPr>
            <a:r>
              <a:rPr lang="en-US" dirty="0"/>
              <a:t>Hierarchical sampling scheme:</a:t>
            </a:r>
          </a:p>
          <a:p>
            <a:pPr marL="0" indent="0" eaLnBrk="1" hangingPunct="1">
              <a:buNone/>
            </a:pPr>
            <a:endParaRPr lang="en-US" dirty="0"/>
          </a:p>
          <a:p>
            <a:pPr lvl="1" eaLnBrk="1" hangingPunct="1"/>
            <a:r>
              <a:rPr lang="en-US" b="1" dirty="0"/>
              <a:t>Primary sampling periods </a:t>
            </a:r>
            <a:r>
              <a:rPr lang="en-US" dirty="0"/>
              <a:t>(seasons) : long intervals between periods such that occupancy status can change</a:t>
            </a:r>
          </a:p>
          <a:p>
            <a:pPr lvl="1" eaLnBrk="1" hangingPunct="1"/>
            <a:r>
              <a:rPr lang="en-US" b="1" dirty="0"/>
              <a:t>Secondary sampling periods</a:t>
            </a:r>
            <a:r>
              <a:rPr lang="en-US" dirty="0"/>
              <a:t>: short intervals between periods such that occupancy status is expected not to change </a:t>
            </a:r>
          </a:p>
          <a:p>
            <a:pPr lvl="1" eaLnBrk="1" hangingPunct="1"/>
            <a:endParaRPr lang="en-US" dirty="0"/>
          </a:p>
          <a:p>
            <a:pPr marL="0" indent="0" eaLnBrk="1" hangingPunct="1">
              <a:buNone/>
            </a:pPr>
            <a:r>
              <a:rPr lang="en-US" sz="3200" dirty="0">
                <a:sym typeface="+mn-ea"/>
              </a:rPr>
              <a:t>分层</a:t>
            </a:r>
            <a:r>
              <a:rPr lang="zh-CN" altLang="en-US" sz="3200" dirty="0">
                <a:sym typeface="+mn-ea"/>
              </a:rPr>
              <a:t>采样</a:t>
            </a:r>
            <a:r>
              <a:rPr lang="en-US" sz="3200" dirty="0">
                <a:sym typeface="+mn-ea"/>
              </a:rPr>
              <a:t>方案</a:t>
            </a:r>
            <a:endParaRPr lang="en-US" sz="3200" dirty="0"/>
          </a:p>
          <a:p>
            <a:pPr lvl="1" eaLnBrk="1" hangingPunct="1"/>
            <a:r>
              <a:rPr lang="en-US" sz="3200" b="1" dirty="0">
                <a:sym typeface="+mn-ea"/>
              </a:rPr>
              <a:t>主要</a:t>
            </a:r>
            <a:r>
              <a:rPr lang="zh-CN" altLang="en-US" sz="3200" b="1" dirty="0">
                <a:sym typeface="+mn-ea"/>
              </a:rPr>
              <a:t>采</a:t>
            </a:r>
            <a:r>
              <a:rPr lang="en-US" sz="3200" b="1" dirty="0">
                <a:sym typeface="+mn-ea"/>
              </a:rPr>
              <a:t>样期</a:t>
            </a:r>
            <a:r>
              <a:rPr lang="en-US" sz="3200" dirty="0">
                <a:sym typeface="+mn-ea"/>
              </a:rPr>
              <a:t>（季节）：</a:t>
            </a:r>
            <a:r>
              <a:rPr lang="zh-CN" altLang="en-US" sz="3200" dirty="0">
                <a:sym typeface="+mn-ea"/>
              </a:rPr>
              <a:t>采样</a:t>
            </a:r>
            <a:r>
              <a:rPr lang="en-US" sz="3200" dirty="0">
                <a:sym typeface="+mn-ea"/>
              </a:rPr>
              <a:t>期之间间隔较长，因此</a:t>
            </a:r>
            <a:r>
              <a:rPr lang="zh-CN" altLang="en-US" sz="3200" dirty="0">
                <a:sym typeface="+mn-ea"/>
              </a:rPr>
              <a:t>占用</a:t>
            </a:r>
            <a:r>
              <a:rPr lang="en-US" sz="3200" dirty="0">
                <a:sym typeface="+mn-ea"/>
              </a:rPr>
              <a:t>状态可能发生变化</a:t>
            </a:r>
            <a:endParaRPr lang="en-US" sz="3200" dirty="0"/>
          </a:p>
          <a:p>
            <a:pPr lvl="1" eaLnBrk="1" hangingPunct="1"/>
            <a:r>
              <a:rPr lang="zh-CN" altLang="en-US" sz="3200" b="1" dirty="0">
                <a:sym typeface="+mn-ea"/>
              </a:rPr>
              <a:t>次要采</a:t>
            </a:r>
            <a:r>
              <a:rPr lang="en-US" sz="3200" b="1" dirty="0">
                <a:sym typeface="+mn-ea"/>
              </a:rPr>
              <a:t>样期</a:t>
            </a:r>
            <a:r>
              <a:rPr lang="en-US" sz="3200" dirty="0">
                <a:sym typeface="+mn-ea"/>
              </a:rPr>
              <a:t>：</a:t>
            </a:r>
            <a:r>
              <a:rPr lang="zh-CN" altLang="en-US" sz="3200" dirty="0">
                <a:sym typeface="+mn-ea"/>
              </a:rPr>
              <a:t>采样</a:t>
            </a:r>
            <a:r>
              <a:rPr lang="en-US" sz="3200" dirty="0">
                <a:sym typeface="+mn-ea"/>
              </a:rPr>
              <a:t>期之间的间隔时间较短，预计</a:t>
            </a:r>
            <a:r>
              <a:rPr lang="zh-CN" altLang="en-US" sz="3200" dirty="0">
                <a:sym typeface="+mn-ea"/>
              </a:rPr>
              <a:t>占用</a:t>
            </a:r>
            <a:r>
              <a:rPr lang="en-US" sz="3200" dirty="0">
                <a:sym typeface="+mn-ea"/>
              </a:rPr>
              <a:t>状态不会发生变化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76885" y="1394460"/>
            <a:ext cx="8582025" cy="569087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Still 2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sz="2000" dirty="0">
                <a:sym typeface="Symbol" panose="05050102010706020507" pitchFamily="18" charset="2"/>
              </a:rPr>
              <a:t>possible capture histories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History : 10 00 11 01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10 01 11 = presence in primary period 1, 3, &amp; 4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00 = 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Patch occupied but occupancy not detected, or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Patch not occupied (=locally extinct) yet re-colonized later</a:t>
            </a:r>
          </a:p>
          <a:p>
            <a:pPr lvl="1" eaLnBrk="1" hangingPunct="1"/>
            <a:endParaRPr lang="en-US" sz="2000" dirty="0">
              <a:sym typeface="Symbol" panose="05050102010706020507" pitchFamily="18" charset="2"/>
            </a:endParaRP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仍有 2</a:t>
            </a:r>
            <a:r>
              <a:rPr lang="en-US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种</a:t>
            </a:r>
            <a:r>
              <a:rPr lang="en-US" sz="2000" dirty="0">
                <a:sym typeface="Symbol" panose="05050102010706020507" pitchFamily="18" charset="2"/>
              </a:rPr>
              <a:t>可能的捕获历史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历史</a:t>
            </a:r>
            <a:r>
              <a:rPr lang="zh-CN" altLang="en-US" sz="2000" dirty="0">
                <a:sym typeface="Symbol" panose="05050102010706020507" pitchFamily="18" charset="2"/>
              </a:rPr>
              <a:t>：</a:t>
            </a:r>
            <a:r>
              <a:rPr lang="en-US" sz="2000" dirty="0">
                <a:sym typeface="Symbol" panose="05050102010706020507" pitchFamily="18" charset="2"/>
              </a:rPr>
              <a:t>10 00 11 01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10 01 11 = 表示在主要时段1、3和4存在</a:t>
            </a:r>
          </a:p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00 = 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表示虽然该</a:t>
            </a:r>
            <a:r>
              <a:rPr lang="zh-CN" altLang="en-US" sz="2000" dirty="0">
                <a:sym typeface="Symbol" panose="05050102010706020507" pitchFamily="18" charset="2"/>
              </a:rPr>
              <a:t>地块被占用</a:t>
            </a:r>
            <a:r>
              <a:rPr lang="en-US" sz="2000" dirty="0">
                <a:sym typeface="Symbol" panose="05050102010706020507" pitchFamily="18" charset="2"/>
              </a:rPr>
              <a:t>了，但未被检测到（即</a:t>
            </a:r>
            <a:r>
              <a:rPr lang="zh-CN" altLang="en-US" sz="2000" dirty="0">
                <a:sym typeface="Symbol" panose="05050102010706020507" pitchFamily="18" charset="2"/>
              </a:rPr>
              <a:t>占用</a:t>
            </a:r>
            <a:r>
              <a:rPr lang="en-US" sz="2000" dirty="0">
                <a:sym typeface="Symbol" panose="05050102010706020507" pitchFamily="18" charset="2"/>
              </a:rPr>
              <a:t>状态未被观察到），或</a:t>
            </a:r>
          </a:p>
          <a:p>
            <a:pPr lvl="1" eaLnBrk="1" hangingPunct="1"/>
            <a:r>
              <a:rPr lang="en-US" sz="2000" dirty="0">
                <a:sym typeface="Symbol" panose="05050102010706020507" pitchFamily="18" charset="2"/>
              </a:rPr>
              <a:t>也可以表示该</a:t>
            </a:r>
            <a:r>
              <a:rPr lang="zh-CN" altLang="en-US" sz="2000" dirty="0">
                <a:sym typeface="Symbol" panose="05050102010706020507" pitchFamily="18" charset="2"/>
              </a:rPr>
              <a:t>地块</a:t>
            </a:r>
            <a:r>
              <a:rPr lang="en-US" sz="2000" dirty="0">
                <a:sym typeface="Symbol" panose="05050102010706020507" pitchFamily="18" charset="2"/>
              </a:rPr>
              <a:t>一开始未被</a:t>
            </a:r>
            <a:r>
              <a:rPr lang="zh-CN" altLang="en-US" sz="2000" dirty="0">
                <a:sym typeface="Symbol" panose="05050102010706020507" pitchFamily="18" charset="2"/>
              </a:rPr>
              <a:t>占用</a:t>
            </a:r>
            <a:r>
              <a:rPr lang="en-US" sz="2000" dirty="0">
                <a:sym typeface="Symbol" panose="05050102010706020507" pitchFamily="18" charset="2"/>
              </a:rPr>
              <a:t>（=局部灭绝），但后来</a:t>
            </a:r>
            <a:r>
              <a:rPr lang="zh-CN" altLang="en-US" sz="2000" dirty="0">
                <a:sym typeface="Symbol" panose="05050102010706020507" pitchFamily="18" charset="2"/>
              </a:rPr>
              <a:t>又</a:t>
            </a:r>
            <a:r>
              <a:rPr lang="en-US" sz="2000" dirty="0">
                <a:sym typeface="Symbol" panose="05050102010706020507" pitchFamily="18" charset="2"/>
              </a:rPr>
              <a:t>重新被</a:t>
            </a:r>
            <a:r>
              <a:rPr lang="zh-CN" altLang="en-US" sz="2000" dirty="0">
                <a:sym typeface="Symbol" panose="05050102010706020507" pitchFamily="18" charset="2"/>
              </a:rPr>
              <a:t>定居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Robust Design Capture History</a:t>
            </a:r>
            <a:br>
              <a:rPr lang="en-US" dirty="0"/>
            </a:br>
            <a:r>
              <a:rPr lang="en-US" dirty="0">
                <a:sym typeface="+mn-ea"/>
              </a:rPr>
              <a:t>稳健的设计捕捉历史 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Occupancy dynamics</a:t>
            </a:r>
            <a:br>
              <a:rPr lang="en-US" dirty="0"/>
            </a:br>
            <a:r>
              <a:rPr lang="zh-CN" altLang="en-US" dirty="0"/>
              <a:t>占用动态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14478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0-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未占用</a:t>
            </a: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590800" y="6246812"/>
            <a:ext cx="495300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Oval 52"/>
          <p:cNvSpPr/>
          <p:nvPr/>
        </p:nvSpPr>
        <p:spPr bwMode="auto">
          <a:xfrm>
            <a:off x="14478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1-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</a:rPr>
              <a:t>已占用</a:t>
            </a:r>
          </a:p>
        </p:txBody>
      </p:sp>
      <p:sp>
        <p:nvSpPr>
          <p:cNvPr id="56" name="Oval 55"/>
          <p:cNvSpPr/>
          <p:nvPr/>
        </p:nvSpPr>
        <p:spPr bwMode="auto">
          <a:xfrm>
            <a:off x="414147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0-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未占用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414147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1-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已占用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8" name="Oval 57"/>
          <p:cNvSpPr/>
          <p:nvPr/>
        </p:nvSpPr>
        <p:spPr bwMode="auto">
          <a:xfrm>
            <a:off x="68580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0-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未占用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9" name="Oval 58"/>
          <p:cNvSpPr/>
          <p:nvPr/>
        </p:nvSpPr>
        <p:spPr bwMode="auto">
          <a:xfrm>
            <a:off x="68580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1-</a:t>
            </a:r>
            <a:r>
              <a:rPr lang="zh-CN" altLang="en-US" dirty="0">
                <a:ln>
                  <a:noFill/>
                </a:ln>
                <a:effectLst/>
                <a:latin typeface="Tahoma" panose="020B0604030504040204" pitchFamily="34" charset="0"/>
                <a:sym typeface="+mn-ea"/>
              </a:rPr>
              <a:t>已占用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61" name="Straight Arrow Connector 60"/>
          <p:cNvCxnSpPr>
            <a:stCxn id="53" idx="6"/>
            <a:endCxn id="57" idx="2"/>
          </p:cNvCxnSpPr>
          <p:nvPr/>
        </p:nvCxnSpPr>
        <p:spPr bwMode="auto">
          <a:xfrm>
            <a:off x="3429000" y="2971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Straight Arrow Connector 62"/>
          <p:cNvCxnSpPr>
            <a:stCxn id="53" idx="5"/>
            <a:endCxn id="56" idx="1"/>
          </p:cNvCxnSpPr>
          <p:nvPr/>
        </p:nvCxnSpPr>
        <p:spPr bwMode="auto">
          <a:xfrm rot="16200000" flipH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Straight Arrow Connector 64"/>
          <p:cNvCxnSpPr>
            <a:stCxn id="16" idx="6"/>
            <a:endCxn id="56" idx="2"/>
          </p:cNvCxnSpPr>
          <p:nvPr/>
        </p:nvCxnSpPr>
        <p:spPr bwMode="auto">
          <a:xfrm>
            <a:off x="3429000" y="4876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traight Arrow Connector 66"/>
          <p:cNvCxnSpPr>
            <a:stCxn id="16" idx="7"/>
            <a:endCxn id="57" idx="3"/>
          </p:cNvCxnSpPr>
          <p:nvPr/>
        </p:nvCxnSpPr>
        <p:spPr bwMode="auto">
          <a:xfrm rot="5400000" flipH="1" flipV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Straight Arrow Connector 68"/>
          <p:cNvCxnSpPr>
            <a:stCxn id="57" idx="6"/>
            <a:endCxn id="59" idx="2"/>
          </p:cNvCxnSpPr>
          <p:nvPr/>
        </p:nvCxnSpPr>
        <p:spPr bwMode="auto">
          <a:xfrm>
            <a:off x="6122670" y="2971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stCxn id="57" idx="5"/>
            <a:endCxn id="58" idx="1"/>
          </p:cNvCxnSpPr>
          <p:nvPr/>
        </p:nvCxnSpPr>
        <p:spPr bwMode="auto">
          <a:xfrm rot="16200000" flipH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stCxn id="56" idx="6"/>
            <a:endCxn id="58" idx="2"/>
          </p:cNvCxnSpPr>
          <p:nvPr/>
        </p:nvCxnSpPr>
        <p:spPr bwMode="auto">
          <a:xfrm>
            <a:off x="6122670" y="4876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Straight Arrow Connector 74"/>
          <p:cNvCxnSpPr>
            <a:stCxn id="56" idx="7"/>
            <a:endCxn id="59" idx="3"/>
          </p:cNvCxnSpPr>
          <p:nvPr/>
        </p:nvCxnSpPr>
        <p:spPr bwMode="auto">
          <a:xfrm rot="5400000" flipH="1" flipV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4648200" y="6031468"/>
            <a:ext cx="825500" cy="64516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season</a:t>
            </a:r>
          </a:p>
          <a:p>
            <a:r>
              <a:rPr lang="zh-CN" altLang="en-US" dirty="0"/>
              <a:t>季节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3581400"/>
            <a:ext cx="15519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</a:t>
            </a:r>
            <a:br>
              <a:rPr lang="en-US" dirty="0"/>
            </a:br>
            <a:r>
              <a:rPr lang="en-US" dirty="0"/>
              <a:t>state</a:t>
            </a:r>
            <a:r>
              <a:rPr lang="zh-CN" altLang="en-US" dirty="0"/>
              <a:t>占用状态</a:t>
            </a:r>
          </a:p>
        </p:txBody>
      </p:sp>
      <p:cxnSp>
        <p:nvCxnSpPr>
          <p:cNvPr id="21" name="Straight Arrow Connector 20"/>
          <p:cNvCxnSpPr>
            <a:stCxn id="19" idx="0"/>
            <a:endCxn id="53" idx="2"/>
          </p:cNvCxnSpPr>
          <p:nvPr/>
        </p:nvCxnSpPr>
        <p:spPr bwMode="auto">
          <a:xfrm rot="16200000">
            <a:off x="883285" y="3016885"/>
            <a:ext cx="609600" cy="519430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19" idx="2"/>
            <a:endCxn id="16" idx="2"/>
          </p:cNvCxnSpPr>
          <p:nvPr/>
        </p:nvCxnSpPr>
        <p:spPr bwMode="auto">
          <a:xfrm rot="5400000" flipV="1">
            <a:off x="862965" y="4291965"/>
            <a:ext cx="650240" cy="519430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dirty="0">
                <a:latin typeface="Symbol" panose="05050102010706020507" pitchFamily="18" charset="2"/>
              </a:rPr>
              <a:t>e</a:t>
            </a:r>
            <a:r>
              <a:rPr lang="en-US" sz="2400" dirty="0"/>
              <a:t> – local extinction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dirty="0">
                <a:latin typeface="Symbol" panose="05050102010706020507" pitchFamily="18" charset="2"/>
              </a:rPr>
              <a:t>g</a:t>
            </a:r>
            <a:r>
              <a:rPr lang="en-US" sz="2400" dirty="0"/>
              <a:t> – colonization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dirty="0">
                <a:latin typeface="Symbol" panose="05050102010706020507" pitchFamily="18" charset="2"/>
              </a:rPr>
              <a:t>(1-e)</a:t>
            </a:r>
            <a:r>
              <a:rPr lang="en-US" sz="2400" dirty="0"/>
              <a:t> – not extinct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3581400" y="1357856"/>
            <a:ext cx="3352800" cy="9197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dirty="0">
                <a:latin typeface="Symbol" panose="05050102010706020507" pitchFamily="18" charset="2"/>
              </a:rPr>
              <a:t>(1-g)</a:t>
            </a:r>
            <a:r>
              <a:rPr lang="en-US" sz="2400" dirty="0"/>
              <a:t> – not colonized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sz="2400" dirty="0">
                <a:latin typeface="Symbol" panose="05050102010706020507" pitchFamily="18" charset="2"/>
                <a:sym typeface="+mn-ea"/>
              </a:rPr>
              <a:t>(1-g)</a:t>
            </a:r>
            <a:r>
              <a:rPr lang="en-US" sz="2400" dirty="0">
                <a:sym typeface="+mn-ea"/>
              </a:rPr>
              <a:t> – </a:t>
            </a:r>
            <a:r>
              <a:rPr lang="zh-CN" altLang="en-US" sz="2400" dirty="0">
                <a:sym typeface="+mn-ea"/>
              </a:rPr>
              <a:t>未被重新定居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/>
        </p:nvSpPr>
        <p:spPr bwMode="auto">
          <a:xfrm>
            <a:off x="14478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590800" y="6246812"/>
            <a:ext cx="495300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Oval 52"/>
          <p:cNvSpPr/>
          <p:nvPr/>
        </p:nvSpPr>
        <p:spPr bwMode="auto">
          <a:xfrm>
            <a:off x="14478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6" name="Oval 55"/>
          <p:cNvSpPr/>
          <p:nvPr/>
        </p:nvSpPr>
        <p:spPr bwMode="auto">
          <a:xfrm>
            <a:off x="414147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414147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8" name="Oval 57"/>
          <p:cNvSpPr/>
          <p:nvPr/>
        </p:nvSpPr>
        <p:spPr bwMode="auto">
          <a:xfrm>
            <a:off x="68580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59" name="Oval 58"/>
          <p:cNvSpPr/>
          <p:nvPr/>
        </p:nvSpPr>
        <p:spPr bwMode="auto">
          <a:xfrm>
            <a:off x="68580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cxnSp>
        <p:nvCxnSpPr>
          <p:cNvPr id="61" name="Straight Arrow Connector 60"/>
          <p:cNvCxnSpPr>
            <a:stCxn id="53" idx="6"/>
            <a:endCxn id="57" idx="2"/>
          </p:cNvCxnSpPr>
          <p:nvPr/>
        </p:nvCxnSpPr>
        <p:spPr bwMode="auto">
          <a:xfrm>
            <a:off x="3429000" y="2971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Straight Arrow Connector 62"/>
          <p:cNvCxnSpPr>
            <a:stCxn id="53" idx="5"/>
            <a:endCxn id="56" idx="1"/>
          </p:cNvCxnSpPr>
          <p:nvPr/>
        </p:nvCxnSpPr>
        <p:spPr bwMode="auto">
          <a:xfrm rot="16200000" flipH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Straight Arrow Connector 64"/>
          <p:cNvCxnSpPr>
            <a:stCxn id="16" idx="6"/>
            <a:endCxn id="56" idx="2"/>
          </p:cNvCxnSpPr>
          <p:nvPr/>
        </p:nvCxnSpPr>
        <p:spPr bwMode="auto">
          <a:xfrm>
            <a:off x="3429000" y="4876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traight Arrow Connector 66"/>
          <p:cNvCxnSpPr>
            <a:stCxn id="16" idx="7"/>
            <a:endCxn id="57" idx="3"/>
          </p:cNvCxnSpPr>
          <p:nvPr/>
        </p:nvCxnSpPr>
        <p:spPr bwMode="auto">
          <a:xfrm rot="5400000" flipH="1" flipV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Straight Arrow Connector 68"/>
          <p:cNvCxnSpPr>
            <a:stCxn id="57" idx="6"/>
            <a:endCxn id="59" idx="2"/>
          </p:cNvCxnSpPr>
          <p:nvPr/>
        </p:nvCxnSpPr>
        <p:spPr bwMode="auto">
          <a:xfrm>
            <a:off x="6122670" y="2971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stCxn id="57" idx="5"/>
            <a:endCxn id="58" idx="1"/>
          </p:cNvCxnSpPr>
          <p:nvPr/>
        </p:nvCxnSpPr>
        <p:spPr bwMode="auto">
          <a:xfrm rot="16200000" flipH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stCxn id="56" idx="6"/>
            <a:endCxn id="58" idx="2"/>
          </p:cNvCxnSpPr>
          <p:nvPr/>
        </p:nvCxnSpPr>
        <p:spPr bwMode="auto">
          <a:xfrm>
            <a:off x="6122670" y="4876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Straight Arrow Connector 74"/>
          <p:cNvCxnSpPr>
            <a:stCxn id="56" idx="7"/>
            <a:endCxn id="59" idx="3"/>
          </p:cNvCxnSpPr>
          <p:nvPr/>
        </p:nvCxnSpPr>
        <p:spPr bwMode="auto">
          <a:xfrm rot="5400000" flipH="1" flipV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4648200" y="6031468"/>
            <a:ext cx="8867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3581400"/>
            <a:ext cx="155194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</a:t>
            </a:r>
            <a:br>
              <a:rPr lang="en-US" dirty="0"/>
            </a:br>
            <a:r>
              <a:rPr lang="en-US" dirty="0"/>
              <a:t>state</a:t>
            </a:r>
            <a:r>
              <a:rPr lang="zh-CN" altLang="en-US" dirty="0"/>
              <a:t>占用状态</a:t>
            </a:r>
          </a:p>
        </p:txBody>
      </p:sp>
      <p:cxnSp>
        <p:nvCxnSpPr>
          <p:cNvPr id="21" name="Straight Arrow Connector 20"/>
          <p:cNvCxnSpPr>
            <a:stCxn id="19" idx="0"/>
            <a:endCxn id="53" idx="2"/>
          </p:cNvCxnSpPr>
          <p:nvPr/>
        </p:nvCxnSpPr>
        <p:spPr bwMode="auto">
          <a:xfrm rot="16200000">
            <a:off x="883285" y="3016885"/>
            <a:ext cx="609600" cy="519430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19" idx="2"/>
            <a:endCxn id="16" idx="2"/>
          </p:cNvCxnSpPr>
          <p:nvPr/>
        </p:nvCxnSpPr>
        <p:spPr bwMode="auto">
          <a:xfrm rot="5400000" flipV="1">
            <a:off x="862965" y="4291965"/>
            <a:ext cx="650240" cy="519430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5833110" y="655776"/>
            <a:ext cx="3311525" cy="13363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l"/>
            </a:pPr>
            <a:r>
              <a:rPr lang="en-US" sz="2400" dirty="0"/>
              <a:t>– dynamics (</a:t>
            </a:r>
            <a:r>
              <a:rPr lang="en-US" sz="2400" dirty="0">
                <a:latin typeface="Symbol" panose="05050102010706020507" pitchFamily="18" charset="2"/>
              </a:rPr>
              <a:t>g/e</a:t>
            </a:r>
            <a:r>
              <a:rPr lang="en-US" sz="2400" dirty="0"/>
              <a:t>)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&gt;1.0 – expansion</a:t>
            </a:r>
            <a:r>
              <a:rPr lang="zh-CN" altLang="en-US" sz="2400" dirty="0"/>
              <a:t>扩展</a:t>
            </a:r>
            <a:endParaRPr lang="en-US" sz="2400" dirty="0"/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/>
              <a:t>&lt; 1.0 contraction</a:t>
            </a:r>
            <a:r>
              <a:rPr lang="zh-CN" altLang="en-US" sz="2400" dirty="0"/>
              <a:t>收缩</a:t>
            </a:r>
          </a:p>
        </p:txBody>
      </p:sp>
      <p:sp>
        <p:nvSpPr>
          <p:cNvPr id="4" name="Title 1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Occupancy dynamics</a:t>
            </a:r>
            <a:br>
              <a:rPr lang="en-US" dirty="0"/>
            </a:br>
            <a:r>
              <a:rPr lang="zh-CN" altLang="en-US" dirty="0"/>
              <a:t>占用动态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Inferring population dynamics!</a:t>
            </a:r>
            <a:br>
              <a:rPr lang="en-US" dirty="0"/>
            </a:br>
            <a:r>
              <a:rPr lang="zh-CN" altLang="en-US" dirty="0"/>
              <a:t>推断种群动态！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probability of extinction and colonization</a:t>
            </a:r>
          </a:p>
          <a:p>
            <a:r>
              <a:rPr lang="en-US" dirty="0"/>
              <a:t>评估灭绝和重新定居的概率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49275" y="3583940"/>
            <a:ext cx="7764780" cy="26517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Char char="l"/>
            </a:pPr>
            <a:r>
              <a:rPr lang="en-US" sz="3200" b="1" dirty="0"/>
              <a:t> – dynamics (</a:t>
            </a:r>
            <a:r>
              <a:rPr lang="en-US" sz="3200" b="1" dirty="0">
                <a:latin typeface="Symbol" panose="05050102010706020507" pitchFamily="18" charset="2"/>
              </a:rPr>
              <a:t>g/e</a:t>
            </a:r>
            <a:r>
              <a:rPr lang="en-US" sz="3200" b="1" dirty="0"/>
              <a:t>)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&gt;1.0 – population expansion (increase)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&lt;1.0 – population contraction (decrease)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λ-动态 (g/e)：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&gt;1.0—种群扩张（增加）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 dirty="0"/>
              <a:t>&lt;1.0—种群收缩（减少）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Inferring population dynamics!</a:t>
            </a:r>
            <a:br>
              <a:rPr lang="en-US" dirty="0"/>
            </a:br>
            <a:r>
              <a:rPr lang="zh-CN" altLang="en-US" dirty="0">
                <a:sym typeface="+mn-ea"/>
              </a:rPr>
              <a:t>推断种群动态！</a:t>
            </a:r>
            <a:endParaRPr lang="en-US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probability of extinction and colonization</a:t>
            </a:r>
          </a:p>
          <a:p>
            <a:r>
              <a:rPr lang="en-US" dirty="0">
                <a:sym typeface="+mn-ea"/>
              </a:rPr>
              <a:t>评估灭绝和重新定居的概率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46125" y="3723640"/>
                <a:ext cx="7671435" cy="353695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dirty="0"/>
                  <a:t>We calculate </a:t>
                </a:r>
                <a:r>
                  <a:rPr lang="en-US" sz="2400" b="1" u="sng" dirty="0"/>
                  <a:t>equilibrium occupancy</a:t>
                </a:r>
                <a:r>
                  <a:rPr lang="en-US" sz="2400" b="1" dirty="0"/>
                  <a:t> at any given time as a function of site- specific probabilities of colonization (</a:t>
                </a:r>
                <a:r>
                  <a:rPr lang="en-US" sz="2400" b="1" dirty="0">
                    <a:latin typeface="Symbol" panose="05050102010706020507" pitchFamily="18" charset="2"/>
                  </a:rPr>
                  <a:t>g</a:t>
                </a:r>
                <a:r>
                  <a:rPr lang="en-US" sz="2400" b="1" dirty="0"/>
                  <a:t>) and extinction (</a:t>
                </a:r>
                <a:r>
                  <a:rPr lang="en-US" sz="2400" b="1" dirty="0">
                    <a:latin typeface="Symbol" panose="05050102010706020507" pitchFamily="18" charset="2"/>
                  </a:rPr>
                  <a:t>e</a:t>
                </a:r>
                <a:r>
                  <a:rPr lang="en-US" sz="2400" b="1" dirty="0"/>
                  <a:t>)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dirty="0"/>
                  <a:t>我们根据特定</a:t>
                </a:r>
                <a:r>
                  <a:rPr lang="zh-CN" altLang="en-US" sz="2400" b="1" dirty="0"/>
                  <a:t>样点</a:t>
                </a:r>
                <a:r>
                  <a:rPr lang="en-US" sz="2400" b="1" dirty="0"/>
                  <a:t>的重新定居（</a:t>
                </a:r>
                <a:r>
                  <a:rPr lang="en-US" sz="2400" b="1" dirty="0">
                    <a:latin typeface="Symbol" panose="05050102010706020507" pitchFamily="18" charset="2"/>
                    <a:sym typeface="+mn-ea"/>
                  </a:rPr>
                  <a:t>g</a:t>
                </a:r>
                <a:r>
                  <a:rPr lang="en-US" sz="2400" b="1" dirty="0"/>
                  <a:t>）和灭绝（</a:t>
                </a:r>
                <a:r>
                  <a:rPr lang="en-US" sz="2400" b="1" dirty="0">
                    <a:latin typeface="Symbol" panose="05050102010706020507" pitchFamily="18" charset="2"/>
                    <a:sym typeface="+mn-ea"/>
                  </a:rPr>
                  <a:t>e</a:t>
                </a:r>
                <a:r>
                  <a:rPr lang="en-US" sz="2400" b="1" dirty="0"/>
                  <a:t>）概率</a:t>
                </a:r>
                <a:r>
                  <a:rPr lang="zh-CN" altLang="en-US" sz="2400" b="1" dirty="0"/>
                  <a:t>的函数</a:t>
                </a:r>
                <a:r>
                  <a:rPr lang="en-US" sz="2400" b="1" dirty="0"/>
                  <a:t>，计算在任何给定时间的</a:t>
                </a:r>
                <a:r>
                  <a:rPr lang="en-US" sz="2400" b="1" u="sng" dirty="0"/>
                  <a:t>平衡</a:t>
                </a:r>
                <a:r>
                  <a:rPr lang="zh-CN" altLang="en-US" sz="2400" b="1" u="sng" dirty="0"/>
                  <a:t>占用</a:t>
                </a:r>
                <a:r>
                  <a:rPr lang="en-US" sz="2400" b="1" u="sng" dirty="0"/>
                  <a:t>率</a:t>
                </a:r>
                <a:endParaRPr lang="en-US" sz="2400" b="1" dirty="0"/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/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𝜳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125" y="3723640"/>
                <a:ext cx="7671435" cy="35369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Basic design</a:t>
            </a:r>
            <a:br>
              <a:rPr lang="en-US"/>
            </a:br>
            <a:r>
              <a:rPr lang="zh-CN" altLang="en-US"/>
              <a:t>基本设计</a:t>
            </a:r>
            <a:r>
              <a:rPr lang="en-US"/>
              <a:t> 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Sample over two temporal scales.</a:t>
            </a:r>
          </a:p>
          <a:p>
            <a:r>
              <a:rPr lang="en-US"/>
              <a:t>Only disadvantage - cost </a:t>
            </a:r>
          </a:p>
          <a:p>
            <a:pPr lvl="1"/>
            <a:r>
              <a:rPr lang="en-US"/>
              <a:t>more than one sampling occasion each session.</a:t>
            </a:r>
          </a:p>
          <a:p>
            <a:pPr marL="456565" lvl="1" indent="0">
              <a:buNone/>
            </a:pPr>
            <a:endParaRPr lang="en-US"/>
          </a:p>
          <a:p>
            <a:pPr marL="0" lvl="1" fontAlgn="auto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在两个时间</a:t>
            </a:r>
            <a:r>
              <a:rPr lang="zh-CN" altLang="en-US">
                <a:sym typeface="+mn-ea"/>
              </a:rPr>
              <a:t>段</a:t>
            </a:r>
            <a:r>
              <a:rPr lang="en-US">
                <a:sym typeface="+mn-ea"/>
              </a:rPr>
              <a:t>内</a:t>
            </a:r>
            <a:r>
              <a:rPr lang="zh-CN" altLang="en-US">
                <a:sym typeface="+mn-ea"/>
              </a:rPr>
              <a:t>进行采样</a:t>
            </a:r>
            <a:r>
              <a:rPr lang="en-US">
                <a:sym typeface="+mn-ea"/>
              </a:rPr>
              <a:t>。</a:t>
            </a:r>
            <a:endParaRPr lang="en-US"/>
          </a:p>
          <a:p>
            <a:pPr marL="0" lvl="1" fontAlgn="auto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唯一的缺点—成本</a:t>
            </a:r>
            <a:r>
              <a:rPr lang="zh-CN" altLang="en-US">
                <a:sym typeface="+mn-ea"/>
              </a:rPr>
              <a:t>较高</a:t>
            </a:r>
            <a:r>
              <a:rPr lang="en-US">
                <a:sym typeface="+mn-ea"/>
              </a:rPr>
              <a:t> </a:t>
            </a:r>
            <a:endParaRPr lang="en-US"/>
          </a:p>
          <a:p>
            <a:pPr lvl="1"/>
            <a:r>
              <a:rPr lang="zh-CN" altLang="en-US">
                <a:sym typeface="+mn-ea"/>
              </a:rPr>
              <a:t>因为</a:t>
            </a:r>
            <a:r>
              <a:rPr lang="en-US">
                <a:sym typeface="+mn-ea"/>
              </a:rPr>
              <a:t>每</a:t>
            </a:r>
            <a:r>
              <a:rPr lang="zh-CN" altLang="en-US">
                <a:sym typeface="+mn-ea"/>
              </a:rPr>
              <a:t>段时间内</a:t>
            </a:r>
            <a:r>
              <a:rPr lang="en-US">
                <a:sym typeface="+mn-ea"/>
              </a:rPr>
              <a:t>都有</a:t>
            </a:r>
            <a:r>
              <a:rPr lang="zh-CN" altLang="en-US">
                <a:sym typeface="+mn-ea"/>
              </a:rPr>
              <a:t>不止</a:t>
            </a:r>
            <a:r>
              <a:rPr lang="en-US">
                <a:sym typeface="+mn-ea"/>
              </a:rPr>
              <a:t>一次的</a:t>
            </a:r>
            <a:r>
              <a:rPr lang="zh-CN" altLang="en-US">
                <a:sym typeface="+mn-ea"/>
              </a:rPr>
              <a:t>采样。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Multiple seasons - main assumptions</a:t>
            </a:r>
            <a:br>
              <a:rPr lang="en-US" dirty="0"/>
            </a:br>
            <a:r>
              <a:rPr lang="zh-CN" altLang="en-US" dirty="0"/>
              <a:t>多季节</a:t>
            </a:r>
            <a:r>
              <a:rPr lang="en-US" altLang="zh-CN" dirty="0"/>
              <a:t>—</a:t>
            </a:r>
            <a:r>
              <a:rPr lang="zh-CN" altLang="en-US" dirty="0"/>
              <a:t>主要假设</a:t>
            </a:r>
          </a:p>
        </p:txBody>
      </p:sp>
      <p:sp>
        <p:nvSpPr>
          <p:cNvPr id="56323" name="Rectangle 7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 marL="342900" lvl="1" indent="-342900" eaLnBrk="1" hangingPunct="1">
              <a:buSzPct val="60000"/>
            </a:pPr>
            <a:r>
              <a:rPr lang="en-US" sz="1750" dirty="0"/>
              <a:t>Species are not falsely detected. </a:t>
            </a:r>
          </a:p>
          <a:p>
            <a:pPr marL="342900" lvl="1" indent="-342900" eaLnBrk="1" hangingPunct="1">
              <a:buSzPct val="60000"/>
            </a:pPr>
            <a:r>
              <a:rPr lang="en-US" sz="1750" dirty="0"/>
              <a:t>The detection process is independent at each site</a:t>
            </a:r>
          </a:p>
          <a:p>
            <a:pPr marL="342900" lvl="1" indent="-342900" eaLnBrk="1" hangingPunct="1">
              <a:buSzPct val="60000"/>
            </a:pPr>
            <a:r>
              <a:rPr lang="en-US" sz="1750" dirty="0"/>
              <a:t>No </a:t>
            </a:r>
            <a:r>
              <a:rPr lang="en-US" sz="1750" dirty="0" err="1"/>
              <a:t>unmodeled</a:t>
            </a:r>
            <a:r>
              <a:rPr lang="en-US" sz="1750" dirty="0"/>
              <a:t> heterogeneity in occupancy </a:t>
            </a:r>
          </a:p>
          <a:p>
            <a:pPr marL="342900" lvl="1" indent="-342900" eaLnBrk="1" hangingPunct="1">
              <a:buSzPct val="60000"/>
            </a:pPr>
            <a:r>
              <a:rPr lang="en-US" sz="1750" dirty="0"/>
              <a:t>No </a:t>
            </a:r>
            <a:r>
              <a:rPr lang="en-US" sz="1750" dirty="0" err="1"/>
              <a:t>unmodeled</a:t>
            </a:r>
            <a:r>
              <a:rPr lang="en-US" sz="1750" dirty="0"/>
              <a:t> heterogeneity in detection </a:t>
            </a:r>
          </a:p>
          <a:p>
            <a:pPr marL="342900" lvl="1" indent="-342900" eaLnBrk="1" hangingPunct="1">
              <a:buSzPct val="60000"/>
            </a:pPr>
            <a:r>
              <a:rPr lang="en-US" sz="1750" b="1" dirty="0">
                <a:solidFill>
                  <a:srgbClr val="C00000"/>
                </a:solidFill>
              </a:rPr>
              <a:t>Closure:</a:t>
            </a:r>
          </a:p>
          <a:p>
            <a:pPr marL="742950" lvl="2" indent="-342900" eaLnBrk="1" hangingPunct="1">
              <a:buSzPct val="60000"/>
            </a:pPr>
            <a:r>
              <a:rPr lang="en-US" sz="1750" dirty="0">
                <a:sym typeface="Symbol" panose="05050102010706020507" pitchFamily="18" charset="2"/>
              </a:rPr>
              <a:t>No colonization and extinction between </a:t>
            </a:r>
            <a:r>
              <a:rPr lang="en-US" sz="1750" b="1" dirty="0">
                <a:solidFill>
                  <a:srgbClr val="C00000"/>
                </a:solidFill>
                <a:sym typeface="Symbol" panose="05050102010706020507" pitchFamily="18" charset="2"/>
              </a:rPr>
              <a:t>secondary</a:t>
            </a:r>
            <a:r>
              <a:rPr lang="en-US" sz="1750" dirty="0">
                <a:sym typeface="Symbol" panose="05050102010706020507" pitchFamily="18" charset="2"/>
              </a:rPr>
              <a:t> periods</a:t>
            </a:r>
          </a:p>
          <a:p>
            <a:pPr marL="742950" lvl="2" indent="-342900" eaLnBrk="1" hangingPunct="1">
              <a:buSzPct val="60000"/>
            </a:pPr>
            <a:r>
              <a:rPr lang="en-US" sz="1750" dirty="0">
                <a:sym typeface="Symbol" panose="05050102010706020507" pitchFamily="18" charset="2"/>
              </a:rPr>
              <a:t>No </a:t>
            </a:r>
            <a:r>
              <a:rPr lang="en-US" sz="1750" dirty="0" err="1">
                <a:sym typeface="Symbol" panose="05050102010706020507" pitchFamily="18" charset="2"/>
              </a:rPr>
              <a:t>unmodeled</a:t>
            </a:r>
            <a:r>
              <a:rPr lang="en-US" sz="1750" dirty="0">
                <a:sym typeface="Symbol" panose="05050102010706020507" pitchFamily="18" charset="2"/>
              </a:rPr>
              <a:t> heterogeneity in </a:t>
            </a:r>
            <a:r>
              <a:rPr lang="en-US" sz="1750" b="1" dirty="0">
                <a:solidFill>
                  <a:srgbClr val="C00000"/>
                </a:solidFill>
                <a:sym typeface="Symbol" panose="05050102010706020507" pitchFamily="18" charset="2"/>
              </a:rPr>
              <a:t>colonization </a:t>
            </a:r>
            <a:r>
              <a:rPr lang="en-US" sz="1750" dirty="0">
                <a:sym typeface="Symbol" panose="05050102010706020507" pitchFamily="18" charset="2"/>
              </a:rPr>
              <a:t>or </a:t>
            </a:r>
            <a:r>
              <a:rPr lang="en-US" sz="1750" b="1" dirty="0">
                <a:solidFill>
                  <a:srgbClr val="C00000"/>
                </a:solidFill>
                <a:sym typeface="Symbol" panose="05050102010706020507" pitchFamily="18" charset="2"/>
              </a:rPr>
              <a:t>extinction </a:t>
            </a:r>
            <a:r>
              <a:rPr lang="en-US" sz="1750" dirty="0">
                <a:sym typeface="Symbol" panose="05050102010706020507" pitchFamily="18" charset="2"/>
              </a:rPr>
              <a:t>between primary periods</a:t>
            </a:r>
          </a:p>
          <a:p>
            <a:pPr marL="742950" lvl="2" indent="-342900" eaLnBrk="1" hangingPunct="1">
              <a:buSzPct val="60000"/>
            </a:pPr>
            <a:endParaRPr lang="en-US" sz="1750" dirty="0">
              <a:sym typeface="Symbol" panose="05050102010706020507" pitchFamily="18" charset="2"/>
            </a:endParaRPr>
          </a:p>
          <a:p>
            <a:pPr marL="342900" lvl="1" indent="-342900" eaLnBrk="1" hangingPunct="1">
              <a:buSzPct val="60000"/>
            </a:pPr>
            <a:r>
              <a:rPr lang="en-US" sz="1750" dirty="0">
                <a:sym typeface="+mn-ea"/>
              </a:rPr>
              <a:t>物种不会被错误地检测到 </a:t>
            </a:r>
            <a:endParaRPr lang="en-US" sz="1750" dirty="0"/>
          </a:p>
          <a:p>
            <a:pPr marL="342900" lvl="1" indent="-342900" eaLnBrk="1" hangingPunct="1">
              <a:buSzPct val="60000"/>
            </a:pPr>
            <a:r>
              <a:rPr lang="en-US" sz="1750" dirty="0">
                <a:sym typeface="+mn-ea"/>
              </a:rPr>
              <a:t>每个</a:t>
            </a:r>
            <a:r>
              <a:rPr lang="zh-CN" altLang="en-US" sz="1750" dirty="0">
                <a:sym typeface="+mn-ea"/>
              </a:rPr>
              <a:t>样点</a:t>
            </a:r>
            <a:r>
              <a:rPr lang="en-US" sz="1750" dirty="0">
                <a:sym typeface="+mn-ea"/>
              </a:rPr>
              <a:t>的检测过程都是独立的</a:t>
            </a:r>
            <a:endParaRPr lang="en-US" sz="1750" dirty="0"/>
          </a:p>
          <a:p>
            <a:pPr marL="342900" lvl="1" indent="-342900" eaLnBrk="1" hangingPunct="1">
              <a:buSzPct val="60000"/>
            </a:pPr>
            <a:r>
              <a:rPr lang="en-US" sz="1750">
                <a:sym typeface="+mn-ea"/>
              </a:rPr>
              <a:t>占用状态没有未建模的异质性</a:t>
            </a:r>
            <a:r>
              <a:rPr lang="en-US" sz="1750" dirty="0">
                <a:sym typeface="+mn-ea"/>
              </a:rPr>
              <a:t> </a:t>
            </a:r>
            <a:endParaRPr lang="en-US" sz="1750" dirty="0"/>
          </a:p>
          <a:p>
            <a:pPr marL="342900" lvl="1" indent="-342900" eaLnBrk="1" hangingPunct="1">
              <a:buSzPct val="60000"/>
            </a:pPr>
            <a:r>
              <a:rPr lang="en-US" sz="1750">
                <a:sym typeface="+mn-ea"/>
              </a:rPr>
              <a:t>检测没有未建模的异质性</a:t>
            </a:r>
            <a:r>
              <a:rPr lang="en-US" sz="1750" dirty="0">
                <a:sym typeface="+mn-ea"/>
              </a:rPr>
              <a:t> </a:t>
            </a:r>
            <a:endParaRPr lang="en-US" sz="1750" dirty="0"/>
          </a:p>
          <a:p>
            <a:pPr marL="342900" lvl="1" indent="-342900" eaLnBrk="1" hangingPunct="1">
              <a:buSzPct val="60000"/>
            </a:pPr>
            <a:r>
              <a:rPr lang="zh-CN" altLang="en-US" sz="1750" b="1" dirty="0">
                <a:solidFill>
                  <a:srgbClr val="C00000"/>
                </a:solidFill>
                <a:sym typeface="+mn-ea"/>
              </a:rPr>
              <a:t>封闭性：</a:t>
            </a:r>
            <a:endParaRPr lang="en-US" sz="1750" b="1" dirty="0">
              <a:solidFill>
                <a:srgbClr val="C00000"/>
              </a:solidFill>
            </a:endParaRPr>
          </a:p>
          <a:p>
            <a:pPr marL="742950" lvl="2" indent="-342900" eaLnBrk="1" hangingPunct="1">
              <a:buSzPct val="60000"/>
            </a:pPr>
            <a:r>
              <a:rPr lang="en-US" sz="1750" b="1" dirty="0">
                <a:solidFill>
                  <a:srgbClr val="FF0000"/>
                </a:solidFill>
                <a:sym typeface="Symbol" panose="05050102010706020507" pitchFamily="18" charset="2"/>
              </a:rPr>
              <a:t>次要时段</a:t>
            </a:r>
            <a:r>
              <a:rPr lang="en-US" sz="1750" dirty="0">
                <a:sym typeface="Symbol" panose="05050102010706020507" pitchFamily="18" charset="2"/>
              </a:rPr>
              <a:t>之间没有重新定居和灭绝</a:t>
            </a:r>
          </a:p>
          <a:p>
            <a:pPr marL="742950" lvl="2" indent="-342900" eaLnBrk="1" hangingPunct="1">
              <a:buSzPct val="60000"/>
            </a:pPr>
            <a:r>
              <a:rPr lang="en-US" sz="1750">
                <a:sym typeface="Symbol" panose="05050102010706020507" pitchFamily="18" charset="2"/>
              </a:rPr>
              <a:t>主要时段之间没有未建模的</a:t>
            </a:r>
            <a:r>
              <a:rPr lang="en-US" sz="1750" b="1">
                <a:solidFill>
                  <a:srgbClr val="FF0000"/>
                </a:solidFill>
                <a:sym typeface="Symbol" panose="05050102010706020507" pitchFamily="18" charset="2"/>
              </a:rPr>
              <a:t>重新定居</a:t>
            </a:r>
            <a:r>
              <a:rPr lang="en-US" sz="1750">
                <a:sym typeface="Symbol" panose="05050102010706020507" pitchFamily="18" charset="2"/>
              </a:rPr>
              <a:t>或</a:t>
            </a:r>
            <a:r>
              <a:rPr lang="en-US" sz="1750" b="1">
                <a:solidFill>
                  <a:srgbClr val="FF0000"/>
                </a:solidFill>
                <a:sym typeface="Symbol" panose="05050102010706020507" pitchFamily="18" charset="2"/>
              </a:rPr>
              <a:t>灭绝</a:t>
            </a:r>
            <a:r>
              <a:rPr lang="en-US" sz="1750">
                <a:sym typeface="Symbol" panose="05050102010706020507" pitchFamily="18" charset="2"/>
              </a:rPr>
              <a:t>的异质性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3110"/>
              <a:t>Patch Occupancy as a State Variable: </a:t>
            </a:r>
            <a:br>
              <a:rPr lang="en-US" sz="3110"/>
            </a:br>
            <a:r>
              <a:rPr lang="en-US" sz="3110"/>
              <a:t>Modeling Dynamics</a:t>
            </a:r>
            <a:br>
              <a:rPr lang="en-US" sz="3110"/>
            </a:br>
            <a:r>
              <a:rPr lang="en-US" sz="3110"/>
              <a:t>作为状态变量的</a:t>
            </a:r>
            <a:r>
              <a:rPr lang="zh-CN" altLang="en-US" sz="3110"/>
              <a:t>地块占用</a:t>
            </a:r>
            <a:r>
              <a:rPr lang="en-US" sz="3110"/>
              <a:t>：建模动态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18920"/>
            <a:ext cx="8686800" cy="5489575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sz="1800" dirty="0"/>
              <a:t>Model changes in occupancy over time</a:t>
            </a:r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1800" dirty="0"/>
              <a:t>Parameters of interest:</a:t>
            </a:r>
          </a:p>
          <a:p>
            <a:pPr marL="685800" lvl="1" indent="-228600">
              <a:spcBef>
                <a:spcPct val="30000"/>
              </a:spcBef>
            </a:pPr>
            <a:r>
              <a:rPr lang="en-US" sz="1800" i="1" dirty="0">
                <a:latin typeface="Symbol" panose="05050102010706020507" pitchFamily="18" charset="2"/>
                <a:sym typeface="Symbol" panose="05050102010706020507" pitchFamily="18" charset="2"/>
              </a:rPr>
              <a:t>y</a:t>
            </a:r>
            <a:r>
              <a:rPr lang="en-US" sz="1800" dirty="0">
                <a:sym typeface="Symbol" panose="05050102010706020507" pitchFamily="18" charset="2"/>
              </a:rPr>
              <a:t> –  </a:t>
            </a:r>
            <a:r>
              <a:rPr lang="en-US" sz="1800" b="1" dirty="0">
                <a:sym typeface="Symbol" panose="05050102010706020507" pitchFamily="18" charset="2"/>
              </a:rPr>
              <a:t>probability of </a:t>
            </a:r>
            <a:r>
              <a:rPr 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occupancy</a:t>
            </a:r>
          </a:p>
          <a:p>
            <a:pPr marL="860425" lvl="1" indent="-457200">
              <a:spcBef>
                <a:spcPct val="30000"/>
              </a:spcBef>
            </a:pPr>
            <a:r>
              <a:rPr lang="en-US" sz="1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</a:t>
            </a:r>
            <a:r>
              <a:rPr 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sz="1800" dirty="0">
                <a:sym typeface="Symbol" panose="05050102010706020507" pitchFamily="18" charset="2"/>
              </a:rPr>
              <a:t> –  </a:t>
            </a:r>
            <a:r>
              <a:rPr lang="en-US" sz="1800" i="1" dirty="0">
                <a:latin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(absence at time </a:t>
            </a:r>
            <a:r>
              <a:rPr lang="en-US" sz="1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1800" dirty="0">
                <a:sym typeface="Symbol" panose="05050102010706020507" pitchFamily="18" charset="2"/>
              </a:rPr>
              <a:t>+1 | presence at </a:t>
            </a:r>
            <a:r>
              <a:rPr lang="en-US" sz="1800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1800" dirty="0">
                <a:sym typeface="Symbol" panose="05050102010706020507" pitchFamily="18" charset="2"/>
              </a:rPr>
              <a:t>)   </a:t>
            </a:r>
            <a:r>
              <a:rPr lang="en-US" sz="1800" b="1" dirty="0">
                <a:sym typeface="Symbol" panose="05050102010706020507" pitchFamily="18" charset="2"/>
              </a:rPr>
              <a:t>patch</a:t>
            </a:r>
            <a:r>
              <a:rPr 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 extinction</a:t>
            </a:r>
            <a:r>
              <a:rPr lang="en-US" sz="1800" b="1" dirty="0">
                <a:sym typeface="Symbol" panose="05050102010706020507" pitchFamily="18" charset="2"/>
              </a:rPr>
              <a:t> probability </a:t>
            </a:r>
            <a:br>
              <a:rPr lang="en-US" sz="1800" dirty="0">
                <a:sym typeface="Symbol" panose="05050102010706020507" pitchFamily="18" charset="2"/>
              </a:rPr>
            </a:br>
            <a:endParaRPr 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panose="05050102010706020507" pitchFamily="18" charset="2"/>
              </a:rPr>
              <a:t></a:t>
            </a:r>
            <a:r>
              <a:rPr lang="en-US" sz="1800" i="1" baseline="-25000" dirty="0">
                <a:sym typeface="Symbol" panose="05050102010706020507" pitchFamily="18" charset="2"/>
              </a:rPr>
              <a:t>t </a:t>
            </a:r>
            <a:r>
              <a:rPr lang="en-US" sz="1800" dirty="0">
                <a:sym typeface="Symbol" panose="05050102010706020507" pitchFamily="18" charset="2"/>
              </a:rPr>
              <a:t> –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(presence at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1800" dirty="0">
                <a:sym typeface="Symbol" panose="05050102010706020507" pitchFamily="18" charset="2"/>
              </a:rPr>
              <a:t>+1 | absence at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sz="1800" dirty="0">
                <a:sym typeface="Symbol" panose="05050102010706020507" pitchFamily="18" charset="2"/>
              </a:rPr>
              <a:t>) </a:t>
            </a:r>
            <a:br>
              <a:rPr lang="en-US" sz="1800" dirty="0">
                <a:sym typeface="Symbol" panose="05050102010706020507" pitchFamily="18" charset="2"/>
              </a:rPr>
            </a:br>
            <a:r>
              <a:rPr lang="en-US" sz="1800" b="1" dirty="0">
                <a:sym typeface="Symbol" panose="05050102010706020507" pitchFamily="18" charset="2"/>
              </a:rPr>
              <a:t>patch </a:t>
            </a:r>
            <a:r>
              <a:rPr 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colonization</a:t>
            </a:r>
            <a:r>
              <a:rPr lang="en-US" sz="1800" b="1" dirty="0">
                <a:sym typeface="Symbol" panose="05050102010706020507" pitchFamily="18" charset="2"/>
              </a:rPr>
              <a:t> probability</a:t>
            </a:r>
            <a:br>
              <a:rPr lang="en-US" sz="1800" dirty="0">
                <a:sym typeface="Symbol" panose="05050102010706020507" pitchFamily="18" charset="2"/>
              </a:rPr>
            </a:br>
            <a:endParaRPr 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1800" dirty="0">
                <a:sym typeface="Symbol" panose="05050102010706020507" pitchFamily="18" charset="2"/>
              </a:rPr>
              <a:t> –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(detection on occasion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1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detection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probability</a:t>
            </a:r>
          </a:p>
          <a:p>
            <a:pPr lvl="1">
              <a:lnSpc>
                <a:spcPct val="90000"/>
              </a:lnSpc>
            </a:pPr>
            <a:endParaRPr lang="en-US" sz="1800" b="1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lvl="1" indent="0" eaLnBrk="1" hangingPunct="1">
              <a:lnSpc>
                <a:spcPct val="90000"/>
              </a:lnSpc>
              <a:buNone/>
            </a:pPr>
            <a:r>
              <a:rPr lang="zh-CN" altLang="en-US" sz="1800" dirty="0">
                <a:sym typeface="+mn-ea"/>
              </a:rPr>
              <a:t>占用状态</a:t>
            </a:r>
            <a:r>
              <a:rPr lang="en-US" sz="1800" dirty="0">
                <a:sym typeface="+mn-ea"/>
              </a:rPr>
              <a:t>随时间变化的模型</a:t>
            </a:r>
            <a:endParaRPr lang="en-US" sz="18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sz="1800" dirty="0">
                <a:sym typeface="+mn-ea"/>
              </a:rPr>
              <a:t>相关参数：</a:t>
            </a:r>
            <a:endParaRPr lang="en-US" sz="1800" dirty="0"/>
          </a:p>
          <a:p>
            <a:pPr marL="685800" lvl="1" indent="-228600">
              <a:spcBef>
                <a:spcPct val="30000"/>
              </a:spcBef>
            </a:pPr>
            <a:r>
              <a:rPr lang="en-US" sz="1800" i="1" dirty="0">
                <a:latin typeface="Symbol" panose="05050102010706020507" pitchFamily="18" charset="2"/>
                <a:sym typeface="Symbol" panose="05050102010706020507" pitchFamily="18" charset="2"/>
              </a:rPr>
              <a:t>y </a:t>
            </a:r>
            <a:r>
              <a:rPr lang="en-US" sz="1800" dirty="0">
                <a:sym typeface="Symbol" panose="05050102010706020507" pitchFamily="18" charset="2"/>
              </a:rPr>
              <a:t>- </a:t>
            </a:r>
            <a:r>
              <a:rPr lang="zh-CN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占用</a:t>
            </a:r>
            <a:r>
              <a:rPr lang="en-US" sz="1800" b="1" dirty="0">
                <a:sym typeface="Symbol" panose="05050102010706020507" pitchFamily="18" charset="2"/>
              </a:rPr>
              <a:t>概率</a:t>
            </a:r>
          </a:p>
          <a:p>
            <a:pPr marL="860425" lvl="1" indent="-457200">
              <a:spcBef>
                <a:spcPct val="30000"/>
              </a:spcBef>
            </a:pPr>
            <a:r>
              <a:rPr lang="en-US" sz="18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sz="1800" i="1" baseline="-25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t</a:t>
            </a:r>
            <a:r>
              <a:rPr 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sz="1800" dirty="0">
                <a:sym typeface="Symbol" panose="05050102010706020507" pitchFamily="18" charset="2"/>
              </a:rPr>
              <a:t> - </a:t>
            </a:r>
            <a:r>
              <a:rPr lang="en-US" sz="1800" i="1" dirty="0">
                <a:latin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(在时间 </a:t>
            </a:r>
            <a:r>
              <a:rPr lang="en-US" sz="1800" i="1" dirty="0">
                <a:sym typeface="Symbol" panose="05050102010706020507" pitchFamily="18" charset="2"/>
              </a:rPr>
              <a:t>t+1 </a:t>
            </a:r>
            <a:r>
              <a:rPr lang="en-US" sz="1800" dirty="0">
                <a:sym typeface="Symbol" panose="05050102010706020507" pitchFamily="18" charset="2"/>
              </a:rPr>
              <a:t>时缺席 | 在时间</a:t>
            </a:r>
            <a:r>
              <a:rPr lang="en-US" sz="1800" i="1" dirty="0">
                <a:sym typeface="Symbol" panose="05050102010706020507" pitchFamily="18" charset="2"/>
              </a:rPr>
              <a:t> t </a:t>
            </a:r>
            <a:r>
              <a:rPr lang="en-US" sz="1800" dirty="0">
                <a:sym typeface="Symbol" panose="05050102010706020507" pitchFamily="18" charset="2"/>
              </a:rPr>
              <a:t>时存在)  </a:t>
            </a:r>
            <a:r>
              <a:rPr lang="zh-CN" altLang="en-US" sz="1800" b="1" dirty="0">
                <a:sym typeface="Symbol" panose="05050102010706020507" pitchFamily="18" charset="2"/>
              </a:rPr>
              <a:t>地块</a:t>
            </a:r>
            <a:r>
              <a:rPr lang="zh-CN" alt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灭绝</a:t>
            </a:r>
            <a:r>
              <a:rPr lang="en-US" sz="1800" b="1" dirty="0">
                <a:sym typeface="Symbol" panose="05050102010706020507" pitchFamily="18" charset="2"/>
              </a:rPr>
              <a:t>概率 </a:t>
            </a:r>
            <a:endParaRPr 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1800" dirty="0">
                <a:sym typeface="Symbol" panose="05050102010706020507" pitchFamily="18" charset="2"/>
              </a:rPr>
              <a:t></a:t>
            </a:r>
            <a:r>
              <a:rPr lang="en-US" sz="1800" i="1" baseline="-25000" dirty="0">
                <a:sym typeface="Symbol" panose="05050102010706020507" pitchFamily="18" charset="2"/>
              </a:rPr>
              <a:t>t </a:t>
            </a:r>
            <a:r>
              <a:rPr lang="en-US" sz="1800" dirty="0">
                <a:sym typeface="Symbol" panose="05050102010706020507" pitchFamily="18" charset="2"/>
              </a:rPr>
              <a:t> –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(在时间</a:t>
            </a:r>
            <a:r>
              <a:rPr lang="en-US" sz="1800" i="1" dirty="0">
                <a:sym typeface="Symbol" panose="05050102010706020507" pitchFamily="18" charset="2"/>
              </a:rPr>
              <a:t> t+1 </a:t>
            </a:r>
            <a:r>
              <a:rPr lang="en-US" sz="1800" dirty="0">
                <a:sym typeface="Symbol" panose="05050102010706020507" pitchFamily="18" charset="2"/>
              </a:rPr>
              <a:t>时存在 | 在时间</a:t>
            </a:r>
            <a:r>
              <a:rPr lang="en-US" sz="1800" i="1" dirty="0">
                <a:sym typeface="Symbol" panose="05050102010706020507" pitchFamily="18" charset="2"/>
              </a:rPr>
              <a:t> t </a:t>
            </a:r>
            <a:r>
              <a:rPr lang="en-US" sz="1800" dirty="0">
                <a:sym typeface="Symbol" panose="05050102010706020507" pitchFamily="18" charset="2"/>
              </a:rPr>
              <a:t>时缺席)  </a:t>
            </a:r>
            <a:r>
              <a:rPr lang="en-US" sz="1800" b="1" dirty="0">
                <a:sym typeface="Symbol" panose="05050102010706020507" pitchFamily="18" charset="2"/>
              </a:rPr>
              <a:t>地块</a:t>
            </a:r>
            <a:r>
              <a:rPr lang="en-US" sz="1800" b="1" dirty="0">
                <a:solidFill>
                  <a:srgbClr val="FF0000"/>
                </a:solidFill>
                <a:sym typeface="Symbol" panose="05050102010706020507" pitchFamily="18" charset="2"/>
              </a:rPr>
              <a:t>重新定居</a:t>
            </a:r>
            <a:r>
              <a:rPr lang="en-US" sz="1800" b="1" dirty="0">
                <a:sym typeface="Symbol" panose="05050102010706020507" pitchFamily="18" charset="2"/>
              </a:rPr>
              <a:t>概率</a:t>
            </a:r>
            <a:endParaRPr lang="en-US" sz="18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sz="1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1800" dirty="0">
                <a:sym typeface="Symbol" panose="05050102010706020507" pitchFamily="18" charset="2"/>
              </a:rPr>
              <a:t> -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</a:t>
            </a:r>
            <a:r>
              <a:rPr lang="en-US" sz="1800" dirty="0">
                <a:sym typeface="Symbol" panose="05050102010706020507" pitchFamily="18" charset="2"/>
              </a:rPr>
              <a:t>(</a:t>
            </a:r>
            <a:r>
              <a:rPr lang="en-US" sz="1800">
                <a:sym typeface="Symbol" panose="05050102010706020507" pitchFamily="18" charset="2"/>
              </a:rPr>
              <a:t>在第</a:t>
            </a:r>
            <a:r>
              <a:rPr lang="en-US" sz="1800" i="1">
                <a:sym typeface="Symbol" panose="05050102010706020507" pitchFamily="18" charset="2"/>
              </a:rPr>
              <a:t> i </a:t>
            </a:r>
            <a:r>
              <a:rPr lang="en-US" sz="1800">
                <a:sym typeface="Symbol" panose="05050102010706020507" pitchFamily="18" charset="2"/>
              </a:rPr>
              <a:t>次采样时检测到</a:t>
            </a:r>
            <a:r>
              <a:rPr lang="en-US" sz="1800" dirty="0"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)  </a:t>
            </a:r>
            <a:r>
              <a:rPr lang="en-U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检测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概率</a:t>
            </a:r>
            <a:endParaRPr lang="en-US" sz="1800" b="1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Probability models</a:t>
            </a:r>
            <a:br>
              <a:rPr lang="en-US" dirty="0"/>
            </a:br>
            <a:r>
              <a:rPr lang="zh-CN" altLang="en-US" dirty="0"/>
              <a:t>概率模型</a:t>
            </a:r>
          </a:p>
        </p:txBody>
      </p:sp>
      <p:sp>
        <p:nvSpPr>
          <p:cNvPr id="819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anose="05050102010706020507" pitchFamily="18" charset="2"/>
              </a:rPr>
              <a:t>Must account for probabilities of colonization &amp; extinction</a:t>
            </a:r>
          </a:p>
          <a:p>
            <a:pPr eaLnBrk="1" hangingPunct="1"/>
            <a:r>
              <a:rPr lang="zh-CN" altLang="en-US" dirty="0">
                <a:sym typeface="Symbol" panose="05050102010706020507" pitchFamily="18" charset="2"/>
              </a:rPr>
              <a:t>必须考虑定居和灭绝的概率</a:t>
            </a:r>
          </a:p>
          <a:p>
            <a:pPr eaLnBrk="1" hangingPunct="1"/>
            <a:endParaRPr lang="en-US" dirty="0">
              <a:sym typeface="Symbol" panose="05050102010706020507" pitchFamily="18" charset="2"/>
            </a:endParaRPr>
          </a:p>
          <a:p>
            <a:pPr eaLnBrk="1" hangingPunct="1"/>
            <a:r>
              <a:rPr lang="en-US" dirty="0">
                <a:sym typeface="Symbol" panose="05050102010706020507" pitchFamily="18" charset="2"/>
              </a:rPr>
              <a:t>Examples</a:t>
            </a:r>
            <a:r>
              <a:rPr lang="zh-CN" altLang="en-US" dirty="0">
                <a:sym typeface="Symbol" panose="05050102010706020507" pitchFamily="18" charset="2"/>
              </a:rPr>
              <a:t>例如</a:t>
            </a:r>
            <a:r>
              <a:rPr lang="en-US" dirty="0">
                <a:sym typeface="Symbol" panose="05050102010706020507" pitchFamily="18" charset="2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6"/>
              <p:cNvSpPr txBox="1"/>
              <p:nvPr/>
            </p:nvSpPr>
            <p:spPr bwMode="auto">
              <a:xfrm>
                <a:off x="1828800" y="4673600"/>
                <a:ext cx="5700584" cy="12954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11 11)</m:t>
                      </m:r>
                      <m:r>
                        <m:rPr>
                          <m:aln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br>
                  <a:rPr lang="en-US" sz="2800" dirty="0">
                    <a:solidFill>
                      <a:srgbClr val="000000"/>
                    </a:solidFill>
                  </a:rPr>
                </a:br>
                <a:endParaRPr lang="en-US" sz="2800" dirty="0"/>
              </a:p>
            </p:txBody>
          </p:sp>
        </mc:Choice>
        <mc:Fallback>
          <p:sp>
            <p:nvSpPr>
              <p:cNvPr id="7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4673600"/>
                <a:ext cx="5700584" cy="1295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Probability models</a:t>
            </a:r>
            <a:br>
              <a:rPr lang="en-US" dirty="0"/>
            </a:br>
            <a:r>
              <a:rPr lang="zh-CN" altLang="en-US" dirty="0"/>
              <a:t>概率模型</a:t>
            </a:r>
          </a:p>
        </p:txBody>
      </p:sp>
      <p:sp>
        <p:nvSpPr>
          <p:cNvPr id="819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anose="05050102010706020507" pitchFamily="18" charset="2"/>
              </a:rPr>
              <a:t>More examples</a:t>
            </a:r>
            <a:r>
              <a:rPr lang="zh-CN" altLang="en-US" dirty="0">
                <a:sym typeface="Symbol" panose="05050102010706020507" pitchFamily="18" charset="2"/>
              </a:rPr>
              <a:t>更多例子</a:t>
            </a:r>
            <a:r>
              <a:rPr lang="en-US" dirty="0">
                <a:sym typeface="Symbol" panose="05050102010706020507" pitchFamily="18" charset="2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6902"/>
            <a:ext cx="8382000" cy="2362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Occupied and detected on first, not detected on second and then unoccupied (extinct)</a:t>
            </a:r>
          </a:p>
          <a:p>
            <a:pPr algn="ctr"/>
            <a:r>
              <a:rPr lang="en-US" sz="2000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C00FF"/>
                </a:solidFill>
              </a:rPr>
              <a:t>Occupied and detected on first, not detected on second and remained occupied but undetected on third and fourth.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在第一个时段内被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占用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且被检测到，第二个时段未被检测到，然后变为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未被占用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（灭绝）。</a:t>
            </a:r>
          </a:p>
          <a:p>
            <a:pPr indent="0" algn="ctr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None/>
            </a:pPr>
            <a:r>
              <a:rPr lang="en-US" sz="2000" dirty="0"/>
              <a:t>或者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C00FF"/>
                </a:solidFill>
              </a:rPr>
              <a:t>在第一个时段内被</a:t>
            </a:r>
            <a:r>
              <a:rPr lang="zh-CN" altLang="en-US" sz="2000" dirty="0">
                <a:solidFill>
                  <a:srgbClr val="CC00FF"/>
                </a:solidFill>
              </a:rPr>
              <a:t>占用</a:t>
            </a:r>
            <a:r>
              <a:rPr lang="en-US" sz="2000" dirty="0">
                <a:solidFill>
                  <a:srgbClr val="CC00FF"/>
                </a:solidFill>
              </a:rPr>
              <a:t>且被检测到，第二个时段未被检测到，但在第三和第四个时段仍然被</a:t>
            </a:r>
            <a:r>
              <a:rPr lang="zh-CN" altLang="en-US" sz="2000" dirty="0">
                <a:solidFill>
                  <a:srgbClr val="CC00FF"/>
                </a:solidFill>
              </a:rPr>
              <a:t>占用</a:t>
            </a:r>
            <a:r>
              <a:rPr lang="en-US" sz="2000" dirty="0">
                <a:solidFill>
                  <a:srgbClr val="CC00FF"/>
                </a:solidFill>
              </a:rPr>
              <a:t>，只是未被检测到。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116" name="Object 4"/>
              <p:cNvSpPr txBox="1"/>
              <p:nvPr/>
            </p:nvSpPr>
            <p:spPr bwMode="auto">
              <a:xfrm>
                <a:off x="838200" y="2209800"/>
                <a:ext cx="7893050" cy="1143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10 00)=</m:t>
                      </m:r>
                      <m:r>
                        <a:rPr lang="en-US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r>
                        <a:rPr lang="en-US" sz="2400" i="1" smtClean="0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011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2209800"/>
                <a:ext cx="7893050" cy="1143001"/>
              </a:xfrm>
              <a:prstGeom prst="rect">
                <a:avLst/>
              </a:prstGeom>
              <a:blipFill>
                <a:blip r:embed="rId3"/>
                <a:stretch>
                  <a:fillRect l="-2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Probability models</a:t>
            </a:r>
            <a:br>
              <a:rPr lang="en-US" dirty="0"/>
            </a:br>
            <a:r>
              <a:rPr lang="zh-CN" altLang="en-US" dirty="0"/>
              <a:t>概率模型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5"/>
              <p:cNvSpPr txBox="1"/>
              <p:nvPr/>
            </p:nvSpPr>
            <p:spPr bwMode="auto">
              <a:xfrm>
                <a:off x="289956" y="1585912"/>
                <a:ext cx="8664574" cy="18430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00 00)</m:t>
                      </m:r>
                      <m:r>
                        <m:rPr>
                          <m:aln/>
                        </m:rP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i="1" smtClean="0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C00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solidFill>
                            <a:srgbClr val="CC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US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+(1−</m:t>
                      </m:r>
                      <m:r>
                        <a:rPr lang="en-US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40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)(1−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956" y="1585912"/>
                <a:ext cx="8664574" cy="1843088"/>
              </a:xfrm>
              <a:prstGeom prst="rect">
                <a:avLst/>
              </a:prstGeom>
              <a:blipFill>
                <a:blip r:embed="rId3"/>
                <a:stretch>
                  <a:fillRect l="-2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79425" y="3140075"/>
            <a:ext cx="8664575" cy="2895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00FF"/>
                </a:solidFill>
              </a:rPr>
              <a:t>Occupied and not detected on first and second, not extinct and not detected on second and fourth</a:t>
            </a:r>
          </a:p>
          <a:p>
            <a:pPr algn="ctr"/>
            <a:r>
              <a:rPr lang="en-US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Occupied and not detected on first and second and then unoccupied</a:t>
            </a:r>
          </a:p>
          <a:p>
            <a:pPr marL="339725" indent="-339725" algn="ctr"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Not occupied and not colonized</a:t>
            </a:r>
          </a:p>
          <a:p>
            <a:pPr marL="339725" indent="-339725" algn="ctr"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Not occupied and colonized and undetected on third and fourth.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C00FF"/>
                </a:solidFill>
              </a:rPr>
              <a:t>被占用但在第一和第二次采样中未被检测到，且在第二和第四次采样中未灭绝。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被占用但在第一和第二次采样中未被检测到，然后在第三和第四次采样中变为空缺。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未被占用且未被重新定居。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未被占用但被重新定居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，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且在第三和第四次采样中未被检测到</a:t>
            </a:r>
            <a:r>
              <a:rPr lang="en-US" dirty="0"/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Conclusions</a:t>
            </a:r>
            <a:br>
              <a:rPr lang="en-US"/>
            </a:br>
            <a:r>
              <a:rPr lang="zh-CN" altLang="en-US"/>
              <a:t>结论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7500" lnSpcReduction="10000"/>
          </a:bodyPr>
          <a:lstStyle/>
          <a:p>
            <a:pPr eaLnBrk="1" hangingPunct="1"/>
            <a:r>
              <a:rPr lang="en-US"/>
              <a:t>“Presence-absence” surveys can be used for inference when repeat visits permit estimation of detection probability</a:t>
            </a:r>
          </a:p>
          <a:p>
            <a:pPr eaLnBrk="1" hangingPunct="1"/>
            <a:r>
              <a:rPr lang="en-US"/>
              <a:t>Models permit estimation of occupancy during a single season or year</a:t>
            </a:r>
          </a:p>
          <a:p>
            <a:pPr eaLnBrk="1" hangingPunct="1"/>
            <a:r>
              <a:rPr lang="en-US"/>
              <a:t>Models permit estimation of patch-dynamic rate parameters (extinction, colonization, rate of change) over multiple seasons or years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当我们进行“存在—缺席”调查时，如果能够多次重复</a:t>
            </a:r>
            <a:r>
              <a:rPr lang="zh-CN" altLang="en-US"/>
              <a:t>考察</a:t>
            </a:r>
            <a:r>
              <a:rPr lang="en-US"/>
              <a:t>同一</a:t>
            </a:r>
            <a:r>
              <a:rPr lang="zh-CN" altLang="en-US"/>
              <a:t>样地</a:t>
            </a:r>
            <a:r>
              <a:rPr lang="en-US"/>
              <a:t>，从而估计出物种被检测到的概率，那么我们可以利用这些信息来推断物种的占用状态。可以估计物种在不同时间点上是否存在于该</a:t>
            </a:r>
            <a:r>
              <a:rPr lang="zh-CN" altLang="en-US"/>
              <a:t>样地</a:t>
            </a:r>
            <a:r>
              <a:rPr lang="en-US"/>
              <a:t>。</a:t>
            </a:r>
          </a:p>
          <a:p>
            <a:pPr eaLnBrk="1" hangingPunct="1"/>
            <a:r>
              <a:rPr lang="zh-CN" altLang="en-US"/>
              <a:t>这些</a:t>
            </a:r>
            <a:r>
              <a:rPr lang="en-US"/>
              <a:t>模型</a:t>
            </a:r>
            <a:r>
              <a:rPr lang="zh-CN" altLang="en-US"/>
              <a:t>可以在单个季节或年度内对占用率进行估计</a:t>
            </a:r>
            <a:r>
              <a:rPr lang="en-US"/>
              <a:t>。</a:t>
            </a:r>
          </a:p>
          <a:p>
            <a:pPr eaLnBrk="1" hangingPunct="1"/>
            <a:r>
              <a:rPr lang="zh-CN" altLang="en-US"/>
              <a:t>这些</a:t>
            </a:r>
            <a:r>
              <a:rPr lang="en-US"/>
              <a:t>模型可以在多个季节或年度内对某些地块的动态率参数</a:t>
            </a:r>
            <a:r>
              <a:rPr lang="en-US">
                <a:sym typeface="+mn-ea"/>
              </a:rPr>
              <a:t>（灭绝、重新定居、变化率）</a:t>
            </a:r>
            <a:r>
              <a:rPr lang="en-US"/>
              <a:t>进行估计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MwZTM1NDgyZTEzMGYwNDQyOTIwZWQ0YmNlZDc4Z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1732</Words>
  <Application>Microsoft Office PowerPoint</Application>
  <PresentationFormat>On-screen Show (4:3)</PresentationFormat>
  <Paragraphs>230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微软雅黑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Office Theme</vt:lpstr>
      <vt:lpstr>Dynamic Occupancy Models 动态占用模型</vt:lpstr>
      <vt:lpstr>Single-season – model assumptions 单季节—模型假设</vt:lpstr>
      <vt:lpstr>Basic sampling protocol same 基本的采样流程相同 </vt:lpstr>
      <vt:lpstr>Important considerations 重要考虑因素</vt:lpstr>
      <vt:lpstr>Patch Occupancy Dynamics:   Pollock’s Robust Design 地块占用动态：   波洛克的稳健设计</vt:lpstr>
      <vt:lpstr>Robust Design Capture History 稳健的设计捕捉历史  </vt:lpstr>
      <vt:lpstr>Occupancy dynamics 占用动态</vt:lpstr>
      <vt:lpstr>Occupancy dynamics 占用动态</vt:lpstr>
      <vt:lpstr>Inferring population dynamics! 推断种群动态！</vt:lpstr>
      <vt:lpstr>Inferring population dynamics! 推断种群动态！</vt:lpstr>
      <vt:lpstr>Basic design 基本设计 </vt:lpstr>
      <vt:lpstr>Multiple seasons - main assumptions 多季节—主要假设</vt:lpstr>
      <vt:lpstr>Patch Occupancy as a State Variable:  Modeling Dynamics 作为状态变量的地块占用：建模动态</vt:lpstr>
      <vt:lpstr>Probability models 概率模型</vt:lpstr>
      <vt:lpstr>Probability models 概率模型</vt:lpstr>
      <vt:lpstr>Probability models 概率模型</vt:lpstr>
      <vt:lpstr>Conclusions 结论</vt:lpstr>
    </vt:vector>
  </TitlesOfParts>
  <Company>University of Victoria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Baum;dan_popescu@sfu.ca</dc:creator>
  <cp:lastModifiedBy>Viorel Popescu</cp:lastModifiedBy>
  <cp:revision>548</cp:revision>
  <dcterms:created xsi:type="dcterms:W3CDTF">2012-09-18T22:01:00Z</dcterms:created>
  <dcterms:modified xsi:type="dcterms:W3CDTF">2024-04-10T07:50:27Z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51BACD4B9A1545D4A12065CDCAF39660_13</vt:lpwstr>
  </property>
  <property fmtid="{D5CDD505-2E9C-101B-9397-08002B2CF9AE}" pid="3" name="KSOProductBuildVer">
    <vt:lpwstr>2052-12.1.0.16250</vt:lpwstr>
  </property>
</Properties>
</file>