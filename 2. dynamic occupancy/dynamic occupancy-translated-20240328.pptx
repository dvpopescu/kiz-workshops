
<file path=[Content_Types].xml><?xml version="1.0" encoding="utf-8"?>
<Types xmlns="http://schemas.openxmlformats.org/package/2006/content-types"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21"/>
  </p:handoutMasterIdLst>
  <p:sldIdLst>
    <p:sldId id="1042" r:id="rId3"/>
    <p:sldId id="1044" r:id="rId5"/>
    <p:sldId id="1045" r:id="rId6"/>
    <p:sldId id="1046" r:id="rId7"/>
    <p:sldId id="1047" r:id="rId8"/>
    <p:sldId id="1048" r:id="rId9"/>
    <p:sldId id="1049" r:id="rId10"/>
    <p:sldId id="1050" r:id="rId11"/>
    <p:sldId id="1051" r:id="rId12"/>
    <p:sldId id="1086" r:id="rId13"/>
    <p:sldId id="1085" r:id="rId14"/>
    <p:sldId id="1052" r:id="rId15"/>
    <p:sldId id="1053" r:id="rId16"/>
    <p:sldId id="1082" r:id="rId17"/>
    <p:sldId id="1083" r:id="rId18"/>
    <p:sldId id="1084" r:id="rId19"/>
    <p:sldId id="1081" r:id="rId20"/>
  </p:sldIdLst>
  <p:sldSz cx="9144000" cy="6858000" type="screen4x3"/>
  <p:notesSz cx="6858000" cy="9144000"/>
  <p:custDataLst>
    <p:tags r:id="rId2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376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096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753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473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129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849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506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ick Dulvy" initials="ND" lastIdx="1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3" frameSlides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99"/>
    <a:srgbClr val="CC00FF"/>
    <a:srgbClr val="E2EC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9" autoAdjust="0"/>
    <p:restoredTop sz="83878" autoAdjust="0"/>
  </p:normalViewPr>
  <p:slideViewPr>
    <p:cSldViewPr snapToGrid="0" snapToObjects="1" showGuides="1">
      <p:cViewPr varScale="1">
        <p:scale>
          <a:sx n="74" d="100"/>
          <a:sy n="74" d="100"/>
        </p:scale>
        <p:origin x="1368" y="36"/>
      </p:cViewPr>
      <p:guideLst>
        <p:guide orient="horz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9588"/>
    </p:cViewPr>
  </p:sorterViewPr>
  <p:notesViewPr>
    <p:cSldViewPr snapToGrid="0" snapToObjects="1">
      <p:cViewPr varScale="1">
        <p:scale>
          <a:sx n="118" d="100"/>
          <a:sy n="118" d="100"/>
        </p:scale>
        <p:origin x="-5048" y="-10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tags" Target="tags/tag2.xml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2BA1C-DB3A-774D-BF63-C74147DF77EA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E6B3A4-733A-9E48-9D0C-CC9BA8AFA5A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0A4FFD-2244-BD43-ADCC-55C407AA6B4E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8DFA54-D39D-1D48-8493-93DD0796946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765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965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53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3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295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495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06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1034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342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808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09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819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1187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878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1198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981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C3E72B4D-2ECC-4C20-83B0-76D522B51B74}" type="slidenum">
              <a:rPr lang="en-US"/>
            </a:fld>
            <a:endParaRPr lang="en-US"/>
          </a:p>
        </p:txBody>
      </p:sp>
      <p:sp>
        <p:nvSpPr>
          <p:cNvPr id="304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04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>
                <a:latin typeface="Tahoma" panose="020B0604030504040204" pitchFamily="34" charset="0"/>
              </a:rPr>
              <a:t>Changes in population size through time are a function of births, deaths, immigration, and emigration.  </a:t>
            </a:r>
            <a:endParaRPr lang="en-US" b="1" dirty="0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The open population </a:t>
            </a:r>
            <a:r>
              <a:rPr lang="en-US" b="1" dirty="0" err="1">
                <a:latin typeface="Tahoma" panose="020B0604030504040204" pitchFamily="34" charset="0"/>
              </a:rPr>
              <a:t>CMR</a:t>
            </a:r>
            <a:r>
              <a:rPr lang="en-US" b="1" dirty="0">
                <a:latin typeface="Tahoma" panose="020B0604030504040204" pitchFamily="34" charset="0"/>
              </a:rPr>
              <a:t> models we have considered until now have only estimated apparent survival rates. </a:t>
            </a:r>
            <a:endParaRPr lang="en-US" b="1" dirty="0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That is, true survival, the portion of individuals surviving between sampling occasions is confounded with permanent emigration.  </a:t>
            </a:r>
            <a:endParaRPr lang="en-US" b="1" dirty="0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I spoke briefly on closed models that assume that size of the population remained unchanged between sampling events.  </a:t>
            </a:r>
            <a:endParaRPr lang="en-US" b="1" dirty="0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Robust design integrates the advantages of both types of models.  </a:t>
            </a:r>
            <a:endParaRPr lang="en-US" b="1" dirty="0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Although this model is complicated, it brings more biological reality to the analysis of population dynamics.  </a:t>
            </a:r>
            <a:endParaRPr lang="en-US" b="1" dirty="0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This method provides for the estimation of parameters that are not estimable under either open or closed models as well as more robust estimates of the familiar parameters of interest.</a:t>
            </a:r>
            <a:endParaRPr lang="en-US" b="1" dirty="0">
              <a:latin typeface="Tahoma" panose="020B060403050404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C3E72B4D-2ECC-4C20-83B0-76D522B51B74}" type="slidenum">
              <a:rPr lang="en-US"/>
            </a:fld>
            <a:endParaRPr lang="en-US"/>
          </a:p>
        </p:txBody>
      </p:sp>
      <p:sp>
        <p:nvSpPr>
          <p:cNvPr id="304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04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>
                <a:latin typeface="Tahoma" panose="020B0604030504040204" pitchFamily="34" charset="0"/>
              </a:rPr>
              <a:t>Changes in population size through time are a function of births, deaths, immigration, and emigration.  </a:t>
            </a:r>
            <a:endParaRPr lang="en-US" b="1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The open population </a:t>
            </a:r>
            <a:r>
              <a:rPr lang="en-US" b="1" dirty="0" err="1">
                <a:latin typeface="Tahoma" panose="020B0604030504040204" pitchFamily="34" charset="0"/>
              </a:rPr>
              <a:t>CMR</a:t>
            </a:r>
            <a:r>
              <a:rPr lang="en-US" b="1" dirty="0">
                <a:latin typeface="Tahoma" panose="020B0604030504040204" pitchFamily="34" charset="0"/>
              </a:rPr>
              <a:t> models we have considered until now have only estimated apparent survival rates. </a:t>
            </a:r>
            <a:endParaRPr lang="en-US" b="1" dirty="0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That is, true survival, the portion of individuals surviving between sampling occasions is confounded with permanent emigration.  </a:t>
            </a:r>
            <a:endParaRPr lang="en-US" b="1" dirty="0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I spoke briefly on closed models that assume that size of the population remained unchanged between sampling events.  </a:t>
            </a:r>
            <a:endParaRPr lang="en-US" b="1" dirty="0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Robust design integrates the advantages of both types of models.  </a:t>
            </a:r>
            <a:endParaRPr lang="en-US" b="1" dirty="0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Although this model is complicated, it brings more biological reality to the analysis of population dynamics.  </a:t>
            </a:r>
            <a:endParaRPr lang="en-US" b="1" dirty="0">
              <a:latin typeface="Tahoma" panose="020B0604030504040204" pitchFamily="34" charset="0"/>
            </a:endParaRPr>
          </a:p>
          <a:p>
            <a:r>
              <a:rPr lang="en-US" b="1" dirty="0">
                <a:latin typeface="Tahoma" panose="020B0604030504040204" pitchFamily="34" charset="0"/>
              </a:rPr>
              <a:t>This method provides for the estimation of parameters that are not estimable under either open or closed models as well as more robust estimates of the familiar parameters of interest.</a:t>
            </a:r>
            <a:endParaRPr lang="en-US" b="1" dirty="0">
              <a:latin typeface="Tahoma" panose="020B0604030504040204" pitchFamily="34" charset="0"/>
            </a:endParaRP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3F822814-AE0B-44AD-8B1E-57DEEA455097}" type="slidenum">
              <a:rPr lang="en-US"/>
            </a:fld>
            <a:endParaRPr lang="en-US"/>
          </a:p>
        </p:txBody>
      </p:sp>
      <p:sp>
        <p:nvSpPr>
          <p:cNvPr id="310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10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3F822814-AE0B-44AD-8B1E-57DEEA455097}" type="slidenum">
              <a:rPr lang="en-US"/>
            </a:fld>
            <a:endParaRPr lang="en-US"/>
          </a:p>
        </p:txBody>
      </p:sp>
      <p:sp>
        <p:nvSpPr>
          <p:cNvPr id="310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10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3F822814-AE0B-44AD-8B1E-57DEEA455097}" type="slidenum">
              <a:rPr lang="en-US"/>
            </a:fld>
            <a:endParaRPr lang="en-US"/>
          </a:p>
        </p:txBody>
      </p:sp>
      <p:sp>
        <p:nvSpPr>
          <p:cNvPr id="310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10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1228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28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1177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776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1208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08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1208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08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1208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08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Ex. 1: Grey heron</a:t>
            </a:r>
            <a:endParaRPr lang="en-US"/>
          </a:p>
        </p:txBody>
      </p:sp>
      <p:sp>
        <p:nvSpPr>
          <p:cNvPr id="142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23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4" y="2130425"/>
            <a:ext cx="7772401" cy="1470025"/>
          </a:xfrm>
        </p:spPr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1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37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09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7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47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12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84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50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CA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7BFD8-13BE-B34C-9D38-93A96E46EA28}" type="datetime1">
              <a:rPr lang="en-CA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10203-3692-EE42-9F0C-0A601B9B7F08}" type="datetime1">
              <a:rPr lang="en-CA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7" y="4406905"/>
            <a:ext cx="777240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7" y="2906713"/>
            <a:ext cx="777240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376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096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753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473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129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849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50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C2748-9D98-3F49-B5F9-742FAC37F4F9}" type="datetime1">
              <a:rPr lang="en-CA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5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5" y="1600205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7F1FD-AACD-9948-9283-1F9691DFC0B4}" type="datetime1">
              <a:rPr lang="en-CA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5" y="1535118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3765" indent="0">
              <a:buNone/>
              <a:defRPr sz="1800" b="1"/>
            </a:lvl3pPr>
            <a:lvl4pPr marL="1370965" indent="0">
              <a:buNone/>
              <a:defRPr sz="1600" b="1"/>
            </a:lvl4pPr>
            <a:lvl5pPr marL="1827530" indent="0">
              <a:buNone/>
              <a:defRPr sz="1600" b="1"/>
            </a:lvl5pPr>
            <a:lvl6pPr marL="2284730" indent="0">
              <a:buNone/>
              <a:defRPr sz="1600" b="1"/>
            </a:lvl6pPr>
            <a:lvl7pPr marL="2741295" indent="0">
              <a:buNone/>
              <a:defRPr sz="1600" b="1"/>
            </a:lvl7pPr>
            <a:lvl8pPr marL="3198495" indent="0">
              <a:buNone/>
              <a:defRPr sz="1600" b="1"/>
            </a:lvl8pPr>
            <a:lvl9pPr marL="3655060" indent="0">
              <a:buNone/>
              <a:defRPr sz="1600" b="1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5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535118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3765" indent="0">
              <a:buNone/>
              <a:defRPr sz="1800" b="1"/>
            </a:lvl3pPr>
            <a:lvl4pPr marL="1370965" indent="0">
              <a:buNone/>
              <a:defRPr sz="1600" b="1"/>
            </a:lvl4pPr>
            <a:lvl5pPr marL="1827530" indent="0">
              <a:buNone/>
              <a:defRPr sz="1600" b="1"/>
            </a:lvl5pPr>
            <a:lvl6pPr marL="2284730" indent="0">
              <a:buNone/>
              <a:defRPr sz="1600" b="1"/>
            </a:lvl6pPr>
            <a:lvl7pPr marL="2741295" indent="0">
              <a:buNone/>
              <a:defRPr sz="1600" b="1"/>
            </a:lvl7pPr>
            <a:lvl8pPr marL="3198495" indent="0">
              <a:buNone/>
              <a:defRPr sz="1600" b="1"/>
            </a:lvl8pPr>
            <a:lvl9pPr marL="3655060" indent="0">
              <a:buNone/>
              <a:defRPr sz="1600" b="1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B582B-6698-EC48-875C-50CEAA3C67F4}" type="datetime1">
              <a:rPr lang="en-CA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E36D6D-CCCE-B749-8D34-846F8A67EFC0}" type="datetime1">
              <a:rPr lang="en-CA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D6EB7D-0180-5147-9FFD-9F568677AE1E}" type="datetime1">
              <a:rPr lang="en-CA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73052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1" y="273055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435105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3765" indent="0">
              <a:buNone/>
              <a:defRPr sz="1000"/>
            </a:lvl3pPr>
            <a:lvl4pPr marL="1370965" indent="0">
              <a:buNone/>
              <a:defRPr sz="900"/>
            </a:lvl4pPr>
            <a:lvl5pPr marL="1827530" indent="0">
              <a:buNone/>
              <a:defRPr sz="900"/>
            </a:lvl5pPr>
            <a:lvl6pPr marL="2284730" indent="0">
              <a:buNone/>
              <a:defRPr sz="900"/>
            </a:lvl6pPr>
            <a:lvl7pPr marL="2741295" indent="0">
              <a:buNone/>
              <a:defRPr sz="900"/>
            </a:lvl7pPr>
            <a:lvl8pPr marL="3198495" indent="0">
              <a:buNone/>
              <a:defRPr sz="900"/>
            </a:lvl8pPr>
            <a:lvl9pPr marL="3655060" indent="0">
              <a:buNone/>
              <a:defRPr sz="9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53B9D-1BC3-8D45-B4A5-24010FA1B146}" type="datetime1">
              <a:rPr lang="en-CA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3765" indent="0">
              <a:buNone/>
              <a:defRPr sz="2400"/>
            </a:lvl3pPr>
            <a:lvl4pPr marL="1370965" indent="0">
              <a:buNone/>
              <a:defRPr sz="2000"/>
            </a:lvl4pPr>
            <a:lvl5pPr marL="1827530" indent="0">
              <a:buNone/>
              <a:defRPr sz="2000"/>
            </a:lvl5pPr>
            <a:lvl6pPr marL="2284730" indent="0">
              <a:buNone/>
              <a:defRPr sz="2000"/>
            </a:lvl6pPr>
            <a:lvl7pPr marL="2741295" indent="0">
              <a:buNone/>
              <a:defRPr sz="2000"/>
            </a:lvl7pPr>
            <a:lvl8pPr marL="3198495" indent="0">
              <a:buNone/>
              <a:defRPr sz="2000"/>
            </a:lvl8pPr>
            <a:lvl9pPr marL="365506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3765" indent="0">
              <a:buNone/>
              <a:defRPr sz="1000"/>
            </a:lvl3pPr>
            <a:lvl4pPr marL="1370965" indent="0">
              <a:buNone/>
              <a:defRPr sz="900"/>
            </a:lvl4pPr>
            <a:lvl5pPr marL="1827530" indent="0">
              <a:buNone/>
              <a:defRPr sz="900"/>
            </a:lvl5pPr>
            <a:lvl6pPr marL="2284730" indent="0">
              <a:buNone/>
              <a:defRPr sz="900"/>
            </a:lvl6pPr>
            <a:lvl7pPr marL="2741295" indent="0">
              <a:buNone/>
              <a:defRPr sz="900"/>
            </a:lvl7pPr>
            <a:lvl8pPr marL="3198495" indent="0">
              <a:buNone/>
              <a:defRPr sz="900"/>
            </a:lvl8pPr>
            <a:lvl9pPr marL="3655060" indent="0">
              <a:buNone/>
              <a:defRPr sz="900"/>
            </a:lvl9pPr>
          </a:lstStyle>
          <a:p>
            <a:pPr lvl="0"/>
            <a:r>
              <a:rPr lang="en-CA"/>
              <a:t>Click to edit Master text styles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B706C-2B08-8E43-97C9-BC50088B1CD1}" type="datetime1">
              <a:rPr lang="en-CA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8B-6047-3E47-9E7D-4122E207D896}" type="datetime1">
              <a:rPr lang="en-CA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5" y="274643"/>
            <a:ext cx="2057400" cy="5851525"/>
          </a:xfrm>
        </p:spPr>
        <p:txBody>
          <a:bodyPr vert="eaVert"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3"/>
            <a:ext cx="6019800" cy="5851525"/>
          </a:xfrm>
        </p:spPr>
        <p:txBody>
          <a:bodyPr vert="eaVert"/>
          <a:lstStyle/>
          <a:p>
            <a:pPr lvl="0"/>
            <a:r>
              <a:rPr lang="en-CA"/>
              <a:t>Click to edit Master text styles</a:t>
            </a:r>
            <a:endParaRPr lang="en-CA"/>
          </a:p>
          <a:p>
            <a:pPr lvl="1"/>
            <a:r>
              <a:rPr lang="en-CA"/>
              <a:t>Second level</a:t>
            </a:r>
            <a:endParaRPr lang="en-CA"/>
          </a:p>
          <a:p>
            <a:pPr lvl="2"/>
            <a:r>
              <a:rPr lang="en-CA"/>
              <a:t>Third level</a:t>
            </a:r>
            <a:endParaRPr lang="en-CA"/>
          </a:p>
          <a:p>
            <a:pPr lvl="3"/>
            <a:r>
              <a:rPr lang="en-CA"/>
              <a:t>Fourth level</a:t>
            </a:r>
            <a:endParaRPr lang="en-CA"/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80F54-3091-F744-960B-084737488211}" type="datetime1">
              <a:rPr lang="en-CA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6FFF3-8FBC-2144-A340-2B54F44226F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1" y="274640"/>
            <a:ext cx="8229600" cy="1143001"/>
          </a:xfrm>
          <a:prstGeom prst="rect">
            <a:avLst/>
          </a:prstGeom>
        </p:spPr>
        <p:txBody>
          <a:bodyPr vert="horz" lIns="91379" tIns="45689" rIns="91379" bIns="45689" rtlCol="0" anchor="ctr">
            <a:normAutofit/>
          </a:bodyPr>
          <a:lstStyle/>
          <a:p>
            <a:r>
              <a:rPr lang="en-CA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1" y="1600205"/>
            <a:ext cx="8229600" cy="4525963"/>
          </a:xfrm>
          <a:prstGeom prst="rect">
            <a:avLst/>
          </a:prstGeom>
        </p:spPr>
        <p:txBody>
          <a:bodyPr vert="horz" lIns="91379" tIns="45689" rIns="91379" bIns="45689" rtlCol="0">
            <a:normAutofit/>
          </a:bodyPr>
          <a:lstStyle/>
          <a:p>
            <a:pPr lvl="0"/>
            <a:r>
              <a:rPr lang="en-CA" dirty="0"/>
              <a:t>Click to edit Master text styles</a:t>
            </a:r>
            <a:endParaRPr lang="en-CA" dirty="0"/>
          </a:p>
          <a:p>
            <a:pPr lvl="1"/>
            <a:r>
              <a:rPr lang="en-CA" dirty="0"/>
              <a:t>Second level</a:t>
            </a:r>
            <a:endParaRPr lang="en-CA" dirty="0"/>
          </a:p>
          <a:p>
            <a:pPr lvl="2"/>
            <a:r>
              <a:rPr lang="en-CA" dirty="0"/>
              <a:t>Third level</a:t>
            </a:r>
            <a:endParaRPr lang="en-CA" dirty="0"/>
          </a:p>
          <a:p>
            <a:pPr lvl="3"/>
            <a:r>
              <a:rPr lang="en-CA" dirty="0"/>
              <a:t>Fourth level</a:t>
            </a:r>
            <a:endParaRPr lang="en-CA" dirty="0"/>
          </a:p>
          <a:p>
            <a:pPr lvl="4"/>
            <a:r>
              <a:rPr lang="en-CA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6"/>
            <a:ext cx="2133600" cy="365125"/>
          </a:xfrm>
          <a:prstGeom prst="rect">
            <a:avLst/>
          </a:prstGeom>
        </p:spPr>
        <p:txBody>
          <a:bodyPr vert="horz" lIns="91379" tIns="45689" rIns="91379" bIns="4568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A7869-BEC3-AC47-8AE5-EC3C0C76D79E}" type="datetime1">
              <a:rPr lang="en-CA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1" y="6356356"/>
            <a:ext cx="2895600" cy="365125"/>
          </a:xfrm>
          <a:prstGeom prst="rect">
            <a:avLst/>
          </a:prstGeom>
        </p:spPr>
        <p:txBody>
          <a:bodyPr vert="horz" lIns="91379" tIns="45689" rIns="91379" bIns="4568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6"/>
            <a:ext cx="2133600" cy="365125"/>
          </a:xfrm>
          <a:prstGeom prst="rect">
            <a:avLst/>
          </a:prstGeom>
        </p:spPr>
        <p:txBody>
          <a:bodyPr vert="horz" lIns="91379" tIns="45689" rIns="91379" bIns="4568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6FFF3-8FBC-2144-A340-2B54F44226F0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rgbClr val="000090"/>
          </a:solidFill>
          <a:latin typeface="Arial" panose="020B0604020202020204"/>
          <a:ea typeface="+mj-ea"/>
          <a:cs typeface="Arial" panose="020B0604020202020204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Arial" panose="020B0604020202020204"/>
          <a:ea typeface="+mn-ea"/>
          <a:cs typeface="Arial" panose="020B0604020202020204"/>
        </a:defRPr>
      </a:lvl1pPr>
      <a:lvl2pPr marL="742315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Arial" panose="020B0604020202020204"/>
          <a:ea typeface="+mn-ea"/>
          <a:cs typeface="Arial" panose="020B0604020202020204"/>
        </a:defRPr>
      </a:lvl2pPr>
      <a:lvl3pPr marL="1142365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Arial" panose="020B0604020202020204"/>
          <a:ea typeface="+mn-ea"/>
          <a:cs typeface="Arial" panose="020B0604020202020204"/>
        </a:defRPr>
      </a:lvl3pPr>
      <a:lvl4pPr marL="159893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Arial" panose="020B0604020202020204"/>
          <a:ea typeface="+mn-ea"/>
          <a:cs typeface="Arial" panose="020B0604020202020204"/>
        </a:defRPr>
      </a:lvl4pPr>
      <a:lvl5pPr marL="205613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Arial" panose="020B0604020202020204"/>
          <a:ea typeface="+mn-ea"/>
          <a:cs typeface="Arial" panose="020B0604020202020204"/>
        </a:defRPr>
      </a:lvl5pPr>
      <a:lvl6pPr marL="2512695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69895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646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366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3765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0965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753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473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1295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8495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506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vmlDrawing" Target="../drawings/vmlDrawing1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wmf"/><Relationship Id="rId1" Type="http://schemas.openxmlformats.org/officeDocument/2006/relationships/oleObject" Target="../embeddings/oleObject1.bin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vmlDrawing" Target="../drawings/vmlDrawing2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wmf"/><Relationship Id="rId1" Type="http://schemas.openxmlformats.org/officeDocument/2006/relationships/oleObject" Target="../embeddings/oleObject2.bin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vmlDrawing" Target="../drawings/vmlDrawing3.v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4.wmf"/><Relationship Id="rId1" Type="http://schemas.openxmlformats.org/officeDocument/2006/relationships/oleObject" Target="../embeddings/oleObject3.bin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6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marL="457200" eaLnBrk="1" hangingPunct="1"/>
            <a:r>
              <a:rPr lang="en-US" sz="4000" b="1">
                <a:latin typeface="Arial" panose="020B0604020202020204" pitchFamily="34" charset="0"/>
                <a:cs typeface="Arial" panose="020B0604020202020204" pitchFamily="34" charset="0"/>
              </a:rPr>
              <a:t>Dynamic Occupancy Models</a:t>
            </a:r>
            <a:br>
              <a:rPr lang="en-US" sz="4000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zh-CN" altLang="en-US" sz="4000" b="1">
                <a:latin typeface="Arial" panose="020B0604020202020204" pitchFamily="34" charset="0"/>
                <a:cs typeface="Arial" panose="020B0604020202020204" pitchFamily="34" charset="0"/>
              </a:rPr>
              <a:t>动态占用模型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87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3886200"/>
            <a:ext cx="5640705" cy="2588895"/>
          </a:xfrm>
        </p:spPr>
        <p:txBody>
          <a:bodyPr>
            <a:normAutofit fontScale="75000"/>
          </a:bodyPr>
          <a:lstStyle/>
          <a:p>
            <a:pPr marL="574675" indent="-509905" algn="l" eaLnBrk="1" hangingPunct="1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AKA:</a:t>
            </a:r>
            <a:b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Multi-season Occupancy,</a:t>
            </a:r>
            <a:b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Robust Design Occupancy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4675" indent="-509905" algn="l" eaLnBrk="1" hangingPunct="1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又名</a:t>
            </a:r>
            <a:br>
              <a:rPr lang="en-US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</a:b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多季节</a:t>
            </a:r>
            <a:r>
              <a:rPr lang="zh-CN" altLang="en-US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占用</a:t>
            </a:r>
            <a:r>
              <a:rPr lang="zh-CN" altLang="en-US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模型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、</a:t>
            </a:r>
            <a:br>
              <a:rPr lang="en-US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</a:b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稳健</a:t>
            </a:r>
            <a:r>
              <a:rPr lang="zh-CN" altLang="en-US" b="1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设计占用模型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Single-season – model assumptions</a:t>
            </a:r>
            <a:br>
              <a:rPr lang="en-US" dirty="0"/>
            </a:br>
            <a:r>
              <a:rPr lang="zh-CN" altLang="en-US" dirty="0"/>
              <a:t>单季节</a:t>
            </a:r>
            <a:r>
              <a:rPr lang="en-US" altLang="zh-CN" dirty="0"/>
              <a:t>—</a:t>
            </a:r>
            <a:r>
              <a:rPr lang="zh-CN" altLang="en-US" dirty="0"/>
              <a:t>模型假设</a:t>
            </a:r>
            <a:endParaRPr lang="zh-CN" altLang="en-US" dirty="0"/>
          </a:p>
        </p:txBody>
      </p:sp>
      <p:sp>
        <p:nvSpPr>
          <p:cNvPr id="45059" name="Rectangle 8"/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229600" cy="5257165"/>
          </a:xfrm>
        </p:spPr>
        <p:txBody>
          <a:bodyPr>
            <a:normAutofit fontScale="60000"/>
          </a:bodyPr>
          <a:lstStyle/>
          <a:p>
            <a:pPr marL="342900" lvl="1" indent="-342900" eaLnBrk="1" hangingPunct="1">
              <a:buSzPct val="60000"/>
            </a:pPr>
            <a:r>
              <a:rPr lang="en-US" b="1" dirty="0">
                <a:solidFill>
                  <a:srgbClr val="C00000"/>
                </a:solidFill>
              </a:rPr>
              <a:t>Sites are closed to changes in occupancy state between sampling occasions</a:t>
            </a:r>
            <a:endParaRPr lang="en-US" b="1" dirty="0">
              <a:solidFill>
                <a:srgbClr val="C00000"/>
              </a:solidFill>
            </a:endParaRPr>
          </a:p>
          <a:p>
            <a:pPr marL="342900" lvl="1" indent="-342900" eaLnBrk="1" hangingPunct="1">
              <a:buSzPct val="60000"/>
            </a:pPr>
            <a:r>
              <a:rPr lang="en-US" dirty="0"/>
              <a:t>Species are not falsely detected. </a:t>
            </a:r>
            <a:endParaRPr lang="en-US" dirty="0"/>
          </a:p>
          <a:p>
            <a:pPr marL="342900" lvl="1" indent="-342900" eaLnBrk="1" hangingPunct="1">
              <a:buSzPct val="60000"/>
            </a:pPr>
            <a:r>
              <a:rPr lang="en-US" dirty="0"/>
              <a:t>The detection process is independent at each site</a:t>
            </a:r>
            <a:endParaRPr lang="en-US" dirty="0"/>
          </a:p>
          <a:p>
            <a:pPr marL="742950" lvl="2" indent="-342900" eaLnBrk="1" hangingPunct="1">
              <a:buSzPct val="60000"/>
            </a:pPr>
            <a:r>
              <a:rPr lang="en-US" dirty="0"/>
              <a:t>Far enough apart to be biologically independent.</a:t>
            </a:r>
            <a:endParaRPr lang="en-US" dirty="0"/>
          </a:p>
          <a:p>
            <a:pPr marL="342900" lvl="1" indent="-342900" eaLnBrk="1" hangingPunct="1">
              <a:buSzPct val="60000"/>
            </a:pPr>
            <a:r>
              <a:rPr lang="en-US" dirty="0"/>
              <a:t>No heterogeneity in occupancy </a:t>
            </a:r>
            <a:endParaRPr lang="en-US" dirty="0"/>
          </a:p>
          <a:p>
            <a:pPr marL="742950" lvl="2" indent="-342900" eaLnBrk="1" hangingPunct="1">
              <a:buSzPct val="60000"/>
            </a:pPr>
            <a:r>
              <a:rPr lang="en-US" dirty="0"/>
              <a:t>than cannot be explained by covariates</a:t>
            </a:r>
            <a:endParaRPr lang="en-US" dirty="0"/>
          </a:p>
          <a:p>
            <a:pPr marL="342900" lvl="1" indent="-342900" eaLnBrk="1" hangingPunct="1">
              <a:buSzPct val="60000"/>
            </a:pPr>
            <a:r>
              <a:rPr lang="en-US" dirty="0"/>
              <a:t>No heterogeneity in detection </a:t>
            </a:r>
            <a:endParaRPr lang="en-US" dirty="0"/>
          </a:p>
          <a:p>
            <a:pPr marL="742950" lvl="2" indent="-342900" eaLnBrk="1" hangingPunct="1">
              <a:buSzPct val="60000"/>
            </a:pPr>
            <a:r>
              <a:rPr lang="en-US" dirty="0"/>
              <a:t>that cannot be explained by covariates</a:t>
            </a:r>
            <a:endParaRPr lang="en-US" dirty="0"/>
          </a:p>
          <a:p>
            <a:pPr marL="742950" lvl="2" indent="-342900" eaLnBrk="1" hangingPunct="1">
              <a:buSzPct val="60000"/>
            </a:pPr>
            <a:endParaRPr lang="en-US" dirty="0"/>
          </a:p>
          <a:p>
            <a:pPr marL="342900" lvl="1" indent="-342900" eaLnBrk="1" hangingPunct="1">
              <a:buSzPct val="60000"/>
            </a:pPr>
            <a:r>
              <a:rPr lang="en-US" sz="2400" b="1" dirty="0">
                <a:solidFill>
                  <a:srgbClr val="C00000"/>
                </a:solidFill>
                <a:sym typeface="+mn-ea"/>
              </a:rPr>
              <a:t>样点在两次</a:t>
            </a:r>
            <a:r>
              <a:rPr lang="zh-CN" altLang="en-US" sz="2400" b="1" dirty="0">
                <a:solidFill>
                  <a:srgbClr val="C00000"/>
                </a:solidFill>
                <a:sym typeface="+mn-ea"/>
              </a:rPr>
              <a:t>采</a:t>
            </a:r>
            <a:r>
              <a:rPr lang="en-US" sz="2400" b="1" dirty="0">
                <a:solidFill>
                  <a:srgbClr val="C00000"/>
                </a:solidFill>
                <a:sym typeface="+mn-ea"/>
              </a:rPr>
              <a:t>样之间的</a:t>
            </a:r>
            <a:r>
              <a:rPr lang="zh-CN" altLang="en-US" sz="2400" b="1" dirty="0">
                <a:solidFill>
                  <a:srgbClr val="C00000"/>
                </a:solidFill>
                <a:sym typeface="+mn-ea"/>
              </a:rPr>
              <a:t>占用</a:t>
            </a:r>
            <a:r>
              <a:rPr lang="en-US" sz="2400" b="1" dirty="0">
                <a:solidFill>
                  <a:srgbClr val="C00000"/>
                </a:solidFill>
                <a:sym typeface="+mn-ea"/>
              </a:rPr>
              <a:t>状态变化是封闭的</a:t>
            </a:r>
            <a:endParaRPr lang="en-US" sz="2400" b="1" dirty="0">
              <a:solidFill>
                <a:srgbClr val="C00000"/>
              </a:solidFill>
            </a:endParaRPr>
          </a:p>
          <a:p>
            <a:pPr marL="342900" lvl="1" indent="-342900" eaLnBrk="1" hangingPunct="1">
              <a:buSzPct val="60000"/>
            </a:pPr>
            <a:r>
              <a:rPr lang="en-US" sz="2400" dirty="0">
                <a:sym typeface="+mn-ea"/>
              </a:rPr>
              <a:t>物种不会被错误地检测到。 </a:t>
            </a:r>
            <a:endParaRPr lang="en-US" sz="2400" dirty="0"/>
          </a:p>
          <a:p>
            <a:pPr marL="342900" lvl="1" indent="-342900" eaLnBrk="1" hangingPunct="1">
              <a:buSzPct val="60000"/>
            </a:pPr>
            <a:r>
              <a:rPr lang="en-US" sz="2400" dirty="0">
                <a:sym typeface="+mn-ea"/>
              </a:rPr>
              <a:t>每个</a:t>
            </a:r>
            <a:r>
              <a:rPr lang="zh-CN" altLang="en-US" sz="2400" dirty="0">
                <a:sym typeface="+mn-ea"/>
              </a:rPr>
              <a:t>样点</a:t>
            </a:r>
            <a:r>
              <a:rPr lang="en-US" sz="2400" dirty="0">
                <a:sym typeface="+mn-ea"/>
              </a:rPr>
              <a:t>的检测过程都是独立的</a:t>
            </a:r>
            <a:endParaRPr lang="en-US" sz="2400" dirty="0"/>
          </a:p>
          <a:p>
            <a:pPr marL="742950" lvl="2" indent="-342900" eaLnBrk="1" hangingPunct="1">
              <a:buSzPct val="60000"/>
            </a:pPr>
            <a:r>
              <a:rPr lang="zh-CN" altLang="en-US" sz="2400" dirty="0">
                <a:sym typeface="+mn-ea"/>
              </a:rPr>
              <a:t>样点</a:t>
            </a:r>
            <a:r>
              <a:rPr lang="en-US" sz="2400" dirty="0">
                <a:sym typeface="+mn-ea"/>
              </a:rPr>
              <a:t>相距足够远，</a:t>
            </a:r>
            <a:r>
              <a:rPr lang="zh-CN" altLang="en-US" sz="2400" dirty="0">
                <a:sym typeface="+mn-ea"/>
              </a:rPr>
              <a:t>以保持</a:t>
            </a:r>
            <a:r>
              <a:rPr lang="en-US" sz="2400" dirty="0">
                <a:sym typeface="+mn-ea"/>
              </a:rPr>
              <a:t>生物学上</a:t>
            </a:r>
            <a:r>
              <a:rPr lang="zh-CN" altLang="en-US" sz="2400" dirty="0">
                <a:sym typeface="+mn-ea"/>
              </a:rPr>
              <a:t>的</a:t>
            </a:r>
            <a:r>
              <a:rPr lang="en-US" sz="2400" dirty="0">
                <a:sym typeface="+mn-ea"/>
              </a:rPr>
              <a:t>独立</a:t>
            </a:r>
            <a:r>
              <a:rPr lang="zh-CN" altLang="en-US" sz="2400" dirty="0">
                <a:sym typeface="+mn-ea"/>
              </a:rPr>
              <a:t>性</a:t>
            </a:r>
            <a:r>
              <a:rPr lang="en-US" sz="2400" dirty="0">
                <a:sym typeface="+mn-ea"/>
              </a:rPr>
              <a:t>。</a:t>
            </a:r>
            <a:endParaRPr lang="en-US" sz="2400" dirty="0"/>
          </a:p>
          <a:p>
            <a:pPr marL="342900" lvl="1" indent="-342900" eaLnBrk="1" hangingPunct="1">
              <a:buSzPct val="60000"/>
            </a:pPr>
            <a:r>
              <a:rPr lang="zh-CN" altLang="en-US" sz="2400" dirty="0">
                <a:sym typeface="+mn-ea"/>
              </a:rPr>
              <a:t>占用状态没有异质性</a:t>
            </a:r>
            <a:endParaRPr lang="en-US" sz="2400" dirty="0"/>
          </a:p>
          <a:p>
            <a:pPr marL="742950" lvl="2" indent="-342900" eaLnBrk="1" hangingPunct="1">
              <a:buSzPct val="60000"/>
            </a:pPr>
            <a:r>
              <a:rPr lang="en-US" sz="2400" dirty="0">
                <a:sym typeface="+mn-ea"/>
              </a:rPr>
              <a:t>没有无法通过协变量解释的差异</a:t>
            </a:r>
            <a:endParaRPr lang="en-US" sz="2400" dirty="0">
              <a:sym typeface="+mn-ea"/>
            </a:endParaRPr>
          </a:p>
          <a:p>
            <a:pPr marL="342900" lvl="1" indent="-342900" eaLnBrk="1" hangingPunct="1">
              <a:buSzPct val="60000"/>
            </a:pPr>
            <a:r>
              <a:rPr lang="en-US" sz="2400" dirty="0">
                <a:sym typeface="+mn-ea"/>
              </a:rPr>
              <a:t>检测无异质性 </a:t>
            </a:r>
            <a:endParaRPr lang="en-US" sz="2400" dirty="0"/>
          </a:p>
          <a:p>
            <a:pPr marL="742950" lvl="2" indent="-342900" eaLnBrk="1" hangingPunct="1">
              <a:buSzPct val="60000"/>
            </a:pPr>
            <a:r>
              <a:rPr lang="en-US" sz="2400" dirty="0">
                <a:sym typeface="+mn-ea"/>
              </a:rPr>
              <a:t>没有无法通过协变量解释的差异</a:t>
            </a:r>
            <a:endParaRPr lang="en-US" sz="24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>
              <a:spcBef>
                <a:spcPts val="600"/>
              </a:spcBef>
            </a:pPr>
            <a:r>
              <a:rPr lang="en-US" dirty="0"/>
              <a:t>Basic sampling protocol same</a:t>
            </a:r>
            <a:br>
              <a:rPr lang="en-US" dirty="0"/>
            </a:br>
            <a:r>
              <a:rPr lang="en-US" dirty="0"/>
              <a:t>基本的</a:t>
            </a:r>
            <a:r>
              <a:rPr lang="zh-CN" altLang="en-US" dirty="0"/>
              <a:t>采样流程</a:t>
            </a:r>
            <a:r>
              <a:rPr lang="en-US" dirty="0"/>
              <a:t>相同 </a:t>
            </a:r>
            <a:endParaRPr lang="en-US" dirty="0"/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5093335"/>
          </a:xfrm>
        </p:spPr>
        <p:txBody>
          <a:bodyPr>
            <a:normAutofit fontScale="80000"/>
          </a:bodyPr>
          <a:lstStyle/>
          <a:p>
            <a:pPr eaLnBrk="1" hangingPunct="1">
              <a:spcBef>
                <a:spcPts val="600"/>
              </a:spcBef>
            </a:pPr>
            <a:r>
              <a:rPr lang="en-US"/>
              <a:t>Visit sites and spend time looking for individuals of interest or evidence that they are present</a:t>
            </a:r>
            <a:endParaRPr lang="en-US"/>
          </a:p>
          <a:p>
            <a:pPr eaLnBrk="1" hangingPunct="1">
              <a:spcBef>
                <a:spcPts val="600"/>
              </a:spcBef>
            </a:pPr>
            <a:r>
              <a:rPr lang="zh-CN" altLang="en-US"/>
              <a:t>到样点考察，</a:t>
            </a:r>
            <a:r>
              <a:rPr lang="en-US"/>
              <a:t>并花时间寻找</a:t>
            </a:r>
            <a:r>
              <a:rPr lang="zh-CN" altLang="en-US"/>
              <a:t>研究相关</a:t>
            </a:r>
            <a:r>
              <a:rPr lang="en-US"/>
              <a:t>的个体或</a:t>
            </a:r>
            <a:r>
              <a:rPr lang="en-US">
                <a:sym typeface="+mn-ea"/>
              </a:rPr>
              <a:t>表明它们存在</a:t>
            </a:r>
            <a:r>
              <a:rPr lang="zh-CN" altLang="en-US">
                <a:sym typeface="+mn-ea"/>
              </a:rPr>
              <a:t>的</a:t>
            </a:r>
            <a:r>
              <a:rPr lang="en-US"/>
              <a:t>证据</a:t>
            </a:r>
            <a:endParaRPr lang="en-US"/>
          </a:p>
          <a:p>
            <a:pPr eaLnBrk="1" hangingPunct="1">
              <a:spcBef>
                <a:spcPts val="600"/>
              </a:spcBef>
            </a:pPr>
            <a:endParaRPr lang="en-US"/>
          </a:p>
          <a:p>
            <a:pPr eaLnBrk="1" hangingPunct="1">
              <a:spcBef>
                <a:spcPts val="600"/>
              </a:spcBef>
            </a:pPr>
            <a:r>
              <a:rPr lang="en-US"/>
              <a:t>Repeated presence-absence surveys</a:t>
            </a:r>
            <a:endParaRPr lang="en-US"/>
          </a:p>
          <a:p>
            <a:pPr lvl="1" eaLnBrk="1" hangingPunct="1"/>
            <a:r>
              <a:rPr lang="en-US"/>
              <a:t>Temporal replication at same site</a:t>
            </a:r>
            <a:endParaRPr lang="en-US"/>
          </a:p>
          <a:p>
            <a:pPr lvl="1" eaLnBrk="1" hangingPunct="1"/>
            <a:r>
              <a:rPr lang="en-US"/>
              <a:t>Spatial replication</a:t>
            </a:r>
            <a:endParaRPr lang="en-US" sz="3200">
              <a:sym typeface="+mn-ea"/>
            </a:endParaRPr>
          </a:p>
          <a:p>
            <a:pPr marL="0" lvl="1" fontAlgn="auto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3200">
                <a:sym typeface="+mn-ea"/>
              </a:rPr>
              <a:t>重复的“存在—缺席”调查</a:t>
            </a:r>
            <a:endParaRPr lang="en-US" sz="3200"/>
          </a:p>
          <a:p>
            <a:pPr lvl="1" eaLnBrk="1" hangingPunct="1"/>
            <a:r>
              <a:rPr lang="en-US">
                <a:sym typeface="+mn-ea"/>
              </a:rPr>
              <a:t>同一地点的时间复制</a:t>
            </a:r>
            <a:endParaRPr lang="en-US"/>
          </a:p>
          <a:p>
            <a:pPr lvl="1" eaLnBrk="1" hangingPunct="1"/>
            <a:r>
              <a:rPr lang="en-US">
                <a:sym typeface="+mn-ea"/>
              </a:rPr>
              <a:t>空间复制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>
              <a:spcBef>
                <a:spcPts val="600"/>
              </a:spcBef>
            </a:pPr>
            <a:r>
              <a:rPr lang="en-US" b="1" dirty="0"/>
              <a:t>Important considerations</a:t>
            </a:r>
            <a:br>
              <a:rPr lang="en-US" b="1" dirty="0"/>
            </a:br>
            <a:r>
              <a:rPr lang="en-US" b="1" dirty="0"/>
              <a:t>重要考虑因素</a:t>
            </a:r>
            <a:endParaRPr lang="en-US" b="1" dirty="0"/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336675"/>
            <a:ext cx="8477250" cy="5688965"/>
          </a:xfrm>
        </p:spPr>
        <p:txBody>
          <a:bodyPr>
            <a:normAutofit fontScale="50000"/>
          </a:bodyPr>
          <a:lstStyle/>
          <a:p>
            <a:pPr eaLnBrk="1" hangingPunct="1">
              <a:spcBef>
                <a:spcPts val="600"/>
              </a:spcBef>
            </a:pPr>
            <a:r>
              <a:rPr lang="en-US" sz="3200" b="1" dirty="0"/>
              <a:t>Study design </a:t>
            </a:r>
            <a:endParaRPr lang="en-US" sz="3200" b="1" dirty="0"/>
          </a:p>
          <a:p>
            <a:pPr lvl="1" eaLnBrk="1" hangingPunct="1">
              <a:spcBef>
                <a:spcPts val="600"/>
              </a:spcBef>
            </a:pPr>
            <a:r>
              <a:rPr lang="en-US" sz="3200" dirty="0"/>
              <a:t>Scope of inference</a:t>
            </a:r>
            <a:endParaRPr lang="en-US" sz="3200" dirty="0"/>
          </a:p>
          <a:p>
            <a:pPr lvl="1" eaLnBrk="1" hangingPunct="1">
              <a:spcBef>
                <a:spcPts val="600"/>
              </a:spcBef>
            </a:pPr>
            <a:r>
              <a:rPr lang="en-US" sz="3200" dirty="0"/>
              <a:t>Elements of stratification and randomization</a:t>
            </a:r>
            <a:endParaRPr lang="en-US" sz="3200" dirty="0"/>
          </a:p>
          <a:p>
            <a:pPr eaLnBrk="1" hangingPunct="1">
              <a:spcBef>
                <a:spcPts val="600"/>
              </a:spcBef>
            </a:pPr>
            <a:r>
              <a:rPr lang="en-US" sz="3200" b="1" dirty="0"/>
              <a:t>Strength of inference!</a:t>
            </a:r>
            <a:endParaRPr lang="en-US" sz="3200" b="1" dirty="0"/>
          </a:p>
          <a:p>
            <a:pPr lvl="1" eaLnBrk="1" hangingPunct="1">
              <a:spcBef>
                <a:spcPts val="600"/>
              </a:spcBef>
            </a:pPr>
            <a:r>
              <a:rPr lang="en-US" sz="3200" dirty="0"/>
              <a:t>Strongest – experimental manipulation</a:t>
            </a:r>
            <a:endParaRPr lang="en-US" sz="3200" dirty="0"/>
          </a:p>
          <a:p>
            <a:pPr lvl="1" eaLnBrk="1" hangingPunct="1">
              <a:spcBef>
                <a:spcPts val="600"/>
              </a:spcBef>
            </a:pPr>
            <a:r>
              <a:rPr lang="en-US" sz="3200" dirty="0"/>
              <a:t>Weaker – constrained designs (e.g., before &amp; after)</a:t>
            </a:r>
            <a:endParaRPr lang="en-US" sz="3200" dirty="0"/>
          </a:p>
          <a:p>
            <a:pPr lvl="1" eaLnBrk="1" hangingPunct="1">
              <a:spcBef>
                <a:spcPts val="600"/>
              </a:spcBef>
            </a:pPr>
            <a:r>
              <a:rPr lang="en-US" sz="3200" dirty="0"/>
              <a:t>Weaker still – a prior modeling</a:t>
            </a:r>
            <a:endParaRPr lang="en-US" sz="3200" dirty="0"/>
          </a:p>
          <a:p>
            <a:pPr lvl="1" eaLnBrk="1" hangingPunct="1">
              <a:spcBef>
                <a:spcPts val="600"/>
              </a:spcBef>
            </a:pPr>
            <a:r>
              <a:rPr lang="en-US" sz="3200" dirty="0"/>
              <a:t>Worst – a posteriori storytelling</a:t>
            </a:r>
            <a:endParaRPr lang="en-US" sz="3200" dirty="0"/>
          </a:p>
          <a:p>
            <a:pPr lvl="1" eaLnBrk="1" hangingPunct="1">
              <a:spcBef>
                <a:spcPts val="600"/>
              </a:spcBef>
            </a:pPr>
            <a:endParaRPr lang="en-US" sz="3200" dirty="0"/>
          </a:p>
          <a:p>
            <a:pPr marL="0" lvl="1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3200" b="1" dirty="0"/>
              <a:t>研究设计</a:t>
            </a:r>
            <a:endParaRPr lang="en-US" sz="3200" b="1" dirty="0"/>
          </a:p>
          <a:p>
            <a:pPr lvl="1" eaLnBrk="1" hangingPunct="1">
              <a:spcBef>
                <a:spcPts val="600"/>
              </a:spcBef>
              <a:buFont typeface="微软雅黑" panose="020B0503020204020204" charset="-122"/>
              <a:buChar char="-"/>
            </a:pPr>
            <a:r>
              <a:rPr lang="en-US" sz="3200" dirty="0"/>
              <a:t>推断范围</a:t>
            </a:r>
            <a:endParaRPr lang="en-US" sz="3200" dirty="0"/>
          </a:p>
          <a:p>
            <a:pPr lvl="1" eaLnBrk="1" hangingPunct="1">
              <a:spcBef>
                <a:spcPts val="600"/>
              </a:spcBef>
              <a:buFont typeface="微软雅黑" panose="020B0503020204020204" charset="-122"/>
              <a:buChar char="-"/>
            </a:pPr>
            <a:r>
              <a:rPr lang="en-US" sz="3200" dirty="0"/>
              <a:t>分层和随机化的要素</a:t>
            </a:r>
            <a:endParaRPr lang="en-US" sz="3200" dirty="0"/>
          </a:p>
          <a:p>
            <a:pPr marL="0" lvl="1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3200" b="1" dirty="0"/>
              <a:t>推断的强度</a:t>
            </a:r>
            <a:r>
              <a:rPr lang="zh-CN" altLang="en-US" sz="3200" b="1" dirty="0"/>
              <a:t>！</a:t>
            </a:r>
            <a:endParaRPr lang="zh-CN" altLang="en-US" sz="3200" b="1" dirty="0"/>
          </a:p>
          <a:p>
            <a:pPr lvl="1" algn="l" eaLnBrk="1" hangingPunct="1">
              <a:spcBef>
                <a:spcPts val="600"/>
              </a:spcBef>
              <a:buClrTx/>
              <a:buSzTx/>
              <a:buFont typeface="微软雅黑" panose="020B0503020204020204" charset="-122"/>
              <a:buChar char="-"/>
            </a:pPr>
            <a:r>
              <a:rPr lang="en-US" sz="3200" dirty="0"/>
              <a:t>最强—实验操作</a:t>
            </a:r>
            <a:endParaRPr lang="en-US" sz="3200" dirty="0"/>
          </a:p>
          <a:p>
            <a:pPr lvl="1" algn="l" eaLnBrk="1" hangingPunct="1">
              <a:spcBef>
                <a:spcPts val="600"/>
              </a:spcBef>
              <a:buClrTx/>
              <a:buSzTx/>
              <a:buFont typeface="微软雅黑" panose="020B0503020204020204" charset="-122"/>
              <a:buChar char="-"/>
            </a:pPr>
            <a:r>
              <a:rPr lang="en-US" sz="3200" dirty="0"/>
              <a:t>较弱—受限制的设计（如前后对比）</a:t>
            </a:r>
            <a:endParaRPr lang="en-US" sz="3200" dirty="0"/>
          </a:p>
          <a:p>
            <a:pPr lvl="1" algn="l" eaLnBrk="1" hangingPunct="1">
              <a:spcBef>
                <a:spcPts val="600"/>
              </a:spcBef>
              <a:buClrTx/>
              <a:buSzTx/>
              <a:buFont typeface="微软雅黑" panose="020B0503020204020204" charset="-122"/>
              <a:buChar char="-"/>
            </a:pPr>
            <a:r>
              <a:rPr lang="en-US" sz="3200" dirty="0"/>
              <a:t>更弱—先验建模</a:t>
            </a:r>
            <a:endParaRPr lang="en-US" sz="3200" dirty="0"/>
          </a:p>
          <a:p>
            <a:pPr lvl="1" algn="l" eaLnBrk="1" hangingPunct="1">
              <a:spcBef>
                <a:spcPts val="600"/>
              </a:spcBef>
              <a:buClrTx/>
              <a:buSzTx/>
              <a:buFont typeface="微软雅黑" panose="020B0503020204020204" charset="-122"/>
              <a:buChar char="-"/>
            </a:pPr>
            <a:r>
              <a:rPr lang="en-US" sz="3200" dirty="0"/>
              <a:t>最差—事后故事叙述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4"/>
          <p:cNvSpPr>
            <a:spLocks noGrp="1" noChangeArrowheads="1"/>
          </p:cNvSpPr>
          <p:nvPr>
            <p:ph type="title"/>
          </p:nvPr>
        </p:nvSpPr>
        <p:spPr>
          <a:xfrm>
            <a:off x="457201" y="355920"/>
            <a:ext cx="8229600" cy="114300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sz="3110" dirty="0"/>
              <a:t>Patch Occupancy Dynamics:  </a:t>
            </a:r>
            <a:br>
              <a:rPr lang="en-US" sz="3110" dirty="0"/>
            </a:br>
            <a:r>
              <a:rPr lang="en-US" sz="3110" dirty="0"/>
              <a:t>Pollock’s Robust Design</a:t>
            </a:r>
            <a:br>
              <a:rPr lang="en-US" sz="3110" dirty="0"/>
            </a:br>
            <a:r>
              <a:rPr lang="zh-CN" altLang="en-US" sz="3110" dirty="0">
                <a:sym typeface="+mn-ea"/>
              </a:rPr>
              <a:t>地块</a:t>
            </a:r>
            <a:r>
              <a:rPr lang="zh-CN" altLang="en-US" sz="3110" dirty="0">
                <a:sym typeface="+mn-ea"/>
              </a:rPr>
              <a:t>占用</a:t>
            </a:r>
            <a:r>
              <a:rPr lang="en-US" sz="3110" dirty="0">
                <a:sym typeface="+mn-ea"/>
              </a:rPr>
              <a:t>动态：  </a:t>
            </a:r>
            <a:br>
              <a:rPr lang="en-US" sz="3110" dirty="0">
                <a:sym typeface="+mn-ea"/>
              </a:rPr>
            </a:br>
            <a:r>
              <a:rPr lang="en-US" sz="3110" dirty="0">
                <a:sym typeface="+mn-ea"/>
              </a:rPr>
              <a:t>波洛克的稳健设计</a:t>
            </a:r>
            <a:endParaRPr lang="en-US" sz="3110" dirty="0"/>
          </a:p>
        </p:txBody>
      </p:sp>
      <p:sp>
        <p:nvSpPr>
          <p:cNvPr id="53251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457200" y="1894840"/>
            <a:ext cx="8229600" cy="5258435"/>
          </a:xfrm>
        </p:spPr>
        <p:txBody>
          <a:bodyPr>
            <a:normAutofit fontScale="70000"/>
          </a:bodyPr>
          <a:lstStyle/>
          <a:p>
            <a:pPr marL="0" indent="0" eaLnBrk="1" hangingPunct="1">
              <a:buNone/>
            </a:pPr>
            <a:r>
              <a:rPr lang="en-US" dirty="0"/>
              <a:t>Hierarchical sampling scheme:</a:t>
            </a:r>
            <a:endParaRPr lang="en-US" dirty="0"/>
          </a:p>
          <a:p>
            <a:pPr marL="0" indent="0" eaLnBrk="1" hangingPunct="1">
              <a:buNone/>
            </a:pPr>
            <a:endParaRPr lang="en-US" dirty="0"/>
          </a:p>
          <a:p>
            <a:pPr lvl="1" eaLnBrk="1" hangingPunct="1"/>
            <a:r>
              <a:rPr lang="en-US" b="1" dirty="0"/>
              <a:t>Primary sampling periods </a:t>
            </a:r>
            <a:r>
              <a:rPr lang="en-US" dirty="0"/>
              <a:t>(seasons) : long intervals between periods such that occupancy status can change</a:t>
            </a:r>
            <a:endParaRPr lang="en-US" dirty="0"/>
          </a:p>
          <a:p>
            <a:pPr lvl="1" eaLnBrk="1" hangingPunct="1"/>
            <a:r>
              <a:rPr lang="en-US" b="1" dirty="0"/>
              <a:t>Secondary sampling periods</a:t>
            </a:r>
            <a:r>
              <a:rPr lang="en-US" dirty="0"/>
              <a:t>: short intervals between periods such that occupancy status is expected not to change </a:t>
            </a:r>
            <a:endParaRPr lang="en-US" dirty="0"/>
          </a:p>
          <a:p>
            <a:pPr lvl="1" eaLnBrk="1" hangingPunct="1"/>
            <a:endParaRPr lang="en-US" dirty="0"/>
          </a:p>
          <a:p>
            <a:pPr marL="0" indent="0" eaLnBrk="1" hangingPunct="1">
              <a:buNone/>
            </a:pPr>
            <a:r>
              <a:rPr lang="en-US" sz="3200" dirty="0">
                <a:sym typeface="+mn-ea"/>
              </a:rPr>
              <a:t>分层</a:t>
            </a:r>
            <a:r>
              <a:rPr lang="zh-CN" altLang="en-US" sz="3200" dirty="0">
                <a:sym typeface="+mn-ea"/>
              </a:rPr>
              <a:t>采样</a:t>
            </a:r>
            <a:r>
              <a:rPr lang="en-US" sz="3200" dirty="0">
                <a:sym typeface="+mn-ea"/>
              </a:rPr>
              <a:t>方案</a:t>
            </a:r>
            <a:endParaRPr lang="en-US" sz="3200" dirty="0"/>
          </a:p>
          <a:p>
            <a:pPr lvl="1" eaLnBrk="1" hangingPunct="1"/>
            <a:r>
              <a:rPr lang="en-US" sz="3200" b="1" dirty="0">
                <a:sym typeface="+mn-ea"/>
              </a:rPr>
              <a:t>主要</a:t>
            </a:r>
            <a:r>
              <a:rPr lang="zh-CN" altLang="en-US" sz="3200" b="1" dirty="0">
                <a:sym typeface="+mn-ea"/>
              </a:rPr>
              <a:t>采</a:t>
            </a:r>
            <a:r>
              <a:rPr lang="en-US" sz="3200" b="1" dirty="0">
                <a:sym typeface="+mn-ea"/>
              </a:rPr>
              <a:t>样期</a:t>
            </a:r>
            <a:r>
              <a:rPr lang="en-US" sz="3200" dirty="0">
                <a:sym typeface="+mn-ea"/>
              </a:rPr>
              <a:t>（季节）：</a:t>
            </a:r>
            <a:r>
              <a:rPr lang="zh-CN" altLang="en-US" sz="3200" dirty="0">
                <a:sym typeface="+mn-ea"/>
              </a:rPr>
              <a:t>采样</a:t>
            </a:r>
            <a:r>
              <a:rPr lang="en-US" sz="3200" dirty="0">
                <a:sym typeface="+mn-ea"/>
              </a:rPr>
              <a:t>期之间间隔较长，因此</a:t>
            </a:r>
            <a:r>
              <a:rPr lang="zh-CN" altLang="en-US" sz="3200" dirty="0">
                <a:sym typeface="+mn-ea"/>
              </a:rPr>
              <a:t>占用</a:t>
            </a:r>
            <a:r>
              <a:rPr lang="en-US" sz="3200" dirty="0">
                <a:sym typeface="+mn-ea"/>
              </a:rPr>
              <a:t>状态可能发生变化</a:t>
            </a:r>
            <a:endParaRPr lang="en-US" sz="3200" dirty="0"/>
          </a:p>
          <a:p>
            <a:pPr lvl="1" eaLnBrk="1" hangingPunct="1"/>
            <a:r>
              <a:rPr lang="zh-CN" altLang="en-US" sz="3200" b="1" dirty="0">
                <a:sym typeface="+mn-ea"/>
              </a:rPr>
              <a:t>次要采</a:t>
            </a:r>
            <a:r>
              <a:rPr lang="en-US" sz="3200" b="1" dirty="0">
                <a:sym typeface="+mn-ea"/>
              </a:rPr>
              <a:t>样期</a:t>
            </a:r>
            <a:r>
              <a:rPr lang="en-US" sz="3200" dirty="0">
                <a:sym typeface="+mn-ea"/>
              </a:rPr>
              <a:t>：</a:t>
            </a:r>
            <a:r>
              <a:rPr lang="zh-CN" altLang="en-US" sz="3200" dirty="0">
                <a:sym typeface="+mn-ea"/>
              </a:rPr>
              <a:t>采样</a:t>
            </a:r>
            <a:r>
              <a:rPr lang="en-US" sz="3200" dirty="0">
                <a:sym typeface="+mn-ea"/>
              </a:rPr>
              <a:t>期之间的间隔时间较短，预计</a:t>
            </a:r>
            <a:r>
              <a:rPr lang="zh-CN" altLang="en-US" sz="3200" dirty="0">
                <a:sym typeface="+mn-ea"/>
              </a:rPr>
              <a:t>占用</a:t>
            </a:r>
            <a:r>
              <a:rPr lang="en-US" sz="3200" dirty="0">
                <a:sym typeface="+mn-ea"/>
              </a:rPr>
              <a:t>状态不会发生变化 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5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476885" y="1394460"/>
            <a:ext cx="8582025" cy="5690870"/>
          </a:xfrm>
        </p:spPr>
        <p:txBody>
          <a:bodyPr>
            <a:normAutofit/>
          </a:bodyPr>
          <a:lstStyle/>
          <a:p>
            <a:pPr eaLnBrk="1" hangingPunct="1"/>
            <a:r>
              <a:rPr lang="en-US" sz="2000" dirty="0">
                <a:sym typeface="Symbol" panose="05050102010706020507" pitchFamily="18" charset="2"/>
              </a:rPr>
              <a:t>Still 2</a:t>
            </a:r>
            <a:r>
              <a:rPr lang="en-US" sz="2000" i="1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n </a:t>
            </a:r>
            <a:r>
              <a:rPr lang="en-US" sz="2000" dirty="0">
                <a:sym typeface="Symbol" panose="05050102010706020507" pitchFamily="18" charset="2"/>
              </a:rPr>
              <a:t>possible capture histories</a:t>
            </a:r>
            <a:endParaRPr lang="en-US" sz="2000" dirty="0">
              <a:sym typeface="Symbol" panose="05050102010706020507" pitchFamily="18" charset="2"/>
            </a:endParaRPr>
          </a:p>
          <a:p>
            <a:pPr eaLnBrk="1" hangingPunct="1"/>
            <a:r>
              <a:rPr lang="en-US" sz="2000" dirty="0">
                <a:sym typeface="Symbol" panose="05050102010706020507" pitchFamily="18" charset="2"/>
              </a:rPr>
              <a:t>History : 10 00 11 01</a:t>
            </a:r>
            <a:endParaRPr lang="en-US" sz="2000" dirty="0">
              <a:sym typeface="Symbol" panose="05050102010706020507" pitchFamily="18" charset="2"/>
            </a:endParaRPr>
          </a:p>
          <a:p>
            <a:pPr eaLnBrk="1" hangingPunct="1"/>
            <a:r>
              <a:rPr lang="en-US" sz="2000" dirty="0">
                <a:sym typeface="Symbol" panose="05050102010706020507" pitchFamily="18" charset="2"/>
              </a:rPr>
              <a:t>10 01 11 = presence in primary period 1, 3, &amp; 4</a:t>
            </a:r>
            <a:endParaRPr lang="en-US" sz="2000" dirty="0">
              <a:sym typeface="Symbol" panose="05050102010706020507" pitchFamily="18" charset="2"/>
            </a:endParaRPr>
          </a:p>
          <a:p>
            <a:pPr eaLnBrk="1" hangingPunct="1"/>
            <a:r>
              <a:rPr lang="en-US" sz="2000" dirty="0">
                <a:sym typeface="Symbol" panose="05050102010706020507" pitchFamily="18" charset="2"/>
              </a:rPr>
              <a:t>00 = </a:t>
            </a:r>
            <a:endParaRPr lang="en-US" sz="2000" dirty="0">
              <a:sym typeface="Symbol" panose="05050102010706020507" pitchFamily="18" charset="2"/>
            </a:endParaRPr>
          </a:p>
          <a:p>
            <a:pPr lvl="1" eaLnBrk="1" hangingPunct="1"/>
            <a:r>
              <a:rPr lang="en-US" sz="2000" dirty="0">
                <a:sym typeface="Symbol" panose="05050102010706020507" pitchFamily="18" charset="2"/>
              </a:rPr>
              <a:t>Patch occupied but occupancy not detected, or</a:t>
            </a:r>
            <a:endParaRPr lang="en-US" sz="2000" dirty="0">
              <a:sym typeface="Symbol" panose="05050102010706020507" pitchFamily="18" charset="2"/>
            </a:endParaRPr>
          </a:p>
          <a:p>
            <a:pPr lvl="1" eaLnBrk="1" hangingPunct="1"/>
            <a:r>
              <a:rPr lang="en-US" sz="2000" dirty="0">
                <a:sym typeface="Symbol" panose="05050102010706020507" pitchFamily="18" charset="2"/>
              </a:rPr>
              <a:t>Patch not occupied (=locally extinct) yet re-colonized later</a:t>
            </a:r>
            <a:endParaRPr lang="en-US" sz="2000" dirty="0">
              <a:sym typeface="Symbol" panose="05050102010706020507" pitchFamily="18" charset="2"/>
            </a:endParaRPr>
          </a:p>
          <a:p>
            <a:pPr lvl="1" eaLnBrk="1" hangingPunct="1"/>
            <a:endParaRPr lang="en-US" sz="2000" dirty="0">
              <a:sym typeface="Symbol" panose="05050102010706020507" pitchFamily="18" charset="2"/>
            </a:endParaRPr>
          </a:p>
          <a:p>
            <a:pPr eaLnBrk="1" hangingPunct="1"/>
            <a:r>
              <a:rPr lang="en-US" sz="2000" dirty="0">
                <a:sym typeface="Symbol" panose="05050102010706020507" pitchFamily="18" charset="2"/>
              </a:rPr>
              <a:t>仍有 2</a:t>
            </a:r>
            <a:r>
              <a:rPr lang="en-US" sz="2000" i="1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n </a:t>
            </a:r>
            <a:r>
              <a:rPr lang="en-US" sz="2000" dirty="0">
                <a:sym typeface="Symbol" panose="05050102010706020507" pitchFamily="18" charset="2"/>
              </a:rPr>
              <a:t> </a:t>
            </a:r>
            <a:r>
              <a:rPr lang="zh-CN" altLang="en-US" sz="2000" dirty="0">
                <a:sym typeface="Symbol" panose="05050102010706020507" pitchFamily="18" charset="2"/>
              </a:rPr>
              <a:t>种</a:t>
            </a:r>
            <a:r>
              <a:rPr lang="en-US" sz="2000" dirty="0">
                <a:sym typeface="Symbol" panose="05050102010706020507" pitchFamily="18" charset="2"/>
              </a:rPr>
              <a:t>可能的捕获历史</a:t>
            </a:r>
            <a:endParaRPr lang="en-US" sz="2000" dirty="0">
              <a:sym typeface="Symbol" panose="05050102010706020507" pitchFamily="18" charset="2"/>
            </a:endParaRPr>
          </a:p>
          <a:p>
            <a:pPr eaLnBrk="1" hangingPunct="1"/>
            <a:r>
              <a:rPr lang="en-US" sz="2000" dirty="0">
                <a:sym typeface="Symbol" panose="05050102010706020507" pitchFamily="18" charset="2"/>
              </a:rPr>
              <a:t>历史</a:t>
            </a:r>
            <a:r>
              <a:rPr lang="zh-CN" altLang="en-US" sz="2000" dirty="0">
                <a:sym typeface="Symbol" panose="05050102010706020507" pitchFamily="18" charset="2"/>
              </a:rPr>
              <a:t>：</a:t>
            </a:r>
            <a:r>
              <a:rPr lang="en-US" sz="2000" dirty="0">
                <a:sym typeface="Symbol" panose="05050102010706020507" pitchFamily="18" charset="2"/>
              </a:rPr>
              <a:t>10 00 11 01</a:t>
            </a:r>
            <a:endParaRPr lang="en-US" sz="2000" dirty="0">
              <a:sym typeface="Symbol" panose="05050102010706020507" pitchFamily="18" charset="2"/>
            </a:endParaRPr>
          </a:p>
          <a:p>
            <a:pPr eaLnBrk="1" hangingPunct="1"/>
            <a:r>
              <a:rPr lang="en-US" sz="2000" dirty="0">
                <a:sym typeface="Symbol" panose="05050102010706020507" pitchFamily="18" charset="2"/>
              </a:rPr>
              <a:t>10 01 11 = 表示在主要时段1、3和4存在</a:t>
            </a:r>
            <a:endParaRPr lang="en-US" sz="2000" dirty="0">
              <a:sym typeface="Symbol" panose="05050102010706020507" pitchFamily="18" charset="2"/>
            </a:endParaRPr>
          </a:p>
          <a:p>
            <a:pPr eaLnBrk="1" hangingPunct="1"/>
            <a:r>
              <a:rPr lang="en-US" sz="2000" dirty="0">
                <a:sym typeface="Symbol" panose="05050102010706020507" pitchFamily="18" charset="2"/>
              </a:rPr>
              <a:t>00 = </a:t>
            </a:r>
            <a:endParaRPr lang="en-US" sz="2000" dirty="0">
              <a:sym typeface="Symbol" panose="05050102010706020507" pitchFamily="18" charset="2"/>
            </a:endParaRPr>
          </a:p>
          <a:p>
            <a:pPr lvl="1" eaLnBrk="1" hangingPunct="1"/>
            <a:r>
              <a:rPr lang="en-US" sz="2000" dirty="0">
                <a:sym typeface="Symbol" panose="05050102010706020507" pitchFamily="18" charset="2"/>
              </a:rPr>
              <a:t>表示虽然该</a:t>
            </a:r>
            <a:r>
              <a:rPr lang="zh-CN" altLang="en-US" sz="2000" dirty="0">
                <a:sym typeface="Symbol" panose="05050102010706020507" pitchFamily="18" charset="2"/>
              </a:rPr>
              <a:t>地块</a:t>
            </a:r>
            <a:r>
              <a:rPr lang="zh-CN" altLang="en-US" sz="2000" dirty="0">
                <a:sym typeface="Symbol" panose="05050102010706020507" pitchFamily="18" charset="2"/>
              </a:rPr>
              <a:t>被占用</a:t>
            </a:r>
            <a:r>
              <a:rPr lang="en-US" sz="2000" dirty="0">
                <a:sym typeface="Symbol" panose="05050102010706020507" pitchFamily="18" charset="2"/>
              </a:rPr>
              <a:t>了，但未被检测到（即</a:t>
            </a:r>
            <a:r>
              <a:rPr lang="zh-CN" altLang="en-US" sz="2000" dirty="0">
                <a:sym typeface="Symbol" panose="05050102010706020507" pitchFamily="18" charset="2"/>
              </a:rPr>
              <a:t>占用</a:t>
            </a:r>
            <a:r>
              <a:rPr lang="en-US" sz="2000" dirty="0">
                <a:sym typeface="Symbol" panose="05050102010706020507" pitchFamily="18" charset="2"/>
              </a:rPr>
              <a:t>状态未被观察到），或</a:t>
            </a:r>
            <a:endParaRPr lang="en-US" sz="2000" dirty="0">
              <a:sym typeface="Symbol" panose="05050102010706020507" pitchFamily="18" charset="2"/>
            </a:endParaRPr>
          </a:p>
          <a:p>
            <a:pPr lvl="1" eaLnBrk="1" hangingPunct="1"/>
            <a:r>
              <a:rPr lang="en-US" sz="2000" dirty="0">
                <a:sym typeface="Symbol" panose="05050102010706020507" pitchFamily="18" charset="2"/>
              </a:rPr>
              <a:t>也可以表示该</a:t>
            </a:r>
            <a:r>
              <a:rPr lang="zh-CN" altLang="en-US" sz="2000" dirty="0">
                <a:sym typeface="Symbol" panose="05050102010706020507" pitchFamily="18" charset="2"/>
              </a:rPr>
              <a:t>地块</a:t>
            </a:r>
            <a:r>
              <a:rPr lang="en-US" sz="2000" dirty="0">
                <a:sym typeface="Symbol" panose="05050102010706020507" pitchFamily="18" charset="2"/>
              </a:rPr>
              <a:t>一开始未被</a:t>
            </a:r>
            <a:r>
              <a:rPr lang="zh-CN" altLang="en-US" sz="2000" dirty="0">
                <a:sym typeface="Symbol" panose="05050102010706020507" pitchFamily="18" charset="2"/>
              </a:rPr>
              <a:t>占用</a:t>
            </a:r>
            <a:r>
              <a:rPr lang="en-US" sz="2000" dirty="0">
                <a:sym typeface="Symbol" panose="05050102010706020507" pitchFamily="18" charset="2"/>
              </a:rPr>
              <a:t>（=局部灭绝），但后来</a:t>
            </a:r>
            <a:r>
              <a:rPr lang="zh-CN" altLang="en-US" sz="2000" dirty="0">
                <a:sym typeface="Symbol" panose="05050102010706020507" pitchFamily="18" charset="2"/>
              </a:rPr>
              <a:t>又</a:t>
            </a:r>
            <a:r>
              <a:rPr lang="en-US" sz="2000" dirty="0">
                <a:sym typeface="Symbol" panose="05050102010706020507" pitchFamily="18" charset="2"/>
              </a:rPr>
              <a:t>重新被</a:t>
            </a:r>
            <a:r>
              <a:rPr lang="zh-CN" altLang="en-US" sz="2000" dirty="0">
                <a:sym typeface="Symbol" panose="05050102010706020507" pitchFamily="18" charset="2"/>
              </a:rPr>
              <a:t>定居</a:t>
            </a:r>
            <a:endParaRPr lang="zh-CN" altLang="en-US" sz="2000" dirty="0">
              <a:sym typeface="Symbol" panose="05050102010706020507" pitchFamily="18" charset="2"/>
            </a:endParaRPr>
          </a:p>
        </p:txBody>
      </p:sp>
      <p:sp>
        <p:nvSpPr>
          <p:cNvPr id="54275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Robust Design Capture History</a:t>
            </a:r>
            <a:br>
              <a:rPr lang="en-US" dirty="0"/>
            </a:br>
            <a:r>
              <a:rPr lang="en-US" dirty="0">
                <a:sym typeface="+mn-ea"/>
              </a:rPr>
              <a:t>稳健的设计捕捉历史 </a:t>
            </a:r>
            <a:r>
              <a:rPr lang="en-US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Occupancy dynamics</a:t>
            </a:r>
            <a:br>
              <a:rPr lang="en-US" dirty="0"/>
            </a:br>
            <a:r>
              <a:rPr lang="zh-CN" altLang="en-US" dirty="0"/>
              <a:t>占用</a:t>
            </a:r>
            <a:r>
              <a:rPr lang="zh-CN" altLang="en-US" dirty="0"/>
              <a:t>动态</a:t>
            </a:r>
            <a:endParaRPr lang="zh-CN" altLang="en-US" dirty="0"/>
          </a:p>
        </p:txBody>
      </p:sp>
      <p:sp>
        <p:nvSpPr>
          <p:cNvPr id="16" name="Oval 15"/>
          <p:cNvSpPr/>
          <p:nvPr/>
        </p:nvSpPr>
        <p:spPr bwMode="auto">
          <a:xfrm>
            <a:off x="1447800" y="4267200"/>
            <a:ext cx="1981200" cy="1219200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0 - unoccupied</a:t>
            </a:r>
            <a:endParaRPr lang="en-US" dirty="0"/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0-</a:t>
            </a:r>
            <a:r>
              <a:rPr kumimoji="0" lang="zh-CN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未占用</a:t>
            </a:r>
            <a:endParaRPr kumimoji="0" lang="zh-CN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cxnSp>
        <p:nvCxnSpPr>
          <p:cNvPr id="40" name="Straight Arrow Connector 39"/>
          <p:cNvCxnSpPr/>
          <p:nvPr/>
        </p:nvCxnSpPr>
        <p:spPr bwMode="auto">
          <a:xfrm>
            <a:off x="2590800" y="6246812"/>
            <a:ext cx="4953000" cy="1588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53" name="Oval 52"/>
          <p:cNvSpPr/>
          <p:nvPr/>
        </p:nvSpPr>
        <p:spPr bwMode="auto">
          <a:xfrm>
            <a:off x="1447800" y="2362200"/>
            <a:ext cx="1981200" cy="12192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1 - occupied</a:t>
            </a:r>
            <a:endParaRPr lang="en-US" dirty="0"/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1-</a:t>
            </a:r>
            <a:r>
              <a:rPr kumimoji="0" lang="zh-CN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已占用</a:t>
            </a:r>
            <a:endParaRPr kumimoji="0" lang="zh-CN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56" name="Oval 55"/>
          <p:cNvSpPr/>
          <p:nvPr/>
        </p:nvSpPr>
        <p:spPr bwMode="auto">
          <a:xfrm>
            <a:off x="4141470" y="4267200"/>
            <a:ext cx="1981200" cy="1219200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0 - unoccupied</a:t>
            </a:r>
            <a:endParaRPr lang="en-US" dirty="0"/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>
                <a:ln>
                  <a:noFill/>
                </a:ln>
                <a:effectLst/>
                <a:latin typeface="Tahoma" panose="020B0604030504040204" pitchFamily="34" charset="0"/>
                <a:sym typeface="+mn-ea"/>
              </a:rPr>
              <a:t>0-</a:t>
            </a:r>
            <a:r>
              <a:rPr lang="zh-CN" altLang="en-US" dirty="0">
                <a:ln>
                  <a:noFill/>
                </a:ln>
                <a:effectLst/>
                <a:latin typeface="Tahoma" panose="020B0604030504040204" pitchFamily="34" charset="0"/>
                <a:sym typeface="+mn-ea"/>
              </a:rPr>
              <a:t>未占用</a:t>
            </a: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57" name="Oval 56"/>
          <p:cNvSpPr/>
          <p:nvPr/>
        </p:nvSpPr>
        <p:spPr bwMode="auto">
          <a:xfrm>
            <a:off x="4141470" y="2362200"/>
            <a:ext cx="1981200" cy="12192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1 - occupied</a:t>
            </a:r>
            <a:endParaRPr lang="en-US" dirty="0"/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>
                <a:ln>
                  <a:noFill/>
                </a:ln>
                <a:effectLst/>
                <a:latin typeface="Tahoma" panose="020B0604030504040204" pitchFamily="34" charset="0"/>
                <a:sym typeface="+mn-ea"/>
              </a:rPr>
              <a:t>1-</a:t>
            </a:r>
            <a:r>
              <a:rPr lang="zh-CN" altLang="en-US" dirty="0">
                <a:ln>
                  <a:noFill/>
                </a:ln>
                <a:effectLst/>
                <a:latin typeface="Tahoma" panose="020B0604030504040204" pitchFamily="34" charset="0"/>
                <a:sym typeface="+mn-ea"/>
              </a:rPr>
              <a:t>已占用</a:t>
            </a: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58" name="Oval 57"/>
          <p:cNvSpPr/>
          <p:nvPr/>
        </p:nvSpPr>
        <p:spPr bwMode="auto">
          <a:xfrm>
            <a:off x="6858000" y="4267200"/>
            <a:ext cx="1981200" cy="1219200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0 - unoccupied</a:t>
            </a:r>
            <a:endParaRPr lang="en-US" dirty="0"/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>
                <a:ln>
                  <a:noFill/>
                </a:ln>
                <a:effectLst/>
                <a:latin typeface="Tahoma" panose="020B0604030504040204" pitchFamily="34" charset="0"/>
                <a:sym typeface="+mn-ea"/>
              </a:rPr>
              <a:t>0-</a:t>
            </a:r>
            <a:r>
              <a:rPr lang="zh-CN" altLang="en-US" dirty="0">
                <a:ln>
                  <a:noFill/>
                </a:ln>
                <a:effectLst/>
                <a:latin typeface="Tahoma" panose="020B0604030504040204" pitchFamily="34" charset="0"/>
                <a:sym typeface="+mn-ea"/>
              </a:rPr>
              <a:t>未占用</a:t>
            </a: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59" name="Oval 58"/>
          <p:cNvSpPr/>
          <p:nvPr/>
        </p:nvSpPr>
        <p:spPr bwMode="auto">
          <a:xfrm>
            <a:off x="6858000" y="2362200"/>
            <a:ext cx="1981200" cy="12192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1 - occupied</a:t>
            </a:r>
            <a:endParaRPr lang="en-US" dirty="0"/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>
                <a:ln>
                  <a:noFill/>
                </a:ln>
                <a:effectLst/>
                <a:latin typeface="Tahoma" panose="020B0604030504040204" pitchFamily="34" charset="0"/>
                <a:sym typeface="+mn-ea"/>
              </a:rPr>
              <a:t>1-</a:t>
            </a:r>
            <a:r>
              <a:rPr lang="zh-CN" altLang="en-US" dirty="0">
                <a:ln>
                  <a:noFill/>
                </a:ln>
                <a:effectLst/>
                <a:latin typeface="Tahoma" panose="020B0604030504040204" pitchFamily="34" charset="0"/>
                <a:sym typeface="+mn-ea"/>
              </a:rPr>
              <a:t>已占用</a:t>
            </a: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cxnSp>
        <p:nvCxnSpPr>
          <p:cNvPr id="61" name="Straight Arrow Connector 60"/>
          <p:cNvCxnSpPr>
            <a:stCxn id="53" idx="6"/>
            <a:endCxn id="57" idx="2"/>
          </p:cNvCxnSpPr>
          <p:nvPr/>
        </p:nvCxnSpPr>
        <p:spPr bwMode="auto">
          <a:xfrm>
            <a:off x="3429000" y="2971800"/>
            <a:ext cx="712470" cy="1588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63" name="Straight Arrow Connector 62"/>
          <p:cNvCxnSpPr>
            <a:stCxn id="53" idx="5"/>
            <a:endCxn id="56" idx="1"/>
          </p:cNvCxnSpPr>
          <p:nvPr/>
        </p:nvCxnSpPr>
        <p:spPr bwMode="auto">
          <a:xfrm rot="16200000" flipH="1">
            <a:off x="3263787" y="3277925"/>
            <a:ext cx="1042896" cy="129275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65" name="Straight Arrow Connector 64"/>
          <p:cNvCxnSpPr>
            <a:stCxn id="16" idx="6"/>
            <a:endCxn id="56" idx="2"/>
          </p:cNvCxnSpPr>
          <p:nvPr/>
        </p:nvCxnSpPr>
        <p:spPr bwMode="auto">
          <a:xfrm>
            <a:off x="3429000" y="4876800"/>
            <a:ext cx="712470" cy="1588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67" name="Straight Arrow Connector 66"/>
          <p:cNvCxnSpPr>
            <a:stCxn id="16" idx="7"/>
            <a:endCxn id="57" idx="3"/>
          </p:cNvCxnSpPr>
          <p:nvPr/>
        </p:nvCxnSpPr>
        <p:spPr bwMode="auto">
          <a:xfrm rot="5400000" flipH="1" flipV="1">
            <a:off x="3263787" y="3277925"/>
            <a:ext cx="1042896" cy="129275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69" name="Straight Arrow Connector 68"/>
          <p:cNvCxnSpPr>
            <a:stCxn id="57" idx="6"/>
            <a:endCxn id="59" idx="2"/>
          </p:cNvCxnSpPr>
          <p:nvPr/>
        </p:nvCxnSpPr>
        <p:spPr bwMode="auto">
          <a:xfrm>
            <a:off x="6122670" y="2971800"/>
            <a:ext cx="735330" cy="1588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71" name="Straight Arrow Connector 70"/>
          <p:cNvCxnSpPr>
            <a:stCxn id="57" idx="5"/>
            <a:endCxn id="58" idx="1"/>
          </p:cNvCxnSpPr>
          <p:nvPr/>
        </p:nvCxnSpPr>
        <p:spPr bwMode="auto">
          <a:xfrm rot="16200000" flipH="1">
            <a:off x="5968887" y="3266495"/>
            <a:ext cx="1042896" cy="131561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73" name="Straight Arrow Connector 72"/>
          <p:cNvCxnSpPr>
            <a:stCxn id="56" idx="6"/>
            <a:endCxn id="58" idx="2"/>
          </p:cNvCxnSpPr>
          <p:nvPr/>
        </p:nvCxnSpPr>
        <p:spPr bwMode="auto">
          <a:xfrm>
            <a:off x="6122670" y="4876800"/>
            <a:ext cx="735330" cy="1588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75" name="Straight Arrow Connector 74"/>
          <p:cNvCxnSpPr>
            <a:stCxn id="56" idx="7"/>
            <a:endCxn id="59" idx="3"/>
          </p:cNvCxnSpPr>
          <p:nvPr/>
        </p:nvCxnSpPr>
        <p:spPr bwMode="auto">
          <a:xfrm rot="5400000" flipH="1" flipV="1">
            <a:off x="5968887" y="3266495"/>
            <a:ext cx="1042896" cy="131561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77" name="TextBox 76"/>
          <p:cNvSpPr txBox="1"/>
          <p:nvPr/>
        </p:nvSpPr>
        <p:spPr>
          <a:xfrm>
            <a:off x="4648200" y="6031468"/>
            <a:ext cx="825500" cy="64516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season</a:t>
            </a:r>
            <a:endParaRPr lang="en-US" dirty="0"/>
          </a:p>
          <a:p>
            <a:r>
              <a:rPr lang="zh-CN" altLang="en-US" dirty="0"/>
              <a:t>季节</a:t>
            </a:r>
            <a:endParaRPr lang="zh-CN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152400" y="3581400"/>
            <a:ext cx="155194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Occupancy </a:t>
            </a:r>
            <a:br>
              <a:rPr lang="en-US" dirty="0"/>
            </a:br>
            <a:r>
              <a:rPr lang="en-US" dirty="0"/>
              <a:t>state</a:t>
            </a:r>
            <a:r>
              <a:rPr lang="zh-CN" altLang="en-US" dirty="0"/>
              <a:t>占用</a:t>
            </a:r>
            <a:r>
              <a:rPr lang="zh-CN" altLang="en-US" dirty="0"/>
              <a:t>状态</a:t>
            </a:r>
            <a:endParaRPr lang="zh-CN" altLang="en-US" dirty="0"/>
          </a:p>
        </p:txBody>
      </p:sp>
      <p:cxnSp>
        <p:nvCxnSpPr>
          <p:cNvPr id="21" name="Straight Arrow Connector 20"/>
          <p:cNvCxnSpPr>
            <a:stCxn id="19" idx="0"/>
            <a:endCxn id="53" idx="2"/>
          </p:cNvCxnSpPr>
          <p:nvPr/>
        </p:nvCxnSpPr>
        <p:spPr bwMode="auto">
          <a:xfrm rot="16200000">
            <a:off x="883285" y="3016885"/>
            <a:ext cx="609600" cy="519430"/>
          </a:xfrm>
          <a:prstGeom prst="curvedConnector2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3" name="Straight Arrow Connector 22"/>
          <p:cNvCxnSpPr>
            <a:stCxn id="19" idx="2"/>
            <a:endCxn id="16" idx="2"/>
          </p:cNvCxnSpPr>
          <p:nvPr/>
        </p:nvCxnSpPr>
        <p:spPr bwMode="auto">
          <a:xfrm rot="5400000" flipV="1">
            <a:off x="862965" y="4291965"/>
            <a:ext cx="650240" cy="519430"/>
          </a:xfrm>
          <a:prstGeom prst="curvedConnector2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8" name="Rounded Rectangle 27"/>
          <p:cNvSpPr/>
          <p:nvPr/>
        </p:nvSpPr>
        <p:spPr bwMode="auto">
          <a:xfrm>
            <a:off x="3581400" y="1489948"/>
            <a:ext cx="3352800" cy="51077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sz="2400" dirty="0">
                <a:latin typeface="Symbol" panose="05050102010706020507" pitchFamily="18" charset="2"/>
              </a:rPr>
              <a:t>e</a:t>
            </a:r>
            <a:r>
              <a:rPr lang="en-US" sz="2400" dirty="0"/>
              <a:t> – local extinction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9" name="Rounded Rectangle 28"/>
          <p:cNvSpPr/>
          <p:nvPr/>
        </p:nvSpPr>
        <p:spPr bwMode="auto">
          <a:xfrm>
            <a:off x="3581400" y="1489948"/>
            <a:ext cx="3352800" cy="51077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sz="2400" dirty="0">
                <a:latin typeface="Symbol" panose="05050102010706020507" pitchFamily="18" charset="2"/>
              </a:rPr>
              <a:t>g</a:t>
            </a:r>
            <a:r>
              <a:rPr lang="en-US" sz="2400" dirty="0"/>
              <a:t> – colonization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30" name="Rounded Rectangle 29"/>
          <p:cNvSpPr/>
          <p:nvPr/>
        </p:nvSpPr>
        <p:spPr bwMode="auto">
          <a:xfrm>
            <a:off x="3581400" y="1489948"/>
            <a:ext cx="3352800" cy="51077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sz="2400" dirty="0">
                <a:latin typeface="Symbol" panose="05050102010706020507" pitchFamily="18" charset="2"/>
              </a:rPr>
              <a:t>(1-e)</a:t>
            </a:r>
            <a:r>
              <a:rPr lang="en-US" sz="2400" dirty="0"/>
              <a:t> – not extinct</a:t>
            </a: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31" name="Rounded Rectangle 30"/>
          <p:cNvSpPr/>
          <p:nvPr/>
        </p:nvSpPr>
        <p:spPr bwMode="auto">
          <a:xfrm>
            <a:off x="3581400" y="1357856"/>
            <a:ext cx="3352800" cy="91974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sz="2400" dirty="0">
                <a:latin typeface="Symbol" panose="05050102010706020507" pitchFamily="18" charset="2"/>
              </a:rPr>
              <a:t>(1-g)</a:t>
            </a:r>
            <a:r>
              <a:rPr lang="en-US" sz="2400" dirty="0"/>
              <a:t> – not colonized</a:t>
            </a:r>
            <a:endParaRPr lang="en-US" sz="2400" dirty="0"/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sz="2400" dirty="0">
                <a:latin typeface="Symbol" panose="05050102010706020507" pitchFamily="18" charset="2"/>
                <a:sym typeface="+mn-ea"/>
              </a:rPr>
              <a:t>(1-g)</a:t>
            </a:r>
            <a:r>
              <a:rPr lang="en-US" sz="2400" dirty="0">
                <a:sym typeface="+mn-ea"/>
              </a:rPr>
              <a:t> – </a:t>
            </a:r>
            <a:r>
              <a:rPr lang="zh-CN" altLang="en-US" sz="2400" dirty="0">
                <a:sym typeface="+mn-ea"/>
              </a:rPr>
              <a:t>未被重新</a:t>
            </a:r>
            <a:r>
              <a:rPr lang="zh-CN" altLang="en-US" sz="2400" dirty="0">
                <a:sym typeface="+mn-ea"/>
              </a:rPr>
              <a:t>定居</a:t>
            </a:r>
            <a:endParaRPr lang="zh-CN" altLang="en-US" sz="2400" dirty="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1" grpId="0" bldLvl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/>
          <p:cNvSpPr/>
          <p:nvPr/>
        </p:nvSpPr>
        <p:spPr bwMode="auto">
          <a:xfrm>
            <a:off x="1447800" y="4267200"/>
            <a:ext cx="1981200" cy="1219200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0 - unoccupied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cxnSp>
        <p:nvCxnSpPr>
          <p:cNvPr id="40" name="Straight Arrow Connector 39"/>
          <p:cNvCxnSpPr/>
          <p:nvPr/>
        </p:nvCxnSpPr>
        <p:spPr bwMode="auto">
          <a:xfrm>
            <a:off x="2590800" y="6246812"/>
            <a:ext cx="4953000" cy="1588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53" name="Oval 52"/>
          <p:cNvSpPr/>
          <p:nvPr/>
        </p:nvSpPr>
        <p:spPr bwMode="auto">
          <a:xfrm>
            <a:off x="1447800" y="2362200"/>
            <a:ext cx="1981200" cy="12192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1 - occupied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56" name="Oval 55"/>
          <p:cNvSpPr/>
          <p:nvPr/>
        </p:nvSpPr>
        <p:spPr bwMode="auto">
          <a:xfrm>
            <a:off x="4141470" y="4267200"/>
            <a:ext cx="1981200" cy="1219200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0 - unoccupied</a:t>
            </a: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57" name="Oval 56"/>
          <p:cNvSpPr/>
          <p:nvPr/>
        </p:nvSpPr>
        <p:spPr bwMode="auto">
          <a:xfrm>
            <a:off x="4141470" y="2362200"/>
            <a:ext cx="1981200" cy="12192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1 - occupied</a:t>
            </a: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58" name="Oval 57"/>
          <p:cNvSpPr/>
          <p:nvPr/>
        </p:nvSpPr>
        <p:spPr bwMode="auto">
          <a:xfrm>
            <a:off x="6858000" y="4267200"/>
            <a:ext cx="1981200" cy="1219200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0 - unoccupied</a:t>
            </a: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59" name="Oval 58"/>
          <p:cNvSpPr/>
          <p:nvPr/>
        </p:nvSpPr>
        <p:spPr bwMode="auto">
          <a:xfrm>
            <a:off x="6858000" y="2362200"/>
            <a:ext cx="1981200" cy="12192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/>
              <a:t>1 - occupied</a:t>
            </a:r>
            <a:endParaRPr kumimoji="0" 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cxnSp>
        <p:nvCxnSpPr>
          <p:cNvPr id="61" name="Straight Arrow Connector 60"/>
          <p:cNvCxnSpPr>
            <a:stCxn id="53" idx="6"/>
            <a:endCxn id="57" idx="2"/>
          </p:cNvCxnSpPr>
          <p:nvPr/>
        </p:nvCxnSpPr>
        <p:spPr bwMode="auto">
          <a:xfrm>
            <a:off x="3429000" y="2971800"/>
            <a:ext cx="712470" cy="1588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63" name="Straight Arrow Connector 62"/>
          <p:cNvCxnSpPr>
            <a:stCxn id="53" idx="5"/>
            <a:endCxn id="56" idx="1"/>
          </p:cNvCxnSpPr>
          <p:nvPr/>
        </p:nvCxnSpPr>
        <p:spPr bwMode="auto">
          <a:xfrm rot="16200000" flipH="1">
            <a:off x="3263787" y="3277925"/>
            <a:ext cx="1042896" cy="129275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65" name="Straight Arrow Connector 64"/>
          <p:cNvCxnSpPr>
            <a:stCxn id="16" idx="6"/>
            <a:endCxn id="56" idx="2"/>
          </p:cNvCxnSpPr>
          <p:nvPr/>
        </p:nvCxnSpPr>
        <p:spPr bwMode="auto">
          <a:xfrm>
            <a:off x="3429000" y="4876800"/>
            <a:ext cx="712470" cy="1588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67" name="Straight Arrow Connector 66"/>
          <p:cNvCxnSpPr>
            <a:stCxn id="16" idx="7"/>
            <a:endCxn id="57" idx="3"/>
          </p:cNvCxnSpPr>
          <p:nvPr/>
        </p:nvCxnSpPr>
        <p:spPr bwMode="auto">
          <a:xfrm rot="5400000" flipH="1" flipV="1">
            <a:off x="3263787" y="3277925"/>
            <a:ext cx="1042896" cy="129275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69" name="Straight Arrow Connector 68"/>
          <p:cNvCxnSpPr>
            <a:stCxn id="57" idx="6"/>
            <a:endCxn id="59" idx="2"/>
          </p:cNvCxnSpPr>
          <p:nvPr/>
        </p:nvCxnSpPr>
        <p:spPr bwMode="auto">
          <a:xfrm>
            <a:off x="6122670" y="2971800"/>
            <a:ext cx="735330" cy="1588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71" name="Straight Arrow Connector 70"/>
          <p:cNvCxnSpPr>
            <a:stCxn id="57" idx="5"/>
            <a:endCxn id="58" idx="1"/>
          </p:cNvCxnSpPr>
          <p:nvPr/>
        </p:nvCxnSpPr>
        <p:spPr bwMode="auto">
          <a:xfrm rot="16200000" flipH="1">
            <a:off x="5968887" y="3266495"/>
            <a:ext cx="1042896" cy="131561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73" name="Straight Arrow Connector 72"/>
          <p:cNvCxnSpPr>
            <a:stCxn id="56" idx="6"/>
            <a:endCxn id="58" idx="2"/>
          </p:cNvCxnSpPr>
          <p:nvPr/>
        </p:nvCxnSpPr>
        <p:spPr bwMode="auto">
          <a:xfrm>
            <a:off x="6122670" y="4876800"/>
            <a:ext cx="735330" cy="1588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75" name="Straight Arrow Connector 74"/>
          <p:cNvCxnSpPr>
            <a:stCxn id="56" idx="7"/>
            <a:endCxn id="59" idx="3"/>
          </p:cNvCxnSpPr>
          <p:nvPr/>
        </p:nvCxnSpPr>
        <p:spPr bwMode="auto">
          <a:xfrm rot="5400000" flipH="1" flipV="1">
            <a:off x="5968887" y="3266495"/>
            <a:ext cx="1042896" cy="131561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77" name="TextBox 76"/>
          <p:cNvSpPr txBox="1"/>
          <p:nvPr/>
        </p:nvSpPr>
        <p:spPr>
          <a:xfrm>
            <a:off x="4648200" y="6031468"/>
            <a:ext cx="88678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season</a:t>
            </a:r>
            <a:endParaRPr 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152400" y="3581400"/>
            <a:ext cx="1551940" cy="645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Occupancy </a:t>
            </a:r>
            <a:br>
              <a:rPr lang="en-US" dirty="0"/>
            </a:br>
            <a:r>
              <a:rPr lang="en-US" dirty="0"/>
              <a:t>state</a:t>
            </a:r>
            <a:r>
              <a:rPr lang="zh-CN" altLang="en-US" dirty="0"/>
              <a:t>占用</a:t>
            </a:r>
            <a:r>
              <a:rPr lang="zh-CN" altLang="en-US" dirty="0"/>
              <a:t>状态</a:t>
            </a:r>
            <a:endParaRPr lang="zh-CN" altLang="en-US" dirty="0"/>
          </a:p>
        </p:txBody>
      </p:sp>
      <p:cxnSp>
        <p:nvCxnSpPr>
          <p:cNvPr id="21" name="Straight Arrow Connector 20"/>
          <p:cNvCxnSpPr>
            <a:stCxn id="19" idx="0"/>
            <a:endCxn id="53" idx="2"/>
          </p:cNvCxnSpPr>
          <p:nvPr/>
        </p:nvCxnSpPr>
        <p:spPr bwMode="auto">
          <a:xfrm rot="16200000">
            <a:off x="883285" y="3016885"/>
            <a:ext cx="609600" cy="519430"/>
          </a:xfrm>
          <a:prstGeom prst="curvedConnector2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3" name="Straight Arrow Connector 22"/>
          <p:cNvCxnSpPr>
            <a:stCxn id="19" idx="2"/>
            <a:endCxn id="16" idx="2"/>
          </p:cNvCxnSpPr>
          <p:nvPr/>
        </p:nvCxnSpPr>
        <p:spPr bwMode="auto">
          <a:xfrm rot="5400000" flipV="1">
            <a:off x="862965" y="4291965"/>
            <a:ext cx="650240" cy="519430"/>
          </a:xfrm>
          <a:prstGeom prst="curvedConnector2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8" name="Rounded Rectangle 27"/>
          <p:cNvSpPr/>
          <p:nvPr/>
        </p:nvSpPr>
        <p:spPr bwMode="auto">
          <a:xfrm>
            <a:off x="5833110" y="655776"/>
            <a:ext cx="3311525" cy="133639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l"/>
            </a:pPr>
            <a:r>
              <a:rPr lang="en-US" sz="2400" dirty="0"/>
              <a:t>– dynamics (</a:t>
            </a:r>
            <a:r>
              <a:rPr lang="en-US" sz="2400" dirty="0">
                <a:latin typeface="Symbol" panose="05050102010706020507" pitchFamily="18" charset="2"/>
              </a:rPr>
              <a:t>g/e</a:t>
            </a:r>
            <a:r>
              <a:rPr lang="en-US" sz="2400" dirty="0"/>
              <a:t>)</a:t>
            </a:r>
            <a:endParaRPr lang="en-US" sz="2400" dirty="0"/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sz="2400" dirty="0"/>
              <a:t>&gt;1.0 – expansion</a:t>
            </a:r>
            <a:r>
              <a:rPr lang="zh-CN" altLang="en-US" sz="2400" dirty="0"/>
              <a:t>扩展</a:t>
            </a:r>
            <a:endParaRPr lang="en-US" sz="2400" dirty="0"/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sz="2400" dirty="0"/>
              <a:t>&lt; 1.0 contraction</a:t>
            </a:r>
            <a:r>
              <a:rPr lang="zh-CN" altLang="en-US" sz="2400" dirty="0"/>
              <a:t>收缩</a:t>
            </a:r>
            <a:endParaRPr lang="zh-CN" altLang="en-US" sz="2400" dirty="0"/>
          </a:p>
        </p:txBody>
      </p:sp>
      <p:sp>
        <p:nvSpPr>
          <p:cNvPr id="4" name="Title 1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Occupancy dynamics</a:t>
            </a:r>
            <a:br>
              <a:rPr lang="en-US" dirty="0"/>
            </a:br>
            <a:r>
              <a:rPr lang="zh-CN" altLang="en-US" dirty="0"/>
              <a:t>占用</a:t>
            </a:r>
            <a:r>
              <a:rPr lang="zh-CN" altLang="en-US" dirty="0"/>
              <a:t>动态</a:t>
            </a:r>
            <a:endParaRPr lang="zh-CN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Inferring population dynamics!</a:t>
            </a:r>
            <a:br>
              <a:rPr lang="en-US" dirty="0"/>
            </a:br>
            <a:r>
              <a:rPr lang="zh-CN" altLang="en-US" dirty="0"/>
              <a:t>推断种群动态！</a:t>
            </a:r>
            <a:endParaRPr lang="zh-CN" altLang="en-US" dirty="0"/>
          </a:p>
        </p:txBody>
      </p:sp>
      <p:sp>
        <p:nvSpPr>
          <p:cNvPr id="309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Evaluate probability of extinction and colonization</a:t>
            </a:r>
            <a:endParaRPr lang="en-US" dirty="0"/>
          </a:p>
          <a:p>
            <a:r>
              <a:rPr lang="en-US" dirty="0"/>
              <a:t>评估灭绝和重新定居的概率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549275" y="3583940"/>
            <a:ext cx="7764780" cy="265176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 defTabSz="914400" eaLnBrk="0" fontAlgn="base" hangingPunct="0"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l"/>
            </a:pPr>
            <a:r>
              <a:rPr lang="en-US" sz="3200" b="1" dirty="0"/>
              <a:t> – dynamics (</a:t>
            </a:r>
            <a:r>
              <a:rPr lang="en-US" sz="3200" b="1" dirty="0">
                <a:latin typeface="Symbol" panose="05050102010706020507" pitchFamily="18" charset="2"/>
              </a:rPr>
              <a:t>g/e</a:t>
            </a:r>
            <a:r>
              <a:rPr lang="en-US" sz="3200" b="1" dirty="0"/>
              <a:t>)</a:t>
            </a:r>
            <a:endParaRPr lang="en-US" sz="3200" b="1" dirty="0"/>
          </a:p>
          <a:p>
            <a:pPr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/>
              <a:t>&gt;1.0 – population expansion (increase)</a:t>
            </a:r>
            <a:endParaRPr lang="en-US" sz="3200" dirty="0"/>
          </a:p>
          <a:p>
            <a:pPr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/>
              <a:t>&lt;1.0 – population contraction (decrease)</a:t>
            </a:r>
            <a:endParaRPr lang="en-US" sz="3200" dirty="0"/>
          </a:p>
          <a:p>
            <a:pPr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/>
              <a:t>λ-动态 (g/e)：</a:t>
            </a:r>
            <a:endParaRPr lang="en-US" sz="3200" dirty="0"/>
          </a:p>
          <a:p>
            <a:pPr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/>
              <a:t>&gt;1.0—种群扩张（增加）</a:t>
            </a:r>
            <a:endParaRPr lang="en-US" sz="3200" dirty="0"/>
          </a:p>
          <a:p>
            <a:pPr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200" dirty="0"/>
              <a:t>&lt;1.0—种群收缩（减少）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Inferring population dynamics!</a:t>
            </a:r>
            <a:br>
              <a:rPr lang="en-US" dirty="0"/>
            </a:br>
            <a:r>
              <a:rPr lang="zh-CN" altLang="en-US" dirty="0">
                <a:sym typeface="+mn-ea"/>
              </a:rPr>
              <a:t>推断种群动态！</a:t>
            </a:r>
            <a:endParaRPr lang="en-US" dirty="0"/>
          </a:p>
        </p:txBody>
      </p:sp>
      <p:sp>
        <p:nvSpPr>
          <p:cNvPr id="309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Evaluate probability of extinction and colonization</a:t>
            </a:r>
            <a:endParaRPr lang="en-US" dirty="0"/>
          </a:p>
          <a:p>
            <a:r>
              <a:rPr lang="en-US" dirty="0">
                <a:sym typeface="+mn-ea"/>
              </a:rPr>
              <a:t>评估灭绝和重新定居的概率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Rectangle 1"/>
              <p:cNvSpPr/>
              <p:nvPr/>
            </p:nvSpPr>
            <p:spPr>
              <a:xfrm>
                <a:off x="746125" y="3723640"/>
                <a:ext cx="7671435" cy="3536950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400" b="1" dirty="0"/>
                  <a:t>We calculate </a:t>
                </a:r>
                <a:r>
                  <a:rPr lang="en-US" sz="2400" b="1" u="sng" dirty="0"/>
                  <a:t>equilibrium occupancy</a:t>
                </a:r>
                <a:r>
                  <a:rPr lang="en-US" sz="2400" b="1" dirty="0"/>
                  <a:t> at any given time as a function of site- specific probabilities of colonization (</a:t>
                </a:r>
                <a:r>
                  <a:rPr lang="en-US" sz="2400" b="1" dirty="0">
                    <a:latin typeface="Symbol" panose="05050102010706020507" pitchFamily="18" charset="2"/>
                  </a:rPr>
                  <a:t>g</a:t>
                </a:r>
                <a:r>
                  <a:rPr lang="en-US" sz="2400" b="1" dirty="0"/>
                  <a:t>) and extinction (</a:t>
                </a:r>
                <a:r>
                  <a:rPr lang="en-US" sz="2400" b="1" dirty="0">
                    <a:latin typeface="Symbol" panose="05050102010706020507" pitchFamily="18" charset="2"/>
                  </a:rPr>
                  <a:t>e</a:t>
                </a:r>
                <a:r>
                  <a:rPr lang="en-US" sz="2400" b="1" dirty="0"/>
                  <a:t>)</a:t>
                </a:r>
                <a:endParaRPr lang="en-US" sz="2400" b="1" dirty="0"/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400" b="1" dirty="0"/>
                  <a:t>我们根据特定</a:t>
                </a:r>
                <a:r>
                  <a:rPr lang="zh-CN" altLang="en-US" sz="2400" b="1" dirty="0"/>
                  <a:t>样点</a:t>
                </a:r>
                <a:r>
                  <a:rPr lang="en-US" sz="2400" b="1" dirty="0"/>
                  <a:t>的重新定居（</a:t>
                </a:r>
                <a:r>
                  <a:rPr lang="en-US" sz="2400" b="1" dirty="0">
                    <a:latin typeface="Symbol" panose="05050102010706020507" pitchFamily="18" charset="2"/>
                    <a:sym typeface="+mn-ea"/>
                  </a:rPr>
                  <a:t>g</a:t>
                </a:r>
                <a:r>
                  <a:rPr lang="en-US" sz="2400" b="1" dirty="0"/>
                  <a:t>）和灭绝（</a:t>
                </a:r>
                <a:r>
                  <a:rPr lang="en-US" sz="2400" b="1" dirty="0">
                    <a:latin typeface="Symbol" panose="05050102010706020507" pitchFamily="18" charset="2"/>
                    <a:sym typeface="+mn-ea"/>
                  </a:rPr>
                  <a:t>e</a:t>
                </a:r>
                <a:r>
                  <a:rPr lang="en-US" sz="2400" b="1" dirty="0"/>
                  <a:t>）概率</a:t>
                </a:r>
                <a:r>
                  <a:rPr lang="zh-CN" altLang="en-US" sz="2400" b="1" dirty="0"/>
                  <a:t>的函数</a:t>
                </a:r>
                <a:r>
                  <a:rPr lang="en-US" sz="2400" b="1" dirty="0"/>
                  <a:t>，计算在任何给定时间的</a:t>
                </a:r>
                <a:r>
                  <a:rPr lang="en-US" sz="2400" b="1" u="sng" dirty="0"/>
                  <a:t>平衡</a:t>
                </a:r>
                <a:r>
                  <a:rPr lang="zh-CN" altLang="en-US" sz="2400" b="1" u="sng" dirty="0"/>
                  <a:t>占用</a:t>
                </a:r>
                <a:r>
                  <a:rPr lang="en-US" sz="2400" b="1" u="sng" dirty="0"/>
                  <a:t>率</a:t>
                </a:r>
                <a:endParaRPr lang="en-US" sz="2400" b="1" dirty="0"/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400" dirty="0"/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𝜳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𝜸</m:t>
                          </m:r>
                        </m:num>
                        <m:den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𝜸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𝜺</m:t>
                          </m:r>
                        </m:den>
                      </m:f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125" y="3723640"/>
                <a:ext cx="7671435" cy="353695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Basic design</a:t>
            </a:r>
            <a:br>
              <a:rPr lang="en-US"/>
            </a:br>
            <a:r>
              <a:rPr lang="zh-CN" altLang="en-US"/>
              <a:t>基本设计</a:t>
            </a:r>
            <a:r>
              <a:rPr lang="en-US"/>
              <a:t> </a:t>
            </a:r>
            <a:endParaRPr lang="en-US"/>
          </a:p>
        </p:txBody>
      </p:sp>
      <p:sp>
        <p:nvSpPr>
          <p:cNvPr id="309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Sample over two temporal scales.</a:t>
            </a:r>
            <a:endParaRPr lang="en-US"/>
          </a:p>
          <a:p>
            <a:r>
              <a:rPr lang="en-US"/>
              <a:t>Only disadvantage - cost </a:t>
            </a:r>
            <a:endParaRPr lang="en-US"/>
          </a:p>
          <a:p>
            <a:pPr lvl="1"/>
            <a:r>
              <a:rPr lang="en-US"/>
              <a:t>more than one sampling occasion each session.</a:t>
            </a:r>
            <a:endParaRPr lang="en-US"/>
          </a:p>
          <a:p>
            <a:pPr marL="456565" lvl="1" indent="0">
              <a:buNone/>
            </a:pPr>
            <a:endParaRPr lang="en-US"/>
          </a:p>
          <a:p>
            <a:pPr marL="0" lvl="1" fontAlgn="auto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>
                <a:sym typeface="+mn-ea"/>
              </a:rPr>
              <a:t>在两个时间</a:t>
            </a:r>
            <a:r>
              <a:rPr lang="zh-CN" altLang="en-US">
                <a:sym typeface="+mn-ea"/>
              </a:rPr>
              <a:t>段</a:t>
            </a:r>
            <a:r>
              <a:rPr lang="en-US">
                <a:sym typeface="+mn-ea"/>
              </a:rPr>
              <a:t>内</a:t>
            </a:r>
            <a:r>
              <a:rPr lang="zh-CN" altLang="en-US">
                <a:sym typeface="+mn-ea"/>
              </a:rPr>
              <a:t>进行采样</a:t>
            </a:r>
            <a:r>
              <a:rPr lang="en-US">
                <a:sym typeface="+mn-ea"/>
              </a:rPr>
              <a:t>。</a:t>
            </a:r>
            <a:endParaRPr lang="en-US"/>
          </a:p>
          <a:p>
            <a:pPr marL="0" lvl="1" fontAlgn="auto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>
                <a:sym typeface="+mn-ea"/>
              </a:rPr>
              <a:t>唯一的缺点—成本</a:t>
            </a:r>
            <a:r>
              <a:rPr lang="zh-CN" altLang="en-US">
                <a:sym typeface="+mn-ea"/>
              </a:rPr>
              <a:t>较高</a:t>
            </a:r>
            <a:r>
              <a:rPr lang="en-US">
                <a:sym typeface="+mn-ea"/>
              </a:rPr>
              <a:t> </a:t>
            </a:r>
            <a:endParaRPr lang="en-US"/>
          </a:p>
          <a:p>
            <a:pPr lvl="1"/>
            <a:r>
              <a:rPr lang="zh-CN" altLang="en-US">
                <a:sym typeface="+mn-ea"/>
              </a:rPr>
              <a:t>因为</a:t>
            </a:r>
            <a:r>
              <a:rPr lang="en-US">
                <a:sym typeface="+mn-ea"/>
              </a:rPr>
              <a:t>每</a:t>
            </a:r>
            <a:r>
              <a:rPr lang="zh-CN" altLang="en-US">
                <a:sym typeface="+mn-ea"/>
              </a:rPr>
              <a:t>段时间内</a:t>
            </a:r>
            <a:r>
              <a:rPr lang="en-US">
                <a:sym typeface="+mn-ea"/>
              </a:rPr>
              <a:t>都有</a:t>
            </a:r>
            <a:r>
              <a:rPr lang="zh-CN" altLang="en-US">
                <a:sym typeface="+mn-ea"/>
              </a:rPr>
              <a:t>不止</a:t>
            </a:r>
            <a:r>
              <a:rPr lang="en-US">
                <a:sym typeface="+mn-ea"/>
              </a:rPr>
              <a:t>一次的</a:t>
            </a:r>
            <a:r>
              <a:rPr lang="zh-CN" altLang="en-US">
                <a:sym typeface="+mn-ea"/>
              </a:rPr>
              <a:t>采样。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Multiple seasons - main assumptions</a:t>
            </a:r>
            <a:br>
              <a:rPr lang="en-US" dirty="0"/>
            </a:br>
            <a:r>
              <a:rPr lang="zh-CN" altLang="en-US" dirty="0"/>
              <a:t>多季节</a:t>
            </a:r>
            <a:r>
              <a:rPr lang="en-US" altLang="zh-CN" dirty="0"/>
              <a:t>—</a:t>
            </a:r>
            <a:r>
              <a:rPr lang="zh-CN" altLang="en-US" dirty="0"/>
              <a:t>主要</a:t>
            </a:r>
            <a:r>
              <a:rPr lang="zh-CN" altLang="en-US" dirty="0"/>
              <a:t>假设</a:t>
            </a:r>
            <a:endParaRPr lang="zh-CN" altLang="en-US" dirty="0"/>
          </a:p>
        </p:txBody>
      </p:sp>
      <p:sp>
        <p:nvSpPr>
          <p:cNvPr id="56323" name="Rectangle 7"/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/>
          </a:bodyPr>
          <a:lstStyle/>
          <a:p>
            <a:pPr marL="342900" lvl="1" indent="-342900" eaLnBrk="1" hangingPunct="1">
              <a:buSzPct val="60000"/>
            </a:pPr>
            <a:r>
              <a:rPr lang="en-US" sz="1750" dirty="0"/>
              <a:t>Species are not falsely detected. </a:t>
            </a:r>
            <a:endParaRPr lang="en-US" sz="1750" dirty="0"/>
          </a:p>
          <a:p>
            <a:pPr marL="342900" lvl="1" indent="-342900" eaLnBrk="1" hangingPunct="1">
              <a:buSzPct val="60000"/>
            </a:pPr>
            <a:r>
              <a:rPr lang="en-US" sz="1750" dirty="0"/>
              <a:t>The detection process is independent at each site</a:t>
            </a:r>
            <a:endParaRPr lang="en-US" sz="1750" dirty="0"/>
          </a:p>
          <a:p>
            <a:pPr marL="342900" lvl="1" indent="-342900" eaLnBrk="1" hangingPunct="1">
              <a:buSzPct val="60000"/>
            </a:pPr>
            <a:r>
              <a:rPr lang="en-US" sz="1750" dirty="0"/>
              <a:t>No </a:t>
            </a:r>
            <a:r>
              <a:rPr lang="en-US" sz="1750" dirty="0" err="1"/>
              <a:t>unmodeled</a:t>
            </a:r>
            <a:r>
              <a:rPr lang="en-US" sz="1750" dirty="0"/>
              <a:t> heterogeneity in occupancy </a:t>
            </a:r>
            <a:endParaRPr lang="en-US" sz="1750" dirty="0"/>
          </a:p>
          <a:p>
            <a:pPr marL="342900" lvl="1" indent="-342900" eaLnBrk="1" hangingPunct="1">
              <a:buSzPct val="60000"/>
            </a:pPr>
            <a:r>
              <a:rPr lang="en-US" sz="1750" dirty="0"/>
              <a:t>No </a:t>
            </a:r>
            <a:r>
              <a:rPr lang="en-US" sz="1750" dirty="0" err="1"/>
              <a:t>unmodeled</a:t>
            </a:r>
            <a:r>
              <a:rPr lang="en-US" sz="1750" dirty="0"/>
              <a:t> heterogeneity in detection </a:t>
            </a:r>
            <a:endParaRPr lang="en-US" sz="1750" dirty="0"/>
          </a:p>
          <a:p>
            <a:pPr marL="342900" lvl="1" indent="-342900" eaLnBrk="1" hangingPunct="1">
              <a:buSzPct val="60000"/>
            </a:pPr>
            <a:r>
              <a:rPr lang="en-US" sz="1750" b="1" dirty="0">
                <a:solidFill>
                  <a:srgbClr val="C00000"/>
                </a:solidFill>
              </a:rPr>
              <a:t>Closure:</a:t>
            </a:r>
            <a:endParaRPr lang="en-US" sz="1750" b="1" dirty="0">
              <a:solidFill>
                <a:srgbClr val="C00000"/>
              </a:solidFill>
            </a:endParaRPr>
          </a:p>
          <a:p>
            <a:pPr marL="742950" lvl="2" indent="-342900" eaLnBrk="1" hangingPunct="1">
              <a:buSzPct val="60000"/>
            </a:pPr>
            <a:r>
              <a:rPr lang="en-US" sz="1750" dirty="0">
                <a:sym typeface="Symbol" panose="05050102010706020507" pitchFamily="18" charset="2"/>
              </a:rPr>
              <a:t>No colonization and extinction between </a:t>
            </a:r>
            <a:r>
              <a:rPr lang="en-US" sz="1750" b="1" dirty="0">
                <a:solidFill>
                  <a:srgbClr val="C00000"/>
                </a:solidFill>
                <a:sym typeface="Symbol" panose="05050102010706020507" pitchFamily="18" charset="2"/>
              </a:rPr>
              <a:t>secondary</a:t>
            </a:r>
            <a:r>
              <a:rPr lang="en-US" sz="1750" dirty="0">
                <a:sym typeface="Symbol" panose="05050102010706020507" pitchFamily="18" charset="2"/>
              </a:rPr>
              <a:t> periods</a:t>
            </a:r>
            <a:endParaRPr lang="en-US" sz="1750" dirty="0">
              <a:sym typeface="Symbol" panose="05050102010706020507" pitchFamily="18" charset="2"/>
            </a:endParaRPr>
          </a:p>
          <a:p>
            <a:pPr marL="742950" lvl="2" indent="-342900" eaLnBrk="1" hangingPunct="1">
              <a:buSzPct val="60000"/>
            </a:pPr>
            <a:r>
              <a:rPr lang="en-US" sz="1750" dirty="0">
                <a:sym typeface="Symbol" panose="05050102010706020507" pitchFamily="18" charset="2"/>
              </a:rPr>
              <a:t>No </a:t>
            </a:r>
            <a:r>
              <a:rPr lang="en-US" sz="1750" dirty="0" err="1">
                <a:sym typeface="Symbol" panose="05050102010706020507" pitchFamily="18" charset="2"/>
              </a:rPr>
              <a:t>unmodeled</a:t>
            </a:r>
            <a:r>
              <a:rPr lang="en-US" sz="1750" dirty="0">
                <a:sym typeface="Symbol" panose="05050102010706020507" pitchFamily="18" charset="2"/>
              </a:rPr>
              <a:t> heterogeneity in </a:t>
            </a:r>
            <a:r>
              <a:rPr lang="en-US" sz="1750" b="1" dirty="0">
                <a:solidFill>
                  <a:srgbClr val="C00000"/>
                </a:solidFill>
                <a:sym typeface="Symbol" panose="05050102010706020507" pitchFamily="18" charset="2"/>
              </a:rPr>
              <a:t>colonization </a:t>
            </a:r>
            <a:r>
              <a:rPr lang="en-US" sz="1750" dirty="0">
                <a:sym typeface="Symbol" panose="05050102010706020507" pitchFamily="18" charset="2"/>
              </a:rPr>
              <a:t>or </a:t>
            </a:r>
            <a:r>
              <a:rPr lang="en-US" sz="1750" b="1" dirty="0">
                <a:solidFill>
                  <a:srgbClr val="C00000"/>
                </a:solidFill>
                <a:sym typeface="Symbol" panose="05050102010706020507" pitchFamily="18" charset="2"/>
              </a:rPr>
              <a:t>extinction </a:t>
            </a:r>
            <a:r>
              <a:rPr lang="en-US" sz="1750" dirty="0">
                <a:sym typeface="Symbol" panose="05050102010706020507" pitchFamily="18" charset="2"/>
              </a:rPr>
              <a:t>between primary periods</a:t>
            </a:r>
            <a:endParaRPr lang="en-US" sz="1750" dirty="0">
              <a:sym typeface="Symbol" panose="05050102010706020507" pitchFamily="18" charset="2"/>
            </a:endParaRPr>
          </a:p>
          <a:p>
            <a:pPr marL="742950" lvl="2" indent="-342900" eaLnBrk="1" hangingPunct="1">
              <a:buSzPct val="60000"/>
            </a:pPr>
            <a:endParaRPr lang="en-US" sz="1750" dirty="0">
              <a:sym typeface="Symbol" panose="05050102010706020507" pitchFamily="18" charset="2"/>
            </a:endParaRPr>
          </a:p>
          <a:p>
            <a:pPr marL="342900" lvl="1" indent="-342900" eaLnBrk="1" hangingPunct="1">
              <a:buSzPct val="60000"/>
            </a:pPr>
            <a:r>
              <a:rPr lang="en-US" sz="1750" dirty="0">
                <a:sym typeface="+mn-ea"/>
              </a:rPr>
              <a:t>物种不会被错误地检测到 </a:t>
            </a:r>
            <a:endParaRPr lang="en-US" sz="1750" dirty="0"/>
          </a:p>
          <a:p>
            <a:pPr marL="342900" lvl="1" indent="-342900" eaLnBrk="1" hangingPunct="1">
              <a:buSzPct val="60000"/>
            </a:pPr>
            <a:r>
              <a:rPr lang="en-US" sz="1750" dirty="0">
                <a:sym typeface="+mn-ea"/>
              </a:rPr>
              <a:t>每个</a:t>
            </a:r>
            <a:r>
              <a:rPr lang="zh-CN" altLang="en-US" sz="1750" dirty="0">
                <a:sym typeface="+mn-ea"/>
              </a:rPr>
              <a:t>样点</a:t>
            </a:r>
            <a:r>
              <a:rPr lang="en-US" sz="1750" dirty="0">
                <a:sym typeface="+mn-ea"/>
              </a:rPr>
              <a:t>的检测过程都是独立的</a:t>
            </a:r>
            <a:endParaRPr lang="en-US" sz="1750" dirty="0"/>
          </a:p>
          <a:p>
            <a:pPr marL="342900" lvl="1" indent="-342900" eaLnBrk="1" hangingPunct="1">
              <a:buSzPct val="60000"/>
            </a:pPr>
            <a:r>
              <a:rPr lang="en-US" sz="1750">
                <a:sym typeface="+mn-ea"/>
              </a:rPr>
              <a:t>占用状态没有未建模的异质性</a:t>
            </a:r>
            <a:r>
              <a:rPr lang="en-US" sz="1750" dirty="0">
                <a:sym typeface="+mn-ea"/>
              </a:rPr>
              <a:t> </a:t>
            </a:r>
            <a:endParaRPr lang="en-US" sz="1750" dirty="0"/>
          </a:p>
          <a:p>
            <a:pPr marL="342900" lvl="1" indent="-342900" eaLnBrk="1" hangingPunct="1">
              <a:buSzPct val="60000"/>
            </a:pPr>
            <a:r>
              <a:rPr lang="en-US" sz="1750">
                <a:sym typeface="+mn-ea"/>
              </a:rPr>
              <a:t>检测没有未建模的异质性</a:t>
            </a:r>
            <a:r>
              <a:rPr lang="en-US" sz="1750" dirty="0">
                <a:sym typeface="+mn-ea"/>
              </a:rPr>
              <a:t> </a:t>
            </a:r>
            <a:endParaRPr lang="en-US" sz="1750" dirty="0"/>
          </a:p>
          <a:p>
            <a:pPr marL="342900" lvl="1" indent="-342900" eaLnBrk="1" hangingPunct="1">
              <a:buSzPct val="60000"/>
            </a:pPr>
            <a:r>
              <a:rPr lang="zh-CN" altLang="en-US" sz="1750" b="1" dirty="0">
                <a:solidFill>
                  <a:srgbClr val="C00000"/>
                </a:solidFill>
                <a:sym typeface="+mn-ea"/>
              </a:rPr>
              <a:t>封闭性：</a:t>
            </a:r>
            <a:endParaRPr lang="en-US" sz="1750" b="1" dirty="0">
              <a:solidFill>
                <a:srgbClr val="C00000"/>
              </a:solidFill>
            </a:endParaRPr>
          </a:p>
          <a:p>
            <a:pPr marL="742950" lvl="2" indent="-342900" eaLnBrk="1" hangingPunct="1">
              <a:buSzPct val="60000"/>
            </a:pPr>
            <a:r>
              <a:rPr lang="en-US" sz="1750" b="1" dirty="0">
                <a:solidFill>
                  <a:srgbClr val="FF0000"/>
                </a:solidFill>
                <a:sym typeface="Symbol" panose="05050102010706020507" pitchFamily="18" charset="2"/>
              </a:rPr>
              <a:t>次要时段</a:t>
            </a:r>
            <a:r>
              <a:rPr lang="en-US" sz="1750" dirty="0">
                <a:sym typeface="Symbol" panose="05050102010706020507" pitchFamily="18" charset="2"/>
              </a:rPr>
              <a:t>之间没有重新定居和灭绝</a:t>
            </a:r>
            <a:endParaRPr lang="en-US" sz="1750" dirty="0">
              <a:sym typeface="Symbol" panose="05050102010706020507" pitchFamily="18" charset="2"/>
            </a:endParaRPr>
          </a:p>
          <a:p>
            <a:pPr marL="742950" lvl="2" indent="-342900" eaLnBrk="1" hangingPunct="1">
              <a:buSzPct val="60000"/>
            </a:pPr>
            <a:r>
              <a:rPr lang="en-US" sz="1750">
                <a:sym typeface="Symbol" panose="05050102010706020507" pitchFamily="18" charset="2"/>
              </a:rPr>
              <a:t>主要时段之间没有未建模的</a:t>
            </a:r>
            <a:r>
              <a:rPr lang="en-US" sz="1750" b="1">
                <a:solidFill>
                  <a:srgbClr val="FF0000"/>
                </a:solidFill>
                <a:sym typeface="Symbol" panose="05050102010706020507" pitchFamily="18" charset="2"/>
              </a:rPr>
              <a:t>重新定居</a:t>
            </a:r>
            <a:r>
              <a:rPr lang="en-US" sz="1750">
                <a:sym typeface="Symbol" panose="05050102010706020507" pitchFamily="18" charset="2"/>
              </a:rPr>
              <a:t>或</a:t>
            </a:r>
            <a:r>
              <a:rPr lang="en-US" sz="1750" b="1">
                <a:solidFill>
                  <a:srgbClr val="FF0000"/>
                </a:solidFill>
                <a:sym typeface="Symbol" panose="05050102010706020507" pitchFamily="18" charset="2"/>
              </a:rPr>
              <a:t>灭绝</a:t>
            </a:r>
            <a:r>
              <a:rPr lang="en-US" sz="1750">
                <a:sym typeface="Symbol" panose="05050102010706020507" pitchFamily="18" charset="2"/>
              </a:rPr>
              <a:t>的异质性</a:t>
            </a:r>
            <a:endParaRPr lang="en-US" sz="1750">
              <a:sym typeface="Symbol" panose="05050102010706020507" pitchFamily="18" charset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sz="3110"/>
              <a:t>Patch Occupancy as a State Variable: </a:t>
            </a:r>
            <a:br>
              <a:rPr lang="en-US" sz="3110"/>
            </a:br>
            <a:r>
              <a:rPr lang="en-US" sz="3110"/>
              <a:t>Modeling Dynamics</a:t>
            </a:r>
            <a:br>
              <a:rPr lang="en-US" sz="3110"/>
            </a:br>
            <a:r>
              <a:rPr lang="en-US" sz="3110"/>
              <a:t>作为状态变量的</a:t>
            </a:r>
            <a:r>
              <a:rPr lang="zh-CN" altLang="en-US" sz="3110"/>
              <a:t>地块</a:t>
            </a:r>
            <a:r>
              <a:rPr lang="zh-CN" altLang="en-US" sz="3110"/>
              <a:t>占用</a:t>
            </a:r>
            <a:r>
              <a:rPr lang="en-US" sz="3110"/>
              <a:t>：建模动态</a:t>
            </a:r>
            <a:endParaRPr lang="en-US" sz="3110"/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18920"/>
            <a:ext cx="8686800" cy="5489575"/>
          </a:xfrm>
        </p:spPr>
        <p:txBody>
          <a:bodyPr>
            <a:no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sz="1800" dirty="0"/>
              <a:t>Model changes in occupancy over time</a:t>
            </a:r>
            <a:endParaRPr lang="en-US" sz="1800" dirty="0"/>
          </a:p>
          <a:p>
            <a:pPr eaLnBrk="1" hangingPunct="1">
              <a:lnSpc>
                <a:spcPct val="90000"/>
              </a:lnSpc>
            </a:pPr>
            <a:endParaRPr lang="en-US" sz="1800" dirty="0"/>
          </a:p>
          <a:p>
            <a:pPr marL="0" indent="0" eaLnBrk="1" hangingPunct="1">
              <a:lnSpc>
                <a:spcPct val="90000"/>
              </a:lnSpc>
              <a:buNone/>
            </a:pPr>
            <a:r>
              <a:rPr lang="en-US" sz="1800" dirty="0"/>
              <a:t>Parameters of interest:</a:t>
            </a:r>
            <a:endParaRPr lang="en-US" sz="1800" dirty="0"/>
          </a:p>
          <a:p>
            <a:pPr marL="685800" lvl="1" indent="-228600">
              <a:spcBef>
                <a:spcPct val="30000"/>
              </a:spcBef>
            </a:pPr>
            <a:r>
              <a:rPr lang="en-US" sz="1800" i="1" dirty="0">
                <a:latin typeface="Symbol" panose="05050102010706020507" pitchFamily="18" charset="2"/>
                <a:sym typeface="Symbol" panose="05050102010706020507" pitchFamily="18" charset="2"/>
              </a:rPr>
              <a:t>y</a:t>
            </a:r>
            <a:r>
              <a:rPr lang="en-US" sz="1800" dirty="0">
                <a:sym typeface="Symbol" panose="05050102010706020507" pitchFamily="18" charset="2"/>
              </a:rPr>
              <a:t> –  </a:t>
            </a:r>
            <a:r>
              <a:rPr lang="en-US" sz="1800" b="1" dirty="0">
                <a:sym typeface="Symbol" panose="05050102010706020507" pitchFamily="18" charset="2"/>
              </a:rPr>
              <a:t>probability of </a:t>
            </a:r>
            <a:r>
              <a:rPr lang="en-US" sz="1800" b="1" dirty="0">
                <a:solidFill>
                  <a:srgbClr val="FF0000"/>
                </a:solidFill>
                <a:sym typeface="Symbol" panose="05050102010706020507" pitchFamily="18" charset="2"/>
              </a:rPr>
              <a:t>occupancy</a:t>
            </a:r>
            <a:endParaRPr lang="en-US" sz="1800" b="1" dirty="0">
              <a:solidFill>
                <a:srgbClr val="FF0000"/>
              </a:solidFill>
              <a:sym typeface="Symbol" panose="05050102010706020507" pitchFamily="18" charset="2"/>
            </a:endParaRPr>
          </a:p>
          <a:p>
            <a:pPr marL="860425" lvl="1" indent="-457200">
              <a:spcBef>
                <a:spcPct val="30000"/>
              </a:spcBef>
            </a:pPr>
            <a:r>
              <a:rPr lang="en-US" sz="1800" dirty="0">
                <a:latin typeface="Symbol" panose="05050102010706020507" pitchFamily="18" charset="2"/>
                <a:sym typeface="Symbol" panose="05050102010706020507" pitchFamily="18" charset="2"/>
              </a:rPr>
              <a:t>e</a:t>
            </a:r>
            <a:r>
              <a:rPr lang="en-US" sz="1800" i="1" baseline="-250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t</a:t>
            </a:r>
            <a:r>
              <a:rPr lang="en-US" sz="1800" i="1" baseline="-25000" dirty="0">
                <a:sym typeface="Symbol" panose="05050102010706020507" pitchFamily="18" charset="2"/>
              </a:rPr>
              <a:t> </a:t>
            </a:r>
            <a:r>
              <a:rPr lang="en-US" sz="1800" dirty="0">
                <a:sym typeface="Symbol" panose="05050102010706020507" pitchFamily="18" charset="2"/>
              </a:rPr>
              <a:t> –  </a:t>
            </a:r>
            <a:r>
              <a:rPr lang="en-US" sz="1800" i="1" dirty="0">
                <a:latin typeface="Times New Roman" panose="02020603050405020304" pitchFamily="18" charset="0"/>
                <a:sym typeface="Symbol" panose="05050102010706020507" pitchFamily="18" charset="2"/>
              </a:rPr>
              <a:t>Pr</a:t>
            </a:r>
            <a:r>
              <a:rPr lang="en-US" sz="1800" dirty="0">
                <a:sym typeface="Symbol" panose="05050102010706020507" pitchFamily="18" charset="2"/>
              </a:rPr>
              <a:t>(absence at time </a:t>
            </a:r>
            <a:r>
              <a:rPr lang="en-US" sz="1800" i="1" dirty="0">
                <a:latin typeface="Times New Roman" panose="02020603050405020304" pitchFamily="18" charset="0"/>
                <a:sym typeface="Symbol" panose="05050102010706020507" pitchFamily="18" charset="2"/>
              </a:rPr>
              <a:t>t</a:t>
            </a:r>
            <a:r>
              <a:rPr lang="en-US" sz="1800" dirty="0">
                <a:sym typeface="Symbol" panose="05050102010706020507" pitchFamily="18" charset="2"/>
              </a:rPr>
              <a:t>+1 | presence at </a:t>
            </a:r>
            <a:r>
              <a:rPr lang="en-US" sz="1800" i="1" dirty="0">
                <a:latin typeface="Times New Roman" panose="02020603050405020304" pitchFamily="18" charset="0"/>
                <a:sym typeface="Symbol" panose="05050102010706020507" pitchFamily="18" charset="2"/>
              </a:rPr>
              <a:t>t</a:t>
            </a:r>
            <a:r>
              <a:rPr lang="en-US" sz="1800" dirty="0">
                <a:sym typeface="Symbol" panose="05050102010706020507" pitchFamily="18" charset="2"/>
              </a:rPr>
              <a:t>)   </a:t>
            </a:r>
            <a:r>
              <a:rPr lang="en-US" sz="1800" b="1" dirty="0">
                <a:sym typeface="Symbol" panose="05050102010706020507" pitchFamily="18" charset="2"/>
              </a:rPr>
              <a:t>patch</a:t>
            </a:r>
            <a:r>
              <a:rPr lang="en-US" sz="1800" b="1" dirty="0">
                <a:solidFill>
                  <a:srgbClr val="FF0000"/>
                </a:solidFill>
                <a:sym typeface="Symbol" panose="05050102010706020507" pitchFamily="18" charset="2"/>
              </a:rPr>
              <a:t> extinction</a:t>
            </a:r>
            <a:r>
              <a:rPr lang="en-US" sz="1800" b="1" dirty="0">
                <a:sym typeface="Symbol" panose="05050102010706020507" pitchFamily="18" charset="2"/>
              </a:rPr>
              <a:t> probability </a:t>
            </a:r>
            <a:br>
              <a:rPr lang="en-US" sz="1800" dirty="0">
                <a:sym typeface="Symbol" panose="05050102010706020507" pitchFamily="18" charset="2"/>
              </a:rPr>
            </a:br>
            <a:endParaRPr lang="en-US" sz="1800" dirty="0">
              <a:sym typeface="Symbol" panose="05050102010706020507" pitchFamily="18" charset="2"/>
            </a:endParaRPr>
          </a:p>
          <a:p>
            <a:pPr lvl="1">
              <a:lnSpc>
                <a:spcPct val="90000"/>
              </a:lnSpc>
            </a:pPr>
            <a:r>
              <a:rPr lang="en-US" sz="1800" dirty="0">
                <a:sym typeface="Symbol" panose="05050102010706020507" pitchFamily="18" charset="2"/>
              </a:rPr>
              <a:t></a:t>
            </a:r>
            <a:r>
              <a:rPr lang="en-US" sz="1800" i="1" baseline="-25000" dirty="0">
                <a:sym typeface="Symbol" panose="05050102010706020507" pitchFamily="18" charset="2"/>
              </a:rPr>
              <a:t>t </a:t>
            </a:r>
            <a:r>
              <a:rPr lang="en-US" sz="1800" dirty="0">
                <a:sym typeface="Symbol" panose="05050102010706020507" pitchFamily="18" charset="2"/>
              </a:rPr>
              <a:t> –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Pr</a:t>
            </a:r>
            <a:r>
              <a:rPr lang="en-US" sz="1800" dirty="0">
                <a:sym typeface="Symbol" panose="05050102010706020507" pitchFamily="18" charset="2"/>
              </a:rPr>
              <a:t>(presence at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t</a:t>
            </a:r>
            <a:r>
              <a:rPr lang="en-US" sz="1800" dirty="0">
                <a:sym typeface="Symbol" panose="05050102010706020507" pitchFamily="18" charset="2"/>
              </a:rPr>
              <a:t>+1 | absence at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t</a:t>
            </a:r>
            <a:r>
              <a:rPr lang="en-US" sz="1800" dirty="0">
                <a:sym typeface="Symbol" panose="05050102010706020507" pitchFamily="18" charset="2"/>
              </a:rPr>
              <a:t>) </a:t>
            </a:r>
            <a:br>
              <a:rPr lang="en-US" sz="1800" dirty="0">
                <a:sym typeface="Symbol" panose="05050102010706020507" pitchFamily="18" charset="2"/>
              </a:rPr>
            </a:br>
            <a:r>
              <a:rPr lang="en-US" sz="1800" b="1" dirty="0">
                <a:sym typeface="Symbol" panose="05050102010706020507" pitchFamily="18" charset="2"/>
              </a:rPr>
              <a:t>patch </a:t>
            </a:r>
            <a:r>
              <a:rPr lang="en-US" sz="1800" b="1" dirty="0">
                <a:solidFill>
                  <a:srgbClr val="FF0000"/>
                </a:solidFill>
                <a:sym typeface="Symbol" panose="05050102010706020507" pitchFamily="18" charset="2"/>
              </a:rPr>
              <a:t>colonization</a:t>
            </a:r>
            <a:r>
              <a:rPr lang="en-US" sz="1800" b="1" dirty="0">
                <a:sym typeface="Symbol" panose="05050102010706020507" pitchFamily="18" charset="2"/>
              </a:rPr>
              <a:t> probability</a:t>
            </a:r>
            <a:br>
              <a:rPr lang="en-US" sz="1800" dirty="0">
                <a:sym typeface="Symbol" panose="05050102010706020507" pitchFamily="18" charset="2"/>
              </a:rPr>
            </a:br>
            <a:endParaRPr lang="en-US" sz="1800" dirty="0">
              <a:sym typeface="Symbol" panose="05050102010706020507" pitchFamily="18" charset="2"/>
            </a:endParaRPr>
          </a:p>
          <a:p>
            <a:pPr lvl="1">
              <a:lnSpc>
                <a:spcPct val="90000"/>
              </a:lnSpc>
            </a:pP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p</a:t>
            </a:r>
            <a:r>
              <a:rPr lang="en-US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lang="en-US" sz="1800" dirty="0">
                <a:sym typeface="Symbol" panose="05050102010706020507" pitchFamily="18" charset="2"/>
              </a:rPr>
              <a:t> –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Pr</a:t>
            </a:r>
            <a:r>
              <a:rPr lang="en-US" sz="1800" dirty="0">
                <a:sym typeface="Symbol" panose="05050102010706020507" pitchFamily="18" charset="2"/>
              </a:rPr>
              <a:t>(detection on occasion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lang="en-US" sz="1800" dirty="0">
                <a:latin typeface="+mj-lt"/>
                <a:cs typeface="Times New Roman" panose="02020603050405020304" pitchFamily="18" charset="0"/>
                <a:sym typeface="Symbol" panose="05050102010706020507" pitchFamily="18" charset="2"/>
              </a:rPr>
              <a:t>) </a:t>
            </a:r>
            <a:r>
              <a:rPr lang="en-US" sz="18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detection 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probability</a:t>
            </a: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  <a:sym typeface="Symbol" panose="05050102010706020507" pitchFamily="18" charset="2"/>
            </a:endParaRPr>
          </a:p>
          <a:p>
            <a:pPr lvl="1">
              <a:lnSpc>
                <a:spcPct val="90000"/>
              </a:lnSpc>
            </a:pPr>
            <a:endParaRPr lang="en-US" sz="1800" b="1" baseline="-25000" dirty="0">
              <a:latin typeface="Arial" panose="020B0604020202020204" pitchFamily="34" charset="0"/>
              <a:cs typeface="Arial" panose="020B0604020202020204" pitchFamily="34" charset="0"/>
              <a:sym typeface="Symbol" panose="05050102010706020507" pitchFamily="18" charset="2"/>
            </a:endParaRPr>
          </a:p>
          <a:p>
            <a:pPr marL="0" lvl="1" indent="0" eaLnBrk="1" hangingPunct="1">
              <a:lnSpc>
                <a:spcPct val="90000"/>
              </a:lnSpc>
              <a:buNone/>
            </a:pPr>
            <a:r>
              <a:rPr lang="zh-CN" altLang="en-US" sz="1800" dirty="0">
                <a:sym typeface="+mn-ea"/>
              </a:rPr>
              <a:t>占用状态</a:t>
            </a:r>
            <a:r>
              <a:rPr lang="en-US" sz="1800" dirty="0">
                <a:sym typeface="+mn-ea"/>
              </a:rPr>
              <a:t>随时间变化的模型</a:t>
            </a:r>
            <a:endParaRPr lang="en-US" sz="1800" dirty="0"/>
          </a:p>
          <a:p>
            <a:pPr marL="0" indent="0" eaLnBrk="1" hangingPunct="1">
              <a:lnSpc>
                <a:spcPct val="90000"/>
              </a:lnSpc>
              <a:buNone/>
            </a:pPr>
            <a:r>
              <a:rPr lang="en-US" sz="1800" dirty="0">
                <a:sym typeface="+mn-ea"/>
              </a:rPr>
              <a:t>相关参数：</a:t>
            </a:r>
            <a:endParaRPr lang="en-US" sz="1800" dirty="0"/>
          </a:p>
          <a:p>
            <a:pPr marL="685800" lvl="1" indent="-228600">
              <a:spcBef>
                <a:spcPct val="30000"/>
              </a:spcBef>
            </a:pPr>
            <a:r>
              <a:rPr lang="en-US" sz="1800" i="1" dirty="0">
                <a:latin typeface="Symbol" panose="05050102010706020507" pitchFamily="18" charset="2"/>
                <a:sym typeface="Symbol" panose="05050102010706020507" pitchFamily="18" charset="2"/>
              </a:rPr>
              <a:t>y </a:t>
            </a:r>
            <a:r>
              <a:rPr lang="en-US" sz="1800" dirty="0">
                <a:sym typeface="Symbol" panose="05050102010706020507" pitchFamily="18" charset="2"/>
              </a:rPr>
              <a:t>- </a:t>
            </a:r>
            <a:r>
              <a:rPr lang="zh-CN" altLang="en-US" sz="1800" b="1" dirty="0">
                <a:solidFill>
                  <a:srgbClr val="FF0000"/>
                </a:solidFill>
                <a:sym typeface="Symbol" panose="05050102010706020507" pitchFamily="18" charset="2"/>
              </a:rPr>
              <a:t>占用</a:t>
            </a:r>
            <a:r>
              <a:rPr lang="en-US" sz="1800" b="1" dirty="0">
                <a:sym typeface="Symbol" panose="05050102010706020507" pitchFamily="18" charset="2"/>
              </a:rPr>
              <a:t>概率</a:t>
            </a:r>
            <a:endParaRPr lang="en-US" sz="1800" b="1" dirty="0">
              <a:sym typeface="Symbol" panose="05050102010706020507" pitchFamily="18" charset="2"/>
            </a:endParaRPr>
          </a:p>
          <a:p>
            <a:pPr marL="860425" lvl="1" indent="-457200">
              <a:spcBef>
                <a:spcPct val="30000"/>
              </a:spcBef>
            </a:pPr>
            <a:r>
              <a:rPr lang="en-US" sz="1800" dirty="0">
                <a:latin typeface="Symbol" panose="05050102010706020507" pitchFamily="18" charset="2"/>
                <a:sym typeface="Symbol" panose="05050102010706020507" pitchFamily="18" charset="2"/>
              </a:rPr>
              <a:t>e</a:t>
            </a:r>
            <a:r>
              <a:rPr lang="en-US" sz="1800" i="1" baseline="-250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t</a:t>
            </a:r>
            <a:r>
              <a:rPr lang="en-US" sz="1800" i="1" baseline="-25000" dirty="0">
                <a:sym typeface="Symbol" panose="05050102010706020507" pitchFamily="18" charset="2"/>
              </a:rPr>
              <a:t> </a:t>
            </a:r>
            <a:r>
              <a:rPr lang="en-US" sz="1800" dirty="0">
                <a:sym typeface="Symbol" panose="05050102010706020507" pitchFamily="18" charset="2"/>
              </a:rPr>
              <a:t> - </a:t>
            </a:r>
            <a:r>
              <a:rPr lang="en-US" sz="1800" i="1" dirty="0">
                <a:latin typeface="Times New Roman" panose="02020603050405020304" pitchFamily="18" charset="0"/>
                <a:sym typeface="Symbol" panose="05050102010706020507" pitchFamily="18" charset="2"/>
              </a:rPr>
              <a:t>Pr</a:t>
            </a:r>
            <a:r>
              <a:rPr lang="en-US" sz="1800" dirty="0">
                <a:sym typeface="Symbol" panose="05050102010706020507" pitchFamily="18" charset="2"/>
              </a:rPr>
              <a:t>(在时间 </a:t>
            </a:r>
            <a:r>
              <a:rPr lang="en-US" sz="1800" i="1" dirty="0">
                <a:sym typeface="Symbol" panose="05050102010706020507" pitchFamily="18" charset="2"/>
              </a:rPr>
              <a:t>t+1 </a:t>
            </a:r>
            <a:r>
              <a:rPr lang="en-US" sz="1800" dirty="0">
                <a:sym typeface="Symbol" panose="05050102010706020507" pitchFamily="18" charset="2"/>
              </a:rPr>
              <a:t>时缺席 | 在时间</a:t>
            </a:r>
            <a:r>
              <a:rPr lang="en-US" sz="1800" i="1" dirty="0">
                <a:sym typeface="Symbol" panose="05050102010706020507" pitchFamily="18" charset="2"/>
              </a:rPr>
              <a:t> t </a:t>
            </a:r>
            <a:r>
              <a:rPr lang="en-US" sz="1800" dirty="0">
                <a:sym typeface="Symbol" panose="05050102010706020507" pitchFamily="18" charset="2"/>
              </a:rPr>
              <a:t>时存在)  </a:t>
            </a:r>
            <a:r>
              <a:rPr lang="zh-CN" altLang="en-US" sz="1800" b="1" dirty="0">
                <a:sym typeface="Symbol" panose="05050102010706020507" pitchFamily="18" charset="2"/>
              </a:rPr>
              <a:t>地块</a:t>
            </a:r>
            <a:r>
              <a:rPr lang="zh-CN" altLang="en-US" sz="1800" b="1" dirty="0">
                <a:solidFill>
                  <a:srgbClr val="FF0000"/>
                </a:solidFill>
                <a:sym typeface="Symbol" panose="05050102010706020507" pitchFamily="18" charset="2"/>
              </a:rPr>
              <a:t>灭绝</a:t>
            </a:r>
            <a:r>
              <a:rPr lang="en-US" sz="1800" b="1" dirty="0">
                <a:sym typeface="Symbol" panose="05050102010706020507" pitchFamily="18" charset="2"/>
              </a:rPr>
              <a:t>概率 </a:t>
            </a:r>
            <a:endParaRPr lang="en-US" sz="1800" dirty="0">
              <a:sym typeface="Symbol" panose="05050102010706020507" pitchFamily="18" charset="2"/>
            </a:endParaRPr>
          </a:p>
          <a:p>
            <a:pPr lvl="1">
              <a:lnSpc>
                <a:spcPct val="90000"/>
              </a:lnSpc>
            </a:pPr>
            <a:r>
              <a:rPr lang="en-US" sz="1800" dirty="0">
                <a:sym typeface="Symbol" panose="05050102010706020507" pitchFamily="18" charset="2"/>
              </a:rPr>
              <a:t></a:t>
            </a:r>
            <a:r>
              <a:rPr lang="en-US" sz="1800" i="1" baseline="-25000" dirty="0">
                <a:sym typeface="Symbol" panose="05050102010706020507" pitchFamily="18" charset="2"/>
              </a:rPr>
              <a:t>t </a:t>
            </a:r>
            <a:r>
              <a:rPr lang="en-US" sz="1800" dirty="0">
                <a:sym typeface="Symbol" panose="05050102010706020507" pitchFamily="18" charset="2"/>
              </a:rPr>
              <a:t> –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Pr</a:t>
            </a:r>
            <a:r>
              <a:rPr lang="en-US" sz="1800" dirty="0">
                <a:sym typeface="Symbol" panose="05050102010706020507" pitchFamily="18" charset="2"/>
              </a:rPr>
              <a:t>(在时间</a:t>
            </a:r>
            <a:r>
              <a:rPr lang="en-US" sz="1800" i="1" dirty="0">
                <a:sym typeface="Symbol" panose="05050102010706020507" pitchFamily="18" charset="2"/>
              </a:rPr>
              <a:t> t+1 </a:t>
            </a:r>
            <a:r>
              <a:rPr lang="en-US" sz="1800" dirty="0">
                <a:sym typeface="Symbol" panose="05050102010706020507" pitchFamily="18" charset="2"/>
              </a:rPr>
              <a:t>时存在 | 在时间</a:t>
            </a:r>
            <a:r>
              <a:rPr lang="en-US" sz="1800" i="1" dirty="0">
                <a:sym typeface="Symbol" panose="05050102010706020507" pitchFamily="18" charset="2"/>
              </a:rPr>
              <a:t> t </a:t>
            </a:r>
            <a:r>
              <a:rPr lang="en-US" sz="1800" dirty="0">
                <a:sym typeface="Symbol" panose="05050102010706020507" pitchFamily="18" charset="2"/>
              </a:rPr>
              <a:t>时缺席)  </a:t>
            </a:r>
            <a:r>
              <a:rPr lang="en-US" sz="1800" b="1" dirty="0">
                <a:sym typeface="Symbol" panose="05050102010706020507" pitchFamily="18" charset="2"/>
              </a:rPr>
              <a:t>地块</a:t>
            </a:r>
            <a:r>
              <a:rPr lang="en-US" sz="1800" b="1" dirty="0">
                <a:solidFill>
                  <a:srgbClr val="FF0000"/>
                </a:solidFill>
                <a:sym typeface="Symbol" panose="05050102010706020507" pitchFamily="18" charset="2"/>
              </a:rPr>
              <a:t>重新定居</a:t>
            </a:r>
            <a:r>
              <a:rPr lang="en-US" sz="1800" b="1" dirty="0">
                <a:sym typeface="Symbol" panose="05050102010706020507" pitchFamily="18" charset="2"/>
              </a:rPr>
              <a:t>概率</a:t>
            </a:r>
            <a:endParaRPr lang="en-US" sz="1800" dirty="0">
              <a:sym typeface="Symbol" panose="05050102010706020507" pitchFamily="18" charset="2"/>
            </a:endParaRPr>
          </a:p>
          <a:p>
            <a:pPr lvl="1">
              <a:lnSpc>
                <a:spcPct val="90000"/>
              </a:lnSpc>
            </a:pP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p</a:t>
            </a:r>
            <a:r>
              <a:rPr lang="en-US" sz="1800" i="1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i</a:t>
            </a:r>
            <a:r>
              <a:rPr lang="en-US" sz="1800" dirty="0">
                <a:sym typeface="Symbol" panose="05050102010706020507" pitchFamily="18" charset="2"/>
              </a:rPr>
              <a:t> -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Pr</a:t>
            </a:r>
            <a:r>
              <a:rPr lang="en-US" sz="1800" dirty="0">
                <a:sym typeface="Symbol" panose="05050102010706020507" pitchFamily="18" charset="2"/>
              </a:rPr>
              <a:t>(</a:t>
            </a:r>
            <a:r>
              <a:rPr lang="en-US" sz="1800">
                <a:sym typeface="Symbol" panose="05050102010706020507" pitchFamily="18" charset="2"/>
              </a:rPr>
              <a:t>在第</a:t>
            </a:r>
            <a:r>
              <a:rPr lang="en-US" sz="1800" i="1">
                <a:sym typeface="Symbol" panose="05050102010706020507" pitchFamily="18" charset="2"/>
              </a:rPr>
              <a:t> i </a:t>
            </a:r>
            <a:r>
              <a:rPr lang="en-US" sz="1800">
                <a:sym typeface="Symbol" panose="05050102010706020507" pitchFamily="18" charset="2"/>
              </a:rPr>
              <a:t>次采样时检测到</a:t>
            </a:r>
            <a:r>
              <a:rPr lang="en-US" sz="1800" dirty="0">
                <a:latin typeface="+mj-lt"/>
                <a:cs typeface="Times New Roman" panose="02020603050405020304" pitchFamily="18" charset="0"/>
                <a:sym typeface="Symbol" panose="05050102010706020507" pitchFamily="18" charset="2"/>
              </a:rPr>
              <a:t>)  </a:t>
            </a:r>
            <a:r>
              <a:rPr lang="en-US" sz="18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检测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概率</a:t>
            </a:r>
            <a:endParaRPr lang="en-US" sz="1800" b="1" baseline="-25000" dirty="0">
              <a:latin typeface="Arial" panose="020B0604020202020204" pitchFamily="34" charset="0"/>
              <a:cs typeface="Arial" panose="020B0604020202020204" pitchFamily="34" charset="0"/>
              <a:sym typeface="Symbol" panose="05050102010706020507" pitchFamily="18" charset="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5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Probability models</a:t>
            </a:r>
            <a:br>
              <a:rPr lang="en-US" dirty="0"/>
            </a:br>
            <a:r>
              <a:rPr lang="zh-CN" altLang="en-US" dirty="0"/>
              <a:t>概率</a:t>
            </a:r>
            <a:r>
              <a:rPr lang="zh-CN" altLang="en-US" dirty="0"/>
              <a:t>模型</a:t>
            </a:r>
            <a:endParaRPr lang="zh-CN" altLang="en-US" dirty="0"/>
          </a:p>
        </p:txBody>
      </p:sp>
      <p:sp>
        <p:nvSpPr>
          <p:cNvPr id="8197" name="Rectangle 6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>
                <a:sym typeface="Symbol" panose="05050102010706020507" pitchFamily="18" charset="2"/>
              </a:rPr>
              <a:t>Must account for probabilities of colonization &amp; extinction</a:t>
            </a:r>
            <a:endParaRPr lang="en-US" dirty="0">
              <a:sym typeface="Symbol" panose="05050102010706020507" pitchFamily="18" charset="2"/>
            </a:endParaRPr>
          </a:p>
          <a:p>
            <a:pPr eaLnBrk="1" hangingPunct="1"/>
            <a:r>
              <a:rPr lang="zh-CN" altLang="en-US" dirty="0">
                <a:sym typeface="Symbol" panose="05050102010706020507" pitchFamily="18" charset="2"/>
              </a:rPr>
              <a:t>必须考虑定居和灭绝的概率</a:t>
            </a:r>
            <a:endParaRPr lang="zh-CN" altLang="en-US" dirty="0">
              <a:sym typeface="Symbol" panose="05050102010706020507" pitchFamily="18" charset="2"/>
            </a:endParaRPr>
          </a:p>
          <a:p>
            <a:pPr eaLnBrk="1" hangingPunct="1"/>
            <a:endParaRPr lang="en-US" dirty="0">
              <a:sym typeface="Symbol" panose="05050102010706020507" pitchFamily="18" charset="2"/>
            </a:endParaRPr>
          </a:p>
          <a:p>
            <a:pPr eaLnBrk="1" hangingPunct="1"/>
            <a:r>
              <a:rPr lang="en-US" dirty="0">
                <a:sym typeface="Symbol" panose="05050102010706020507" pitchFamily="18" charset="2"/>
              </a:rPr>
              <a:t>Examples</a:t>
            </a:r>
            <a:r>
              <a:rPr lang="zh-CN" altLang="en-US" dirty="0">
                <a:sym typeface="Symbol" panose="05050102010706020507" pitchFamily="18" charset="2"/>
              </a:rPr>
              <a:t>例如</a:t>
            </a:r>
            <a:r>
              <a:rPr lang="en-US" dirty="0">
                <a:sym typeface="Symbol" panose="05050102010706020507" pitchFamily="18" charset="2"/>
              </a:rPr>
              <a:t>:</a:t>
            </a:r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1828800" y="4673600"/>
          <a:ext cx="5037137" cy="1295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Equation" r:id="rId1" imgW="1778000" imgH="457200" progId="Equation.3">
                  <p:embed/>
                </p:oleObj>
              </mc:Choice>
              <mc:Fallback>
                <p:oleObj name="Equation" r:id="rId1" imgW="1778000" imgH="4572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00" y="4673600"/>
                        <a:ext cx="5037137" cy="1295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5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Probability models</a:t>
            </a:r>
            <a:br>
              <a:rPr lang="en-US" dirty="0"/>
            </a:br>
            <a:r>
              <a:rPr lang="zh-CN" altLang="en-US" dirty="0"/>
              <a:t>概率</a:t>
            </a:r>
            <a:r>
              <a:rPr lang="zh-CN" altLang="en-US" dirty="0"/>
              <a:t>模型</a:t>
            </a:r>
            <a:endParaRPr lang="zh-CN" altLang="en-US" dirty="0"/>
          </a:p>
        </p:txBody>
      </p:sp>
      <p:sp>
        <p:nvSpPr>
          <p:cNvPr id="8197" name="Rectangle 6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>
                <a:sym typeface="Symbol" panose="05050102010706020507" pitchFamily="18" charset="2"/>
              </a:rPr>
              <a:t>More examples</a:t>
            </a:r>
            <a:r>
              <a:rPr lang="zh-CN" altLang="en-US" dirty="0">
                <a:sym typeface="Symbol" panose="05050102010706020507" pitchFamily="18" charset="2"/>
              </a:rPr>
              <a:t>更多例子</a:t>
            </a:r>
            <a:r>
              <a:rPr lang="en-US" dirty="0">
                <a:sym typeface="Symbol" panose="05050102010706020507" pitchFamily="18" charset="2"/>
              </a:rPr>
              <a:t>:</a:t>
            </a:r>
            <a:endParaRPr lang="en-US" dirty="0">
              <a:sym typeface="Symbol" panose="05050102010706020507" pitchFamily="18" charset="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2000" y="3048000"/>
            <a:ext cx="8382000" cy="23622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lstStyle/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000" dirty="0"/>
              <a:t>Occupied and detected on first, not detected on second and then unoccupied (extinct)</a:t>
            </a:r>
            <a:endParaRPr lang="en-US" sz="2000" dirty="0"/>
          </a:p>
          <a:p>
            <a:pPr algn="ctr"/>
            <a:r>
              <a:rPr lang="en-US" sz="2000" dirty="0"/>
              <a:t>OR</a:t>
            </a:r>
            <a:endParaRPr lang="en-US" sz="2000" dirty="0"/>
          </a:p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000" dirty="0"/>
              <a:t>Occupied and detected on first, not detected on second and remained occupied but undetected on third and fourth.</a:t>
            </a:r>
            <a:endParaRPr lang="en-US" sz="2000" dirty="0"/>
          </a:p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2000" dirty="0"/>
          </a:p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000" dirty="0"/>
              <a:t>在第一个时段内被</a:t>
            </a:r>
            <a:r>
              <a:rPr lang="zh-CN" altLang="en-US" sz="2000" dirty="0"/>
              <a:t>占用</a:t>
            </a:r>
            <a:r>
              <a:rPr lang="en-US" sz="2000" dirty="0"/>
              <a:t>且被检测到，第二个时段未被检测到，然后变为</a:t>
            </a:r>
            <a:r>
              <a:rPr lang="zh-CN" altLang="en-US" sz="2000" dirty="0"/>
              <a:t>未被占用</a:t>
            </a:r>
            <a:r>
              <a:rPr lang="en-US" sz="2000" dirty="0"/>
              <a:t>（灭绝）。</a:t>
            </a:r>
            <a:endParaRPr lang="en-US" sz="2000" dirty="0"/>
          </a:p>
          <a:p>
            <a:pPr indent="0" algn="ctr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None/>
            </a:pPr>
            <a:r>
              <a:rPr lang="en-US" sz="2000" dirty="0"/>
              <a:t>或者</a:t>
            </a:r>
            <a:endParaRPr lang="en-US" sz="2000" dirty="0"/>
          </a:p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000" dirty="0"/>
              <a:t>在第一个时段内被</a:t>
            </a:r>
            <a:r>
              <a:rPr lang="zh-CN" altLang="en-US" sz="2000" dirty="0"/>
              <a:t>占用</a:t>
            </a:r>
            <a:r>
              <a:rPr lang="en-US" sz="2000" dirty="0"/>
              <a:t>且被检测到，第二个时段未被检测到，但在第三和第四个时段仍然被</a:t>
            </a:r>
            <a:r>
              <a:rPr lang="zh-CN" altLang="en-US" sz="2000" dirty="0"/>
              <a:t>占用</a:t>
            </a:r>
            <a:r>
              <a:rPr lang="en-US" sz="2000" dirty="0"/>
              <a:t>，只是未被检测到。</a:t>
            </a:r>
            <a:endParaRPr lang="en-US" sz="2000" dirty="0"/>
          </a:p>
        </p:txBody>
      </p:sp>
      <p:graphicFrame>
        <p:nvGraphicFramePr>
          <p:cNvPr id="90116" name="Object 4"/>
          <p:cNvGraphicFramePr>
            <a:graphicFrameLocks noChangeAspect="1"/>
          </p:cNvGraphicFramePr>
          <p:nvPr/>
        </p:nvGraphicFramePr>
        <p:xfrm>
          <a:off x="838200" y="2209800"/>
          <a:ext cx="7893050" cy="490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Equation" r:id="rId1" imgW="3683000" imgH="228600" progId="Equation.3">
                  <p:embed/>
                </p:oleObj>
              </mc:Choice>
              <mc:Fallback>
                <p:oleObj name="Equation" r:id="rId1" imgW="3683000" imgH="2286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2209800"/>
                        <a:ext cx="7893050" cy="490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5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Probability models</a:t>
            </a:r>
            <a:br>
              <a:rPr lang="en-US" dirty="0"/>
            </a:br>
            <a:r>
              <a:rPr lang="zh-CN" altLang="en-US" dirty="0"/>
              <a:t>概率</a:t>
            </a:r>
            <a:r>
              <a:rPr lang="zh-CN" altLang="en-US" dirty="0"/>
              <a:t>模型</a:t>
            </a:r>
            <a:endParaRPr lang="zh-CN" altLang="en-US" dirty="0"/>
          </a:p>
        </p:txBody>
      </p:sp>
      <p:graphicFrame>
        <p:nvGraphicFramePr>
          <p:cNvPr id="2" name="Object 5"/>
          <p:cNvGraphicFramePr>
            <a:graphicFrameLocks noChangeAspect="1"/>
          </p:cNvGraphicFramePr>
          <p:nvPr/>
        </p:nvGraphicFramePr>
        <p:xfrm>
          <a:off x="1388110" y="1327150"/>
          <a:ext cx="6140450" cy="18434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Equation" r:id="rId1" imgW="3048000" imgH="914400" progId="Equation.3">
                  <p:embed/>
                </p:oleObj>
              </mc:Choice>
              <mc:Fallback>
                <p:oleObj name="Equation" r:id="rId1" imgW="3048000" imgH="9144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88110" y="1327150"/>
                        <a:ext cx="6140450" cy="184340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9425" y="3140075"/>
            <a:ext cx="8664575" cy="28956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lstStyle/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Occupied and not detected on first and second, not extinct and not detected on second and fourth</a:t>
            </a:r>
            <a:endParaRPr lang="en-US" dirty="0"/>
          </a:p>
          <a:p>
            <a:pPr algn="ctr"/>
            <a:r>
              <a:rPr lang="en-US" dirty="0"/>
              <a:t>OR</a:t>
            </a:r>
            <a:endParaRPr lang="en-US" dirty="0"/>
          </a:p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Occupied and not detected on first and second and then unoccupied</a:t>
            </a:r>
            <a:endParaRPr lang="en-US" dirty="0"/>
          </a:p>
          <a:p>
            <a:pPr marL="339725" indent="-339725" algn="ctr">
              <a:buClr>
                <a:schemeClr val="accent1">
                  <a:lumMod val="75000"/>
                </a:schemeClr>
              </a:buClr>
              <a:buSzPct val="100000"/>
            </a:pPr>
            <a:r>
              <a:rPr lang="en-US" dirty="0"/>
              <a:t>OR</a:t>
            </a:r>
            <a:endParaRPr lang="en-US" dirty="0"/>
          </a:p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Not occupied and not colonized</a:t>
            </a:r>
            <a:endParaRPr lang="en-US" dirty="0"/>
          </a:p>
          <a:p>
            <a:pPr marL="339725" indent="-339725" algn="ctr">
              <a:buClr>
                <a:schemeClr val="accent1">
                  <a:lumMod val="75000"/>
                </a:schemeClr>
              </a:buClr>
              <a:buSzPct val="100000"/>
            </a:pPr>
            <a:r>
              <a:rPr lang="en-US" dirty="0"/>
              <a:t>OR</a:t>
            </a:r>
            <a:endParaRPr lang="en-US" dirty="0"/>
          </a:p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Not occupied and colonized and undetected on third and fourth.</a:t>
            </a:r>
            <a:endParaRPr lang="en-US" dirty="0"/>
          </a:p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被占用但在第一和第二次采样中未被检测到，且在第二和第四次采样中未灭绝。</a:t>
            </a:r>
            <a:endParaRPr lang="en-US" dirty="0"/>
          </a:p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被占用但在第一和第二次采样中未被检测到，然后在第三和第四次采样中变为空缺。</a:t>
            </a:r>
            <a:endParaRPr lang="en-US" dirty="0"/>
          </a:p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未被占用且未被重新定居。</a:t>
            </a:r>
            <a:endParaRPr lang="en-US" dirty="0"/>
          </a:p>
          <a:p>
            <a:pPr marL="339725" indent="-339725">
              <a:buClr>
                <a:schemeClr val="accent1">
                  <a:lumMod val="75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未被占用但被重新定居</a:t>
            </a:r>
            <a:r>
              <a:rPr lang="zh-CN" altLang="en-US" dirty="0"/>
              <a:t>，</a:t>
            </a:r>
            <a:r>
              <a:rPr lang="en-US" dirty="0"/>
              <a:t>且在第三和第四次采样中未被检测到。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5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/>
              <a:t>Conclusions</a:t>
            </a:r>
            <a:br>
              <a:rPr lang="en-US"/>
            </a:br>
            <a:r>
              <a:rPr lang="zh-CN" altLang="en-US"/>
              <a:t>结论</a:t>
            </a:r>
            <a:endParaRPr lang="zh-CN" altLang="en-US"/>
          </a:p>
        </p:txBody>
      </p:sp>
      <p:sp>
        <p:nvSpPr>
          <p:cNvPr id="70659" name="Rectangle 6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60000"/>
          </a:bodyPr>
          <a:lstStyle/>
          <a:p>
            <a:pPr eaLnBrk="1" hangingPunct="1"/>
            <a:r>
              <a:rPr lang="en-US"/>
              <a:t>“Presence-absence” surveys can be used for inference when repeat visits permit estimation of detection probability</a:t>
            </a:r>
            <a:endParaRPr lang="en-US"/>
          </a:p>
          <a:p>
            <a:pPr eaLnBrk="1" hangingPunct="1"/>
            <a:r>
              <a:rPr lang="en-US"/>
              <a:t>Models permit estimation of occupancy during a single season or year</a:t>
            </a:r>
            <a:endParaRPr lang="en-US"/>
          </a:p>
          <a:p>
            <a:pPr eaLnBrk="1" hangingPunct="1"/>
            <a:r>
              <a:rPr lang="en-US"/>
              <a:t>Models permit estimation of patch-dynamic rate parameters (extinction, colonization, rate of change) over multiple seasons or years</a:t>
            </a:r>
            <a:endParaRPr lang="en-US"/>
          </a:p>
          <a:p>
            <a:pPr eaLnBrk="1" hangingPunct="1"/>
            <a:endParaRPr lang="en-US"/>
          </a:p>
          <a:p>
            <a:pPr eaLnBrk="1" hangingPunct="1"/>
            <a:r>
              <a:rPr lang="en-US"/>
              <a:t>当我们进行“存在—缺席”调查时，如果能够多次重复</a:t>
            </a:r>
            <a:r>
              <a:rPr lang="zh-CN" altLang="en-US"/>
              <a:t>考察</a:t>
            </a:r>
            <a:r>
              <a:rPr lang="en-US"/>
              <a:t>同一</a:t>
            </a:r>
            <a:r>
              <a:rPr lang="zh-CN" altLang="en-US"/>
              <a:t>样地</a:t>
            </a:r>
            <a:r>
              <a:rPr lang="en-US"/>
              <a:t>，从而估计出物种被检测到的概率，那么我们可以利用这些信息来推断物种的占用状态。可以估计物种在不同时间点上是否存在于该</a:t>
            </a:r>
            <a:r>
              <a:rPr lang="zh-CN" altLang="en-US"/>
              <a:t>样地</a:t>
            </a:r>
            <a:r>
              <a:rPr lang="en-US"/>
              <a:t>。</a:t>
            </a:r>
            <a:endParaRPr lang="en-US"/>
          </a:p>
          <a:p>
            <a:pPr eaLnBrk="1" hangingPunct="1"/>
            <a:r>
              <a:rPr lang="zh-CN" altLang="en-US"/>
              <a:t>这些</a:t>
            </a:r>
            <a:r>
              <a:rPr lang="en-US"/>
              <a:t>模型</a:t>
            </a:r>
            <a:r>
              <a:rPr lang="zh-CN" altLang="en-US"/>
              <a:t>可以在单个季节或年度内对占用率进行估计</a:t>
            </a:r>
            <a:r>
              <a:rPr lang="en-US"/>
              <a:t>。</a:t>
            </a:r>
            <a:endParaRPr lang="en-US"/>
          </a:p>
          <a:p>
            <a:pPr eaLnBrk="1" hangingPunct="1"/>
            <a:r>
              <a:rPr lang="zh-CN" altLang="en-US"/>
              <a:t>这些</a:t>
            </a:r>
            <a:r>
              <a:rPr lang="en-US"/>
              <a:t>模型可以在多个季节或年度内对某些地块的动态率参数</a:t>
            </a:r>
            <a:r>
              <a:rPr lang="en-US">
                <a:sym typeface="+mn-ea"/>
              </a:rPr>
              <a:t>（灭绝、重新定居、变化率）</a:t>
            </a:r>
            <a:r>
              <a:rPr lang="en-US"/>
              <a:t>进行估计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commondata" val="eyJoZGlkIjoiM2MwZTM1NDgyZTEzMGYwNDQyOTIwZWQ0YmNlZDc4ZDA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5358</Words>
  <Application>WPS 演示</Application>
  <PresentationFormat>On-screen Show (4:3)</PresentationFormat>
  <Paragraphs>255</Paragraphs>
  <Slides>17</Slides>
  <Notes>17</Notes>
  <HiddenSlides>0</HiddenSlides>
  <MMClips>0</MMClips>
  <ScaleCrop>false</ScaleCrop>
  <HeadingPairs>
    <vt:vector size="8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</vt:i4>
      </vt:variant>
      <vt:variant>
        <vt:lpstr>幻灯片标题</vt:lpstr>
      </vt:variant>
      <vt:variant>
        <vt:i4>17</vt:i4>
      </vt:variant>
    </vt:vector>
  </HeadingPairs>
  <TitlesOfParts>
    <vt:vector size="32" baseType="lpstr">
      <vt:lpstr>Arial</vt:lpstr>
      <vt:lpstr>宋体</vt:lpstr>
      <vt:lpstr>Wingdings</vt:lpstr>
      <vt:lpstr>Arial</vt:lpstr>
      <vt:lpstr>微软雅黑</vt:lpstr>
      <vt:lpstr>Symbol</vt:lpstr>
      <vt:lpstr>Times New Roman</vt:lpstr>
      <vt:lpstr>Tahoma</vt:lpstr>
      <vt:lpstr>Cambria Math</vt:lpstr>
      <vt:lpstr>Calibri</vt:lpstr>
      <vt:lpstr>Arial Unicode MS</vt:lpstr>
      <vt:lpstr>Office Theme</vt:lpstr>
      <vt:lpstr>Equation.3</vt:lpstr>
      <vt:lpstr>Equation.3</vt:lpstr>
      <vt:lpstr>Equation.3</vt:lpstr>
      <vt:lpstr>Dynamic Occupancy Models 动态占用模型</vt:lpstr>
      <vt:lpstr>Single-season – model assumptions 单季节—模型假设</vt:lpstr>
      <vt:lpstr>Basic sampling protocol same 基本的采样流程相同 </vt:lpstr>
      <vt:lpstr>Important considerations 重要考虑因素</vt:lpstr>
      <vt:lpstr>Patch Occupancy Dynamics:   Pollock’s Robust Design 区块占用动态：   波洛克的稳健设计</vt:lpstr>
      <vt:lpstr>Robust Design Capture History 稳健的设计捕捉历史  </vt:lpstr>
      <vt:lpstr>Occupancy dynamics 占用动态</vt:lpstr>
      <vt:lpstr>Occupancy dynamics 占用动态</vt:lpstr>
      <vt:lpstr>Inferring population dynamics! 推断种群动态！</vt:lpstr>
      <vt:lpstr>Inferring population dynamics! 推断种群动态！</vt:lpstr>
      <vt:lpstr>Basic design 基本设计 </vt:lpstr>
      <vt:lpstr>Multiple seasons - main assumptions 多季节—主要假设</vt:lpstr>
      <vt:lpstr>Patch Occupancy as a State Variable:  Modeling Dynamics 作为状态变量的区块占用：建模动态</vt:lpstr>
      <vt:lpstr>Probability models 概率模型</vt:lpstr>
      <vt:lpstr>Probability models 概率模型</vt:lpstr>
      <vt:lpstr>Probability models 概率模型</vt:lpstr>
      <vt:lpstr>Conclusions 结论</vt:lpstr>
    </vt:vector>
  </TitlesOfParts>
  <Company>University of Victoria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 Baum;dan_popescu@sfu.ca</dc:creator>
  <cp:lastModifiedBy>WCY</cp:lastModifiedBy>
  <cp:revision>548</cp:revision>
  <dcterms:created xsi:type="dcterms:W3CDTF">2012-09-18T22:01:00Z</dcterms:created>
  <dcterms:modified xsi:type="dcterms:W3CDTF">2024-03-28T07:31:01Z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51BACD4B9A1545D4A12065CDCAF39660_13</vt:lpwstr>
  </property>
  <property fmtid="{D5CDD505-2E9C-101B-9397-08002B2CF9AE}" pid="3" name="KSOProductBuildVer">
    <vt:lpwstr>2052-12.1.0.16250</vt:lpwstr>
  </property>
</Properties>
</file>