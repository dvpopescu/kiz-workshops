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42"/>
  </p:handoutMasterIdLst>
  <p:sldIdLst>
    <p:sldId id="295" r:id="rId3"/>
    <p:sldId id="292" r:id="rId4"/>
    <p:sldId id="257" r:id="rId5"/>
    <p:sldId id="293" r:id="rId7"/>
    <p:sldId id="258" r:id="rId8"/>
    <p:sldId id="259" r:id="rId9"/>
    <p:sldId id="290" r:id="rId10"/>
    <p:sldId id="288" r:id="rId11"/>
    <p:sldId id="297" r:id="rId12"/>
    <p:sldId id="298" r:id="rId13"/>
    <p:sldId id="264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267" r:id="rId22"/>
    <p:sldId id="268" r:id="rId23"/>
    <p:sldId id="269" r:id="rId24"/>
    <p:sldId id="265" r:id="rId25"/>
    <p:sldId id="266" r:id="rId26"/>
    <p:sldId id="307" r:id="rId27"/>
    <p:sldId id="308" r:id="rId28"/>
    <p:sldId id="309" r:id="rId29"/>
    <p:sldId id="310" r:id="rId30"/>
    <p:sldId id="311" r:id="rId31"/>
    <p:sldId id="312" r:id="rId32"/>
    <p:sldId id="278" r:id="rId33"/>
    <p:sldId id="279" r:id="rId34"/>
    <p:sldId id="270" r:id="rId35"/>
    <p:sldId id="313" r:id="rId36"/>
    <p:sldId id="314" r:id="rId37"/>
    <p:sldId id="271" r:id="rId38"/>
    <p:sldId id="272" r:id="rId39"/>
    <p:sldId id="306" r:id="rId40"/>
    <p:sldId id="263" r:id="rId41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7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6" Type="http://schemas.openxmlformats.org/officeDocument/2006/relationships/tags" Target="tags/tag28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33491-9FF5-4012-B0D6-146D6CA8F78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0C07E-DD27-43E6-823C-B159EB064F8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What really is occupancy?</a:t>
            </a:r>
            <a:r>
              <a:rPr lang="en-US" baseline="0" dirty="0"/>
              <a:t> Whether or not a species is present or absent in a space….</a:t>
            </a:r>
            <a:endParaRPr lang="en-US" sz="1200" b="0" i="0" u="none" strike="noStrike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number of occupied sites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total number of sites)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BUT, because not all individuals are detected,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value is not typically known and therefore need to estimate detection probability to estimate occupancy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process?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 that encloses an area containing all of the individuals of the species-this area should include all of the sites occupied by the species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9A0B51E-9FB6-440E-B404-4C41DA7CABEC}" type="slidenum">
              <a:rPr lang="en-US"/>
            </a:fld>
            <a:endParaRPr lang="en-US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9A7C07-17C1-41A7-ABD4-D831D6409734}" type="slidenum">
              <a:rPr lang="en-US" altLang="en-US"/>
            </a:fld>
            <a:endParaRPr lang="en-US" alt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713"/>
            <a:ext cx="5486400" cy="41138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91423" tIns="45712" rIns="91423" bIns="45712"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78FC868-4FA6-4C9D-921A-D06E12873C53}" type="slidenum">
              <a:rPr lang="en-US" altLang="en-US"/>
            </a:fld>
            <a:endParaRPr lang="en-US" alt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D1A00BD-5D0B-43B7-A857-B3EB4C996A2D}" type="slidenum">
              <a:rPr lang="en-US"/>
            </a:fld>
            <a:endParaRPr 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Important tools for estimating N for mobile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speices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….  1. Research CAPTURES, MARKS, and RELEASES as many individuals as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possilbe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# Marked = M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2. Allows enough time for the marked individuals to mix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intot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whole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populaiton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, then </a:t>
            </a:r>
            <a:endParaRPr lang="en-US" baseline="0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  <a:p>
            <a:pPr eaLnBrk="1" hangingPunct="1"/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3. Resampled the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poupplation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recording how many individuals are sampled (s) and how many of them </a:t>
            </a:r>
            <a:r>
              <a:rPr lang="en-US" baseline="0" dirty="0" err="1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possed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the mark from the 1</a:t>
            </a:r>
            <a:r>
              <a:rPr lang="en-US" baseline="3000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st</a:t>
            </a:r>
            <a:r>
              <a:rPr lang="en-US" baseline="0" dirty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rPr>
              <a:t> visit and are therefore recaptured (r)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DD742-0691-45B7-82EB-99995F92A18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20C3-8963-4757-BC25-EE6359242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olf howling at the night&#10;&#10;Description automatically generate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29895"/>
            <a:ext cx="6858000" cy="15055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defTabSz="914400"/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Occupancy modeling</a:t>
            </a:r>
            <a:b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zh-CN" alt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占用率建模</a:t>
            </a:r>
            <a:endParaRPr lang="zh-CN" alt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30" y="365125"/>
            <a:ext cx="7462520" cy="1325880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 modeling for population dynamics?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为什么要用占用模型进行种群动态分析？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10" y="1836420"/>
            <a:ext cx="8867140" cy="414528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Occupancy modeling: a 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tool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estimate true populations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use occupancy (presence/absence) data to look at population trends</a:t>
            </a:r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ability to estimate populations often confounded by the inability to accurately count species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Occupancy modeling can be used to get more accurate estimates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Able to use occupancy modeling to look at species distributions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Multiple season/year data can show how these distributions are changing over time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模型：估算真实种群的</a:t>
            </a:r>
            <a:r>
              <a:rPr lang="en-US" sz="18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</a:t>
            </a:r>
            <a:endParaRPr lang="en-US" sz="1800" i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可利用占用率（存在/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）数据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来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研究种群趋势</a:t>
            </a:r>
            <a:endParaRPr lang="en-US" sz="1800" i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1" indent="0">
              <a:buNone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由于无法准确计数物种，估计物种数量的能力常常受到限制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741680" lvl="1" fontAlgn="auto">
              <a:spcBef>
                <a:spcPts val="300"/>
              </a:spcBef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占用率模型可用于获得更准确的估计值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1" indent="0">
              <a:buNone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能够使用占用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模型来观察物种分布情况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1680" lvl="1" fontAlgn="auto">
              <a:spcBef>
                <a:spcPts val="300"/>
              </a:spcBef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多个季节/年份的数据可以展示这些分布随时间的变化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Occupancy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相关参数：占用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4185"/>
            <a:ext cx="7886700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proportion of area, patches or sample units that is occupied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a species presence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Ψ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(psi)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probability that a randomly selected site or sampling unit in an area of interest is occupied by a species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被占用的区域、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地块或样本单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位的比例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即某物种存在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Tx/>
              <a:buSzTx/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Ψ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（psi）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：在相关研究区域内随机选择的样地或样本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单元被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某一物种占用的概率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Detection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相关参数：检测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600200"/>
            <a:ext cx="8558530" cy="51358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Pj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the probability of detecting the species during the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7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survey, given it is present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1700" i="1" dirty="0">
                <a:latin typeface="Arial" panose="020B0604020202020204" pitchFamily="34" charset="0"/>
                <a:cs typeface="Arial" panose="020B0604020202020204" pitchFamily="34" charset="0"/>
              </a:rPr>
              <a:t> considered an a priori expectation that a particular site will be occupied by the species as determined by some underlying process</a:t>
            </a: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Proportion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realization of that process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The distinction becomes important when a large portion of the population of interest is sampled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检测概率 (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Pj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)：在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第 j 次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调查中检测到某物种的概率，前提是该物种存在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17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7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这</a:t>
            </a:r>
            <a:r>
              <a:rPr lang="en-US" sz="17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被认为是一种先验预期，即特定地点将被某物种占用，这是由某些潜在过程决定的</a:t>
            </a: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比例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：是该过程的实现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当对大部分相关种群进行采样时，这种区分就变得非常重要了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occupancy?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为什么要使用占用率模型？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600200"/>
            <a:ext cx="8319770" cy="5053330"/>
          </a:xfrm>
        </p:spPr>
        <p:txBody>
          <a:bodyPr>
            <a:noAutofit/>
          </a:bodyPr>
          <a:lstStyle/>
          <a:p>
            <a:pPr fontAlgn="base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Presence/absence data is easier to sample and collect than abundance, especially for rare species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Requires less effort and is less expensive to collect</a:t>
            </a:r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be used to study both single species and multiple species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monitoring it can used as a metric reflecting the current state of the population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使用存在/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数据比使用丰度数据更容易进行采样和收集，尤其对于稀有物种而言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8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收集占</a:t>
            </a:r>
            <a:r>
              <a:rPr lang="zh-CN" altLang="en-US" sz="18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18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率数据所需的工作量较小，成本较低</a:t>
            </a:r>
            <a:endParaRPr lang="en-US" sz="1800" i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/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可用于研究单一物种和多个物种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buClrTx/>
              <a:buSzTx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在监测中，占有率模型可以作为反映种群当前状态的指标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8"/>
            <a:ext cx="7455273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can be used for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占用率可用于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346200"/>
            <a:ext cx="4291965" cy="5218430"/>
          </a:xfrm>
        </p:spPr>
        <p:txBody>
          <a:bodyPr>
            <a:noAutofit/>
          </a:bodyPr>
          <a:lstStyle/>
          <a:p>
            <a:pPr fontAlgn="base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Metapopulation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dynamics (patch occupancy models)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Observed colonization and extinction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Distribution and range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Animal invasions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Disease dynamics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Habitat relationships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Extensive monitoring programs: 'trends' or changes in occupancy over time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种群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动态（</a:t>
            </a:r>
            <a:r>
              <a:rPr lang="en-US" sz="16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地块占用模型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观察到的迁入和灭绝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分布和范围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动物入侵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疾病动态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栖息地关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广泛的监测计划：通过观察占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率随时间的变化，了解物种的趋势和变化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050" name="Picture 2" descr="Image result for metapopulation&quot;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43" y="2105925"/>
            <a:ext cx="4387339" cy="355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Geographic Range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地理范围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144963"/>
          </a:xfrm>
        </p:spPr>
        <p:txBody>
          <a:bodyPr>
            <a:noAutofit/>
          </a:bodyPr>
          <a:lstStyle/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Area of occurrence: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set of grid cells that contain at least one individual when a grid is superimposed on the area containing all individuals of a species (but may contain cells with no individuals)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率区域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网格叠加在包含某物种所有个体的区域上时，至少包含一个个体的网格单元的集合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这些网格单元可能包含没有个体的部分</a:t>
            </a:r>
            <a:r>
              <a:rPr lang="zh-CN" altLang="en-US" sz="23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zh-CN" altLang="en-US" sz="23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" name="Picture 3" descr="Screen Shot 2017-02-17 at 9.50.29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9960" y="4203065"/>
            <a:ext cx="3914775" cy="2364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Habitat Relationships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栖息地关系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621790"/>
            <a:ext cx="7556500" cy="529717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 presence/absence data to determine habitat variables that describe sites occupied by species (or not)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Use habitat variables to which a species responds and then develop habitat models or predict abundance/occupancy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Majority of habitat studies based on occupancy have been directed at conservation and management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False-absences need to be considered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使用存在/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数据来确定描述被物种占用（或未占用）的栖息地变量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利用物种响应的栖息地变量，然后开发栖息地模型或预测丰度/占用率 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大多数基于占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率的栖息地研究都是为了保护和管理而进行的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需要考虑假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率数据</a:t>
            </a:r>
            <a:endParaRPr 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Presence-absence data: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estimation of occupancy rates and associated dynamics that are fundamental for habitat model and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metapopulation studies 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Whether a “patch” (or site) is occupied by one or more individuals of a population or species  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存在—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25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数据：</a:t>
            </a:r>
            <a:r>
              <a:rPr lang="en-US"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估计占用率和相关动态，这是栖息模型和</a:t>
            </a:r>
            <a:r>
              <a:rPr lang="en-US" sz="25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元种群研究的</a:t>
            </a:r>
            <a:r>
              <a:rPr lang="en-US"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基础 </a:t>
            </a:r>
            <a:endParaRPr lang="en-US" sz="2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一个“地块”（或</a:t>
            </a:r>
            <a:r>
              <a:rPr lang="zh-CN" altLang="en-US"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）是否被一个种群或物种的一个或多个个体所占用</a:t>
            </a:r>
            <a:endParaRPr lang="en-US" sz="2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51683"/>
            <a:ext cx="7556313" cy="4144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for pond dwelling amphibians, the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pond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unit of interest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研究对象单元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物种出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现的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范围或占用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面积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例如：对于栖息在池塘中的两栖动物，</a:t>
            </a:r>
            <a:r>
              <a:rPr lang="en-US" sz="2400" u="sng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池塘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就是研究对象单元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6370" y="4192270"/>
            <a:ext cx="3141345" cy="235331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55650" y="492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率数据</a:t>
            </a:r>
            <a:endParaRPr 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498474" y="1649655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for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terrestrial animal being studied units may be defined as 1,000 hectare blocks within a national park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研究对象单元</a:t>
            </a: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物种出现的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范围或占用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面积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例如：对于正在研究的陆地动物，研究对象单元可以定义为国家公园内的1,000公顷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地块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080" y="3961130"/>
            <a:ext cx="3624580" cy="271907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率数据</a:t>
            </a:r>
            <a:endParaRPr 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7-02-17 at 9.04.50 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1404" y="2097869"/>
            <a:ext cx="5392596" cy="4014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 critical factors when sampling animal populations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动物种群采样时的 2 个关键因素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185" y="1960880"/>
            <a:ext cx="3873500" cy="4625975"/>
          </a:xfrm>
        </p:spPr>
        <p:txBody>
          <a:bodyPr>
            <a:normAutofit fontScale="80000"/>
          </a:bodyPr>
          <a:lstStyle/>
          <a:p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Spatial variation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Investigators select a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of locations to survey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b="1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Even in surveyed areas, animals and whole species can go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undetected</a:t>
            </a:r>
            <a:endParaRPr lang="en-US" sz="2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>
              <a:lnSpc>
                <a:spcPct val="100000"/>
              </a:lnSpc>
            </a:pPr>
            <a:endParaRPr lang="en-US" sz="2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fontAlgn="base">
              <a:lnSpc>
                <a:spcPct val="100000"/>
              </a:lnSpc>
              <a:spcBef>
                <a:spcPts val="300"/>
              </a:spcBef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空间变化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调查人员选择一些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采样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地点进行调查 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00000"/>
              </a:lnSpc>
            </a:pPr>
            <a:r>
              <a:rPr lang="en-US" sz="23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可</a:t>
            </a:r>
            <a:r>
              <a:rPr lang="en-US" sz="23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检测性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>
              <a:lnSpc>
                <a:spcPct val="100000"/>
              </a:lnSpc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即使在已经进行了调查的区域，动物和整个物种也可能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未被检测到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fontAlgn="base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14711" cy="1325563"/>
          </a:xfrm>
        </p:spPr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Occupancy data: Non-detection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占用率数据：未检测到</a:t>
            </a:r>
            <a:r>
              <a:rPr 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sz="3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600200"/>
            <a:ext cx="8414385" cy="4852670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Non-detection does not equate to species absence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Bias: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sites may be visited but no animals detected therefore producing false negatives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“False-absence”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Failure to account for imperfect detectability will result in: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Underestimates of site occupancy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Biased estimates of local colonization and extinction probabilities and turnover rates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Therefore need to incorporate detection as a parameter into occupancy models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未检测到</a:t>
            </a:r>
            <a:r>
              <a:rPr 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并不等于没有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该</a:t>
            </a:r>
            <a:r>
              <a:rPr 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物种</a:t>
            </a:r>
            <a:endParaRPr 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偏差：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可能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该物种考察了样地，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但没有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检测到，因此产生假阴性结果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“假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如果不考虑不完美的可检测性，将导致以下问题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低估了地点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占用率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局部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定居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和灭绝概率以及物种更替率的偏差估计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因此，需要将检测作为占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率模型的一个参数来考虑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8596"/>
            <a:ext cx="7886700" cy="1325563"/>
          </a:xfrm>
        </p:spPr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Occupancy Sampling Protocol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占有率采样流程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" y="1514475"/>
            <a:ext cx="8462010" cy="5075555"/>
          </a:xfrm>
        </p:spPr>
        <p:txBody>
          <a:bodyPr>
            <a:noAutofit/>
          </a:bodyPr>
          <a:lstStyle/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restrictions on sampling approaches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Can include: visual observations of animals, captures of animals in traps or mist nets, observations of animal tracks, detection of animal vocalizations, camera traps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Survey produces a list of surveyed sites that are: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“Occupied” (species detected)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“Unoccupied” (species not detected)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Counts of occupied sites are used to compute the proportion of occupied sites among all sites visited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Estimate of occupancy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采样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方法不受限制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可包括：对动物的视觉观察、捕获陷阱或捕鸟网中的动物、动物足迹的观察、动物声音的检测、相机陷阱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调查会产生一份调查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清单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占用”（测到的物种）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未被占用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（未检测到物种）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的计数用于计算所有被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中占用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的比例，从而估计占</a:t>
            </a:r>
            <a:r>
              <a:rPr 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占用率估计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 fontAlgn="base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2711"/>
            <a:ext cx="7886700" cy="1325563"/>
          </a:xfrm>
        </p:spPr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数据收集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940" y="1240790"/>
            <a:ext cx="7556500" cy="5538470"/>
          </a:xfrm>
        </p:spPr>
        <p:txBody>
          <a:bodyPr>
            <a:noAutofit/>
          </a:bodyPr>
          <a:lstStyle/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 is collected by visiting  a number of sites and recording whether individuals of interest are present (recorded as 1) or not present (0)  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Important to repeat surveys over a short time frame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(no changes in the state of a given site are allowed)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Occupancy probability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calculated as the proportion of sites that are occupied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Extinction probability: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calculated as the proportion of occupied sites at time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not occupied at time t+1.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Results can be confounded by detection error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Recorded ‘absence’ may be a ‘non-detection’ of available individuals and not true absence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收集数据的方法是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通过考察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一些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，记录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研究相关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的个体是否存在（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存在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记录为 1）或不存在（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不存在记录为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0）。 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必须在短时间内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进行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重复调查</a:t>
            </a:r>
            <a:r>
              <a:rPr lang="en-US" sz="16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（不允许改变特定地点的状态）</a:t>
            </a:r>
            <a:endParaRPr lang="en-US" sz="1600" i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占用概率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：按占用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的比例计算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灭绝概率：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 </a:t>
            </a:r>
            <a:r>
              <a:rPr lang="en-US" sz="16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 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时间已被占据、t+1 时间未被占据的地点比例计算。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检测误差可能会干扰检测结果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fontAlgn="base"/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记录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的数据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可能是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相关个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体“未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”，而不是真正的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4626"/>
            <a:ext cx="7886700" cy="1325563"/>
          </a:xfrm>
        </p:spPr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数据收集：检测误差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62100"/>
            <a:ext cx="7556313" cy="4525963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Factors other than abundance may influence detection probability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animals may be more visible or detectable in one habitat than another; weather patterns may influence detection, etc.</a:t>
            </a: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Potential for misleading inference about true relationship between occupancy and habitat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detection probability can be calculated, then unbiased estimators of occupancy, extinction and colonization can be derived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检测概率 (</a:t>
            </a:r>
            <a:r>
              <a:rPr lang="en-US" sz="18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)： 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丰度以外的因素也可能影响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概率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个体动物在某些栖息地中可能更容易被看到或检测到；天气模式可能影响检测等。</a:t>
            </a:r>
            <a:endParaRPr lang="en-US" sz="1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存在误导性的推断，可能会影响占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率与栖息地之间的真实关系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如果可以计算检测概率，那么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就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可以得出关于占有率、灭绝和迁入的无偏估计值 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285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Detection Error Solutions: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Dealing with false-absences by visiting sites multiple times to avoid missing a species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Statistically address the issue by incorporating detection parameters into occupancy models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Best Case Scenario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incorporate BOTH collection of additional information (visiting site multiple times) into sampling protocol and utilizing models that incorporate detection probabilities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检测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误差的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解决方案：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通过多次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考察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样地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来避免遗漏物种，从而解决假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缺席的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问题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通过将检测参数纳入占用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率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模型，从统计学角度解决这一问题</a:t>
            </a:r>
            <a:endParaRPr lang="en-US" sz="18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None/>
            </a:pPr>
            <a:r>
              <a:rPr lang="en-US" sz="18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最佳方案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：将收集额外信息（多次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考察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样地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）和利用包含检测概率的模型纳入采样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流程</a:t>
            </a:r>
            <a:r>
              <a:rPr 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中</a:t>
            </a: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indent="-457200">
              <a:buNone/>
            </a:pPr>
            <a:endParaRPr lang="en-US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50" y="174626"/>
            <a:ext cx="7886700" cy="1325563"/>
          </a:xfrm>
        </p:spPr>
        <p:txBody>
          <a:bodyPr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数据收集：检测误差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07734"/>
            <a:ext cx="7556313" cy="11161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Issue with Detection and Occupancy Probability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检测和占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用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率概率的问题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5" y="1530985"/>
            <a:ext cx="8128635" cy="5453380"/>
          </a:xfrm>
        </p:spPr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Wildlife species are rarely detected with 100% accuracy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The issue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measure of occupancy (presence/absence at a set of sites) is confounded with the detectability of the species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 can vary among study sites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Can be related to site and survey level parameters: 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temperature, precipitation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Due to variation in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presence/absence data cannot be simply analyzed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Inferences of site characteristics on occupancy will be hard to discern reliably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野生动物物种的检测很少能达到 100% 的准确率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</a:t>
            </a:r>
            <a:r>
              <a:rPr lang="en-US" sz="24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占用率（在一组地点的存在/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缺席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）的衡量标准与物种的</a:t>
            </a:r>
            <a:r>
              <a:rPr 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检测率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相混淆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不同研究地点的</a:t>
            </a:r>
            <a:r>
              <a:rPr 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检测概率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）可能不同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可能与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和调查水平的参数相关，例如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温度、降水量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由于检测性的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差异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，存在/缺席数据不能简单地进行分析</a:t>
            </a:r>
            <a:endParaRPr 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很难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地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辨别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特征对占用率的推断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（很难准确地判断某个样地的特征与物种占有率之间的关联性）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58200" cy="1143000"/>
          </a:xfrm>
        </p:spPr>
        <p:txBody>
          <a:bodyPr>
            <a:normAutofit/>
          </a:bodyPr>
          <a:lstStyle/>
          <a:p>
            <a:r>
              <a:rPr lang="en-NZ" sz="3000" b="1" dirty="0">
                <a:latin typeface="Arial" panose="020B0604020202020204" pitchFamily="34" charset="0"/>
                <a:cs typeface="Arial" panose="020B0604020202020204" pitchFamily="34" charset="0"/>
              </a:rPr>
              <a:t>Site occupancy: A solution</a:t>
            </a:r>
            <a:br>
              <a:rPr lang="en-NZ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NZ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样地占用：一个解决方案</a:t>
            </a:r>
            <a:endParaRPr lang="zh-CN" altLang="en-NZ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077200" cy="5181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MacKenzie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et al. 2002 (Ecology)							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Key design issues: 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Replication 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570" b="1" dirty="0">
                <a:latin typeface="Arial" panose="020B0604020202020204" pitchFamily="34" charset="0"/>
                <a:cs typeface="Arial" panose="020B0604020202020204" pitchFamily="34" charset="0"/>
              </a:rPr>
              <a:t>			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Temporal replication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repeat visits to sample units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Replicate visits occur within a relatively short period of time (e.g., a breeding season) </a:t>
            </a:r>
            <a:r>
              <a:rPr lang="en-US" sz="1700" baseline="-25000" dirty="0">
                <a:latin typeface="Arial" panose="020B0604020202020204" pitchFamily="34" charset="0"/>
                <a:cs typeface="Arial" panose="020B0604020202020204" pitchFamily="34" charset="0"/>
              </a:rPr>
              <a:t>									       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Spatial replication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randomly selected ‘sites’ or sample units within area of interest 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7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MacKenzie等人（2002年，生态学）提出的解决方案</a:t>
            </a:r>
            <a:endParaRPr lang="en-US" sz="17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关键设计问题：</a:t>
            </a:r>
            <a:r>
              <a:rPr lang="en-US" sz="17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复制 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sz="17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时间复制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：重复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样本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单元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在相对较短的时间内（如繁殖季节）重复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sz="17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空间复制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：在相关区域内随机选择“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或样本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单元</a:t>
            </a:r>
            <a:endParaRPr lang="zh-CN" altLang="en-US" sz="1100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Basic Sampling Scheme:</a:t>
            </a:r>
            <a:b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Season</a:t>
            </a:r>
            <a:b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NZ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基本采样方案：</a:t>
            </a:r>
            <a:br>
              <a:rPr lang="zh-CN" altLang="en-NZ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NZ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单季节</a:t>
            </a:r>
            <a:endParaRPr lang="zh-CN" altLang="en-NZ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2138045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NZ" altLang="en-US" sz="37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sites are surveyed, each at </a:t>
            </a:r>
            <a:r>
              <a:rPr lang="en-NZ" alt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distinct sampling occasions.</a:t>
            </a:r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Species is detected/not detected at each occasion.</a:t>
            </a:r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Z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NZ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en-NZ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en-NZ" sz="36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</a:t>
            </a:r>
            <a:r>
              <a:rPr lang="en-NZ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个地点进行调查，每个地点进行</a:t>
            </a:r>
            <a:r>
              <a:rPr lang="en-US" altLang="en-NZ" sz="3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NZ" altLang="en-US" sz="36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en-US" altLang="en-NZ" sz="3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NZ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次不同的采样。</a:t>
            </a:r>
            <a:endParaRPr lang="en-NZ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NZ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物种在每次采样时被检测</a:t>
            </a:r>
            <a:r>
              <a:rPr lang="zh-CN" altLang="en-NZ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en-NZ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/未被检测</a:t>
            </a:r>
            <a:r>
              <a:rPr lang="zh-CN" altLang="en-NZ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到。</a:t>
            </a:r>
            <a:endParaRPr lang="zh-CN" altLang="en-NZ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60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335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  <a:br>
              <a:rPr lang="en-US" sz="3335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35" b="1" dirty="0">
                <a:latin typeface="Arial" panose="020B0604020202020204" pitchFamily="34" charset="0"/>
                <a:cs typeface="Arial" panose="020B0604020202020204" pitchFamily="34" charset="0"/>
              </a:rPr>
              <a:t>必要信息：检测历史</a:t>
            </a:r>
            <a:endParaRPr lang="en-US" sz="3335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89050"/>
            <a:ext cx="8229600" cy="4525963"/>
          </a:xfrm>
        </p:spPr>
        <p:txBody>
          <a:bodyPr>
            <a:no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Detection history: Record for each visited site or sample unit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1 denotes detection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0 denotes non-detection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17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7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= 1 0 0 1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Denotes 4 visits to the site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Target species detected during visits 1 and 4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0 does not necessarily mean the species was absent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detected, but could be there!</a:t>
            </a:r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7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2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检测历史：记录每个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或采样单元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表示检测到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物种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 表示未检测到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物种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85800" lvl="2" indent="0">
              <a:buNone/>
            </a:pP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lvl="2" fontAlgn="auto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检测历史示例： </a:t>
            </a:r>
            <a:r>
              <a:rPr lang="en-US" sz="17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en-US" sz="1700" i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 1 0 0 1 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表示 4 次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 1 次和第 4 次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中发现的目标物种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 不一定意味着该物种不存在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2"/>
            <a:r>
              <a:rPr 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没有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</a:t>
            </a:r>
            <a:r>
              <a:rPr 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检测到，但可能存在！</a:t>
            </a:r>
            <a:endParaRPr lang="en-US" sz="17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685800" lvl="2" indent="0">
              <a:buNone/>
            </a:pPr>
            <a:endParaRPr lang="en-US" sz="1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40245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b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spc="-4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占用率流程</a:t>
            </a:r>
            <a:endParaRPr lang="zh-CN" b="1" spc="-4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3047212" y="26416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1811398" y="39285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3538152" y="372533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13388" y="3079623"/>
            <a:ext cx="4099560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surveyed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对多个</a:t>
            </a: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采样</a:t>
            </a: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单元进行调查。</a:t>
            </a:r>
            <a:endParaRPr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5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5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algn="ctr">
              <a:spcBef>
                <a:spcPts val="59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algn="ctr">
              <a:spcBef>
                <a:spcPts val="595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3388" y="3079623"/>
            <a:ext cx="4099560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surveyed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对多个</a:t>
            </a: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采样</a:t>
            </a: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单元进行调查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3388" y="3718179"/>
            <a:ext cx="4575810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detection/non-detection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收集检测到/未检测到的数据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340245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b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spc="-4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占用率流程</a:t>
            </a:r>
            <a:endParaRPr lang="zh-CN" b="1" spc="-4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>
            <p:custDataLst>
              <p:tags r:id="rId1"/>
            </p:custDataLst>
          </p:nvPr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5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>
            <p:custDataLst>
              <p:tags r:id="rId2"/>
            </p:custDataLst>
          </p:nvPr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765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>
            <p:custDataLst>
              <p:tags r:id="rId3"/>
            </p:custDataLst>
          </p:nvPr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765">
              <a:spcBef>
                <a:spcPts val="595"/>
              </a:spcBef>
            </a:pPr>
            <a:r>
              <a:rPr b="1" spc="-26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9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>
            <p:custDataLst>
              <p:tags r:id="rId6"/>
            </p:custDataLst>
          </p:nvPr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5"/>
              </a:spcBef>
            </a:pPr>
            <a:r>
              <a:rPr b="1" spc="-98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>
            <p:custDataLst>
              <p:tags r:id="rId7"/>
            </p:custDataLst>
          </p:nvPr>
        </p:nvSpPr>
        <p:spPr>
          <a:xfrm>
            <a:off x="4413388" y="3079623"/>
            <a:ext cx="4099560" cy="9982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surveyed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对多个</a:t>
            </a: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采样</a:t>
            </a:r>
            <a:r>
              <a:rPr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单元进行调查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>
            <p:custDataLst>
              <p:tags r:id="rId8"/>
            </p:custDataLst>
          </p:nvPr>
        </p:nvSpPr>
        <p:spPr>
          <a:xfrm>
            <a:off x="4413388" y="3718179"/>
            <a:ext cx="4575810" cy="9982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detection/non-detection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sym typeface="+mn-ea"/>
              </a:rPr>
              <a:t>收集检测到/未检测到的数据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>
            <p:custDataLst>
              <p:tags r:id="rId9"/>
            </p:custDataLst>
          </p:nvPr>
        </p:nvSpPr>
        <p:spPr>
          <a:xfrm>
            <a:off x="4413388" y="4402455"/>
            <a:ext cx="3802380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Replicate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surveys</a:t>
            </a:r>
            <a:r>
              <a:rPr sz="2100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100" spc="-8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100" spc="-1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unit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210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在每个单元中进行重复调查</a:t>
            </a:r>
            <a:endParaRPr sz="21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val 15"/>
          <p:cNvSpPr/>
          <p:nvPr>
            <p:custDataLst>
              <p:tags r:id="rId10"/>
            </p:custDataLst>
          </p:nvPr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>
            <p:custDataLst>
              <p:tags r:id="rId11"/>
            </p:custDataLst>
          </p:nvPr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340245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b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spc="-4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占用率流程</a:t>
            </a:r>
            <a:endParaRPr lang="zh-CN" b="1" spc="-4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3" name="object 3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" name="object 4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13" name="object 13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0" y="446566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b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真缺席还是假缺席？</a:t>
            </a:r>
            <a:endParaRPr lang="zh-CN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18" name="object 1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现实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02409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8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5561067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5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7254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765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0396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765">
              <a:spcBef>
                <a:spcPts val="595"/>
              </a:spcBef>
            </a:pPr>
            <a:r>
              <a:rPr b="1" spc="-26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9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426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5"/>
              </a:spcBef>
            </a:pPr>
            <a:r>
              <a:rPr b="1" spc="-98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1" name="object 11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1" name="object 21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25" name="object 2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现实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03097" y="5537073"/>
            <a:ext cx="1401128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观测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910207" y="3548544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980147" y="443513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446566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b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真缺席还是假缺席？</a:t>
            </a:r>
            <a:endParaRPr lang="zh-CN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9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2" name="object 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446566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b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真缺席还是假缺席？</a:t>
            </a:r>
            <a:endParaRPr lang="zh-CN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2" name="object 30"/>
          <p:cNvSpPr txBox="1"/>
          <p:nvPr>
            <p:custDataLst>
              <p:tags r:id="rId3"/>
            </p:custDataLst>
          </p:nvPr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现实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31"/>
          <p:cNvSpPr txBox="1"/>
          <p:nvPr>
            <p:custDataLst>
              <p:tags r:id="rId4"/>
            </p:custDataLst>
          </p:nvPr>
        </p:nvSpPr>
        <p:spPr>
          <a:xfrm>
            <a:off x="6403097" y="5537073"/>
            <a:ext cx="1401128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观测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5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2" name="object 16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446566"/>
            <a:ext cx="9144000" cy="102489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b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真缺席还是假缺席？</a:t>
            </a:r>
            <a:endParaRPr lang="zh-CN" b="1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2" name="object 31"/>
          <p:cNvSpPr txBox="1"/>
          <p:nvPr>
            <p:custDataLst>
              <p:tags r:id="rId3"/>
            </p:custDataLst>
          </p:nvPr>
        </p:nvSpPr>
        <p:spPr>
          <a:xfrm>
            <a:off x="6403097" y="5537073"/>
            <a:ext cx="1401128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观测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45" name="object 30"/>
          <p:cNvSpPr txBox="1"/>
          <p:nvPr>
            <p:custDataLst>
              <p:tags r:id="rId4"/>
            </p:custDataLst>
          </p:nvPr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现实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251" y="1103305"/>
            <a:ext cx="2289810" cy="44820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2850" spc="-4" dirty="0"/>
              <a:t>Data</a:t>
            </a:r>
            <a:r>
              <a:rPr sz="2850" spc="-68" dirty="0"/>
              <a:t> </a:t>
            </a:r>
            <a:r>
              <a:rPr sz="2850" spc="-4" dirty="0"/>
              <a:t>structure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868886" y="1398269"/>
            <a:ext cx="4643914" cy="18853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205" indent="-233680">
              <a:spcBef>
                <a:spcPts val="75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Sampling</a:t>
            </a:r>
            <a:r>
              <a:rPr sz="1875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units</a:t>
            </a:r>
            <a:r>
              <a:rPr sz="1875" spc="-8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875" spc="-8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sites</a:t>
            </a:r>
            <a:endParaRPr sz="1875" dirty="0"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spc="-1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875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do repeated</a:t>
            </a:r>
            <a:r>
              <a:rPr sz="18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observations </a:t>
            </a:r>
            <a:r>
              <a:rPr sz="1875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875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18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site</a:t>
            </a:r>
            <a:endParaRPr sz="1875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24320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lang="zh-CN"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采</a:t>
            </a:r>
            <a:r>
              <a:rPr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样单元 = </a:t>
            </a:r>
            <a:r>
              <a:rPr lang="zh-CN" sz="1875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</a:t>
            </a:r>
            <a:r>
              <a:rPr sz="1875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</a:t>
            </a:r>
            <a:r>
              <a:rPr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187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3205" indent="-233680">
              <a:spcBef>
                <a:spcPts val="1870"/>
              </a:spcBef>
              <a:buClr>
                <a:srgbClr val="A6A6A6"/>
              </a:buClr>
              <a:buChar char="•"/>
              <a:tabLst>
                <a:tab pos="242570" algn="l"/>
                <a:tab pos="243205" algn="l"/>
              </a:tabLst>
            </a:pPr>
            <a:r>
              <a:rPr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我们在每个</a:t>
            </a:r>
            <a:r>
              <a:rPr lang="zh-CN"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样地</a:t>
            </a:r>
            <a:r>
              <a:rPr sz="1875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进行重复观察</a:t>
            </a:r>
            <a:endParaRPr sz="1875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68000" y="3624612"/>
          <a:ext cx="3970018" cy="1922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409"/>
                <a:gridCol w="1000601"/>
                <a:gridCol w="992504"/>
                <a:gridCol w="992504"/>
              </a:tblGrid>
              <a:tr h="384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</a:tr>
              <a:tr h="385286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…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379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Detection, detection, detection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检测、检测、检测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690"/>
            <a:ext cx="8229600" cy="5655310"/>
          </a:xfrm>
        </p:spPr>
        <p:txBody>
          <a:bodyPr>
            <a:no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2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 0 0 0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Is this site truly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unoccupied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It depends on the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detection (p)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检测历史示例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sz="1200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en-US" sz="1200" i="1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 0 0 0 0 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这块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真的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未被占用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吗？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取决于</a:t>
            </a: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检测概率 (p)</a:t>
            </a:r>
            <a:endParaRPr 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Direct relation between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detectability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number of visits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NOT seeing the species after N visits</a:t>
            </a:r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l-GR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number of visits before concluding the site is unoccupied at a confidence level </a:t>
            </a:r>
            <a:r>
              <a:rPr lang="el-G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0.05</a:t>
            </a:r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Nmin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= log(0.05) / log(1 – p)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检</a:t>
            </a: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测性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次数</a:t>
            </a:r>
            <a:r>
              <a: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之间的直接关系</a:t>
            </a:r>
            <a:endParaRPr lang="en-US"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 次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后未看到该物种的概率</a:t>
            </a:r>
            <a:endParaRPr 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l-GR" sz="1200" b="1" i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α </a:t>
            </a: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(1 - p) ^ N</a:t>
            </a:r>
            <a:endParaRPr 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在置信度</a:t>
            </a:r>
            <a:r>
              <a:rPr lang="el-GR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α </a:t>
            </a:r>
            <a:r>
              <a:rPr 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0.05 下，</a:t>
            </a:r>
            <a:r>
              <a:rPr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我们需要进行的最小</a:t>
            </a:r>
            <a:r>
              <a:rPr 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次数才能得出该地点</a:t>
            </a:r>
            <a:r>
              <a:rPr 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的确</a:t>
            </a:r>
            <a:r>
              <a:rPr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未被占用的</a:t>
            </a:r>
            <a:endParaRPr 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ctr">
              <a:buNone/>
            </a:pPr>
            <a:r>
              <a:rPr lang="en-US" sz="1200" b="1" i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Nmin </a:t>
            </a:r>
            <a:r>
              <a:rPr 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 log(0.05) / log(1 - p)</a:t>
            </a:r>
            <a:endParaRPr 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57200" y="3352038"/>
            <a:ext cx="822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30" y="138379"/>
            <a:ext cx="8884692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必要信息：检测历史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16736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seeing the species after N visits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 次访问后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未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看到该物种的概率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695" y="2727960"/>
            <a:ext cx="5935980" cy="34588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52040" y="6186805"/>
            <a:ext cx="527558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如果该物种真的存在，不被发现的几率&lt;5%</a:t>
            </a:r>
            <a:endParaRPr lang="zh-CN" altLang="en-US" sz="1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9442" name="Rectangle 2"/>
              <p:cNvSpPr>
                <a:spLocks noChangeArrowheads="1"/>
              </p:cNvSpPr>
              <p:nvPr/>
            </p:nvSpPr>
            <p:spPr bwMode="auto">
              <a:xfrm>
                <a:off x="533400" y="1181100"/>
                <a:ext cx="8002905" cy="5447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tabLst>
                    <a:tab pos="898525" algn="l"/>
                    <a:tab pos="1039495" algn="l"/>
                  </a:tabLst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495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indent="0" eaLnBrk="1" hangingPunct="1">
                  <a:buNone/>
                </a:pPr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 smtClean="0">
                            <a:latin typeface="Cambria Math" panose="02040503050406030204"/>
                            <a:ea typeface="Cambria Math" panose="02040503050406030204"/>
                          </a:rPr>
                          <m:t>𝜓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 panose="02040503050406030204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[psi] -probability 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occupied.</a:t>
                </a:r>
                <a:endParaRPr lang="en-US" alt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/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en-US" sz="3200" i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-probability of detecting the species in 		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time </a:t>
                </a: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given species is 			present</a:t>
                </a:r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smtClean="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	[psi] —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样地</a:t>
                </a: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</a:t>
                </a:r>
                <a:r>
                  <a:rPr lang="en-US" altLang="en-US" i="1" dirty="0" err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i </a:t>
                </a: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被占用的概率。</a:t>
                </a:r>
                <a:endParaRPr lang="en-US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eaLnBrk="1" hangingPunct="1"/>
                <a:r>
                  <a:rPr lang="en-US" altLang="en-US" i="1" dirty="0" err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p</a:t>
                </a:r>
                <a:r>
                  <a:rPr lang="en-US" altLang="en-US" i="1" baseline="-25000" dirty="0" err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ij</a:t>
                </a: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—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假设物种存在</a:t>
                </a: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r>
                  <a:rPr lang="en-US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在时间</a:t>
                </a:r>
                <a:r>
                  <a:rPr lang="en-US" altLang="en-US" i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j </a:t>
                </a:r>
                <a:r>
                  <a:rPr lang="en-US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检测到物种在</a:t>
                </a:r>
                <a:r>
                  <a:rPr lang="zh-CN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样地</a:t>
                </a:r>
                <a:r>
                  <a:rPr lang="en-US" altLang="en-US" i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 i </a:t>
                </a:r>
                <a:r>
                  <a:rPr lang="en-US" altLang="en-US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的概率</a:t>
                </a:r>
                <a:r>
                  <a:rPr lang="en-US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。</a:t>
                </a:r>
                <a:endParaRPr lang="en-US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8944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181100"/>
                <a:ext cx="8002905" cy="5447665"/>
              </a:xfrm>
              <a:prstGeom prst="rect">
                <a:avLst/>
              </a:prstGeom>
              <a:blipFill rotWithShape="1">
                <a:blip r:embed="rId1"/>
                <a:stretch>
                  <a:fillRect b="-36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44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Parameters: Single-Season Models</a:t>
            </a:r>
            <a:b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模型参数：单季节模型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5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4" name="TextBox 43"/>
          <p:cNvSpPr txBox="1"/>
          <p:nvPr/>
        </p:nvSpPr>
        <p:spPr>
          <a:xfrm>
            <a:off x="2073962" y="383581"/>
            <a:ext cx="5470525" cy="706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  <a:endParaRPr lang="en-CA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分层统计模型 - 2 个过程</a:t>
            </a:r>
            <a:endParaRPr lang="en-CA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1287207" y="1560477"/>
                <a:ext cx="2539365" cy="67564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  <a:r>
                  <a:rPr lang="en-US" altLang="en-CA" sz="2000" b="1" dirty="0"/>
                  <a:t> </a:t>
                </a:r>
                <a:r>
                  <a:rPr lang="zh-CN" altLang="en-US" sz="2000" b="1" dirty="0"/>
                  <a:t>状态模型</a:t>
                </a:r>
                <a:endParaRPr lang="en-CA" sz="2000" b="1" dirty="0"/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539365" cy="675640"/>
              </a:xfrm>
              <a:prstGeom prst="rect">
                <a:avLst/>
              </a:prstGeom>
              <a:blipFill rotWithShape="1">
                <a:blip r:embed="rId2"/>
                <a:stretch>
                  <a:fillRect l="-253" t="-982" r="-248" b="-898"/>
                </a:stretch>
              </a:blipFill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>
            <a:stCxn id="44" idx="2"/>
            <a:endCxn id="45" idx="0"/>
          </p:cNvCxnSpPr>
          <p:nvPr/>
        </p:nvCxnSpPr>
        <p:spPr>
          <a:xfrm flipH="1">
            <a:off x="2556915" y="1090396"/>
            <a:ext cx="2252345" cy="46990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30"/>
          <p:cNvSpPr txBox="1"/>
          <p:nvPr>
            <p:custDataLst>
              <p:tags r:id="rId3"/>
            </p:custDataLst>
          </p:nvPr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现实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31"/>
          <p:cNvSpPr txBox="1"/>
          <p:nvPr>
            <p:custDataLst>
              <p:tags r:id="rId4"/>
            </p:custDataLst>
          </p:nvPr>
        </p:nvSpPr>
        <p:spPr>
          <a:xfrm>
            <a:off x="6403097" y="5537073"/>
            <a:ext cx="1401128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观测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5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1001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3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0000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0"/>
              </a:lnSpc>
            </a:pPr>
            <a:r>
              <a:rPr sz="1350" spc="-10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1111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4" name="TextBox 43"/>
          <p:cNvSpPr txBox="1"/>
          <p:nvPr/>
        </p:nvSpPr>
        <p:spPr>
          <a:xfrm>
            <a:off x="2070787" y="385486"/>
            <a:ext cx="5470525" cy="7067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  <a:endParaRPr lang="en-CA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分层统计模型 - 2 个过程</a:t>
            </a:r>
            <a:endParaRPr lang="en-CA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1287207" y="1560477"/>
                <a:ext cx="2539365" cy="67564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  <a:r>
                  <a:rPr lang="en-US" altLang="en-CA" sz="2000" b="1" dirty="0"/>
                  <a:t> </a:t>
                </a:r>
                <a:r>
                  <a:rPr lang="zh-CN" altLang="en-US" sz="2000" b="1" dirty="0"/>
                  <a:t>状态模型</a:t>
                </a:r>
                <a:endParaRPr lang="en-CA" sz="2000" b="1" dirty="0"/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539365" cy="675640"/>
              </a:xfrm>
              <a:prstGeom prst="rect">
                <a:avLst/>
              </a:prstGeom>
              <a:blipFill rotWithShape="1">
                <a:blip r:embed="rId2"/>
                <a:stretch>
                  <a:fillRect l="-253" t="-982" r="-248" b="-898"/>
                </a:stretch>
              </a:blipFill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>
            <a:stCxn id="44" idx="2"/>
            <a:endCxn id="45" idx="0"/>
          </p:cNvCxnSpPr>
          <p:nvPr/>
        </p:nvCxnSpPr>
        <p:spPr>
          <a:xfrm flipH="1">
            <a:off x="2556915" y="1092301"/>
            <a:ext cx="2249170" cy="467995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048827" y="1530333"/>
            <a:ext cx="3289300" cy="70675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/>
              <a:t>Observation Model</a:t>
            </a:r>
            <a:r>
              <a:rPr lang="en-US" altLang="en-CA" sz="2000" b="1" dirty="0"/>
              <a:t> </a:t>
            </a:r>
            <a:r>
              <a:rPr lang="zh-CN" altLang="en-US" sz="2000" b="1" dirty="0"/>
              <a:t>观测</a:t>
            </a:r>
            <a:r>
              <a:rPr lang="zh-CN" altLang="en-US" sz="2000" b="1" dirty="0"/>
              <a:t>模型</a:t>
            </a:r>
            <a:endParaRPr lang="en-CA" sz="2000" b="1" dirty="0"/>
          </a:p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, t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~ Bernoulli (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*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i,t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CA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498471" y="1044573"/>
            <a:ext cx="986006" cy="4925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30"/>
          <p:cNvSpPr txBox="1"/>
          <p:nvPr>
            <p:custDataLst>
              <p:tags r:id="rId3"/>
            </p:custDataLst>
          </p:nvPr>
        </p:nvSpPr>
        <p:spPr>
          <a:xfrm>
            <a:off x="2154159" y="5537073"/>
            <a:ext cx="732473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y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+mn-ea"/>
              </a:rPr>
              <a:t>现实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31"/>
          <p:cNvSpPr txBox="1"/>
          <p:nvPr>
            <p:custDataLst>
              <p:tags r:id="rId4"/>
            </p:custDataLst>
          </p:nvPr>
        </p:nvSpPr>
        <p:spPr>
          <a:xfrm>
            <a:off x="6403097" y="5537073"/>
            <a:ext cx="1401128" cy="6654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1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endParaRPr sz="21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marL="9525">
              <a:spcBef>
                <a:spcPts val="75"/>
              </a:spcBef>
            </a:pPr>
            <a:r>
              <a:rPr lang="zh-CN" sz="21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观测</a:t>
            </a:r>
            <a:endParaRPr lang="zh-CN" sz="21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457200" y="1698625"/>
            <a:ext cx="8002588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Sites are closed to changes in occupancy state between sampling occasions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heterogeneity that cannot be explained by covariates 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detection process is independent at each site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farther apart, the better, but needs to be tailored to species ecology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在两次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采样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之间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的占用状态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不会发生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没有协变量无法解释的异质性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（即所有的变异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异质性都可以通过已知的因素来解释，而不需要考虑其他未知或未测量的因素）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的检测过程都是独立的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>
              <a:spcBef>
                <a:spcPct val="20000"/>
              </a:spcBef>
              <a:buFontTx/>
              <a:buChar char="•"/>
              <a:tabLst>
                <a:tab pos="898525" algn="l"/>
                <a:tab pos="1039495" algn="l"/>
              </a:tabLst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距离越远越好，但需要根据物种生态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特点</a:t>
            </a:r>
            <a:r>
              <a:rPr 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进行调整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077200" cy="114300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Model assumptions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模型假设</a:t>
            </a:r>
            <a:endParaRPr lang="zh-CN" altLang="en-US" sz="3000" b="1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Timing of repeated surveys</a:t>
            </a:r>
            <a:b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重复调查的时间安排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495"/>
            <a:ext cx="8229600" cy="5543550"/>
          </a:xfrm>
        </p:spPr>
        <p:txBody>
          <a:bodyPr>
            <a:no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Usually conducted as multiple discrete visits (e.g., on different days)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Can also use multiple surveys within a single visit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Multiple independent observers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Potentially introduce heterogeneity into data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Single visit to each site vs. multiple visits to each site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Rotate observers amongst sites on each day 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order each site is sampled within a day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lvl="1" indent="0">
              <a:buNone/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通常进行多次不连续的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（例如，在不同的日子里）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lvl="1" indent="0">
              <a:buNone/>
            </a:pPr>
            <a:r>
              <a:rPr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也可以在单次访问中进行多次调查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ClrTx/>
              <a:buSzTx/>
            </a:pP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多个独立观察员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可能会引入数据的异质性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2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每个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只进行一次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vs. 对每个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进行多次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考察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观察员每天在不同地点轮流观察 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对每个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样地</a:t>
            </a:r>
            <a:r>
              <a:rPr lang="en-US"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在一天内的采样顺序进行排序</a:t>
            </a:r>
            <a:endParaRPr lang="en-US"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78" y="-1"/>
            <a:ext cx="8762999" cy="3529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8" y="3600450"/>
            <a:ext cx="87630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>
            <a:normAutofit/>
          </a:bodyPr>
          <a:lstStyle/>
          <a:p>
            <a:fld id="{5E36FFF3-8FBC-2144-A340-2B54F44226F0}" type="slidenum">
              <a:rPr lang="en-US" smtClean="0"/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8720" y="1811279"/>
            <a:ext cx="3628080" cy="2780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133455"/>
            <a:ext cx="9144001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Complex occupancy models </a:t>
            </a:r>
            <a:endParaRPr lang="en-US" sz="2400" b="1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implemented in programs PRESENCE and MARK</a:t>
            </a:r>
            <a:endParaRPr lang="en-US" sz="2400" b="1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  <a:sym typeface="+mn-ea"/>
              </a:rPr>
              <a:t>复杂的占用模型 </a:t>
            </a:r>
            <a:endParaRPr lang="en-US" sz="2400" b="1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  <a:p>
            <a:pPr algn="ctr"/>
            <a:r>
              <a:rPr lang="en-US" sz="24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  <a:sym typeface="+mn-ea"/>
              </a:rPr>
              <a:t>在 PRESENCE 和 MARK 程序中执行</a:t>
            </a:r>
            <a:endParaRPr lang="en-US" sz="2400" b="1" dirty="0">
              <a:solidFill>
                <a:srgbClr val="00B0F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70" y="4700595"/>
            <a:ext cx="88442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 packages: 	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spOccupancy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(spatial occupancy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空间占用模型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		NIMBLE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(Bayesian platform for model fitting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模型拟合的贝叶斯平台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ubms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(includes random effects; Bayesian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包括随机效应；贝叶斯法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2985" b="5408"/>
          <a:stretch>
            <a:fillRect/>
          </a:stretch>
        </p:blipFill>
        <p:spPr>
          <a:xfrm>
            <a:off x="457200" y="2012655"/>
            <a:ext cx="4016184" cy="21417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6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7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8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9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0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1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2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3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4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5.xml><?xml version="1.0" encoding="utf-8"?>
<p:tagLst xmlns:p="http://schemas.openxmlformats.org/presentationml/2006/main">
  <p:tag name="KSO_WM_DIAGRAM_VIRTUALLY_FRAME" val="{&quot;height&quot;:175.5496062992126,&quot;left&quot;:84.97826771653544,&quot;top&quot;:223.50039370078738,&quot;width&quot;:622.8325984251968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commondata" val="eyJoZGlkIjoiM2MwZTM1NDgyZTEzMGYwNDQyOTIwZWQ0YmNlZDc4Z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12362</Words>
  <Application>WPS 演示</Application>
  <PresentationFormat>On-screen Show (4:3)</PresentationFormat>
  <Paragraphs>652</Paragraphs>
  <Slides>38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7" baseType="lpstr">
      <vt:lpstr>Arial</vt:lpstr>
      <vt:lpstr>宋体</vt:lpstr>
      <vt:lpstr>Wingdings</vt:lpstr>
      <vt:lpstr>Calibri</vt:lpstr>
      <vt:lpstr>Calibri Light</vt:lpstr>
      <vt:lpstr>微软雅黑</vt:lpstr>
      <vt:lpstr>Arial Unicode MS</vt:lpstr>
      <vt:lpstr>等线</vt:lpstr>
      <vt:lpstr>Arial</vt:lpstr>
      <vt:lpstr>Times New Roman</vt:lpstr>
      <vt:lpstr>Cambria Math</vt:lpstr>
      <vt:lpstr>Cambria Math</vt:lpstr>
      <vt:lpstr>MS PGothic</vt:lpstr>
      <vt:lpstr>等线 Light</vt:lpstr>
      <vt:lpstr>黑体</vt:lpstr>
      <vt:lpstr>楷体</vt:lpstr>
      <vt:lpstr>MS Mincho</vt:lpstr>
      <vt:lpstr>Segoe Print</vt:lpstr>
      <vt:lpstr>Office Theme</vt:lpstr>
      <vt:lpstr>Occupancy modeling</vt:lpstr>
      <vt:lpstr>Why use occupancy modeling for population dynamics?</vt:lpstr>
      <vt:lpstr>Parameters of Interest: Occupancy</vt:lpstr>
      <vt:lpstr>Parameters of Interest: Detection</vt:lpstr>
      <vt:lpstr>Why use occupancy?</vt:lpstr>
      <vt:lpstr>Occupancy can be used for: </vt:lpstr>
      <vt:lpstr>Geographic Range</vt:lpstr>
      <vt:lpstr>Habitat Relationships</vt:lpstr>
      <vt:lpstr>Occupancy data</vt:lpstr>
      <vt:lpstr>Occupancy data 占用率数据</vt:lpstr>
      <vt:lpstr>Occupancy data 占用率数据</vt:lpstr>
      <vt:lpstr>2 critical factors when sampling animal populations:</vt:lpstr>
      <vt:lpstr>Occupancy data: Non-detection </vt:lpstr>
      <vt:lpstr>Occupancy Sampling Protocol</vt:lpstr>
      <vt:lpstr>Data Collection</vt:lpstr>
      <vt:lpstr>Data Collection: Detection Error</vt:lpstr>
      <vt:lpstr>Data Collection: Detection Error 数据收集：检测误差</vt:lpstr>
      <vt:lpstr>The Issue with Detection and Occupancy Probability </vt:lpstr>
      <vt:lpstr>Site occupancy: A solution</vt:lpstr>
      <vt:lpstr>Basic Sampling Scheme: Single Season</vt:lpstr>
      <vt:lpstr>Necessary information: Detection histories</vt:lpstr>
      <vt:lpstr>Occupancy protocol</vt:lpstr>
      <vt:lpstr>Occupancy protocol 占用率流程</vt:lpstr>
      <vt:lpstr>Occupancy protocol 占用率流程</vt:lpstr>
      <vt:lpstr>True or false absence?</vt:lpstr>
      <vt:lpstr>True or false absence? 真缺席还是假缺席？</vt:lpstr>
      <vt:lpstr>True or false absence? 真缺席还是假缺席？</vt:lpstr>
      <vt:lpstr>True or false absence? 真缺席还是假缺席？</vt:lpstr>
      <vt:lpstr>Data structure</vt:lpstr>
      <vt:lpstr>Detection, detection, detection</vt:lpstr>
      <vt:lpstr>Necessary information: Detection histories</vt:lpstr>
      <vt:lpstr>Model Parameters: Single-Season Models</vt:lpstr>
      <vt:lpstr>PowerPoint 演示文稿</vt:lpstr>
      <vt:lpstr>PowerPoint 演示文稿</vt:lpstr>
      <vt:lpstr>Model assumptions</vt:lpstr>
      <vt:lpstr>Timing of repeated surveys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choose occupancy modeling for population dynamics?</dc:title>
  <dc:creator>Popescu, Viorel</dc:creator>
  <cp:lastModifiedBy>WCY</cp:lastModifiedBy>
  <cp:revision>124</cp:revision>
  <dcterms:created xsi:type="dcterms:W3CDTF">2019-10-31T19:37:00Z</dcterms:created>
  <dcterms:modified xsi:type="dcterms:W3CDTF">2024-03-28T06:58:43Z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BF282F2A81174796B11F8EC3308EF17B_13</vt:lpwstr>
  </property>
  <property fmtid="{D5CDD505-2E9C-101B-9397-08002B2CF9AE}" pid="3" name="KSOProductBuildVer">
    <vt:lpwstr>2052-12.1.0.16250</vt:lpwstr>
  </property>
</Properties>
</file>