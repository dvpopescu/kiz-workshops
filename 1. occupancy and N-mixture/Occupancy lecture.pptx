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1"/>
  </p:sldMasterIdLst>
  <p:notesMasterIdLst>
    <p:notesMasterId r:id="rId40"/>
  </p:notesMasterIdLst>
  <p:sldIdLst>
    <p:sldId id="295" r:id="rId2"/>
    <p:sldId id="292" r:id="rId3"/>
    <p:sldId id="257" r:id="rId4"/>
    <p:sldId id="293" r:id="rId5"/>
    <p:sldId id="258" r:id="rId6"/>
    <p:sldId id="259" r:id="rId7"/>
    <p:sldId id="290" r:id="rId8"/>
    <p:sldId id="288" r:id="rId9"/>
    <p:sldId id="297" r:id="rId10"/>
    <p:sldId id="298" r:id="rId11"/>
    <p:sldId id="264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267" r:id="rId20"/>
    <p:sldId id="268" r:id="rId21"/>
    <p:sldId id="269" r:id="rId22"/>
    <p:sldId id="265" r:id="rId23"/>
    <p:sldId id="266" r:id="rId24"/>
    <p:sldId id="307" r:id="rId25"/>
    <p:sldId id="308" r:id="rId26"/>
    <p:sldId id="309" r:id="rId27"/>
    <p:sldId id="310" r:id="rId28"/>
    <p:sldId id="311" r:id="rId29"/>
    <p:sldId id="312" r:id="rId30"/>
    <p:sldId id="278" r:id="rId31"/>
    <p:sldId id="279" r:id="rId32"/>
    <p:sldId id="270" r:id="rId33"/>
    <p:sldId id="313" r:id="rId34"/>
    <p:sldId id="314" r:id="rId35"/>
    <p:sldId id="271" r:id="rId36"/>
    <p:sldId id="272" r:id="rId37"/>
    <p:sldId id="306" r:id="rId38"/>
    <p:sldId id="263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BF5383-F145-4BA3-A8A9-C7A83BB06F71}" v="4" dt="2024-04-04T02:25:38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3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orel Popescu" userId="9f284cf50f70590d" providerId="LiveId" clId="{B2BF5383-F145-4BA3-A8A9-C7A83BB06F71}"/>
    <pc:docChg chg="undo custSel modSld">
      <pc:chgData name="Viorel Popescu" userId="9f284cf50f70590d" providerId="LiveId" clId="{B2BF5383-F145-4BA3-A8A9-C7A83BB06F71}" dt="2024-04-04T02:25:53.631" v="7" actId="1076"/>
      <pc:docMkLst>
        <pc:docMk/>
      </pc:docMkLst>
      <pc:sldChg chg="addSp delSp modSp mod">
        <pc:chgData name="Viorel Popescu" userId="9f284cf50f70590d" providerId="LiveId" clId="{B2BF5383-F145-4BA3-A8A9-C7A83BB06F71}" dt="2024-04-04T02:25:53.631" v="7" actId="1076"/>
        <pc:sldMkLst>
          <pc:docMk/>
          <pc:sldMk cId="1669756437" sldId="295"/>
        </pc:sldMkLst>
        <pc:spChg chg="mod ord">
          <ac:chgData name="Viorel Popescu" userId="9f284cf50f70590d" providerId="LiveId" clId="{B2BF5383-F145-4BA3-A8A9-C7A83BB06F71}" dt="2024-04-04T02:25:53.631" v="7" actId="1076"/>
          <ac:spMkLst>
            <pc:docMk/>
            <pc:sldMk cId="1669756437" sldId="295"/>
            <ac:spMk id="2" creationId="{00000000-0000-0000-0000-000000000000}"/>
          </ac:spMkLst>
        </pc:spChg>
        <pc:picChg chg="add mod ord">
          <ac:chgData name="Viorel Popescu" userId="9f284cf50f70590d" providerId="LiveId" clId="{B2BF5383-F145-4BA3-A8A9-C7A83BB06F71}" dt="2024-04-04T02:25:30.001" v="3" actId="167"/>
          <ac:picMkLst>
            <pc:docMk/>
            <pc:sldMk cId="1669756437" sldId="295"/>
            <ac:picMk id="3" creationId="{0E78957C-20E2-EF1B-A76C-E843279E600A}"/>
          </ac:picMkLst>
        </pc:picChg>
        <pc:picChg chg="add mod">
          <ac:chgData name="Viorel Popescu" userId="9f284cf50f70590d" providerId="LiveId" clId="{B2BF5383-F145-4BA3-A8A9-C7A83BB06F71}" dt="2024-04-04T02:25:38.797" v="5"/>
          <ac:picMkLst>
            <pc:docMk/>
            <pc:sldMk cId="1669756437" sldId="295"/>
            <ac:picMk id="4" creationId="{5CDF5F0F-0A57-CE2B-43E3-AC2405DD2AF6}"/>
          </ac:picMkLst>
        </pc:picChg>
        <pc:picChg chg="del">
          <ac:chgData name="Viorel Popescu" userId="9f284cf50f70590d" providerId="LiveId" clId="{B2BF5383-F145-4BA3-A8A9-C7A83BB06F71}" dt="2024-04-04T02:25:18.811" v="0" actId="478"/>
          <ac:picMkLst>
            <pc:docMk/>
            <pc:sldMk cId="1669756437" sldId="295"/>
            <ac:picMk id="1026" creationId="{69FA9C59-D2DE-4CAF-A1CE-6801CF4A92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33491-9FF5-4012-B0D6-146D6CA8F78C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0C07E-DD27-43E6-823C-B159EB06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really is occupancy?</a:t>
            </a:r>
            <a:r>
              <a:rPr lang="en-US" baseline="0" dirty="0"/>
              <a:t> Whether or not a species is present or absent in a space….</a:t>
            </a:r>
            <a:endParaRPr lang="en-US" sz="1200" b="0" i="0" u="none" strike="noStrike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number of occupied sites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total number of sites)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BUT, because not all individuals are detected,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value is not typically known and therefore need to estimate detection probability to estimate occupancy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process?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line that encloses an area containing all of the individuals of the species-this area should include all of the sites occupied by the species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0B51E-9FB6-440E-B404-4C41DA7CABEC}" type="slidenum">
              <a:rPr lang="en-US"/>
              <a:pPr/>
              <a:t>19</a:t>
            </a:fld>
            <a:endParaRPr lang="en-US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6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9A7C07-17C1-41A7-ABD4-D831D640973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713"/>
            <a:ext cx="5486400" cy="41138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23" tIns="45712" rIns="91423" bIns="45712"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248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8FC868-4FA6-4C9D-921A-D06E12873C53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3948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1A00BD-5D0B-43B7-A857-B3EB4C996A2D}" type="slidenum">
              <a:rPr lang="en-US"/>
              <a:pPr/>
              <a:t>35</a:t>
            </a:fld>
            <a:endParaRPr lang="en-US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75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7590167F-0845-4AF3-B2AF-EC8774CB4F68}" type="slidenum">
              <a:rPr lang="en-US" sz="1200"/>
              <a:pPr algn="r" eaLnBrk="0" hangingPunct="0"/>
              <a:t>38</a:t>
            </a:fld>
            <a:endParaRPr lang="en-US" sz="120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/>
                <a:cs typeface="ＭＳ Ｐゴシック"/>
              </a:rPr>
              <a:t>Important tools for estimating N for mobile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speices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….  1. Research CAPTURES, MARKS, and RELEASES as many individuals as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possilbe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# Marked = M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2. Allows enough time for the marked individuals to mix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intot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whole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populaiton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then 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3. Resampled the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poupplation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recording how many individuals are sampled (s) and how many of them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possed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mark from the 1</a:t>
            </a:r>
            <a:r>
              <a:rPr lang="en-US" baseline="30000" dirty="0">
                <a:latin typeface="Arial" charset="0"/>
                <a:ea typeface="ＭＳ Ｐゴシック"/>
                <a:cs typeface="ＭＳ Ｐゴシック"/>
              </a:rPr>
              <a:t>st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visit and are therefore recaptured (r)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24288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6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5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00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8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85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3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5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09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5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DD742-0691-45B7-82EB-99995F92A18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olf howling at the night&#10;&#10;Description automatically generated">
            <a:extLst>
              <a:ext uri="{FF2B5EF4-FFF2-40B4-BE49-F238E27FC236}">
                <a16:creationId xmlns:a16="http://schemas.microsoft.com/office/drawing/2014/main" id="{5CDF5F0F-0A57-CE2B-43E3-AC2405DD2A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599" y="270937"/>
            <a:ext cx="6858000" cy="9795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Occupancy modeling</a:t>
            </a:r>
          </a:p>
        </p:txBody>
      </p:sp>
    </p:spTree>
    <p:extLst>
      <p:ext uri="{BB962C8B-B14F-4D97-AF65-F5344CB8AC3E}">
        <p14:creationId xmlns:p14="http://schemas.microsoft.com/office/powerpoint/2010/main" val="1669756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Why use occupancy modeling for population dynamics?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836236"/>
            <a:ext cx="7556313" cy="414496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Occupancy modeling: a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tool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estimate true populations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use occupancy (presence/absence) data to look at population trends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ability to estimate populations often confounded by the inability to accurately count species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Occupancy modeling can be used to get more accurate estimates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Able to use occupancy modeling to look at species distributions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Multiple season/year data can show how these distributions are changing over time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Parameters of Interest: Occupancy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proportion of area, patches or sample units that is occupied</a:t>
            </a:r>
          </a:p>
          <a:p>
            <a:pPr lvl="1"/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 a species presence</a:t>
            </a:r>
          </a:p>
          <a:p>
            <a:pPr lvl="1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l-GR" sz="2800" b="1" dirty="0">
                <a:latin typeface="Arial" panose="020B0604020202020204" pitchFamily="34" charset="0"/>
                <a:cs typeface="Arial" panose="020B0604020202020204" pitchFamily="34" charset="0"/>
              </a:rPr>
              <a:t>Ψ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(psi)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: probability that a randomly selected site or sampling unit in an area of interest is occupied by a species</a:t>
            </a:r>
          </a:p>
          <a:p>
            <a:pPr lvl="1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Parameters of Interest: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Detection Probability (</a:t>
            </a:r>
            <a:r>
              <a:rPr lang="en-US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Pj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probability of detecting the species during the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5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survey, given it is present</a:t>
            </a:r>
          </a:p>
          <a:p>
            <a:pPr>
              <a:buNone/>
            </a:pP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 considered an a priori expectation that a particular site will be occupied by the species as determined by some underlying process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Proportion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: realization of that process </a:t>
            </a:r>
          </a:p>
          <a:p>
            <a:pPr>
              <a:buNone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distinction becomes important when a large portion of the population of interest is sampled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Why use occupancy?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144963"/>
          </a:xfrm>
        </p:spPr>
        <p:txBody>
          <a:bodyPr>
            <a:normAutofit/>
          </a:bodyPr>
          <a:lstStyle/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Presence/absence data is easier to sample and collect than abundance, especially for rare species</a:t>
            </a:r>
          </a:p>
          <a:p>
            <a:pPr lvl="1" fontAlgn="base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Requires less effort and is less expensive to collect</a:t>
            </a:r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Can be used to study both single species and multiple species</a:t>
            </a:r>
          </a:p>
          <a:p>
            <a:pPr fontAlgn="base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For monitoring it can used as a metric reflecting the current state of the population</a:t>
            </a:r>
          </a:p>
          <a:p>
            <a:pPr>
              <a:buNone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8"/>
            <a:ext cx="7455273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can be used for: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0813"/>
            <a:ext cx="3937819" cy="5002191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Metapopulation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dynamics (patch occupancy models)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Observed colonization and extinction 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and range 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Animal invasions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Disease dynamics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Habitat relationships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Extensive monitoring programs: 'trends' or changes in occupancy over time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Image result for metapopulation&quot;">
            <a:extLst>
              <a:ext uri="{FF2B5EF4-FFF2-40B4-BE49-F238E27FC236}">
                <a16:creationId xmlns:a16="http://schemas.microsoft.com/office/drawing/2014/main" id="{A5E19DDF-C7D0-4C71-9183-DE890312F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983" y="2105925"/>
            <a:ext cx="4387339" cy="355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Geographic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144963"/>
          </a:xfrm>
        </p:spPr>
        <p:txBody>
          <a:bodyPr>
            <a:noAutofit/>
          </a:bodyPr>
          <a:lstStyle/>
          <a:p>
            <a:pPr fontAlgn="base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Area of occurrence: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set of grid cells that contain at least one individual when a grid is superimposed on the area containing all individuals of a species (but may contain cells with no individuals)</a:t>
            </a:r>
            <a:b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Screen Shot 2017-02-17 at 9.50.29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707" y="3140480"/>
            <a:ext cx="5674981" cy="3426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Habitat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372888"/>
            <a:ext cx="7556313" cy="4372276"/>
          </a:xfrm>
        </p:spPr>
        <p:txBody>
          <a:bodyPr>
            <a:noAutofit/>
          </a:bodyPr>
          <a:lstStyle/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Use presence/absence data to determine habitat variables that describe sites occupied by species (or not)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Use habitat variables to which a species responds and then develop habitat models or predict abundance/occupancy 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Majority of habitat studies based on occupancy have been directed at conservation and management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False-absences need to be considered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Presence-absence data: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estimation of occupancy rates and associated dynamics that are fundamental for habitat model and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metapopulation studies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Whether a “patch” (or site) is occupied by one or more individuals of a population or species 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51683"/>
            <a:ext cx="7556313" cy="4144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Unit of interest: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extent of occurrence or area of occupancy</a:t>
            </a:r>
          </a:p>
          <a:p>
            <a:pPr>
              <a:buNone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Example: for pond dwelling amphibians, the </a:t>
            </a:r>
            <a:r>
              <a:rPr lang="en-US" sz="2500" u="sng" dirty="0">
                <a:latin typeface="Arial" panose="020B0604020202020204" pitchFamily="34" charset="0"/>
                <a:cs typeface="Arial" panose="020B0604020202020204" pitchFamily="34" charset="0"/>
              </a:rPr>
              <a:t>pond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is the unit of interest 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14" y="3844083"/>
            <a:ext cx="3449292" cy="2583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data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98474" y="1649655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Unit of interest: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extent of occurrence or area of occupancy</a:t>
            </a:r>
          </a:p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Example: for a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terrestrial animal being studied units may be defined as 1,000 hectare blocks within a national park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None/>
              <a:tabLst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759" y="3976768"/>
            <a:ext cx="3247528" cy="24356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7-02-17 at 9.04.50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404" y="2097869"/>
            <a:ext cx="5392596" cy="40142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 critical factors when sampling animal populations: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146" y="1960581"/>
            <a:ext cx="3737145" cy="4625819"/>
          </a:xfrm>
        </p:spPr>
        <p:txBody>
          <a:bodyPr>
            <a:normAutofit/>
          </a:bodyPr>
          <a:lstStyle/>
          <a:p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Spatial variation</a:t>
            </a: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Investigators select a 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of locations to survey </a:t>
            </a:r>
          </a:p>
          <a:p>
            <a:pPr fontAlgn="base"/>
            <a:r>
              <a:rPr lang="en-US" sz="2300" b="1" dirty="0" err="1">
                <a:latin typeface="Arial" panose="020B0604020202020204" pitchFamily="34" charset="0"/>
                <a:cs typeface="Arial" panose="020B0604020202020204" pitchFamily="34" charset="0"/>
              </a:rPr>
              <a:t>Detectability</a:t>
            </a: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Even in surveyed areas, animals and whole species can go 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undetected</a:t>
            </a:r>
          </a:p>
          <a:p>
            <a:pPr lvl="1" fontAlgn="base"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14711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data: Non-detection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3" y="1600200"/>
            <a:ext cx="8386219" cy="4852369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Non-detection does not equate to species absence</a:t>
            </a:r>
          </a:p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Bias: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sites may be visited but no animals detected therefore producing false negatives</a:t>
            </a:r>
          </a:p>
          <a:p>
            <a:pPr lvl="1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“False-absence”</a:t>
            </a:r>
          </a:p>
          <a:p>
            <a:pPr fontAlgn="base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Failure to account for imperfect detectability will result in: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Underestimates of site occupancy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Biased estimates of local colonization and extinction probabilities and turnover rates</a:t>
            </a:r>
          </a:p>
          <a:p>
            <a:pPr fontAlgn="base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Therefore need to incorporate detection as a parameter into occupancy models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Sampling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514395"/>
            <a:ext cx="7556313" cy="5075463"/>
          </a:xfrm>
        </p:spPr>
        <p:txBody>
          <a:bodyPr>
            <a:noAutofit/>
          </a:bodyPr>
          <a:lstStyle/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No restrictions on sampling approaches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Can include: visual observations of animals, captures of animals in traps or mist nets, observations of animal tracks, detection of animal vocalizations, camera traps</a:t>
            </a:r>
          </a:p>
          <a:p>
            <a:pPr fontAlgn="base"/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Survey produces a list of surveyed sites that are: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“Occupied” (species detected)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“Unoccupied” (species not detected)</a:t>
            </a:r>
          </a:p>
          <a:p>
            <a:pPr fontAlgn="base"/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Counts of occupied sites are used to compute the proportion of occupied sites among all sites visited 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Estimate of occupancy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949" y="1563418"/>
            <a:ext cx="7556313" cy="5045360"/>
          </a:xfrm>
        </p:spPr>
        <p:txBody>
          <a:bodyPr>
            <a:noAutofit/>
          </a:bodyPr>
          <a:lstStyle/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Data is collected by visiting  a number of sites and recording whether individuals of interest are present (recorded as 1) or not present (0)  </a:t>
            </a:r>
          </a:p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Important to repeat surveys over a short time frame 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(no changes in the state of a given site are allowed)</a:t>
            </a:r>
          </a:p>
          <a:p>
            <a:pPr fontAlgn="base"/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Occupancy probability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: calculated as the proportion of sites that are occupied</a:t>
            </a:r>
          </a:p>
          <a:p>
            <a:pPr fontAlgn="base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Extinction probability: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calculated as the proportion of occupied sites at time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not occupied at time t+1. </a:t>
            </a:r>
          </a:p>
          <a:p>
            <a:pPr fontAlgn="base"/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Results can be confounded by detection error 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Recorded ‘absence’ may be a ‘non-detection’ of available individuals and not true absence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Collection: Detection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52596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Detection probability (</a:t>
            </a:r>
            <a:r>
              <a:rPr lang="en-US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Factors other than abundance may influence detection probability</a:t>
            </a:r>
          </a:p>
          <a:p>
            <a:pPr lvl="1"/>
            <a:r>
              <a:rPr lang="en-US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animals may be more visible or detectable in one habitat than another; weather patterns may influence detection, etc.</a:t>
            </a:r>
          </a:p>
          <a:p>
            <a:pPr lvl="1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Potential for misleading inference about true relationship between occupancy and habitat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If detection probability can be calculated, then unbiased estimators of occupancy, extinction and colonization can be derived 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Collection: Detection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52285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Detection Error Solutions:</a:t>
            </a:r>
          </a:p>
          <a:p>
            <a:pPr marL="457200" indent="-457200"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Dealing with false-absences by visiting sites multiple times to avoid missing a species</a:t>
            </a:r>
          </a:p>
          <a:p>
            <a:pPr marL="457200" indent="-457200"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Statistically address the issue by incorporating detection parameters into occupancy models</a:t>
            </a:r>
          </a:p>
          <a:p>
            <a:pPr marL="457200" indent="-457200">
              <a:buNone/>
            </a:pP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Best Case Scenario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: incorporate BOTH collection of additional information (visiting site multiple times) into sampling protocol and utilizing models that incorporate detection probabilities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312484"/>
            <a:ext cx="7556313" cy="11161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Issue with Detection and Occupancy Probability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823293"/>
            <a:ext cx="8128365" cy="4989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Wildlife species are rarely detected with 100% accuracy</a:t>
            </a:r>
          </a:p>
          <a:p>
            <a:pPr>
              <a:buNone/>
            </a:pP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The issue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measure of occupancy (presence/absence at a set of sites) is confounded with the detectability of the species</a:t>
            </a:r>
          </a:p>
          <a:p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Detectability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) can vary among study sites</a:t>
            </a: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Can be related to site and survey level parameters: t</a:t>
            </a: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emperature, precipitation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Due to variation in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detectability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presence/absence data cannot be simply analyzed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Inferences of site characteristics on occupancy will be hard to discern reliably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458200" cy="1143000"/>
          </a:xfrm>
        </p:spPr>
        <p:txBody>
          <a:bodyPr>
            <a:normAutofit/>
          </a:bodyPr>
          <a:lstStyle/>
          <a:p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Site occupancy: A solution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8077200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MacKenzie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et al. 2002 (Ecology)							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 design issues: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			 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Temporal replication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repeat visits to sample units</a:t>
            </a:r>
          </a:p>
          <a:p>
            <a:pPr lvl="2">
              <a:lnSpc>
                <a:spcPct val="90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Replicate visits occur within a relatively short period of time (e.g., a breeding season) 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									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9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Spatial replication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randomly selected ‘sites’ or sample units within area of interest  				</a:t>
            </a:r>
          </a:p>
          <a:p>
            <a:pPr>
              <a:lnSpc>
                <a:spcPct val="90000"/>
              </a:lnSpc>
            </a:pP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41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Basic Sampling Scheme:</a:t>
            </a:r>
            <a:b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 Season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altLang="en-US" sz="37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NZ" altLang="en-US" dirty="0">
                <a:latin typeface="Arial" panose="020B0604020202020204" pitchFamily="34" charset="0"/>
                <a:cs typeface="Arial" panose="020B0604020202020204" pitchFamily="34" charset="0"/>
              </a:rPr>
              <a:t> sites are surveyed, each at </a:t>
            </a:r>
            <a:r>
              <a:rPr lang="en-NZ" alt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NZ" altLang="en-US" dirty="0">
                <a:latin typeface="Arial" panose="020B0604020202020204" pitchFamily="34" charset="0"/>
                <a:cs typeface="Arial" panose="020B0604020202020204" pitchFamily="34" charset="0"/>
              </a:rPr>
              <a:t> distinct sampling occasions.</a:t>
            </a:r>
          </a:p>
          <a:p>
            <a:endParaRPr lang="en-NZ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Z" altLang="en-US" dirty="0">
                <a:latin typeface="Arial" panose="020B0604020202020204" pitchFamily="34" charset="0"/>
                <a:cs typeface="Arial" panose="020B0604020202020204" pitchFamily="34" charset="0"/>
              </a:rPr>
              <a:t>Species is detected/not detected at each occasion.</a:t>
            </a:r>
          </a:p>
        </p:txBody>
      </p:sp>
    </p:spTree>
    <p:extLst>
      <p:ext uri="{BB962C8B-B14F-4D97-AF65-F5344CB8AC3E}">
        <p14:creationId xmlns:p14="http://schemas.microsoft.com/office/powerpoint/2010/main" val="263192604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Necessary information: Detection histories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145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Detection history: Record for each visited site or sample unit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 denotes detection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 denotes non-detection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 detection history: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1 0 0 1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Denotes 4 visits to the site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Target species detected during visits 1 and 4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 does not necessarily mean the species was absent</a:t>
            </a:r>
          </a:p>
          <a:p>
            <a:pPr lvl="2"/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detected, but could be there!</a:t>
            </a:r>
          </a:p>
        </p:txBody>
      </p:sp>
    </p:spTree>
    <p:extLst>
      <p:ext uri="{BB962C8B-B14F-4D97-AF65-F5344CB8AC3E}">
        <p14:creationId xmlns:p14="http://schemas.microsoft.com/office/powerpoint/2010/main" val="310886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93965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Occupancy</a:t>
            </a:r>
            <a:r>
              <a:rPr b="1" spc="-4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endParaRPr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3047212" y="26416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1811398" y="39285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3538152" y="372533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13388" y="3079623"/>
            <a:ext cx="409956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sampling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surveyed</a:t>
            </a:r>
            <a:endParaRPr sz="2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4243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0564" y="2355855"/>
            <a:ext cx="3580924" cy="3137059"/>
          </a:xfrm>
          <a:custGeom>
            <a:avLst/>
            <a:gdLst/>
            <a:ahLst/>
            <a:cxnLst/>
            <a:rect l="l" t="t" r="r" b="b"/>
            <a:pathLst>
              <a:path w="4774565" h="4182745">
                <a:moveTo>
                  <a:pt x="1320456" y="101600"/>
                </a:moveTo>
                <a:lnTo>
                  <a:pt x="287792" y="524934"/>
                </a:lnTo>
                <a:lnTo>
                  <a:pt x="0" y="1303867"/>
                </a:lnTo>
                <a:lnTo>
                  <a:pt x="270862" y="2523068"/>
                </a:lnTo>
                <a:lnTo>
                  <a:pt x="1828324" y="4165601"/>
                </a:lnTo>
                <a:lnTo>
                  <a:pt x="3605860" y="4182535"/>
                </a:lnTo>
                <a:lnTo>
                  <a:pt x="4333804" y="3318935"/>
                </a:lnTo>
                <a:lnTo>
                  <a:pt x="4604667" y="1862668"/>
                </a:lnTo>
                <a:lnTo>
                  <a:pt x="4773956" y="660400"/>
                </a:lnTo>
                <a:lnTo>
                  <a:pt x="3639718" y="321734"/>
                </a:lnTo>
                <a:lnTo>
                  <a:pt x="2860987" y="0"/>
                </a:lnTo>
                <a:lnTo>
                  <a:pt x="2031471" y="67734"/>
                </a:lnTo>
                <a:lnTo>
                  <a:pt x="1320456" y="101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1079224" y="28892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algn="ctr">
              <a:spcBef>
                <a:spcPts val="596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5409" y="2838455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549" y="38036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algn="ctr">
              <a:spcBef>
                <a:spcPts val="596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3614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algn="ctr">
              <a:spcBef>
                <a:spcPts val="589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6756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0581" y="4400555"/>
            <a:ext cx="800100" cy="35298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248" rIns="0" bIns="0" rtlCol="0">
            <a:spAutoFit/>
          </a:bodyPr>
          <a:lstStyle/>
          <a:p>
            <a:pPr algn="ctr">
              <a:spcBef>
                <a:spcPts val="593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13388" y="3079623"/>
            <a:ext cx="409956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sampling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surveyed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3388" y="3641979"/>
            <a:ext cx="457581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2100" spc="-1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100" spc="-2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detection/non-detection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660DD54-F293-FD2B-13E2-ACBE5200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3CC54386-1003-BEE6-98EE-5B98D203207B}"/>
              </a:ext>
            </a:extLst>
          </p:cNvPr>
          <p:cNvSpPr txBox="1">
            <a:spLocks/>
          </p:cNvSpPr>
          <p:nvPr/>
        </p:nvSpPr>
        <p:spPr>
          <a:xfrm>
            <a:off x="0" y="593965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Occupancy</a:t>
            </a:r>
            <a:r>
              <a:rPr lang="en-US" b="1" spc="-4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124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0564" y="2355855"/>
            <a:ext cx="3580924" cy="3137059"/>
          </a:xfrm>
          <a:custGeom>
            <a:avLst/>
            <a:gdLst/>
            <a:ahLst/>
            <a:cxnLst/>
            <a:rect l="l" t="t" r="r" b="b"/>
            <a:pathLst>
              <a:path w="4774565" h="4182745">
                <a:moveTo>
                  <a:pt x="1320456" y="101600"/>
                </a:moveTo>
                <a:lnTo>
                  <a:pt x="287792" y="524934"/>
                </a:lnTo>
                <a:lnTo>
                  <a:pt x="0" y="1303867"/>
                </a:lnTo>
                <a:lnTo>
                  <a:pt x="270862" y="2523068"/>
                </a:lnTo>
                <a:lnTo>
                  <a:pt x="1828324" y="4165601"/>
                </a:lnTo>
                <a:lnTo>
                  <a:pt x="3605860" y="4182535"/>
                </a:lnTo>
                <a:lnTo>
                  <a:pt x="4333804" y="3318935"/>
                </a:lnTo>
                <a:lnTo>
                  <a:pt x="4604667" y="1862668"/>
                </a:lnTo>
                <a:lnTo>
                  <a:pt x="4773956" y="660400"/>
                </a:lnTo>
                <a:lnTo>
                  <a:pt x="3639718" y="321734"/>
                </a:lnTo>
                <a:lnTo>
                  <a:pt x="2860987" y="0"/>
                </a:lnTo>
                <a:lnTo>
                  <a:pt x="2031471" y="67734"/>
                </a:lnTo>
                <a:lnTo>
                  <a:pt x="1320456" y="101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1079224" y="28892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44780">
              <a:spcBef>
                <a:spcPts val="596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5409" y="2838455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51448">
              <a:spcBef>
                <a:spcPts val="600"/>
              </a:spcBef>
            </a:pPr>
            <a:r>
              <a:rPr b="1" spc="-26" dirty="0">
                <a:solidFill>
                  <a:srgbClr val="FFFFFF"/>
                </a:solidFill>
                <a:latin typeface="Arial"/>
                <a:cs typeface="Arial"/>
              </a:rPr>
              <a:t>0011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549" y="38036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51448">
              <a:spcBef>
                <a:spcPts val="596"/>
              </a:spcBef>
            </a:pPr>
            <a:r>
              <a:rPr b="1" spc="-26" dirty="0">
                <a:solidFill>
                  <a:srgbClr val="FFFFFF"/>
                </a:solidFill>
                <a:latin typeface="Arial"/>
                <a:cs typeface="Arial"/>
              </a:rPr>
              <a:t>1011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3614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marL="144780">
              <a:spcBef>
                <a:spcPts val="589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6756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44780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0581" y="4400555"/>
            <a:ext cx="800100" cy="35298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248" rIns="0" bIns="0" rtlCol="0">
            <a:spAutoFit/>
          </a:bodyPr>
          <a:lstStyle/>
          <a:p>
            <a:pPr marL="163830">
              <a:spcBef>
                <a:spcPts val="593"/>
              </a:spcBef>
            </a:pPr>
            <a:r>
              <a:rPr b="1" spc="-98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13388" y="3079623"/>
            <a:ext cx="409956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sampling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surveyed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3388" y="3641979"/>
            <a:ext cx="457581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2100" spc="-1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100" spc="-2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detection/non-detection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13388" y="4192905"/>
            <a:ext cx="380238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Replicate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surveys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100" spc="-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endParaRPr sz="2100">
              <a:latin typeface="Arial"/>
              <a:cs typeface="Arial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B3A913C-CFD9-26BE-F890-D212F996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A9CFE60-2B2D-4E03-53C0-4F98F810B0FC}"/>
              </a:ext>
            </a:extLst>
          </p:cNvPr>
          <p:cNvSpPr txBox="1">
            <a:spLocks/>
          </p:cNvSpPr>
          <p:nvPr/>
        </p:nvSpPr>
        <p:spPr>
          <a:xfrm>
            <a:off x="0" y="593965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Occupancy</a:t>
            </a:r>
            <a:r>
              <a:rPr lang="en-US" b="1" spc="-4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C478366-A30D-F864-F696-9E5B1A41832D}"/>
              </a:ext>
            </a:extLst>
          </p:cNvPr>
          <p:cNvSpPr/>
          <p:nvPr/>
        </p:nvSpPr>
        <p:spPr>
          <a:xfrm>
            <a:off x="2409334" y="351674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B1F46-13E9-E46E-5DF4-C5F0AA16AD6F}"/>
              </a:ext>
            </a:extLst>
          </p:cNvPr>
          <p:cNvSpPr/>
          <p:nvPr/>
        </p:nvSpPr>
        <p:spPr>
          <a:xfrm>
            <a:off x="1479274" y="4403340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3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3" name="object 3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" name="object 4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13" name="object 13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0" y="700286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spc="-3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b="1" spc="-19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34762FB-BC60-2D52-C98F-8CFF01DCC105}"/>
              </a:ext>
            </a:extLst>
          </p:cNvPr>
          <p:cNvSpPr/>
          <p:nvPr/>
        </p:nvSpPr>
        <p:spPr>
          <a:xfrm>
            <a:off x="2409334" y="351674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A7069D-FC86-4E26-BE6F-48EC39E5365F}"/>
              </a:ext>
            </a:extLst>
          </p:cNvPr>
          <p:cNvSpPr/>
          <p:nvPr/>
        </p:nvSpPr>
        <p:spPr>
          <a:xfrm>
            <a:off x="1479274" y="4403340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49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02409" y="2355855"/>
            <a:ext cx="3580924" cy="3137059"/>
          </a:xfrm>
          <a:custGeom>
            <a:avLst/>
            <a:gdLst/>
            <a:ahLst/>
            <a:cxnLst/>
            <a:rect l="l" t="t" r="r" b="b"/>
            <a:pathLst>
              <a:path w="4774565" h="4182745">
                <a:moveTo>
                  <a:pt x="1320456" y="101600"/>
                </a:moveTo>
                <a:lnTo>
                  <a:pt x="287792" y="524934"/>
                </a:lnTo>
                <a:lnTo>
                  <a:pt x="0" y="1303867"/>
                </a:lnTo>
                <a:lnTo>
                  <a:pt x="270862" y="2523068"/>
                </a:lnTo>
                <a:lnTo>
                  <a:pt x="1828324" y="4165601"/>
                </a:lnTo>
                <a:lnTo>
                  <a:pt x="3605860" y="4182535"/>
                </a:lnTo>
                <a:lnTo>
                  <a:pt x="4333804" y="3318935"/>
                </a:lnTo>
                <a:lnTo>
                  <a:pt x="4604667" y="1862668"/>
                </a:lnTo>
                <a:lnTo>
                  <a:pt x="4773956" y="660400"/>
                </a:lnTo>
                <a:lnTo>
                  <a:pt x="3639718" y="321734"/>
                </a:lnTo>
                <a:lnTo>
                  <a:pt x="2860988" y="0"/>
                </a:lnTo>
                <a:lnTo>
                  <a:pt x="2031471" y="67734"/>
                </a:lnTo>
                <a:lnTo>
                  <a:pt x="1320456" y="101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5561067" y="28892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44780">
              <a:spcBef>
                <a:spcPts val="596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67254" y="2838455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51448">
              <a:spcBef>
                <a:spcPts val="600"/>
              </a:spcBef>
            </a:pPr>
            <a:r>
              <a:rPr b="1" spc="-26" dirty="0">
                <a:solidFill>
                  <a:srgbClr val="FFFFFF"/>
                </a:solidFill>
                <a:latin typeface="Arial"/>
                <a:cs typeface="Arial"/>
              </a:rPr>
              <a:t>0011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0396" y="38036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51448">
              <a:spcBef>
                <a:spcPts val="596"/>
              </a:spcBef>
            </a:pPr>
            <a:r>
              <a:rPr b="1" spc="-26" dirty="0">
                <a:solidFill>
                  <a:srgbClr val="FFFFFF"/>
                </a:solidFill>
                <a:latin typeface="Arial"/>
                <a:cs typeface="Arial"/>
              </a:rPr>
              <a:t>1011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5458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marL="144780">
              <a:spcBef>
                <a:spcPts val="589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8601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44780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2426" y="4400555"/>
            <a:ext cx="800100" cy="35298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248" rIns="0" bIns="0" rtlCol="0">
            <a:spAutoFit/>
          </a:bodyPr>
          <a:lstStyle/>
          <a:p>
            <a:pPr marL="163830">
              <a:spcBef>
                <a:spcPts val="593"/>
              </a:spcBef>
            </a:pPr>
            <a:r>
              <a:rPr b="1" spc="-98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1" name="object 11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1" name="object 21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0EF9266-1629-9674-CF31-ECAFDE8E8F16}"/>
              </a:ext>
            </a:extLst>
          </p:cNvPr>
          <p:cNvSpPr/>
          <p:nvPr/>
        </p:nvSpPr>
        <p:spPr>
          <a:xfrm>
            <a:off x="2409334" y="351674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18791D6-AE8A-6C47-338B-8ADA5C41F4F7}"/>
              </a:ext>
            </a:extLst>
          </p:cNvPr>
          <p:cNvSpPr/>
          <p:nvPr/>
        </p:nvSpPr>
        <p:spPr>
          <a:xfrm>
            <a:off x="1479274" y="4403340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0514D08-076C-F80B-8070-E21F4EF76C44}"/>
              </a:ext>
            </a:extLst>
          </p:cNvPr>
          <p:cNvSpPr/>
          <p:nvPr/>
        </p:nvSpPr>
        <p:spPr>
          <a:xfrm>
            <a:off x="6910207" y="3548544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14587B0-3FE8-D5D6-50D5-8275F8CA9BBD}"/>
              </a:ext>
            </a:extLst>
          </p:cNvPr>
          <p:cNvSpPr/>
          <p:nvPr/>
        </p:nvSpPr>
        <p:spPr>
          <a:xfrm>
            <a:off x="5980147" y="443513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B75C5B57-22B3-4C75-4363-20567388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object 16">
            <a:extLst>
              <a:ext uri="{FF2B5EF4-FFF2-40B4-BE49-F238E27FC236}">
                <a16:creationId xmlns:a16="http://schemas.microsoft.com/office/drawing/2014/main" id="{E445ED7A-46D3-958B-5041-2264911DDD84}"/>
              </a:ext>
            </a:extLst>
          </p:cNvPr>
          <p:cNvSpPr txBox="1">
            <a:spLocks/>
          </p:cNvSpPr>
          <p:nvPr/>
        </p:nvSpPr>
        <p:spPr>
          <a:xfrm>
            <a:off x="0" y="700286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 spc="-3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b="1" spc="-19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473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marL="144780">
              <a:spcBef>
                <a:spcPts val="589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44780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F3F2F309-C4DE-3AF5-CC22-46DE61B1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object 16">
            <a:extLst>
              <a:ext uri="{FF2B5EF4-FFF2-40B4-BE49-F238E27FC236}">
                <a16:creationId xmlns:a16="http://schemas.microsoft.com/office/drawing/2014/main" id="{963848DC-0E4B-CA78-66D1-4018067077C2}"/>
              </a:ext>
            </a:extLst>
          </p:cNvPr>
          <p:cNvSpPr txBox="1">
            <a:spLocks/>
          </p:cNvSpPr>
          <p:nvPr/>
        </p:nvSpPr>
        <p:spPr>
          <a:xfrm>
            <a:off x="0" y="700286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 spc="-3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b="1" spc="-19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332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2"/>
            <a:ext cx="800100" cy="42175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6191" rIns="0" bIns="0" rtlCol="0">
            <a:spAutoFit/>
          </a:bodyPr>
          <a:lstStyle/>
          <a:p>
            <a:pPr algn="ctr">
              <a:spcBef>
                <a:spcPts val="49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6"/>
            <a:ext cx="800100" cy="42319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spcBef>
                <a:spcPts val="60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58B5B77F-3771-5FCB-9E00-16D0B463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object 16">
            <a:extLst>
              <a:ext uri="{FF2B5EF4-FFF2-40B4-BE49-F238E27FC236}">
                <a16:creationId xmlns:a16="http://schemas.microsoft.com/office/drawing/2014/main" id="{CD1A29D9-C268-6D71-946B-437F7142A530}"/>
              </a:ext>
            </a:extLst>
          </p:cNvPr>
          <p:cNvSpPr txBox="1">
            <a:spLocks/>
          </p:cNvSpPr>
          <p:nvPr/>
        </p:nvSpPr>
        <p:spPr>
          <a:xfrm>
            <a:off x="0" y="700286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 spc="-3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b="1" spc="-19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965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251" y="1103305"/>
            <a:ext cx="2289810" cy="44820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sz="2850" spc="-4" dirty="0"/>
              <a:t>Data</a:t>
            </a:r>
            <a:r>
              <a:rPr sz="2850" spc="-68" dirty="0"/>
              <a:t> </a:t>
            </a:r>
            <a:r>
              <a:rPr sz="2850" spc="-4" dirty="0"/>
              <a:t>structure</a:t>
            </a:r>
            <a:endParaRPr sz="2850"/>
          </a:p>
        </p:txBody>
      </p:sp>
      <p:sp>
        <p:nvSpPr>
          <p:cNvPr id="3" name="object 3"/>
          <p:cNvSpPr txBox="1"/>
          <p:nvPr/>
        </p:nvSpPr>
        <p:spPr>
          <a:xfrm>
            <a:off x="868251" y="2164079"/>
            <a:ext cx="4643914" cy="83035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Sampling</a:t>
            </a:r>
            <a:r>
              <a:rPr sz="1875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sz="1875" spc="-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875" spc="-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i="1" spc="-4" dirty="0">
                <a:solidFill>
                  <a:srgbClr val="FFFFFF"/>
                </a:solidFill>
                <a:latin typeface="Arial"/>
                <a:cs typeface="Arial"/>
              </a:rPr>
              <a:t>sites</a:t>
            </a:r>
            <a:endParaRPr sz="1875" dirty="0">
              <a:latin typeface="Arial"/>
              <a:cs typeface="Arial"/>
            </a:endParaRPr>
          </a:p>
          <a:p>
            <a:pPr marL="243364" indent="-233839">
              <a:spcBef>
                <a:spcPts val="1871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1875" spc="-19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 do repeated</a:t>
            </a:r>
            <a:r>
              <a:rPr sz="18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i="1" spc="-4" dirty="0">
                <a:solidFill>
                  <a:srgbClr val="FFFFFF"/>
                </a:solidFill>
                <a:latin typeface="Arial"/>
                <a:cs typeface="Arial"/>
              </a:rPr>
              <a:t>observations </a:t>
            </a: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875" spc="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1875" dirty="0">
                <a:solidFill>
                  <a:srgbClr val="FFFFFF"/>
                </a:solidFill>
                <a:latin typeface="Arial"/>
                <a:cs typeface="Arial"/>
              </a:rPr>
              <a:t> site</a:t>
            </a:r>
            <a:endParaRPr sz="1875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68000" y="3624612"/>
          <a:ext cx="3970018" cy="19221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4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3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visit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visit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visit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6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857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857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715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8379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Detection, detection, detection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02436"/>
            <a:ext cx="8229600" cy="508863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 detection history: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0 0 0 0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this site truly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unoccupied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depends on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of detection (p)</a:t>
            </a: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Direct relation between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detectability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number of visits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Probability of NOT seeing the species after N visits</a:t>
            </a:r>
          </a:p>
          <a:p>
            <a:pPr marL="0" indent="0" algn="ctr">
              <a:buNone/>
            </a:pPr>
            <a:r>
              <a:rPr lang="el-GR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=  (1 – p) ^ N</a:t>
            </a: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number of visits before concluding the site is unoccupied at a confidence level </a:t>
            </a:r>
            <a:r>
              <a:rPr lang="el-G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0.05</a:t>
            </a:r>
          </a:p>
          <a:p>
            <a:pPr marL="0" indent="0" algn="ctr">
              <a:buNone/>
            </a:pP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Nmin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= log(0.05) / log(1 – p)</a:t>
            </a: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457200" y="3161538"/>
            <a:ext cx="8229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84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30" y="138379"/>
            <a:ext cx="8884692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Necessary information: Detection histories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02436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Probability of </a:t>
            </a:r>
            <a:r>
              <a:rPr lang="en-US" sz="2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seeing the species after N visits</a:t>
            </a:r>
          </a:p>
          <a:p>
            <a:pPr marL="0" indent="0" algn="ctr"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=  (1 – p) ^ N</a:t>
            </a: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2199133"/>
            <a:ext cx="6872327" cy="400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3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9442" name="Rectangle 2"/>
              <p:cNvSpPr>
                <a:spLocks noChangeArrowheads="1"/>
              </p:cNvSpPr>
              <p:nvPr/>
            </p:nvSpPr>
            <p:spPr bwMode="auto">
              <a:xfrm>
                <a:off x="533400" y="1447800"/>
                <a:ext cx="8002588" cy="45307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itchFamily="2" charset="2"/>
                  <a:buChar char="l"/>
                  <a:tabLst>
                    <a:tab pos="898525" algn="l"/>
                    <a:tab pos="1039813" algn="l"/>
                  </a:tabLst>
                  <a:defRPr sz="27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 sz="3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altLang="en-US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 smtClean="0"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	[psi] -probability site </a:t>
                </a:r>
                <a:r>
                  <a:rPr lang="en-US" altLang="en-US" sz="3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occupied.</a:t>
                </a:r>
              </a:p>
              <a:p>
                <a:pPr eaLnBrk="1" hangingPunct="1"/>
                <a:endParaRPr lang="en-US" altLang="en-US" sz="3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altLang="en-US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altLang="en-US" sz="3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en-US" sz="3200" i="1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	-probability of detecting the species in 		site </a:t>
                </a:r>
                <a:r>
                  <a:rPr lang="en-US" altLang="en-US" sz="3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at time </a:t>
                </a:r>
                <a:r>
                  <a:rPr lang="en-US" altLang="en-US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, given species is 			present</a:t>
                </a:r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9442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1447800"/>
                <a:ext cx="8002588" cy="4530725"/>
              </a:xfrm>
              <a:prstGeom prst="rect">
                <a:avLst/>
              </a:prstGeom>
              <a:blipFill>
                <a:blip r:embed="rId3"/>
                <a:stretch>
                  <a:fillRect r="-16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44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Parameters: Single-Season Models</a:t>
            </a:r>
          </a:p>
        </p:txBody>
      </p:sp>
    </p:spTree>
    <p:extLst>
      <p:ext uri="{BB962C8B-B14F-4D97-AF65-F5344CB8AC3E}">
        <p14:creationId xmlns:p14="http://schemas.microsoft.com/office/powerpoint/2010/main" val="223991246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2"/>
            <a:ext cx="800100" cy="42175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6191" rIns="0" bIns="0" rtlCol="0">
            <a:spAutoFit/>
          </a:bodyPr>
          <a:lstStyle/>
          <a:p>
            <a:pPr algn="ctr">
              <a:spcBef>
                <a:spcPts val="49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6"/>
            <a:ext cx="800100" cy="42319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spcBef>
                <a:spcPts val="60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17B09F-3F7F-F8E4-E19C-AC1F7301CBE2}"/>
              </a:ext>
            </a:extLst>
          </p:cNvPr>
          <p:cNvSpPr txBox="1"/>
          <p:nvPr/>
        </p:nvSpPr>
        <p:spPr>
          <a:xfrm>
            <a:off x="2007287" y="670601"/>
            <a:ext cx="5522666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</a:rPr>
              <a:t>Hierarchical Statistical Model – 2 Processes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20592D-B739-5E71-D57B-CAB764918EA1}"/>
                  </a:ext>
                </a:extLst>
              </p:cNvPr>
              <p:cNvSpPr txBox="1"/>
              <p:nvPr/>
            </p:nvSpPr>
            <p:spPr>
              <a:xfrm>
                <a:off x="1287207" y="1560477"/>
                <a:ext cx="2358531" cy="67710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CA" sz="2000" b="1" dirty="0"/>
                  <a:t>State Model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1) ~ Bernoulli(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20592D-B739-5E71-D57B-CAB764918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7" y="1560477"/>
                <a:ext cx="2358531" cy="677108"/>
              </a:xfrm>
              <a:prstGeom prst="rect">
                <a:avLst/>
              </a:prstGeom>
              <a:blipFill>
                <a:blip r:embed="rId3"/>
                <a:stretch>
                  <a:fillRect l="-2314" t="-4425" r="-1799" b="-1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C767DE-7D7E-4A1E-D56C-F977E8D3E8EB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flipH="1">
            <a:off x="2466473" y="1070711"/>
            <a:ext cx="2302147" cy="4897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991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2"/>
            <a:ext cx="800100" cy="42175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6191" rIns="0" bIns="0" rtlCol="0">
            <a:spAutoFit/>
          </a:bodyPr>
          <a:lstStyle/>
          <a:p>
            <a:pPr algn="ctr">
              <a:spcBef>
                <a:spcPts val="49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6"/>
            <a:ext cx="800100" cy="42319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spcBef>
                <a:spcPts val="60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17B09F-3F7F-F8E4-E19C-AC1F7301CBE2}"/>
              </a:ext>
            </a:extLst>
          </p:cNvPr>
          <p:cNvSpPr txBox="1"/>
          <p:nvPr/>
        </p:nvSpPr>
        <p:spPr>
          <a:xfrm>
            <a:off x="2007287" y="670601"/>
            <a:ext cx="5522666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</a:rPr>
              <a:t>Hierarchical Statistical Model – 2 Processes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20592D-B739-5E71-D57B-CAB764918EA1}"/>
                  </a:ext>
                </a:extLst>
              </p:cNvPr>
              <p:cNvSpPr txBox="1"/>
              <p:nvPr/>
            </p:nvSpPr>
            <p:spPr>
              <a:xfrm>
                <a:off x="1287207" y="1560477"/>
                <a:ext cx="2358531" cy="67710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CA" sz="2000" b="1" dirty="0"/>
                  <a:t>State Model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1) ~ Bernoulli(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20592D-B739-5E71-D57B-CAB764918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7" y="1560477"/>
                <a:ext cx="2358531" cy="677108"/>
              </a:xfrm>
              <a:prstGeom prst="rect">
                <a:avLst/>
              </a:prstGeom>
              <a:blipFill>
                <a:blip r:embed="rId3"/>
                <a:stretch>
                  <a:fillRect l="-2314" t="-4425" r="-1799" b="-1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C767DE-7D7E-4A1E-D56C-F977E8D3E8EB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flipH="1">
            <a:off x="2466473" y="1070711"/>
            <a:ext cx="2302147" cy="4897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B0E1EA-8B48-4F75-02D8-C4A449597AFA}"/>
              </a:ext>
            </a:extLst>
          </p:cNvPr>
          <p:cNvSpPr txBox="1"/>
          <p:nvPr/>
        </p:nvSpPr>
        <p:spPr>
          <a:xfrm>
            <a:off x="5048827" y="1530333"/>
            <a:ext cx="2871299" cy="70788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sz="2000" b="1" dirty="0"/>
              <a:t>Observation Model</a:t>
            </a:r>
          </a:p>
          <a:p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, t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~ Bernoulli (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* 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i,t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CA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C079466-21B1-0AC9-4B08-F05D84921C46}"/>
              </a:ext>
            </a:extLst>
          </p:cNvPr>
          <p:cNvCxnSpPr>
            <a:cxnSpLocks/>
          </p:cNvCxnSpPr>
          <p:nvPr/>
        </p:nvCxnSpPr>
        <p:spPr>
          <a:xfrm>
            <a:off x="5498471" y="1044573"/>
            <a:ext cx="986006" cy="4925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053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ChangeArrowheads="1"/>
          </p:cNvSpPr>
          <p:nvPr/>
        </p:nvSpPr>
        <p:spPr bwMode="auto">
          <a:xfrm>
            <a:off x="457200" y="1981200"/>
            <a:ext cx="8002588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813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Sites are closed to changes in occupancy state between sampling occasions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813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heterogeneity that cannot be explained by covariates </a:t>
            </a: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813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detection process is independent at each site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tabLst>
                <a:tab pos="898525" algn="l"/>
                <a:tab pos="1039813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farther apart, the better, but needs to be tailored to species ecology</a:t>
            </a:r>
          </a:p>
          <a:p>
            <a:pPr marL="342900" indent="-342900" algn="l">
              <a:spcBef>
                <a:spcPct val="20000"/>
              </a:spcBef>
              <a:tabLst>
                <a:tab pos="898525" algn="l"/>
                <a:tab pos="1039813" algn="l"/>
              </a:tabLst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077200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assumptions</a:t>
            </a:r>
          </a:p>
        </p:txBody>
      </p:sp>
    </p:spTree>
    <p:extLst>
      <p:ext uri="{BB962C8B-B14F-4D97-AF65-F5344CB8AC3E}">
        <p14:creationId xmlns:p14="http://schemas.microsoft.com/office/powerpoint/2010/main" val="193992761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Timing of repeated surveys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Usually conducted as multiple discrete visits (e.g., on different days)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also use multiple surveys within a single visit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Multiple independent observers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Potentially introduce heterogeneity into data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Single visit to each site vs. multiple visits to each site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Rotate observers amongst sites on each day 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order each site is sampled within a day</a:t>
            </a:r>
          </a:p>
        </p:txBody>
      </p:sp>
    </p:spTree>
    <p:extLst>
      <p:ext uri="{BB962C8B-B14F-4D97-AF65-F5344CB8AC3E}">
        <p14:creationId xmlns:p14="http://schemas.microsoft.com/office/powerpoint/2010/main" val="3895253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8" y="-1"/>
            <a:ext cx="8762999" cy="35298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8" y="3600450"/>
            <a:ext cx="87630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45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>
            <a:normAutofit/>
          </a:bodyPr>
          <a:lstStyle/>
          <a:p>
            <a:fld id="{5E36FFF3-8FBC-2144-A340-2B54F44226F0}" type="slidenum">
              <a:rPr lang="en-US" smtClean="0"/>
              <a:t>38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720" y="1175009"/>
            <a:ext cx="3628080" cy="27801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-17675"/>
            <a:ext cx="9144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Arial"/>
                <a:cs typeface="Arial"/>
              </a:rPr>
              <a:t>Complex occupancy models </a:t>
            </a:r>
          </a:p>
          <a:p>
            <a:pPr algn="ctr"/>
            <a:r>
              <a:rPr lang="en-US" sz="2800" b="1" dirty="0">
                <a:solidFill>
                  <a:srgbClr val="00B0F0"/>
                </a:solidFill>
                <a:latin typeface="Arial"/>
                <a:cs typeface="Arial"/>
              </a:rPr>
              <a:t>implemented in programs PRESENCE and 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70" y="4700595"/>
            <a:ext cx="90797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 packages: 	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unmarked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spOccupancy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(spatial occupancy models)</a:t>
            </a:r>
          </a:p>
          <a:p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			NIMBLE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(Bayesian platform for model fitting)</a:t>
            </a:r>
          </a:p>
          <a:p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ubms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(includes random effects; Bayesian)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9F3AC-54F8-CCF7-F141-6921834651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985" b="5408"/>
          <a:stretch/>
        </p:blipFill>
        <p:spPr>
          <a:xfrm>
            <a:off x="457200" y="1372575"/>
            <a:ext cx="4016184" cy="214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0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1886</Words>
  <Application>Microsoft Office PowerPoint</Application>
  <PresentationFormat>On-screen Show (4:3)</PresentationFormat>
  <Paragraphs>322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Occupancy modeling</vt:lpstr>
      <vt:lpstr>Why use occupancy modeling for population dynamics?</vt:lpstr>
      <vt:lpstr>Parameters of Interest: Occupancy</vt:lpstr>
      <vt:lpstr>Parameters of Interest: Detection</vt:lpstr>
      <vt:lpstr>Why use occupancy?</vt:lpstr>
      <vt:lpstr>Occupancy can be used for: </vt:lpstr>
      <vt:lpstr>Geographic Range</vt:lpstr>
      <vt:lpstr>Habitat Relationships</vt:lpstr>
      <vt:lpstr>Occupancy data</vt:lpstr>
      <vt:lpstr>Occupancy data</vt:lpstr>
      <vt:lpstr>Occupancy data</vt:lpstr>
      <vt:lpstr>2 critical factors when sampling animal populations:</vt:lpstr>
      <vt:lpstr>Occupancy data: Non-detection </vt:lpstr>
      <vt:lpstr>Occupancy Sampling Protocol</vt:lpstr>
      <vt:lpstr>Data Collection</vt:lpstr>
      <vt:lpstr>Data Collection: Detection Error</vt:lpstr>
      <vt:lpstr>Data Collection: Detection Error</vt:lpstr>
      <vt:lpstr>The Issue with Detection and Occupancy Probability </vt:lpstr>
      <vt:lpstr>Site occupancy: A solution</vt:lpstr>
      <vt:lpstr>Basic Sampling Scheme: Single Season</vt:lpstr>
      <vt:lpstr>Necessary information: Detection histories</vt:lpstr>
      <vt:lpstr>Occupancy protocol</vt:lpstr>
      <vt:lpstr>PowerPoint Presentation</vt:lpstr>
      <vt:lpstr>PowerPoint Presentation</vt:lpstr>
      <vt:lpstr>True or false absence?</vt:lpstr>
      <vt:lpstr>PowerPoint Presentation</vt:lpstr>
      <vt:lpstr>PowerPoint Presentation</vt:lpstr>
      <vt:lpstr>PowerPoint Presentation</vt:lpstr>
      <vt:lpstr>Data structure</vt:lpstr>
      <vt:lpstr>Detection, detection, detection</vt:lpstr>
      <vt:lpstr>Necessary information: Detection histories</vt:lpstr>
      <vt:lpstr>Model Parameters: Single-Season Models</vt:lpstr>
      <vt:lpstr>PowerPoint Presentation</vt:lpstr>
      <vt:lpstr>PowerPoint Presentation</vt:lpstr>
      <vt:lpstr>Model assumptions</vt:lpstr>
      <vt:lpstr>Timing of repeated surveys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choose occupancy modeling for population dynamics?</dc:title>
  <dc:creator>Popescu, Viorel</dc:creator>
  <cp:lastModifiedBy>Viorel Popescu</cp:lastModifiedBy>
  <cp:revision>63</cp:revision>
  <dcterms:created xsi:type="dcterms:W3CDTF">2019-10-31T19:37:53Z</dcterms:created>
  <dcterms:modified xsi:type="dcterms:W3CDTF">2024-04-04T02:25:54Z</dcterms:modified>
</cp:coreProperties>
</file>