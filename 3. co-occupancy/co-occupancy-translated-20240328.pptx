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1043" r:id="rId2"/>
    <p:sldId id="1045" r:id="rId3"/>
    <p:sldId id="1046" r:id="rId4"/>
    <p:sldId id="1047" r:id="rId5"/>
    <p:sldId id="1048" r:id="rId6"/>
    <p:sldId id="1042" r:id="rId7"/>
    <p:sldId id="1044" r:id="rId8"/>
    <p:sldId id="338" r:id="rId9"/>
    <p:sldId id="843" r:id="rId10"/>
    <p:sldId id="833" r:id="rId11"/>
    <p:sldId id="339" r:id="rId12"/>
    <p:sldId id="340" r:id="rId13"/>
    <p:sldId id="341" r:id="rId14"/>
    <p:sldId id="342" r:id="rId15"/>
    <p:sldId id="343" r:id="rId16"/>
    <p:sldId id="344" r:id="rId17"/>
    <p:sldId id="345" r:id="rId18"/>
    <p:sldId id="346" r:id="rId19"/>
    <p:sldId id="347" r:id="rId20"/>
    <p:sldId id="348" r:id="rId21"/>
    <p:sldId id="349" r:id="rId22"/>
  </p:sldIdLst>
  <p:sldSz cx="9144000" cy="6858000" type="screen4x3"/>
  <p:notesSz cx="6858000" cy="9144000"/>
  <p:custDataLst>
    <p:tags r:id="rId2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376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096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753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473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129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849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506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userDrawn="1">
          <p15:clr>
            <a:srgbClr val="A4A3A4"/>
          </p15:clr>
        </p15:guide>
        <p15:guide id="2" pos="28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40">
          <p15:clr>
            <a:srgbClr val="A4A3A4"/>
          </p15:clr>
        </p15:guide>
        <p15:guide id="2" pos="2166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ick Dulvy" initials="ND" lastIdx="1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3" frameSlides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99"/>
    <a:srgbClr val="CC00FF"/>
    <a:srgbClr val="E2EC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7F2D2E-1867-4346-8418-3654CE340758}" v="1543" dt="2024-04-14T15:52:47.6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00" autoAdjust="0"/>
    <p:restoredTop sz="83878" autoAdjust="0"/>
  </p:normalViewPr>
  <p:slideViewPr>
    <p:cSldViewPr snapToGrid="0" snapToObjects="1" showGuides="1">
      <p:cViewPr>
        <p:scale>
          <a:sx n="66" d="100"/>
          <a:sy n="66" d="100"/>
        </p:scale>
        <p:origin x="1032" y="216"/>
      </p:cViewPr>
      <p:guideLst>
        <p:guide orient="horz"/>
        <p:guide pos="2888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9588"/>
    </p:cViewPr>
  </p:sorterViewPr>
  <p:notesViewPr>
    <p:cSldViewPr snapToGrid="0" snapToObjects="1">
      <p:cViewPr varScale="1">
        <p:scale>
          <a:sx n="118" d="100"/>
          <a:sy n="118" d="100"/>
        </p:scale>
        <p:origin x="-5048" y="-104"/>
      </p:cViewPr>
      <p:guideLst>
        <p:guide orient="horz" pos="2840"/>
        <p:guide pos="216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orel Popescu" userId="9f284cf50f70590d" providerId="LiveId" clId="{457F2D2E-1867-4346-8418-3654CE340758}"/>
    <pc:docChg chg="custSel addSld modSld sldOrd">
      <pc:chgData name="Viorel Popescu" userId="9f284cf50f70590d" providerId="LiveId" clId="{457F2D2E-1867-4346-8418-3654CE340758}" dt="2024-04-14T15:52:59.334" v="2586" actId="1076"/>
      <pc:docMkLst>
        <pc:docMk/>
      </pc:docMkLst>
      <pc:sldChg chg="modSp mod">
        <pc:chgData name="Viorel Popescu" userId="9f284cf50f70590d" providerId="LiveId" clId="{457F2D2E-1867-4346-8418-3654CE340758}" dt="2024-04-14T15:25:22.194" v="661" actId="27636"/>
        <pc:sldMkLst>
          <pc:docMk/>
          <pc:sldMk cId="0" sldId="843"/>
        </pc:sldMkLst>
        <pc:spChg chg="mod">
          <ac:chgData name="Viorel Popescu" userId="9f284cf50f70590d" providerId="LiveId" clId="{457F2D2E-1867-4346-8418-3654CE340758}" dt="2024-04-14T15:25:22.194" v="661" actId="27636"/>
          <ac:spMkLst>
            <pc:docMk/>
            <pc:sldMk cId="0" sldId="843"/>
            <ac:spMk id="693251" creationId="{00000000-0000-0000-0000-000000000000}"/>
          </ac:spMkLst>
        </pc:spChg>
      </pc:sldChg>
      <pc:sldChg chg="addSp delSp modSp mod">
        <pc:chgData name="Viorel Popescu" userId="9f284cf50f70590d" providerId="LiveId" clId="{457F2D2E-1867-4346-8418-3654CE340758}" dt="2024-04-14T15:06:56.352" v="506" actId="478"/>
        <pc:sldMkLst>
          <pc:docMk/>
          <pc:sldMk cId="0" sldId="1042"/>
        </pc:sldMkLst>
        <pc:spChg chg="del">
          <ac:chgData name="Viorel Popescu" userId="9f284cf50f70590d" providerId="LiveId" clId="{457F2D2E-1867-4346-8418-3654CE340758}" dt="2024-04-14T15:06:56.352" v="506" actId="478"/>
          <ac:spMkLst>
            <pc:docMk/>
            <pc:sldMk cId="0" sldId="1042"/>
            <ac:spMk id="3" creationId="{00000000-0000-0000-0000-000000000000}"/>
          </ac:spMkLst>
        </pc:spChg>
        <pc:spChg chg="add del mod">
          <ac:chgData name="Viorel Popescu" userId="9f284cf50f70590d" providerId="LiveId" clId="{457F2D2E-1867-4346-8418-3654CE340758}" dt="2024-04-14T15:06:53.743" v="505" actId="478"/>
          <ac:spMkLst>
            <pc:docMk/>
            <pc:sldMk cId="0" sldId="1042"/>
            <ac:spMk id="4" creationId="{986C644E-6A6B-3FE0-CF9E-629C2C0D9C43}"/>
          </ac:spMkLst>
        </pc:spChg>
        <pc:spChg chg="add mod">
          <ac:chgData name="Viorel Popescu" userId="9f284cf50f70590d" providerId="LiveId" clId="{457F2D2E-1867-4346-8418-3654CE340758}" dt="2024-04-14T15:06:56.352" v="506" actId="478"/>
          <ac:spMkLst>
            <pc:docMk/>
            <pc:sldMk cId="0" sldId="1042"/>
            <ac:spMk id="6" creationId="{31BE8475-F2FE-BB33-FC3D-4215785316D2}"/>
          </ac:spMkLst>
        </pc:spChg>
        <pc:spChg chg="del">
          <ac:chgData name="Viorel Popescu" userId="9f284cf50f70590d" providerId="LiveId" clId="{457F2D2E-1867-4346-8418-3654CE340758}" dt="2024-04-14T15:06:51.915" v="504" actId="478"/>
          <ac:spMkLst>
            <pc:docMk/>
            <pc:sldMk cId="0" sldId="1042"/>
            <ac:spMk id="16386" creationId="{00000000-0000-0000-0000-000000000000}"/>
          </ac:spMkLst>
        </pc:spChg>
      </pc:sldChg>
      <pc:sldChg chg="modSp add mod ord modAnim">
        <pc:chgData name="Viorel Popescu" userId="9f284cf50f70590d" providerId="LiveId" clId="{457F2D2E-1867-4346-8418-3654CE340758}" dt="2024-04-14T15:28:34.542" v="891" actId="20577"/>
        <pc:sldMkLst>
          <pc:docMk/>
          <pc:sldMk cId="99213532" sldId="1043"/>
        </pc:sldMkLst>
        <pc:spChg chg="mod">
          <ac:chgData name="Viorel Popescu" userId="9f284cf50f70590d" providerId="LiveId" clId="{457F2D2E-1867-4346-8418-3654CE340758}" dt="2024-04-14T15:28:34.542" v="891" actId="20577"/>
          <ac:spMkLst>
            <pc:docMk/>
            <pc:sldMk cId="99213532" sldId="1043"/>
            <ac:spMk id="2" creationId="{00000000-0000-0000-0000-000000000000}"/>
          </ac:spMkLst>
        </pc:spChg>
        <pc:spChg chg="mod">
          <ac:chgData name="Viorel Popescu" userId="9f284cf50f70590d" providerId="LiveId" clId="{457F2D2E-1867-4346-8418-3654CE340758}" dt="2024-04-14T15:25:34.524" v="666" actId="207"/>
          <ac:spMkLst>
            <pc:docMk/>
            <pc:sldMk cId="99213532" sldId="1043"/>
            <ac:spMk id="3" creationId="{00000000-0000-0000-0000-000000000000}"/>
          </ac:spMkLst>
        </pc:spChg>
      </pc:sldChg>
      <pc:sldChg chg="add">
        <pc:chgData name="Viorel Popescu" userId="9f284cf50f70590d" providerId="LiveId" clId="{457F2D2E-1867-4346-8418-3654CE340758}" dt="2024-04-14T15:06:46.948" v="503" actId="2890"/>
        <pc:sldMkLst>
          <pc:docMk/>
          <pc:sldMk cId="1634061489" sldId="1044"/>
        </pc:sldMkLst>
      </pc:sldChg>
      <pc:sldChg chg="modSp add mod modAnim">
        <pc:chgData name="Viorel Popescu" userId="9f284cf50f70590d" providerId="LiveId" clId="{457F2D2E-1867-4346-8418-3654CE340758}" dt="2024-04-14T15:36:22.240" v="1481"/>
        <pc:sldMkLst>
          <pc:docMk/>
          <pc:sldMk cId="1701883613" sldId="1045"/>
        </pc:sldMkLst>
        <pc:spChg chg="mod">
          <ac:chgData name="Viorel Popescu" userId="9f284cf50f70590d" providerId="LiveId" clId="{457F2D2E-1867-4346-8418-3654CE340758}" dt="2024-04-14T15:28:39.899" v="898" actId="20577"/>
          <ac:spMkLst>
            <pc:docMk/>
            <pc:sldMk cId="1701883613" sldId="1045"/>
            <ac:spMk id="2" creationId="{00000000-0000-0000-0000-000000000000}"/>
          </ac:spMkLst>
        </pc:spChg>
        <pc:spChg chg="mod">
          <ac:chgData name="Viorel Popescu" userId="9f284cf50f70590d" providerId="LiveId" clId="{457F2D2E-1867-4346-8418-3654CE340758}" dt="2024-04-14T15:35:26.130" v="1475" actId="113"/>
          <ac:spMkLst>
            <pc:docMk/>
            <pc:sldMk cId="1701883613" sldId="1045"/>
            <ac:spMk id="3" creationId="{00000000-0000-0000-0000-000000000000}"/>
          </ac:spMkLst>
        </pc:spChg>
      </pc:sldChg>
      <pc:sldChg chg="modSp add mod modAnim">
        <pc:chgData name="Viorel Popescu" userId="9f284cf50f70590d" providerId="LiveId" clId="{457F2D2E-1867-4346-8418-3654CE340758}" dt="2024-04-14T15:50:32.781" v="2546" actId="113"/>
        <pc:sldMkLst>
          <pc:docMk/>
          <pc:sldMk cId="400858345" sldId="1046"/>
        </pc:sldMkLst>
        <pc:spChg chg="mod">
          <ac:chgData name="Viorel Popescu" userId="9f284cf50f70590d" providerId="LiveId" clId="{457F2D2E-1867-4346-8418-3654CE340758}" dt="2024-04-14T15:50:32.781" v="2546" actId="113"/>
          <ac:spMkLst>
            <pc:docMk/>
            <pc:sldMk cId="400858345" sldId="1046"/>
            <ac:spMk id="3" creationId="{00000000-0000-0000-0000-000000000000}"/>
          </ac:spMkLst>
        </pc:spChg>
      </pc:sldChg>
      <pc:sldChg chg="modSp add mod">
        <pc:chgData name="Viorel Popescu" userId="9f284cf50f70590d" providerId="LiveId" clId="{457F2D2E-1867-4346-8418-3654CE340758}" dt="2024-04-14T15:51:19.156" v="2558" actId="113"/>
        <pc:sldMkLst>
          <pc:docMk/>
          <pc:sldMk cId="691805669" sldId="1047"/>
        </pc:sldMkLst>
        <pc:spChg chg="mod">
          <ac:chgData name="Viorel Popescu" userId="9f284cf50f70590d" providerId="LiveId" clId="{457F2D2E-1867-4346-8418-3654CE340758}" dt="2024-04-14T15:51:19.156" v="2558" actId="113"/>
          <ac:spMkLst>
            <pc:docMk/>
            <pc:sldMk cId="691805669" sldId="1047"/>
            <ac:spMk id="3" creationId="{00000000-0000-0000-0000-000000000000}"/>
          </ac:spMkLst>
        </pc:spChg>
      </pc:sldChg>
      <pc:sldChg chg="addSp delSp modSp add mod">
        <pc:chgData name="Viorel Popescu" userId="9f284cf50f70590d" providerId="LiveId" clId="{457F2D2E-1867-4346-8418-3654CE340758}" dt="2024-04-14T15:52:59.334" v="2586" actId="1076"/>
        <pc:sldMkLst>
          <pc:docMk/>
          <pc:sldMk cId="3564773843" sldId="1048"/>
        </pc:sldMkLst>
        <pc:spChg chg="del">
          <ac:chgData name="Viorel Popescu" userId="9f284cf50f70590d" providerId="LiveId" clId="{457F2D2E-1867-4346-8418-3654CE340758}" dt="2024-04-14T15:51:36.218" v="2561" actId="478"/>
          <ac:spMkLst>
            <pc:docMk/>
            <pc:sldMk cId="3564773843" sldId="1048"/>
            <ac:spMk id="2" creationId="{00000000-0000-0000-0000-000000000000}"/>
          </ac:spMkLst>
        </pc:spChg>
        <pc:spChg chg="del">
          <ac:chgData name="Viorel Popescu" userId="9f284cf50f70590d" providerId="LiveId" clId="{457F2D2E-1867-4346-8418-3654CE340758}" dt="2024-04-14T15:51:33.170" v="2560" actId="478"/>
          <ac:spMkLst>
            <pc:docMk/>
            <pc:sldMk cId="3564773843" sldId="1048"/>
            <ac:spMk id="3" creationId="{00000000-0000-0000-0000-000000000000}"/>
          </ac:spMkLst>
        </pc:spChg>
        <pc:spChg chg="add mod">
          <ac:chgData name="Viorel Popescu" userId="9f284cf50f70590d" providerId="LiveId" clId="{457F2D2E-1867-4346-8418-3654CE340758}" dt="2024-04-14T15:51:36.218" v="2561" actId="478"/>
          <ac:spMkLst>
            <pc:docMk/>
            <pc:sldMk cId="3564773843" sldId="1048"/>
            <ac:spMk id="5" creationId="{8D16A3A8-A129-7DD0-DB21-477169F03D7E}"/>
          </ac:spMkLst>
        </pc:spChg>
        <pc:spChg chg="add mod">
          <ac:chgData name="Viorel Popescu" userId="9f284cf50f70590d" providerId="LiveId" clId="{457F2D2E-1867-4346-8418-3654CE340758}" dt="2024-04-14T15:52:59.334" v="2586" actId="1076"/>
          <ac:spMkLst>
            <pc:docMk/>
            <pc:sldMk cId="3564773843" sldId="1048"/>
            <ac:spMk id="8" creationId="{0731A707-4879-9CCA-8F83-550D41821D22}"/>
          </ac:spMkLst>
        </pc:spChg>
        <pc:picChg chg="add">
          <ac:chgData name="Viorel Popescu" userId="9f284cf50f70590d" providerId="LiveId" clId="{457F2D2E-1867-4346-8418-3654CE340758}" dt="2024-04-14T15:51:37.558" v="2562" actId="22"/>
          <ac:picMkLst>
            <pc:docMk/>
            <pc:sldMk cId="3564773843" sldId="1048"/>
            <ac:picMk id="7" creationId="{76E74094-9993-C3C0-EBE4-D45917B2DAD5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32BA1C-DB3A-774D-BF63-C74147DF77EA}" type="datetimeFigureOut">
              <a:rPr lang="en-US" smtClean="0"/>
              <a:t>4/14/2024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E6B3A4-733A-9E48-9D0C-CC9BA8AFA5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0A4FFD-2244-BD43-ADCC-55C407AA6B4E}" type="datetimeFigureOut">
              <a:rPr lang="en-US" smtClean="0"/>
              <a:t>4/14/2024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8DFA54-D39D-1D48-8493-93DD0796946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765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965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53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3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295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495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06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Ex. 1: Grey heron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Ex. 1: Grey heron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5359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4" y="2130425"/>
            <a:ext cx="7772401" cy="1470025"/>
          </a:xfrm>
        </p:spPr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1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37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09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75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47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12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84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50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CA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7BFD8-13BE-B34C-9D38-93A96E46EA28}" type="datetime1">
              <a:rPr lang="en-CA" smtClean="0"/>
              <a:t>2024-04-14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10203-3692-EE42-9F0C-0A601B9B7F08}" type="datetime1">
              <a:rPr lang="en-CA" smtClean="0"/>
              <a:t>2024-04-14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7" y="4406905"/>
            <a:ext cx="7772401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7" y="2906713"/>
            <a:ext cx="7772401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376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096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753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473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129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849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50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CA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C2748-9D98-3F49-B5F9-742FAC37F4F9}" type="datetime1">
              <a:rPr lang="en-CA" smtClean="0"/>
              <a:t>2024-04-14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5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5" y="1600205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7F1FD-AACD-9948-9283-1F9691DFC0B4}" type="datetime1">
              <a:rPr lang="en-CA" smtClean="0"/>
              <a:t>2024-04-14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5" y="1535118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3765" indent="0">
              <a:buNone/>
              <a:defRPr sz="1800" b="1"/>
            </a:lvl3pPr>
            <a:lvl4pPr marL="1370965" indent="0">
              <a:buNone/>
              <a:defRPr sz="1600" b="1"/>
            </a:lvl4pPr>
            <a:lvl5pPr marL="1827530" indent="0">
              <a:buNone/>
              <a:defRPr sz="1600" b="1"/>
            </a:lvl5pPr>
            <a:lvl6pPr marL="2284730" indent="0">
              <a:buNone/>
              <a:defRPr sz="1600" b="1"/>
            </a:lvl6pPr>
            <a:lvl7pPr marL="2741295" indent="0">
              <a:buNone/>
              <a:defRPr sz="1600" b="1"/>
            </a:lvl7pPr>
            <a:lvl8pPr marL="3198495" indent="0">
              <a:buNone/>
              <a:defRPr sz="1600" b="1"/>
            </a:lvl8pPr>
            <a:lvl9pPr marL="3655060" indent="0">
              <a:buNone/>
              <a:defRPr sz="1600" b="1"/>
            </a:lvl9pPr>
          </a:lstStyle>
          <a:p>
            <a:pPr lvl="0"/>
            <a:r>
              <a:rPr lang="en-CA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5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0" y="1535118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3765" indent="0">
              <a:buNone/>
              <a:defRPr sz="1800" b="1"/>
            </a:lvl3pPr>
            <a:lvl4pPr marL="1370965" indent="0">
              <a:buNone/>
              <a:defRPr sz="1600" b="1"/>
            </a:lvl4pPr>
            <a:lvl5pPr marL="1827530" indent="0">
              <a:buNone/>
              <a:defRPr sz="1600" b="1"/>
            </a:lvl5pPr>
            <a:lvl6pPr marL="2284730" indent="0">
              <a:buNone/>
              <a:defRPr sz="1600" b="1"/>
            </a:lvl6pPr>
            <a:lvl7pPr marL="2741295" indent="0">
              <a:buNone/>
              <a:defRPr sz="1600" b="1"/>
            </a:lvl7pPr>
            <a:lvl8pPr marL="3198495" indent="0">
              <a:buNone/>
              <a:defRPr sz="1600" b="1"/>
            </a:lvl8pPr>
            <a:lvl9pPr marL="3655060" indent="0">
              <a:buNone/>
              <a:defRPr sz="1600" b="1"/>
            </a:lvl9pPr>
          </a:lstStyle>
          <a:p>
            <a:pPr lvl="0"/>
            <a:r>
              <a:rPr lang="en-CA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0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B582B-6698-EC48-875C-50CEAA3C67F4}" type="datetime1">
              <a:rPr lang="en-CA" smtClean="0"/>
              <a:t>2024-04-14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E36D6D-CCCE-B749-8D34-846F8A67EFC0}" type="datetime1">
              <a:rPr lang="en-CA" smtClean="0"/>
              <a:t>2024-04-14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D6EB7D-0180-5147-9FFD-9F568677AE1E}" type="datetime1">
              <a:rPr lang="en-CA" smtClean="0"/>
              <a:t>2024-04-14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5" y="273052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1" y="273055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5" y="1435105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3765" indent="0">
              <a:buNone/>
              <a:defRPr sz="1000"/>
            </a:lvl3pPr>
            <a:lvl4pPr marL="1370965" indent="0">
              <a:buNone/>
              <a:defRPr sz="900"/>
            </a:lvl4pPr>
            <a:lvl5pPr marL="1827530" indent="0">
              <a:buNone/>
              <a:defRPr sz="900"/>
            </a:lvl5pPr>
            <a:lvl6pPr marL="2284730" indent="0">
              <a:buNone/>
              <a:defRPr sz="900"/>
            </a:lvl6pPr>
            <a:lvl7pPr marL="2741295" indent="0">
              <a:buNone/>
              <a:defRPr sz="900"/>
            </a:lvl7pPr>
            <a:lvl8pPr marL="3198495" indent="0">
              <a:buNone/>
              <a:defRPr sz="900"/>
            </a:lvl8pPr>
            <a:lvl9pPr marL="3655060" indent="0">
              <a:buNone/>
              <a:defRPr sz="900"/>
            </a:lvl9pPr>
          </a:lstStyle>
          <a:p>
            <a:pPr lvl="0"/>
            <a:r>
              <a:rPr lang="en-CA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53B9D-1BC3-8D45-B4A5-24010FA1B146}" type="datetime1">
              <a:rPr lang="en-CA" smtClean="0"/>
              <a:t>2024-04-14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3765" indent="0">
              <a:buNone/>
              <a:defRPr sz="2400"/>
            </a:lvl3pPr>
            <a:lvl4pPr marL="1370965" indent="0">
              <a:buNone/>
              <a:defRPr sz="2000"/>
            </a:lvl4pPr>
            <a:lvl5pPr marL="1827530" indent="0">
              <a:buNone/>
              <a:defRPr sz="2000"/>
            </a:lvl5pPr>
            <a:lvl6pPr marL="2284730" indent="0">
              <a:buNone/>
              <a:defRPr sz="2000"/>
            </a:lvl6pPr>
            <a:lvl7pPr marL="2741295" indent="0">
              <a:buNone/>
              <a:defRPr sz="2000"/>
            </a:lvl7pPr>
            <a:lvl8pPr marL="3198495" indent="0">
              <a:buNone/>
              <a:defRPr sz="2000"/>
            </a:lvl8pPr>
            <a:lvl9pPr marL="365506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3765" indent="0">
              <a:buNone/>
              <a:defRPr sz="1000"/>
            </a:lvl3pPr>
            <a:lvl4pPr marL="1370965" indent="0">
              <a:buNone/>
              <a:defRPr sz="900"/>
            </a:lvl4pPr>
            <a:lvl5pPr marL="1827530" indent="0">
              <a:buNone/>
              <a:defRPr sz="900"/>
            </a:lvl5pPr>
            <a:lvl6pPr marL="2284730" indent="0">
              <a:buNone/>
              <a:defRPr sz="900"/>
            </a:lvl6pPr>
            <a:lvl7pPr marL="2741295" indent="0">
              <a:buNone/>
              <a:defRPr sz="900"/>
            </a:lvl7pPr>
            <a:lvl8pPr marL="3198495" indent="0">
              <a:buNone/>
              <a:defRPr sz="900"/>
            </a:lvl8pPr>
            <a:lvl9pPr marL="3655060" indent="0">
              <a:buNone/>
              <a:defRPr sz="900"/>
            </a:lvl9pPr>
          </a:lstStyle>
          <a:p>
            <a:pPr lvl="0"/>
            <a:r>
              <a:rPr lang="en-CA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B706C-2B08-8E43-97C9-BC50088B1CD1}" type="datetime1">
              <a:rPr lang="en-CA" smtClean="0"/>
              <a:t>2024-04-14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8B-6047-3E47-9E7D-4122E207D896}" type="datetime1">
              <a:rPr lang="en-CA" smtClean="0"/>
              <a:t>2024-04-14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5" y="274643"/>
            <a:ext cx="2057400" cy="5851525"/>
          </a:xfrm>
        </p:spPr>
        <p:txBody>
          <a:bodyPr vert="eaVert"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3"/>
            <a:ext cx="6019800" cy="5851525"/>
          </a:xfrm>
        </p:spPr>
        <p:txBody>
          <a:bodyPr vert="eaVert"/>
          <a:lstStyle/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80F54-3091-F744-960B-084737488211}" type="datetime1">
              <a:rPr lang="en-CA" smtClean="0"/>
              <a:t>2024-04-14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600201"/>
            <a:ext cx="8229600" cy="4525963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6605" y="6244828"/>
            <a:ext cx="2134811" cy="476250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3605" y="6244828"/>
            <a:ext cx="2896811" cy="476250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2606" y="6244828"/>
            <a:ext cx="2134811" cy="476250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DB8D2197-9F94-4AD3-8C52-4E27C0C3075B}" type="slidenum">
              <a:rPr lang="en-US">
                <a:solidFill>
                  <a:srgbClr val="FFFFFF"/>
                </a:solidFill>
              </a:rPr>
              <a:t>‹#›</a:t>
            </a:fld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1" y="274640"/>
            <a:ext cx="8229600" cy="1143001"/>
          </a:xfrm>
          <a:prstGeom prst="rect">
            <a:avLst/>
          </a:prstGeom>
        </p:spPr>
        <p:txBody>
          <a:bodyPr vert="horz" lIns="91379" tIns="45689" rIns="91379" bIns="45689" rtlCol="0" anchor="ctr">
            <a:normAutofit/>
          </a:bodyPr>
          <a:lstStyle/>
          <a:p>
            <a:r>
              <a:rPr lang="en-CA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1" y="1600205"/>
            <a:ext cx="8229600" cy="4525963"/>
          </a:xfrm>
          <a:prstGeom prst="rect">
            <a:avLst/>
          </a:prstGeom>
        </p:spPr>
        <p:txBody>
          <a:bodyPr vert="horz" lIns="91379" tIns="45689" rIns="91379" bIns="45689" rtlCol="0">
            <a:normAutofit/>
          </a:bodyPr>
          <a:lstStyle/>
          <a:p>
            <a:pPr lvl="0"/>
            <a:r>
              <a:rPr lang="en-CA" dirty="0"/>
              <a:t>Click to edit Master text styles</a:t>
            </a:r>
          </a:p>
          <a:p>
            <a:pPr lvl="1"/>
            <a:r>
              <a:rPr lang="en-CA" dirty="0"/>
              <a:t>Second level</a:t>
            </a:r>
          </a:p>
          <a:p>
            <a:pPr lvl="2"/>
            <a:r>
              <a:rPr lang="en-CA" dirty="0"/>
              <a:t>Third level</a:t>
            </a:r>
          </a:p>
          <a:p>
            <a:pPr lvl="3"/>
            <a:r>
              <a:rPr lang="en-CA" dirty="0"/>
              <a:t>Fourth level</a:t>
            </a:r>
          </a:p>
          <a:p>
            <a:pPr lvl="4"/>
            <a:r>
              <a:rPr lang="en-CA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6"/>
            <a:ext cx="2133600" cy="365125"/>
          </a:xfrm>
          <a:prstGeom prst="rect">
            <a:avLst/>
          </a:prstGeom>
        </p:spPr>
        <p:txBody>
          <a:bodyPr vert="horz" lIns="91379" tIns="45689" rIns="91379" bIns="4568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5A7869-BEC3-AC47-8AE5-EC3C0C76D79E}" type="datetime1">
              <a:rPr lang="en-CA" smtClean="0"/>
              <a:t>2024-04-14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1" y="6356356"/>
            <a:ext cx="2895600" cy="365125"/>
          </a:xfrm>
          <a:prstGeom prst="rect">
            <a:avLst/>
          </a:prstGeom>
        </p:spPr>
        <p:txBody>
          <a:bodyPr vert="horz" lIns="91379" tIns="45689" rIns="91379" bIns="4568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6"/>
            <a:ext cx="2133600" cy="365125"/>
          </a:xfrm>
          <a:prstGeom prst="rect">
            <a:avLst/>
          </a:prstGeom>
        </p:spPr>
        <p:txBody>
          <a:bodyPr vert="horz" lIns="91379" tIns="45689" rIns="91379" bIns="4568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6FFF3-8FBC-2144-A340-2B54F44226F0}" type="slidenum">
              <a:rPr lang="en-US" smtClean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3600" kern="1200">
          <a:solidFill>
            <a:srgbClr val="000090"/>
          </a:solidFill>
          <a:latin typeface="Arial" panose="020B0604020202020204"/>
          <a:ea typeface="+mj-ea"/>
          <a:cs typeface="Arial" panose="020B0604020202020204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Arial" panose="020B0604020202020204"/>
          <a:ea typeface="+mn-ea"/>
          <a:cs typeface="Arial" panose="020B0604020202020204"/>
        </a:defRPr>
      </a:lvl1pPr>
      <a:lvl2pPr marL="742315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Arial" panose="020B0604020202020204"/>
          <a:ea typeface="+mn-ea"/>
          <a:cs typeface="Arial" panose="020B0604020202020204"/>
        </a:defRPr>
      </a:lvl2pPr>
      <a:lvl3pPr marL="1142365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Arial" panose="020B0604020202020204"/>
          <a:ea typeface="+mn-ea"/>
          <a:cs typeface="Arial" panose="020B0604020202020204"/>
        </a:defRPr>
      </a:lvl3pPr>
      <a:lvl4pPr marL="159893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Arial" panose="020B0604020202020204"/>
          <a:ea typeface="+mn-ea"/>
          <a:cs typeface="Arial" panose="020B0604020202020204"/>
        </a:defRPr>
      </a:lvl4pPr>
      <a:lvl5pPr marL="205613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Arial" panose="020B0604020202020204"/>
          <a:ea typeface="+mn-ea"/>
          <a:cs typeface="Arial" panose="020B0604020202020204"/>
        </a:defRPr>
      </a:lvl5pPr>
      <a:lvl6pPr marL="2512695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69895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646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366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3765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0965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753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473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1295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8495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506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tags" Target="../tags/tag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17431" y="377107"/>
            <a:ext cx="6935273" cy="528991"/>
          </a:xfrm>
          <a:prstGeom prst="rect">
            <a:avLst/>
          </a:prstGeom>
        </p:spPr>
        <p:txBody>
          <a:bodyPr vert="horz" wrap="square" lIns="0" tIns="9525" rIns="0" bIns="0" rtlCol="0" anchor="ctr">
            <a:spAutoFit/>
          </a:bodyPr>
          <a:lstStyle/>
          <a:p>
            <a:pPr marL="9525">
              <a:spcBef>
                <a:spcPts val="75"/>
              </a:spcBef>
            </a:pPr>
            <a:r>
              <a:rPr lang="en-US" sz="3375" spc="-4" dirty="0"/>
              <a:t>Multi-Species Occupancy Models</a:t>
            </a:r>
            <a:endParaRPr sz="3375" dirty="0"/>
          </a:p>
        </p:txBody>
      </p:sp>
      <p:sp>
        <p:nvSpPr>
          <p:cNvPr id="3" name="object 3"/>
          <p:cNvSpPr txBox="1"/>
          <p:nvPr/>
        </p:nvSpPr>
        <p:spPr>
          <a:xfrm>
            <a:off x="170180" y="1246505"/>
            <a:ext cx="8829040" cy="5087931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47625">
              <a:spcBef>
                <a:spcPts val="75"/>
              </a:spcBef>
              <a:tabLst>
                <a:tab pos="3632835" algn="l"/>
              </a:tabLst>
            </a:pPr>
            <a:r>
              <a:rPr lang="en-US" sz="2000" b="1" spc="-8" dirty="0">
                <a:latin typeface="Arial" panose="020B0604020202020204" pitchFamily="34" charset="0"/>
                <a:cs typeface="Arial" panose="020B0604020202020204" pitchFamily="34" charset="0"/>
              </a:rPr>
              <a:t>Sampling design</a:t>
            </a: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: the same as single-species occupancy</a:t>
            </a:r>
          </a:p>
          <a:p>
            <a:pPr marL="390525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endParaRPr lang="en-US" sz="2000" spc="-8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90525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Collect data on many species at the same time</a:t>
            </a:r>
          </a:p>
          <a:p>
            <a:pPr marL="390525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endParaRPr lang="en-US" sz="2000" spc="-8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90525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Different species have:</a:t>
            </a:r>
          </a:p>
          <a:p>
            <a:pPr marL="847725" lvl="1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Different detection probabilities</a:t>
            </a:r>
          </a:p>
          <a:p>
            <a:pPr marL="847725" lvl="1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Different observation-level variable influencing detection (time of day, time of year, </a:t>
            </a:r>
            <a:r>
              <a:rPr lang="en-US" sz="2000" spc="-8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847725" lvl="1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endParaRPr lang="en-US" sz="2000" spc="-8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47725" lvl="1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Different site occupancy probabilities</a:t>
            </a:r>
          </a:p>
          <a:p>
            <a:pPr marL="847725" lvl="1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Different site-level variables influencing occupancy (elevation, forest cover </a:t>
            </a:r>
            <a:r>
              <a:rPr lang="en-US" sz="2000" spc="-8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847725" lvl="1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endParaRPr lang="en-US" sz="2000" spc="-8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90525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Some species may have </a:t>
            </a:r>
            <a:r>
              <a:rPr lang="en-US" sz="2000" b="1" spc="-8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only a few detections </a:t>
            </a: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(traditionally discarded from analysis</a:t>
            </a:r>
          </a:p>
          <a:p>
            <a:pPr marL="390525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Some species known to occur in the study area </a:t>
            </a:r>
            <a:r>
              <a:rPr lang="en-US" sz="2000" b="1" spc="-8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DETECTED</a:t>
            </a:r>
            <a:endParaRPr sz="2000" b="1" dirty="0">
              <a:solidFill>
                <a:srgbClr val="FF0000"/>
              </a:solidFill>
              <a:latin typeface="Comic Sans MS" panose="030F0702030302020204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213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17431" y="377107"/>
            <a:ext cx="6935273" cy="528991"/>
          </a:xfrm>
          <a:prstGeom prst="rect">
            <a:avLst/>
          </a:prstGeom>
        </p:spPr>
        <p:txBody>
          <a:bodyPr vert="horz" wrap="square" lIns="0" tIns="9525" rIns="0" bIns="0" rtlCol="0" anchor="ctr">
            <a:spAutoFit/>
          </a:bodyPr>
          <a:lstStyle/>
          <a:p>
            <a:pPr marL="9525">
              <a:spcBef>
                <a:spcPts val="75"/>
              </a:spcBef>
            </a:pPr>
            <a:r>
              <a:rPr lang="en-US" sz="3375" spc="-4" dirty="0"/>
              <a:t>Multi-Species Occupancy Models</a:t>
            </a:r>
            <a:endParaRPr sz="3375" dirty="0"/>
          </a:p>
        </p:txBody>
      </p:sp>
      <p:sp>
        <p:nvSpPr>
          <p:cNvPr id="3" name="object 3"/>
          <p:cNvSpPr txBox="1"/>
          <p:nvPr/>
        </p:nvSpPr>
        <p:spPr>
          <a:xfrm>
            <a:off x="170180" y="1246505"/>
            <a:ext cx="8829040" cy="5370060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47625">
              <a:spcBef>
                <a:spcPts val="75"/>
              </a:spcBef>
              <a:tabLst>
                <a:tab pos="3632835" algn="l"/>
              </a:tabLst>
            </a:pPr>
            <a:r>
              <a:rPr lang="en-US" sz="2000" b="1" spc="-8" dirty="0">
                <a:latin typeface="Arial" panose="020B0604020202020204" pitchFamily="34" charset="0"/>
                <a:cs typeface="Arial" panose="020B0604020202020204" pitchFamily="34" charset="0"/>
              </a:rPr>
              <a:t>Reasons to implement multi-species occupancy models (MSOM)</a:t>
            </a:r>
          </a:p>
          <a:p>
            <a:pPr marL="47625">
              <a:spcBef>
                <a:spcPts val="75"/>
              </a:spcBef>
              <a:tabLst>
                <a:tab pos="3632835" algn="l"/>
              </a:tabLst>
            </a:pPr>
            <a:endParaRPr lang="en-US" sz="2000" spc="-8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47725" lvl="1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Evaluate the </a:t>
            </a:r>
            <a:r>
              <a:rPr lang="en-US" sz="2000" b="1" spc="-8" dirty="0">
                <a:latin typeface="Arial" panose="020B0604020202020204" pitchFamily="34" charset="0"/>
                <a:cs typeface="Arial" panose="020B0604020202020204" pitchFamily="34" charset="0"/>
              </a:rPr>
              <a:t>community composition</a:t>
            </a:r>
          </a:p>
          <a:p>
            <a:pPr marL="847725" lvl="1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endParaRPr lang="en-US" sz="2000" spc="-8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47725" lvl="1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Draw conclusions about </a:t>
            </a:r>
            <a:r>
              <a:rPr lang="en-US" sz="2000" b="1" spc="-8" dirty="0">
                <a:latin typeface="Arial" panose="020B0604020202020204" pitchFamily="34" charset="0"/>
                <a:cs typeface="Arial" panose="020B0604020202020204" pitchFamily="34" charset="0"/>
              </a:rPr>
              <a:t>species that are rare</a:t>
            </a: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, with low detectability or BOTH rare and with low detectability</a:t>
            </a:r>
          </a:p>
          <a:p>
            <a:pPr marL="1304290" lvl="2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b="1" spc="-8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HOW??? By “borrowing” information from species with good data</a:t>
            </a:r>
          </a:p>
          <a:p>
            <a:pPr marL="1304290" lvl="2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b="1" spc="-8" dirty="0">
                <a:latin typeface="Arial" panose="020B0604020202020204" pitchFamily="34" charset="0"/>
                <a:cs typeface="Arial" panose="020B0604020202020204" pitchFamily="34" charset="0"/>
              </a:rPr>
              <a:t>In a Bayesian framework, </a:t>
            </a: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all species share the same “prior” distributions of parameters, so they share information about:</a:t>
            </a:r>
          </a:p>
          <a:p>
            <a:pPr marL="1761490" lvl="3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Which other species co-occurred at sites where the rare species occurred?</a:t>
            </a:r>
          </a:p>
          <a:p>
            <a:pPr marL="1761490" lvl="3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What are the environmental factors influencing the co-occurring species and what effect do they have (positive, negative)</a:t>
            </a:r>
          </a:p>
          <a:p>
            <a:pPr marL="1761490" lvl="3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endParaRPr lang="en-US" sz="2000" spc="-8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47725" lvl="1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Evaluate the </a:t>
            </a:r>
            <a:r>
              <a:rPr lang="en-US" sz="2000" b="1" spc="-8" dirty="0">
                <a:latin typeface="Arial" panose="020B0604020202020204" pitchFamily="34" charset="0"/>
                <a:cs typeface="Arial" panose="020B0604020202020204" pitchFamily="34" charset="0"/>
              </a:rPr>
              <a:t>true number of species </a:t>
            </a: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present in the community (via Data Augmentation)</a:t>
            </a:r>
            <a:endParaRPr sz="2000" b="1" dirty="0">
              <a:solidFill>
                <a:srgbClr val="FF0000"/>
              </a:solidFill>
              <a:latin typeface="Comic Sans MS" panose="030F0702030302020204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1883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17431" y="377107"/>
            <a:ext cx="6935273" cy="528991"/>
          </a:xfrm>
          <a:prstGeom prst="rect">
            <a:avLst/>
          </a:prstGeom>
        </p:spPr>
        <p:txBody>
          <a:bodyPr vert="horz" wrap="square" lIns="0" tIns="9525" rIns="0" bIns="0" rtlCol="0" anchor="ctr">
            <a:spAutoFit/>
          </a:bodyPr>
          <a:lstStyle/>
          <a:p>
            <a:pPr marL="9525">
              <a:spcBef>
                <a:spcPts val="75"/>
              </a:spcBef>
            </a:pPr>
            <a:r>
              <a:rPr lang="en-US" sz="3375" spc="-4" dirty="0"/>
              <a:t>Multi-Species Occupancy Models</a:t>
            </a:r>
            <a:endParaRPr sz="3375" dirty="0"/>
          </a:p>
        </p:txBody>
      </p:sp>
      <p:sp>
        <p:nvSpPr>
          <p:cNvPr id="3" name="object 3"/>
          <p:cNvSpPr txBox="1"/>
          <p:nvPr/>
        </p:nvSpPr>
        <p:spPr>
          <a:xfrm>
            <a:off x="729048" y="1555424"/>
            <a:ext cx="7821827" cy="4433906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47625">
              <a:spcBef>
                <a:spcPts val="75"/>
              </a:spcBef>
              <a:tabLst>
                <a:tab pos="3632835" algn="l"/>
              </a:tabLst>
            </a:pPr>
            <a:r>
              <a:rPr lang="en-US" sz="2000" b="1" spc="-8" dirty="0">
                <a:latin typeface="Arial" panose="020B0604020202020204" pitchFamily="34" charset="0"/>
                <a:cs typeface="Arial" panose="020B0604020202020204" pitchFamily="34" charset="0"/>
              </a:rPr>
              <a:t>MSOM’s are occupancy models with 3 levels:</a:t>
            </a:r>
          </a:p>
          <a:p>
            <a:pPr marL="47625">
              <a:spcBef>
                <a:spcPts val="75"/>
              </a:spcBef>
              <a:tabLst>
                <a:tab pos="3632835" algn="l"/>
              </a:tabLst>
            </a:pPr>
            <a:endParaRPr lang="en-US" sz="2000" b="1" spc="-8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625">
              <a:spcBef>
                <a:spcPts val="75"/>
              </a:spcBef>
              <a:tabLst>
                <a:tab pos="3632835" algn="l"/>
              </a:tabLst>
            </a:pPr>
            <a:r>
              <a:rPr lang="en-US" sz="2000" b="1" spc="-8" dirty="0">
                <a:latin typeface="Arial" panose="020B0604020202020204" pitchFamily="34" charset="0"/>
                <a:cs typeface="Arial" panose="020B0604020202020204" pitchFamily="34" charset="0"/>
              </a:rPr>
              <a:t>1) Metacommunity – </a:t>
            </a: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what is the probability that a species is a member of the metacommunity of size N?</a:t>
            </a:r>
          </a:p>
          <a:p>
            <a:pPr marL="47625">
              <a:spcBef>
                <a:spcPts val="75"/>
              </a:spcBef>
              <a:tabLst>
                <a:tab pos="3632835" algn="l"/>
              </a:tabLst>
            </a:pPr>
            <a:endParaRPr lang="en-US" sz="2000" b="1" spc="-8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625">
              <a:spcBef>
                <a:spcPts val="75"/>
              </a:spcBef>
              <a:tabLst>
                <a:tab pos="3632835" algn="l"/>
              </a:tabLst>
            </a:pPr>
            <a:r>
              <a:rPr lang="en-US" sz="2000" b="1" spc="-8" dirty="0">
                <a:latin typeface="Arial" panose="020B0604020202020204" pitchFamily="34" charset="0"/>
                <a:cs typeface="Arial" panose="020B0604020202020204" pitchFamily="34" charset="0"/>
              </a:rPr>
              <a:t>2) Community – </a:t>
            </a: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what is the probability of occurrence of each species at a site given that it is truly present in the metacommunity?</a:t>
            </a:r>
          </a:p>
          <a:p>
            <a:pPr marL="47625">
              <a:spcBef>
                <a:spcPts val="75"/>
              </a:spcBef>
              <a:tabLst>
                <a:tab pos="3632835" algn="l"/>
              </a:tabLst>
            </a:pPr>
            <a:endParaRPr lang="en-US" sz="2000" b="1" spc="-8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625">
              <a:spcBef>
                <a:spcPts val="75"/>
              </a:spcBef>
              <a:tabLst>
                <a:tab pos="3632835" algn="l"/>
              </a:tabLst>
            </a:pPr>
            <a:r>
              <a:rPr lang="en-US" sz="2000" b="1" spc="-8" dirty="0">
                <a:latin typeface="Arial" panose="020B0604020202020204" pitchFamily="34" charset="0"/>
                <a:cs typeface="Arial" panose="020B0604020202020204" pitchFamily="34" charset="0"/>
              </a:rPr>
              <a:t>3) Species – </a:t>
            </a: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what is the probability of detecting a species given that is truly present at a site</a:t>
            </a:r>
          </a:p>
          <a:p>
            <a:pPr marL="47625">
              <a:spcBef>
                <a:spcPts val="75"/>
              </a:spcBef>
              <a:tabLst>
                <a:tab pos="3632835" algn="l"/>
              </a:tabLst>
            </a:pPr>
            <a:endParaRPr lang="en-US" sz="2000" spc="-8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625">
              <a:spcBef>
                <a:spcPts val="75"/>
              </a:spcBef>
              <a:tabLst>
                <a:tab pos="3632835" algn="l"/>
              </a:tabLst>
            </a:pPr>
            <a:endParaRPr lang="en-US" sz="2000" spc="-8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625">
              <a:spcBef>
                <a:spcPts val="75"/>
              </a:spcBef>
              <a:tabLst>
                <a:tab pos="3632835" algn="l"/>
              </a:tabLst>
            </a:pP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We can use </a:t>
            </a:r>
            <a:r>
              <a:rPr lang="en-US" sz="2000" b="1" spc="-8" dirty="0">
                <a:latin typeface="Arial" panose="020B0604020202020204" pitchFamily="34" charset="0"/>
                <a:cs typeface="Arial" panose="020B0604020202020204" pitchFamily="34" charset="0"/>
              </a:rPr>
              <a:t>site-specific variables </a:t>
            </a: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to model (2) and </a:t>
            </a:r>
            <a:r>
              <a:rPr lang="en-US" sz="2000" b="1" spc="-8" dirty="0">
                <a:latin typeface="Arial" panose="020B0604020202020204" pitchFamily="34" charset="0"/>
                <a:cs typeface="Arial" panose="020B0604020202020204" pitchFamily="34" charset="0"/>
              </a:rPr>
              <a:t>detection-specific variables </a:t>
            </a: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to model (3)</a:t>
            </a:r>
          </a:p>
        </p:txBody>
      </p:sp>
    </p:spTree>
    <p:extLst>
      <p:ext uri="{BB962C8B-B14F-4D97-AF65-F5344CB8AC3E}">
        <p14:creationId xmlns:p14="http://schemas.microsoft.com/office/powerpoint/2010/main" val="400858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17431" y="377107"/>
            <a:ext cx="6935273" cy="528991"/>
          </a:xfrm>
          <a:prstGeom prst="rect">
            <a:avLst/>
          </a:prstGeom>
        </p:spPr>
        <p:txBody>
          <a:bodyPr vert="horz" wrap="square" lIns="0" tIns="9525" rIns="0" bIns="0" rtlCol="0" anchor="ctr">
            <a:spAutoFit/>
          </a:bodyPr>
          <a:lstStyle/>
          <a:p>
            <a:pPr marL="9525">
              <a:spcBef>
                <a:spcPts val="75"/>
              </a:spcBef>
            </a:pPr>
            <a:r>
              <a:rPr lang="en-US" sz="3375" spc="-4" dirty="0"/>
              <a:t>Multi-Species Occupancy Models</a:t>
            </a:r>
            <a:endParaRPr sz="3375" dirty="0"/>
          </a:p>
        </p:txBody>
      </p:sp>
      <p:sp>
        <p:nvSpPr>
          <p:cNvPr id="3" name="object 3"/>
          <p:cNvSpPr txBox="1"/>
          <p:nvPr/>
        </p:nvSpPr>
        <p:spPr>
          <a:xfrm>
            <a:off x="729048" y="1555424"/>
            <a:ext cx="7821827" cy="3472104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47625">
              <a:spcBef>
                <a:spcPts val="75"/>
              </a:spcBef>
              <a:tabLst>
                <a:tab pos="3632835" algn="l"/>
              </a:tabLst>
            </a:pPr>
            <a:r>
              <a:rPr lang="en-US" sz="2000" b="1" spc="-8" dirty="0">
                <a:latin typeface="Arial" panose="020B0604020202020204" pitchFamily="34" charset="0"/>
                <a:cs typeface="Arial" panose="020B0604020202020204" pitchFamily="34" charset="0"/>
              </a:rPr>
              <a:t>MSOM’s are very flexible and can incorporate other ecological knowledge and processes:</a:t>
            </a:r>
          </a:p>
          <a:p>
            <a:pPr marL="47625">
              <a:spcBef>
                <a:spcPts val="75"/>
              </a:spcBef>
              <a:tabLst>
                <a:tab pos="3632835" algn="l"/>
              </a:tabLst>
            </a:pPr>
            <a:endParaRPr lang="en-US" sz="2000" b="1" spc="-8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625">
              <a:spcBef>
                <a:spcPts val="75"/>
              </a:spcBef>
              <a:tabLst>
                <a:tab pos="3632835" algn="l"/>
              </a:tabLst>
            </a:pP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Various levels of complexity can be included:</a:t>
            </a:r>
          </a:p>
          <a:p>
            <a:pPr marL="390525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b="1" spc="-8" dirty="0">
                <a:latin typeface="Arial" panose="020B0604020202020204" pitchFamily="34" charset="0"/>
                <a:cs typeface="Arial" panose="020B0604020202020204" pitchFamily="34" charset="0"/>
              </a:rPr>
              <a:t>Spatial correlation</a:t>
            </a: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 – sites closer together have higher species similarity)</a:t>
            </a:r>
          </a:p>
          <a:p>
            <a:pPr marL="390525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b="1" spc="-8" dirty="0">
                <a:latin typeface="Arial" panose="020B0604020202020204" pitchFamily="34" charset="0"/>
                <a:cs typeface="Arial" panose="020B0604020202020204" pitchFamily="34" charset="0"/>
              </a:rPr>
              <a:t>Correlation between detection and abundance </a:t>
            </a: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– if higher abundance = higher detection </a:t>
            </a:r>
          </a:p>
          <a:p>
            <a:pPr marL="390525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r>
              <a:rPr lang="en-US" sz="2000" b="1" spc="-8" dirty="0">
                <a:latin typeface="Arial" panose="020B0604020202020204" pitchFamily="34" charset="0"/>
                <a:cs typeface="Arial" panose="020B0604020202020204" pitchFamily="34" charset="0"/>
              </a:rPr>
              <a:t>Species-specific or taxonomic group-specific responses </a:t>
            </a:r>
            <a:r>
              <a:rPr lang="en-US" sz="2000" spc="-8" dirty="0">
                <a:latin typeface="Arial" panose="020B0604020202020204" pitchFamily="34" charset="0"/>
                <a:cs typeface="Arial" panose="020B0604020202020204" pitchFamily="34" charset="0"/>
              </a:rPr>
              <a:t>to environment – added as random effects </a:t>
            </a:r>
          </a:p>
          <a:p>
            <a:pPr marL="390525" indent="-342900">
              <a:spcBef>
                <a:spcPts val="75"/>
              </a:spcBef>
              <a:buFontTx/>
              <a:buChar char="-"/>
              <a:tabLst>
                <a:tab pos="3632835" algn="l"/>
              </a:tabLst>
            </a:pPr>
            <a:endParaRPr lang="en-US" sz="2000" spc="-8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1805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D16A3A8-A129-7DD0-DB21-477169F03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E74094-9993-C3C0-EBE4-D45917B2DA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299" y="0"/>
            <a:ext cx="5625402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731A707-4879-9CCA-8F83-550D41821D22}"/>
              </a:ext>
            </a:extLst>
          </p:cNvPr>
          <p:cNvSpPr txBox="1"/>
          <p:nvPr/>
        </p:nvSpPr>
        <p:spPr>
          <a:xfrm>
            <a:off x="7200583" y="6547074"/>
            <a:ext cx="1943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Devarajan et al. 2020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4773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 5">
            <a:extLst>
              <a:ext uri="{FF2B5EF4-FFF2-40B4-BE49-F238E27FC236}">
                <a16:creationId xmlns:a16="http://schemas.microsoft.com/office/drawing/2014/main" id="{31BE8475-F2FE-BB33-FC3D-4215785316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6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marL="457200" eaLnBrk="1" hangingPunct="1"/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Estimating </a:t>
            </a:r>
            <a:r>
              <a:rPr lang="en-US" sz="4000" b="1">
                <a:latin typeface="Arial" panose="020B0604020202020204" pitchFamily="34" charset="0"/>
                <a:cs typeface="Arial" panose="020B0604020202020204" pitchFamily="34" charset="0"/>
              </a:rPr>
              <a:t>species </a:t>
            </a:r>
            <a:br>
              <a:rPr lang="en-US" sz="4000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b="1">
                <a:latin typeface="Arial" panose="020B0604020202020204" pitchFamily="34" charset="0"/>
                <a:cs typeface="Arial" panose="020B0604020202020204" pitchFamily="34" charset="0"/>
              </a:rPr>
              <a:t>co-occurrence</a:t>
            </a:r>
            <a:endParaRPr 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4000" b="1" dirty="0">
                <a:solidFill>
                  <a:srgbClr val="00009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物种共存估计</a:t>
            </a:r>
          </a:p>
        </p:txBody>
      </p:sp>
    </p:spTree>
    <p:extLst>
      <p:ext uri="{BB962C8B-B14F-4D97-AF65-F5344CB8AC3E}">
        <p14:creationId xmlns:p14="http://schemas.microsoft.com/office/powerpoint/2010/main" val="1634061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656409" y="179323"/>
            <a:ext cx="1829276" cy="1049020"/>
          </a:xfrm>
          <a:prstGeom prst="rect">
            <a:avLst/>
          </a:prstGeom>
        </p:spPr>
        <p:txBody>
          <a:bodyPr vert="horz" wrap="square" lIns="0" tIns="9525" rIns="0" bIns="0" rtlCol="0" anchor="ctr">
            <a:spAutoFit/>
          </a:bodyPr>
          <a:lstStyle/>
          <a:p>
            <a:pPr marL="9525">
              <a:spcBef>
                <a:spcPts val="75"/>
              </a:spcBef>
            </a:pPr>
            <a:r>
              <a:rPr sz="3375" dirty="0"/>
              <a:t>R</a:t>
            </a:r>
            <a:r>
              <a:rPr sz="3375" spc="-4" dirty="0"/>
              <a:t>a</a:t>
            </a:r>
            <a:r>
              <a:rPr sz="3375" dirty="0"/>
              <a:t>ti</a:t>
            </a:r>
            <a:r>
              <a:rPr sz="3375" spc="-4" dirty="0"/>
              <a:t>ona</a:t>
            </a:r>
            <a:r>
              <a:rPr sz="3375" dirty="0"/>
              <a:t>le</a:t>
            </a:r>
            <a:br>
              <a:rPr sz="3375" dirty="0"/>
            </a:br>
            <a:r>
              <a:rPr sz="3375" dirty="0"/>
              <a:t>原理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76555" y="1250315"/>
            <a:ext cx="8678545" cy="537146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243205" indent="-233680">
              <a:spcBef>
                <a:spcPts val="75"/>
              </a:spcBef>
              <a:buClr>
                <a:srgbClr val="A6A6A6"/>
              </a:buClr>
              <a:buChar char="•"/>
              <a:tabLst>
                <a:tab pos="242570" algn="l"/>
                <a:tab pos="243205" algn="l"/>
              </a:tabLst>
            </a:pPr>
            <a:r>
              <a:rPr sz="2400" spc="-4" dirty="0">
                <a:latin typeface="Arial" panose="020B0604020202020204"/>
                <a:cs typeface="Arial" panose="020B0604020202020204"/>
              </a:rPr>
              <a:t>Several (say</a:t>
            </a:r>
            <a:r>
              <a:rPr sz="24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4" dirty="0">
                <a:latin typeface="Arial" panose="020B0604020202020204"/>
                <a:cs typeface="Arial" panose="020B0604020202020204"/>
              </a:rPr>
              <a:t>2)</a:t>
            </a:r>
            <a:r>
              <a:rPr sz="2400" spc="-8" dirty="0">
                <a:latin typeface="Arial" panose="020B0604020202020204"/>
                <a:cs typeface="Arial" panose="020B0604020202020204"/>
              </a:rPr>
              <a:t> different</a:t>
            </a:r>
            <a:r>
              <a:rPr sz="2400" spc="-4" dirty="0">
                <a:latin typeface="Arial" panose="020B0604020202020204"/>
                <a:cs typeface="Arial" panose="020B0604020202020204"/>
              </a:rPr>
              <a:t> species</a:t>
            </a:r>
            <a:r>
              <a:rPr sz="24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4" dirty="0">
                <a:latin typeface="Arial" panose="020B0604020202020204"/>
                <a:cs typeface="Arial" panose="020B0604020202020204"/>
              </a:rPr>
              <a:t>on</a:t>
            </a:r>
            <a:r>
              <a:rPr sz="2400" spc="-11" dirty="0">
                <a:latin typeface="Arial" panose="020B0604020202020204"/>
                <a:cs typeface="Arial" panose="020B0604020202020204"/>
              </a:rPr>
              <a:t> </a:t>
            </a:r>
            <a:r>
              <a:rPr sz="2400" dirty="0">
                <a:latin typeface="Arial" panose="020B0604020202020204"/>
                <a:cs typeface="Arial" panose="020B0604020202020204"/>
              </a:rPr>
              <a:t>a</a:t>
            </a:r>
            <a:r>
              <a:rPr sz="2400" spc="-11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4" dirty="0">
                <a:latin typeface="Arial" panose="020B0604020202020204"/>
                <a:cs typeface="Arial" panose="020B0604020202020204"/>
              </a:rPr>
              <a:t>site</a:t>
            </a:r>
            <a:endParaRPr sz="2400" dirty="0">
              <a:latin typeface="Arial" panose="020B0604020202020204"/>
              <a:cs typeface="Arial" panose="020B0604020202020204"/>
            </a:endParaRPr>
          </a:p>
          <a:p>
            <a:pPr marL="243205" indent="-233680">
              <a:spcBef>
                <a:spcPts val="1905"/>
              </a:spcBef>
              <a:buClr>
                <a:srgbClr val="A6A6A6"/>
              </a:buClr>
              <a:buChar char="•"/>
              <a:tabLst>
                <a:tab pos="242570" algn="l"/>
                <a:tab pos="243205" algn="l"/>
              </a:tabLst>
            </a:pPr>
            <a:r>
              <a:rPr sz="2400" spc="-4" dirty="0">
                <a:latin typeface="Arial" panose="020B0604020202020204"/>
                <a:cs typeface="Arial" panose="020B0604020202020204"/>
              </a:rPr>
              <a:t>Interactions</a:t>
            </a:r>
            <a:r>
              <a:rPr sz="2400" spc="-11" dirty="0">
                <a:latin typeface="Arial" panose="020B0604020202020204"/>
                <a:cs typeface="Arial" panose="020B0604020202020204"/>
              </a:rPr>
              <a:t> affect</a:t>
            </a:r>
            <a:r>
              <a:rPr sz="24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4" dirty="0">
                <a:latin typeface="Arial" panose="020B0604020202020204"/>
                <a:cs typeface="Arial" panose="020B0604020202020204"/>
              </a:rPr>
              <a:t>occupancy</a:t>
            </a:r>
            <a:r>
              <a:rPr sz="24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4" dirty="0">
                <a:latin typeface="Arial" panose="020B0604020202020204"/>
                <a:cs typeface="Arial" panose="020B0604020202020204"/>
              </a:rPr>
              <a:t>probabilities</a:t>
            </a:r>
            <a:endParaRPr sz="2400" dirty="0">
              <a:latin typeface="Arial" panose="020B0604020202020204"/>
              <a:cs typeface="Arial" panose="020B0604020202020204"/>
            </a:endParaRPr>
          </a:p>
          <a:p>
            <a:pPr marL="243205" marR="3810" indent="-233680">
              <a:lnSpc>
                <a:spcPts val="2845"/>
              </a:lnSpc>
              <a:spcBef>
                <a:spcPts val="1980"/>
              </a:spcBef>
              <a:buClr>
                <a:srgbClr val="A6A6A6"/>
              </a:buClr>
              <a:buChar char="•"/>
              <a:tabLst>
                <a:tab pos="242570" algn="l"/>
                <a:tab pos="243205" algn="l"/>
              </a:tabLst>
            </a:pPr>
            <a:r>
              <a:rPr sz="2400" spc="-4" dirty="0">
                <a:latin typeface="Arial" panose="020B0604020202020204"/>
                <a:cs typeface="Arial" panose="020B0604020202020204"/>
              </a:rPr>
              <a:t>Detection of </a:t>
            </a:r>
            <a:r>
              <a:rPr sz="2400" dirty="0">
                <a:latin typeface="Arial" panose="020B0604020202020204"/>
                <a:cs typeface="Arial" panose="020B0604020202020204"/>
              </a:rPr>
              <a:t>a </a:t>
            </a:r>
            <a:r>
              <a:rPr sz="2400" spc="-4" dirty="0">
                <a:latin typeface="Arial" panose="020B0604020202020204"/>
                <a:cs typeface="Arial" panose="020B0604020202020204"/>
              </a:rPr>
              <a:t>species </a:t>
            </a:r>
            <a:r>
              <a:rPr sz="2400" spc="-11" dirty="0">
                <a:latin typeface="Arial" panose="020B0604020202020204"/>
                <a:cs typeface="Arial" panose="020B0604020202020204"/>
              </a:rPr>
              <a:t>affected </a:t>
            </a:r>
            <a:r>
              <a:rPr sz="2400" spc="-4" dirty="0">
                <a:latin typeface="Arial" panose="020B0604020202020204"/>
                <a:cs typeface="Arial" panose="020B0604020202020204"/>
              </a:rPr>
              <a:t>by presence of another </a:t>
            </a:r>
            <a:r>
              <a:rPr sz="2400" spc="-656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4" dirty="0">
                <a:latin typeface="Arial" panose="020B0604020202020204"/>
                <a:cs typeface="Arial" panose="020B0604020202020204"/>
              </a:rPr>
              <a:t>one:</a:t>
            </a:r>
            <a:r>
              <a:rPr sz="24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4" dirty="0">
                <a:latin typeface="Arial" panose="020B0604020202020204"/>
                <a:cs typeface="Arial" panose="020B0604020202020204"/>
              </a:rPr>
              <a:t>blurred</a:t>
            </a:r>
            <a:r>
              <a:rPr sz="24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4" dirty="0">
                <a:latin typeface="Arial" panose="020B0604020202020204"/>
                <a:cs typeface="Arial" panose="020B0604020202020204"/>
              </a:rPr>
              <a:t>interactions</a:t>
            </a:r>
            <a:endParaRPr sz="2400" dirty="0">
              <a:latin typeface="Arial" panose="020B0604020202020204"/>
              <a:cs typeface="Arial" panose="020B0604020202020204"/>
            </a:endParaRPr>
          </a:p>
          <a:p>
            <a:pPr marL="243205" indent="-233680">
              <a:spcBef>
                <a:spcPts val="1840"/>
              </a:spcBef>
              <a:buClr>
                <a:srgbClr val="A6A6A6"/>
              </a:buClr>
              <a:buChar char="•"/>
              <a:tabLst>
                <a:tab pos="242570" algn="l"/>
                <a:tab pos="243205" algn="l"/>
              </a:tabLst>
            </a:pPr>
            <a:r>
              <a:rPr sz="2400" u="heavy" spc="-4" dirty="0">
                <a:uFill>
                  <a:solidFill>
                    <a:srgbClr val="FFFFFF"/>
                  </a:solidFill>
                </a:uFill>
                <a:latin typeface="Arial" panose="020B0604020202020204"/>
                <a:cs typeface="Arial" panose="020B0604020202020204"/>
              </a:rPr>
              <a:t>Examples</a:t>
            </a:r>
            <a:r>
              <a:rPr sz="2400" spc="-4" dirty="0">
                <a:latin typeface="Arial" panose="020B0604020202020204"/>
                <a:cs typeface="Arial" panose="020B0604020202020204"/>
              </a:rPr>
              <a:t>:</a:t>
            </a:r>
            <a:r>
              <a:rPr sz="2400" spc="-11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4" dirty="0">
                <a:latin typeface="Arial" panose="020B0604020202020204"/>
                <a:cs typeface="Arial" panose="020B0604020202020204"/>
              </a:rPr>
              <a:t>predation,</a:t>
            </a:r>
            <a:r>
              <a:rPr sz="24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4" dirty="0">
                <a:latin typeface="Arial" panose="020B0604020202020204"/>
                <a:cs typeface="Arial" panose="020B0604020202020204"/>
              </a:rPr>
              <a:t>mutualism,</a:t>
            </a:r>
            <a:r>
              <a:rPr sz="24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4" dirty="0">
                <a:latin typeface="Arial" panose="020B0604020202020204"/>
                <a:cs typeface="Arial" panose="020B0604020202020204"/>
              </a:rPr>
              <a:t>competition,</a:t>
            </a:r>
            <a:r>
              <a:rPr sz="24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400" dirty="0">
                <a:latin typeface="Arial" panose="020B0604020202020204"/>
                <a:cs typeface="Arial" panose="020B0604020202020204"/>
              </a:rPr>
              <a:t>…</a:t>
            </a:r>
          </a:p>
          <a:p>
            <a:pPr marL="9525" indent="0">
              <a:spcBef>
                <a:spcPts val="1840"/>
              </a:spcBef>
              <a:buClr>
                <a:srgbClr val="A6A6A6"/>
              </a:buClr>
              <a:buNone/>
              <a:tabLst>
                <a:tab pos="242570" algn="l"/>
                <a:tab pos="243205" algn="l"/>
              </a:tabLst>
            </a:pPr>
            <a:r>
              <a:rPr sz="2400" dirty="0">
                <a:latin typeface="Arial" panose="020B0604020202020204"/>
                <a:cs typeface="Arial" panose="020B0604020202020204"/>
              </a:rPr>
              <a:t>一个地点有几个</a:t>
            </a:r>
            <a:r>
              <a:rPr lang="zh-CN" sz="2400" dirty="0">
                <a:latin typeface="Arial" panose="020B0604020202020204"/>
                <a:cs typeface="Arial" panose="020B0604020202020204"/>
              </a:rPr>
              <a:t>（</a:t>
            </a:r>
            <a:r>
              <a:rPr sz="2400" dirty="0">
                <a:latin typeface="Arial" panose="020B0604020202020204"/>
                <a:cs typeface="Arial" panose="020B0604020202020204"/>
              </a:rPr>
              <a:t>比如2个</a:t>
            </a:r>
            <a:r>
              <a:rPr lang="zh-CN" sz="2400" dirty="0">
                <a:latin typeface="Arial" panose="020B0604020202020204"/>
                <a:cs typeface="Arial" panose="020B0604020202020204"/>
              </a:rPr>
              <a:t>）</a:t>
            </a:r>
            <a:r>
              <a:rPr sz="2400" dirty="0">
                <a:latin typeface="Arial" panose="020B0604020202020204"/>
                <a:cs typeface="Arial" panose="020B0604020202020204"/>
              </a:rPr>
              <a:t>不同的物种</a:t>
            </a:r>
          </a:p>
          <a:p>
            <a:pPr marL="243205" indent="-233680">
              <a:spcBef>
                <a:spcPts val="1840"/>
              </a:spcBef>
              <a:buClr>
                <a:srgbClr val="A6A6A6"/>
              </a:buClr>
              <a:buChar char="•"/>
              <a:tabLst>
                <a:tab pos="242570" algn="l"/>
                <a:tab pos="243205" algn="l"/>
              </a:tabLst>
            </a:pPr>
            <a:r>
              <a:rPr sz="2400" dirty="0">
                <a:latin typeface="Arial" panose="020B0604020202020204"/>
                <a:cs typeface="Arial" panose="020B0604020202020204"/>
              </a:rPr>
              <a:t>相互作用会影响物种的</a:t>
            </a:r>
            <a:r>
              <a:rPr lang="zh-CN" sz="2400" dirty="0">
                <a:latin typeface="Arial" panose="020B0604020202020204"/>
                <a:cs typeface="Arial" panose="020B0604020202020204"/>
              </a:rPr>
              <a:t>占用</a:t>
            </a:r>
            <a:r>
              <a:rPr sz="2400" dirty="0">
                <a:latin typeface="Arial" panose="020B0604020202020204"/>
                <a:cs typeface="Arial" panose="020B0604020202020204"/>
              </a:rPr>
              <a:t>概率</a:t>
            </a:r>
          </a:p>
          <a:p>
            <a:pPr marL="243205" indent="-233680">
              <a:spcBef>
                <a:spcPts val="1840"/>
              </a:spcBef>
              <a:buClr>
                <a:srgbClr val="A6A6A6"/>
              </a:buClr>
              <a:buChar char="•"/>
              <a:tabLst>
                <a:tab pos="242570" algn="l"/>
                <a:tab pos="243205" algn="l"/>
              </a:tabLst>
            </a:pPr>
            <a:r>
              <a:rPr sz="2400" dirty="0">
                <a:latin typeface="Arial" panose="020B0604020202020204"/>
                <a:cs typeface="Arial" panose="020B0604020202020204"/>
              </a:rPr>
              <a:t>一个物种的检测受到另一个物种存在的影响</a:t>
            </a:r>
            <a:r>
              <a:rPr lang="zh-CN" sz="2400" dirty="0">
                <a:latin typeface="Arial" panose="020B0604020202020204"/>
                <a:cs typeface="Arial" panose="020B0604020202020204"/>
              </a:rPr>
              <a:t>：</a:t>
            </a:r>
            <a:r>
              <a:rPr sz="2400" dirty="0">
                <a:latin typeface="Arial" panose="020B0604020202020204"/>
                <a:cs typeface="Arial" panose="020B0604020202020204"/>
              </a:rPr>
              <a:t>相互作用模糊不清</a:t>
            </a:r>
          </a:p>
          <a:p>
            <a:pPr marL="243205" indent="-233680">
              <a:spcBef>
                <a:spcPts val="1840"/>
              </a:spcBef>
              <a:buClr>
                <a:srgbClr val="A6A6A6"/>
              </a:buClr>
              <a:buChar char="•"/>
              <a:tabLst>
                <a:tab pos="242570" algn="l"/>
                <a:tab pos="243205" algn="l"/>
              </a:tabLst>
            </a:pPr>
            <a:r>
              <a:rPr sz="2400" dirty="0">
                <a:latin typeface="Arial" panose="020B0604020202020204"/>
                <a:cs typeface="Arial" panose="020B0604020202020204"/>
              </a:rPr>
              <a:t>例子</a:t>
            </a:r>
            <a:r>
              <a:rPr lang="zh-CN" sz="2400" dirty="0">
                <a:latin typeface="Arial" panose="020B0604020202020204"/>
                <a:cs typeface="Arial" panose="020B0604020202020204"/>
              </a:rPr>
              <a:t>：</a:t>
            </a:r>
            <a:r>
              <a:rPr sz="2400" dirty="0">
                <a:latin typeface="Arial" panose="020B0604020202020204"/>
                <a:cs typeface="Arial" panose="020B0604020202020204"/>
              </a:rPr>
              <a:t>捕食、互惠、竞争……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177421" y="139915"/>
            <a:ext cx="7285542" cy="871761"/>
          </a:xfrm>
          <a:noFill/>
        </p:spPr>
        <p:txBody>
          <a:bodyPr vert="horz" wrap="square" lIns="68162" tIns="34082" rIns="68162" bIns="34082" numCol="1" rtlCol="0" anchor="ctr" anchorCtr="0" compatLnSpc="1">
            <a:normAutofit fontScale="90000"/>
          </a:bodyPr>
          <a:lstStyle/>
          <a:p>
            <a:r>
              <a:rPr lang="en-US" sz="2800" b="1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Why are certain species found together?</a:t>
            </a:r>
            <a:br>
              <a:rPr lang="en-US" sz="2800" b="1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800" b="1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为什么某些物种被发现在一起？</a:t>
            </a:r>
            <a:endParaRPr lang="en-US" sz="2800" b="1" dirty="0">
              <a:solidFill>
                <a:srgbClr val="0000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32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85750" y="1167765"/>
            <a:ext cx="6237605" cy="5549900"/>
          </a:xfrm>
          <a:noFill/>
        </p:spPr>
        <p:txBody>
          <a:bodyPr vert="horz" wrap="square" lIns="68162" tIns="34082" rIns="68162" bIns="34082" numCol="1" rtlCol="0" anchor="t" anchorCtr="0" compatLnSpc="1">
            <a:normAutofit fontScale="85000" lnSpcReduction="10000"/>
          </a:bodyPr>
          <a:lstStyle/>
          <a:p>
            <a:pPr>
              <a:buFontTx/>
              <a:buNone/>
            </a:pPr>
            <a:r>
              <a:rPr lang="en-US" sz="2250" b="1" dirty="0">
                <a:latin typeface="Arial" panose="020B0604020202020204" pitchFamily="34" charset="0"/>
                <a:cs typeface="Arial" panose="020B0604020202020204" pitchFamily="34" charset="0"/>
              </a:rPr>
              <a:t>1) Interactive Hypothesis - Clements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970" dirty="0">
                <a:latin typeface="Arial" panose="020B0604020202020204" pitchFamily="34" charset="0"/>
                <a:cs typeface="Arial" panose="020B0604020202020204" pitchFamily="34" charset="0"/>
              </a:rPr>
              <a:t>community is an integrated set of species held together by the interaction of its members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970" dirty="0">
                <a:latin typeface="Arial" panose="020B0604020202020204" pitchFamily="34" charset="0"/>
                <a:cs typeface="Arial" panose="020B0604020202020204" pitchFamily="34" charset="0"/>
              </a:rPr>
              <a:t>communities have emergent properties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970" dirty="0">
                <a:latin typeface="Arial" panose="020B0604020202020204" pitchFamily="34" charset="0"/>
                <a:cs typeface="Arial" panose="020B0604020202020204" pitchFamily="34" charset="0"/>
              </a:rPr>
              <a:t>discrete boundaries between communities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970" dirty="0">
                <a:latin typeface="Arial" panose="020B0604020202020204" pitchFamily="34" charset="0"/>
                <a:cs typeface="Arial" panose="020B0604020202020204" pitchFamily="34" charset="0"/>
              </a:rPr>
              <a:t>emphasizing studying assemblages</a:t>
            </a:r>
          </a:p>
          <a:p>
            <a:pPr>
              <a:buFontTx/>
              <a:buNone/>
            </a:pPr>
            <a:r>
              <a:rPr lang="en-US" sz="1970" b="1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    互动假说--克莱门茨</a:t>
            </a:r>
            <a:endParaRPr lang="en-US" sz="197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97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群落是由其成员相互作用而维系在一起的一个完整的物种集合体</a:t>
            </a:r>
            <a:endParaRPr lang="en-US" sz="197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zh-CN" altLang="en-US" sz="197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群落</a:t>
            </a:r>
            <a:r>
              <a:rPr lang="en-US" sz="197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具有独特的、整体性</a:t>
            </a:r>
            <a:r>
              <a:rPr lang="zh-CN" altLang="en-US" sz="197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的特征</a:t>
            </a:r>
            <a:endParaRPr lang="en-US" sz="197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97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群落之间存在离散的边界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97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强调研究不同</a:t>
            </a:r>
            <a:r>
              <a:rPr lang="zh-CN" altLang="en-US" sz="197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群落的</a:t>
            </a:r>
            <a:r>
              <a:rPr lang="en-US" sz="197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组合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97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Tx/>
              <a:buNone/>
            </a:pPr>
            <a:r>
              <a:rPr lang="en-US" sz="2250" b="1" dirty="0">
                <a:latin typeface="Arial" panose="020B0604020202020204" pitchFamily="34" charset="0"/>
                <a:cs typeface="Arial" panose="020B0604020202020204" pitchFamily="34" charset="0"/>
              </a:rPr>
              <a:t>2) Individualistic Hypothesis – Gleason</a:t>
            </a:r>
          </a:p>
          <a:p>
            <a:pPr lvl="1"/>
            <a:r>
              <a:rPr lang="en-US" sz="1970" dirty="0">
                <a:latin typeface="Arial" panose="020B0604020202020204" pitchFamily="34" charset="0"/>
                <a:cs typeface="Arial" panose="020B0604020202020204" pitchFamily="34" charset="0"/>
              </a:rPr>
              <a:t>species share similar abiotic requirements</a:t>
            </a:r>
          </a:p>
          <a:p>
            <a:pPr lvl="1"/>
            <a:r>
              <a:rPr lang="en-US" sz="1970" dirty="0">
                <a:latin typeface="Arial" panose="020B0604020202020204" pitchFamily="34" charset="0"/>
                <a:cs typeface="Arial" panose="020B0604020202020204" pitchFamily="34" charset="0"/>
              </a:rPr>
              <a:t>no discrete boundaries between communities</a:t>
            </a:r>
          </a:p>
          <a:p>
            <a:pPr lvl="1"/>
            <a:r>
              <a:rPr lang="en-US" sz="1970" dirty="0">
                <a:latin typeface="Arial" panose="020B0604020202020204" pitchFamily="34" charset="0"/>
                <a:cs typeface="Arial" panose="020B0604020202020204" pitchFamily="34" charset="0"/>
              </a:rPr>
              <a:t>emphasizes studying single species</a:t>
            </a:r>
          </a:p>
          <a:p>
            <a:pPr>
              <a:buFontTx/>
              <a:buNone/>
            </a:pPr>
            <a:r>
              <a:rPr lang="en-US" sz="1970" b="1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   个体化假说--格里森</a:t>
            </a:r>
            <a:endParaRPr lang="en-US" sz="197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197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物种具有相似的非生物要求</a:t>
            </a:r>
            <a:endParaRPr lang="en-US" sz="197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zh-CN" altLang="en-US" sz="197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群落</a:t>
            </a:r>
            <a:r>
              <a:rPr lang="en-US" sz="197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之间没有</a:t>
            </a:r>
            <a:r>
              <a:rPr lang="zh-CN" altLang="en-US" sz="197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明确</a:t>
            </a:r>
            <a:r>
              <a:rPr lang="en-US" sz="197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的界限</a:t>
            </a:r>
            <a:endParaRPr lang="en-US" sz="197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197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强调研究单一物种</a:t>
            </a:r>
            <a:endParaRPr lang="en-US" sz="197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4" descr="Image result for frederick clement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3575" y="708499"/>
            <a:ext cx="1870379" cy="3173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Image result for Henry allen Gleas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3665" y="4068173"/>
            <a:ext cx="1372560" cy="2723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93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93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93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93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2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932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932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2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932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932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2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932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932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2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932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932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2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6932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6932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2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6932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6932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2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6932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932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25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69325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69325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25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69325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69325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25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69325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69325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25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69325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69325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25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69325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69325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25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69325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69325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25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69325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69325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25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69325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69325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3251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561832" y="449601"/>
            <a:ext cx="8188655" cy="857250"/>
          </a:xfrm>
          <a:noFill/>
        </p:spPr>
        <p:txBody>
          <a:bodyPr vert="horz" wrap="square" lIns="68162" tIns="34082" rIns="68162" bIns="34082" numCol="1" rtlCol="0" anchor="ctr" anchorCtr="0" compatLnSpc="1">
            <a:normAutofit fontScale="90000"/>
          </a:bodyPr>
          <a:lstStyle/>
          <a:p>
            <a:r>
              <a:rPr lang="en-US" sz="3200" b="1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Summary of Interspecific Interactions</a:t>
            </a:r>
            <a:br>
              <a:rPr lang="en-US" sz="3200" b="1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200" b="1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种间相互作用概述</a:t>
            </a:r>
            <a:endParaRPr lang="en-US" sz="3200" b="1" dirty="0">
              <a:solidFill>
                <a:srgbClr val="0000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314960" y="1424305"/>
          <a:ext cx="8580755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7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17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Type of interaction</a:t>
                      </a:r>
                    </a:p>
                    <a:p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互动类型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Species 1</a:t>
                      </a:r>
                    </a:p>
                    <a:p>
                      <a:pPr algn="ctr"/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物种 1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Species 2</a:t>
                      </a:r>
                    </a:p>
                    <a:p>
                      <a:pPr algn="ctr"/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物种 2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Competition</a:t>
                      </a:r>
                      <a:r>
                        <a:rPr lang="zh-CN" alt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竞争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– </a:t>
                      </a:r>
                      <a:endParaRPr lang="en-US" sz="28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– </a:t>
                      </a:r>
                      <a:endParaRPr lang="en-US" sz="28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Consumer-Resource relationships</a:t>
                      </a:r>
                    </a:p>
                    <a:p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消费者-资源关系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Herbivory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食草动物</a:t>
                      </a:r>
                      <a:endParaRPr lang="zh-CN" alt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– </a:t>
                      </a:r>
                      <a:endParaRPr lang="en-US" sz="28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Predation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捕食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– </a:t>
                      </a:r>
                      <a:endParaRPr lang="en-US" sz="28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Parasitism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寄生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– </a:t>
                      </a:r>
                      <a:endParaRPr lang="en-US" sz="28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Mutualism</a:t>
                      </a:r>
                      <a:r>
                        <a:rPr lang="zh-CN" alt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互利</a:t>
                      </a:r>
                      <a:r>
                        <a:rPr lang="en-US" altLang="zh-CN" sz="2000" dirty="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/</a:t>
                      </a:r>
                      <a:r>
                        <a:rPr lang="zh-CN" alt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偏利</a:t>
                      </a:r>
                      <a:r>
                        <a:rPr lang="zh-CN" alt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共生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Commensalism</a:t>
                      </a:r>
                      <a:r>
                        <a:rPr lang="zh-CN" altLang="en-US" sz="2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共生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lang="en-US" sz="2000" dirty="0" err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Amenselism</a:t>
                      </a:r>
                      <a:r>
                        <a:rPr lang="zh-CN" altLang="en-US" sz="2000" dirty="0" err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偏害共生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8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– </a:t>
                      </a:r>
                      <a:endParaRPr lang="en-US" sz="28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92992" y="574930"/>
            <a:ext cx="5244941" cy="886460"/>
          </a:xfrm>
          <a:prstGeom prst="rect">
            <a:avLst/>
          </a:prstGeom>
        </p:spPr>
        <p:txBody>
          <a:bodyPr vert="horz" wrap="square" lIns="0" tIns="9525" rIns="0" bIns="0" rtlCol="0" anchor="ctr">
            <a:spAutoFit/>
          </a:bodyPr>
          <a:lstStyle/>
          <a:p>
            <a:pPr marL="9525">
              <a:spcBef>
                <a:spcPts val="75"/>
              </a:spcBef>
            </a:pPr>
            <a:r>
              <a:rPr sz="2850" spc="-4" dirty="0"/>
              <a:t>Questions</a:t>
            </a:r>
            <a:r>
              <a:rPr sz="2850" spc="-15" dirty="0"/>
              <a:t> </a:t>
            </a:r>
            <a:r>
              <a:rPr sz="2850" spc="-4" dirty="0"/>
              <a:t>you</a:t>
            </a:r>
            <a:r>
              <a:rPr sz="2850" spc="-15" dirty="0"/>
              <a:t> </a:t>
            </a:r>
            <a:r>
              <a:rPr sz="2850" dirty="0"/>
              <a:t>might</a:t>
            </a:r>
            <a:r>
              <a:rPr sz="2850" spc="-23" dirty="0"/>
              <a:t> </a:t>
            </a:r>
            <a:r>
              <a:rPr sz="2850" spc="-4" dirty="0"/>
              <a:t>want</a:t>
            </a:r>
            <a:r>
              <a:rPr sz="2850" spc="-15" dirty="0"/>
              <a:t> </a:t>
            </a:r>
            <a:r>
              <a:rPr sz="2850" spc="-4" dirty="0"/>
              <a:t>to</a:t>
            </a:r>
            <a:r>
              <a:rPr sz="2850" spc="-15" dirty="0"/>
              <a:t> </a:t>
            </a:r>
            <a:r>
              <a:rPr sz="2850" spc="-4" dirty="0"/>
              <a:t>ask</a:t>
            </a:r>
            <a:br>
              <a:rPr sz="2850" spc="-4" dirty="0"/>
            </a:br>
            <a:r>
              <a:rPr lang="zh-CN" sz="2850" spc="-4" dirty="0"/>
              <a:t>你可能想问的问题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76530" y="1730375"/>
            <a:ext cx="8967470" cy="496760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243205" marR="120015" indent="-233680">
              <a:spcBef>
                <a:spcPts val="75"/>
              </a:spcBef>
              <a:buClr>
                <a:srgbClr val="A6A6A6"/>
              </a:buClr>
              <a:buChar char="•"/>
              <a:tabLst>
                <a:tab pos="242570" algn="l"/>
                <a:tab pos="243205" algn="l"/>
              </a:tabLst>
            </a:pPr>
            <a:r>
              <a:rPr sz="1875" dirty="0">
                <a:latin typeface="Arial" panose="020B0604020202020204"/>
                <a:cs typeface="Arial" panose="020B0604020202020204"/>
              </a:rPr>
              <a:t>Are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dirty="0">
                <a:latin typeface="Arial" panose="020B0604020202020204"/>
                <a:cs typeface="Arial" panose="020B0604020202020204"/>
              </a:rPr>
              <a:t>the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species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interacting</a:t>
            </a:r>
            <a:r>
              <a:rPr sz="1875" spc="8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or</a:t>
            </a:r>
            <a:r>
              <a:rPr sz="1875" spc="11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not?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(beware:</a:t>
            </a:r>
            <a:r>
              <a:rPr sz="1875" spc="11" dirty="0">
                <a:latin typeface="Arial" panose="020B0604020202020204"/>
                <a:cs typeface="Arial" panose="020B0604020202020204"/>
              </a:rPr>
              <a:t> </a:t>
            </a:r>
            <a:r>
              <a:rPr sz="1875" u="sng" spc="-4" dirty="0">
                <a:latin typeface="Arial" panose="020B0604020202020204"/>
                <a:cs typeface="Arial" panose="020B0604020202020204"/>
              </a:rPr>
              <a:t>co-occurrence</a:t>
            </a:r>
            <a:r>
              <a:rPr sz="1875" u="sng" spc="8" dirty="0">
                <a:latin typeface="Arial" panose="020B0604020202020204"/>
                <a:cs typeface="Arial" panose="020B0604020202020204"/>
              </a:rPr>
              <a:t> </a:t>
            </a:r>
            <a:r>
              <a:rPr sz="1875" u="sng" spc="-4" dirty="0">
                <a:latin typeface="Arial" panose="020B0604020202020204"/>
                <a:cs typeface="Arial" panose="020B0604020202020204"/>
              </a:rPr>
              <a:t>is</a:t>
            </a:r>
            <a:r>
              <a:rPr sz="1875" u="sng" spc="8" dirty="0">
                <a:latin typeface="Arial" panose="020B0604020202020204"/>
                <a:cs typeface="Arial" panose="020B0604020202020204"/>
              </a:rPr>
              <a:t> </a:t>
            </a:r>
            <a:r>
              <a:rPr sz="1875" u="sng" spc="-4" dirty="0">
                <a:latin typeface="Arial" panose="020B0604020202020204"/>
                <a:cs typeface="Arial" panose="020B0604020202020204"/>
              </a:rPr>
              <a:t>not</a:t>
            </a:r>
            <a:r>
              <a:rPr sz="1875" u="sng" spc="11" dirty="0">
                <a:latin typeface="Arial" panose="020B0604020202020204"/>
                <a:cs typeface="Arial" panose="020B0604020202020204"/>
              </a:rPr>
              <a:t> </a:t>
            </a:r>
            <a:r>
              <a:rPr sz="1875" u="sng" spc="-4" dirty="0">
                <a:latin typeface="Arial" panose="020B0604020202020204"/>
                <a:cs typeface="Arial" panose="020B0604020202020204"/>
              </a:rPr>
              <a:t>necessary </a:t>
            </a:r>
            <a:r>
              <a:rPr sz="1875" u="sng" spc="-510" dirty="0">
                <a:latin typeface="Arial" panose="020B0604020202020204"/>
                <a:cs typeface="Arial" panose="020B0604020202020204"/>
              </a:rPr>
              <a:t> </a:t>
            </a:r>
            <a:r>
              <a:rPr sz="1875" u="sng" spc="-4" dirty="0">
                <a:latin typeface="Arial" panose="020B0604020202020204"/>
                <a:cs typeface="Arial" panose="020B0604020202020204"/>
              </a:rPr>
              <a:t>interaction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)</a:t>
            </a:r>
            <a:r>
              <a:rPr lang="en-US" sz="1875" spc="-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  <a:sym typeface="+mn-ea"/>
              </a:rPr>
              <a:t>物种</a:t>
            </a:r>
            <a:r>
              <a:rPr sz="1875" dirty="0">
                <a:latin typeface="Arial" panose="020B0604020202020204"/>
                <a:cs typeface="Arial" panose="020B0604020202020204"/>
                <a:sym typeface="+mn-ea"/>
              </a:rPr>
              <a:t>之间</a:t>
            </a:r>
            <a:r>
              <a:rPr sz="1875" spc="-4" dirty="0">
                <a:latin typeface="Arial" panose="020B0604020202020204"/>
                <a:cs typeface="Arial" panose="020B0604020202020204"/>
                <a:sym typeface="+mn-ea"/>
              </a:rPr>
              <a:t>是否</a:t>
            </a:r>
            <a:r>
              <a:rPr sz="1875" spc="11" dirty="0">
                <a:latin typeface="Arial" panose="020B0604020202020204"/>
                <a:cs typeface="Arial" panose="020B0604020202020204"/>
                <a:sym typeface="+mn-ea"/>
              </a:rPr>
              <a:t>存在</a:t>
            </a:r>
            <a:r>
              <a:rPr sz="1875" spc="-4" dirty="0">
                <a:latin typeface="Arial" panose="020B0604020202020204"/>
                <a:cs typeface="Arial" panose="020B0604020202020204"/>
                <a:sym typeface="+mn-ea"/>
              </a:rPr>
              <a:t>相互作用</a:t>
            </a:r>
            <a:r>
              <a:rPr lang="zh-CN" sz="1875" spc="-4" dirty="0">
                <a:latin typeface="Arial" panose="020B0604020202020204"/>
                <a:cs typeface="Arial" panose="020B0604020202020204"/>
                <a:sym typeface="+mn-ea"/>
              </a:rPr>
              <a:t>？（</a:t>
            </a:r>
            <a:r>
              <a:rPr sz="1875" spc="-4" dirty="0">
                <a:latin typeface="Arial" panose="020B0604020202020204"/>
                <a:cs typeface="Arial" panose="020B0604020202020204"/>
                <a:sym typeface="+mn-ea"/>
              </a:rPr>
              <a:t>注意：</a:t>
            </a:r>
            <a:r>
              <a:rPr sz="1875" u="sng" spc="-4" dirty="0">
                <a:latin typeface="Arial" panose="020B0604020202020204"/>
                <a:cs typeface="Arial" panose="020B0604020202020204"/>
                <a:sym typeface="+mn-ea"/>
              </a:rPr>
              <a:t>共同出现并不一定是相互作用</a:t>
            </a:r>
            <a:r>
              <a:rPr lang="zh-CN" sz="1875" u="sng" spc="-4" dirty="0">
                <a:latin typeface="Arial" panose="020B0604020202020204"/>
                <a:cs typeface="Arial" panose="020B0604020202020204"/>
                <a:sym typeface="+mn-ea"/>
              </a:rPr>
              <a:t>）</a:t>
            </a:r>
            <a:endParaRPr sz="1875" dirty="0">
              <a:latin typeface="Arial" panose="020B0604020202020204"/>
              <a:cs typeface="Arial" panose="020B0604020202020204"/>
            </a:endParaRPr>
          </a:p>
          <a:p>
            <a:pPr marL="243205" indent="-233680">
              <a:spcBef>
                <a:spcPts val="1870"/>
              </a:spcBef>
              <a:buClr>
                <a:srgbClr val="A6A6A6"/>
              </a:buClr>
              <a:buChar char="•"/>
              <a:tabLst>
                <a:tab pos="242570" algn="l"/>
                <a:tab pos="243205" algn="l"/>
              </a:tabLst>
            </a:pPr>
            <a:r>
              <a:rPr sz="1875" spc="-4" dirty="0">
                <a:latin typeface="Arial" panose="020B0604020202020204"/>
                <a:cs typeface="Arial" panose="020B0604020202020204"/>
              </a:rPr>
              <a:t>Do</a:t>
            </a:r>
            <a:r>
              <a:rPr sz="1875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species</a:t>
            </a:r>
            <a:r>
              <a:rPr sz="1875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interactions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dirty="0">
                <a:latin typeface="Arial" panose="020B0604020202020204"/>
                <a:cs typeface="Arial" panose="020B0604020202020204"/>
              </a:rPr>
              <a:t>vary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along</a:t>
            </a:r>
            <a:r>
              <a:rPr sz="1875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an</a:t>
            </a:r>
            <a:r>
              <a:rPr sz="1875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environmental gradient?</a:t>
            </a:r>
            <a:r>
              <a:rPr lang="en-US" sz="1875" spc="-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  <a:sym typeface="+mn-ea"/>
              </a:rPr>
              <a:t>物种之间的相互作用会随着环境梯度的</a:t>
            </a:r>
            <a:r>
              <a:rPr sz="1875" dirty="0">
                <a:latin typeface="Arial" panose="020B0604020202020204"/>
                <a:cs typeface="Arial" panose="020B0604020202020204"/>
                <a:sym typeface="+mn-ea"/>
              </a:rPr>
              <a:t>变化而变化</a:t>
            </a:r>
            <a:r>
              <a:rPr sz="1875" spc="-4" dirty="0">
                <a:latin typeface="Arial" panose="020B0604020202020204"/>
                <a:cs typeface="Arial" panose="020B0604020202020204"/>
                <a:sym typeface="+mn-ea"/>
              </a:rPr>
              <a:t>吗？</a:t>
            </a:r>
            <a:endParaRPr sz="1875" dirty="0">
              <a:latin typeface="Arial" panose="020B0604020202020204"/>
              <a:cs typeface="Arial" panose="020B0604020202020204"/>
            </a:endParaRPr>
          </a:p>
          <a:p>
            <a:pPr marL="243205" marR="3810" indent="-233680">
              <a:spcBef>
                <a:spcPts val="1870"/>
              </a:spcBef>
              <a:buClr>
                <a:srgbClr val="A6A6A6"/>
              </a:buClr>
              <a:buChar char="•"/>
              <a:tabLst>
                <a:tab pos="242570" algn="l"/>
                <a:tab pos="243205" algn="l"/>
              </a:tabLst>
            </a:pPr>
            <a:r>
              <a:rPr sz="1875" spc="-4" dirty="0">
                <a:latin typeface="Arial" panose="020B0604020202020204"/>
                <a:cs typeface="Arial" panose="020B0604020202020204"/>
              </a:rPr>
              <a:t>What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is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marginal occupancy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probability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of</a:t>
            </a:r>
            <a:r>
              <a:rPr sz="1875" spc="8" dirty="0">
                <a:latin typeface="Arial" panose="020B0604020202020204"/>
                <a:cs typeface="Arial" panose="020B0604020202020204"/>
              </a:rPr>
              <a:t> </a:t>
            </a:r>
            <a:r>
              <a:rPr sz="1875" dirty="0">
                <a:latin typeface="Arial" panose="020B0604020202020204"/>
                <a:cs typeface="Arial" panose="020B0604020202020204"/>
              </a:rPr>
              <a:t>some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species</a:t>
            </a:r>
            <a:r>
              <a:rPr sz="1875" dirty="0">
                <a:latin typeface="Arial" panose="020B0604020202020204"/>
                <a:cs typeface="Arial" panose="020B0604020202020204"/>
              </a:rPr>
              <a:t> (that</a:t>
            </a:r>
            <a:r>
              <a:rPr sz="1875" spc="8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is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averaged</a:t>
            </a:r>
            <a:r>
              <a:rPr sz="1875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on </a:t>
            </a:r>
            <a:r>
              <a:rPr sz="1875" spc="-510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presence/absence of</a:t>
            </a:r>
            <a:r>
              <a:rPr sz="1875" spc="8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all other</a:t>
            </a:r>
            <a:r>
              <a:rPr sz="1875" spc="8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species)</a:t>
            </a:r>
            <a:r>
              <a:rPr lang="en-US" sz="1875" spc="-4" dirty="0">
                <a:latin typeface="Arial" panose="020B0604020202020204"/>
                <a:cs typeface="Arial" panose="020B0604020202020204"/>
              </a:rPr>
              <a:t> </a:t>
            </a:r>
            <a:r>
              <a:rPr sz="1875" dirty="0">
                <a:latin typeface="Arial" panose="020B0604020202020204"/>
                <a:cs typeface="Arial" panose="020B0604020202020204"/>
                <a:sym typeface="+mn-ea"/>
              </a:rPr>
              <a:t>某些</a:t>
            </a:r>
            <a:r>
              <a:rPr sz="1875" spc="-4" dirty="0">
                <a:latin typeface="Arial" panose="020B0604020202020204"/>
                <a:cs typeface="Arial" panose="020B0604020202020204"/>
                <a:sym typeface="+mn-ea"/>
              </a:rPr>
              <a:t>物种的边际</a:t>
            </a:r>
            <a:r>
              <a:rPr lang="zh-CN" sz="1875" spc="-4" dirty="0">
                <a:latin typeface="Arial" panose="020B0604020202020204"/>
                <a:cs typeface="Arial" panose="020B0604020202020204"/>
                <a:sym typeface="+mn-ea"/>
              </a:rPr>
              <a:t>占用</a:t>
            </a:r>
            <a:r>
              <a:rPr sz="1875" spc="-4" dirty="0">
                <a:latin typeface="Arial" panose="020B0604020202020204"/>
                <a:cs typeface="Arial" panose="020B0604020202020204"/>
                <a:sym typeface="+mn-ea"/>
              </a:rPr>
              <a:t>概率</a:t>
            </a:r>
            <a:r>
              <a:rPr sz="1875" dirty="0">
                <a:latin typeface="Arial" panose="020B0604020202020204"/>
                <a:cs typeface="Arial" panose="020B0604020202020204"/>
                <a:sym typeface="+mn-ea"/>
              </a:rPr>
              <a:t>是</a:t>
            </a:r>
            <a:r>
              <a:rPr sz="1875" spc="-4" dirty="0">
                <a:latin typeface="Arial" panose="020B0604020202020204"/>
                <a:cs typeface="Arial" panose="020B0604020202020204"/>
                <a:sym typeface="+mn-ea"/>
              </a:rPr>
              <a:t>多少</a:t>
            </a:r>
            <a:r>
              <a:rPr sz="1875" dirty="0">
                <a:latin typeface="Arial" panose="020B0604020202020204"/>
                <a:cs typeface="Arial" panose="020B0604020202020204"/>
                <a:sym typeface="+mn-ea"/>
              </a:rPr>
              <a:t>（即</a:t>
            </a:r>
            <a:r>
              <a:rPr sz="1875" spc="-4" dirty="0">
                <a:latin typeface="Arial" panose="020B0604020202020204"/>
                <a:cs typeface="Arial" panose="020B0604020202020204"/>
                <a:sym typeface="+mn-ea"/>
              </a:rPr>
              <a:t>所有其他物种存在/不存在的平均值）</a:t>
            </a:r>
            <a:endParaRPr sz="1875" dirty="0">
              <a:latin typeface="Arial" panose="020B0604020202020204"/>
              <a:cs typeface="Arial" panose="020B0604020202020204"/>
            </a:endParaRPr>
          </a:p>
          <a:p>
            <a:pPr marL="243205" marR="269875" indent="-233680">
              <a:spcBef>
                <a:spcPts val="1870"/>
              </a:spcBef>
              <a:buClr>
                <a:srgbClr val="A6A6A6"/>
              </a:buClr>
              <a:buChar char="•"/>
              <a:tabLst>
                <a:tab pos="242570" algn="l"/>
                <a:tab pos="243205" algn="l"/>
              </a:tabLst>
            </a:pPr>
            <a:r>
              <a:rPr sz="1875" spc="-4" dirty="0">
                <a:latin typeface="Arial" panose="020B0604020202020204"/>
                <a:cs typeface="Arial" panose="020B0604020202020204"/>
              </a:rPr>
              <a:t>What</a:t>
            </a:r>
            <a:r>
              <a:rPr sz="1875" spc="8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is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probability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of</a:t>
            </a:r>
            <a:r>
              <a:rPr sz="1875" spc="8" dirty="0">
                <a:latin typeface="Arial" panose="020B0604020202020204"/>
                <a:cs typeface="Arial" panose="020B0604020202020204"/>
              </a:rPr>
              <a:t> </a:t>
            </a:r>
            <a:r>
              <a:rPr sz="1875" dirty="0">
                <a:latin typeface="Arial" panose="020B0604020202020204"/>
                <a:cs typeface="Arial" panose="020B0604020202020204"/>
              </a:rPr>
              <a:t>some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species</a:t>
            </a:r>
            <a:r>
              <a:rPr sz="1875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conditional on</a:t>
            </a:r>
            <a:r>
              <a:rPr sz="1875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presence</a:t>
            </a:r>
            <a:r>
              <a:rPr sz="1875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or</a:t>
            </a:r>
            <a:r>
              <a:rPr sz="1875" spc="8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absence</a:t>
            </a:r>
            <a:r>
              <a:rPr sz="1875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of </a:t>
            </a:r>
            <a:r>
              <a:rPr sz="1875" spc="-510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other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species</a:t>
            </a:r>
            <a:r>
              <a:rPr lang="en-US" sz="1875" spc="-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  <a:sym typeface="+mn-ea"/>
              </a:rPr>
              <a:t>以是否存在其他物种为条件，</a:t>
            </a:r>
            <a:r>
              <a:rPr sz="1875" dirty="0">
                <a:latin typeface="Arial" panose="020B0604020202020204"/>
                <a:cs typeface="Arial" panose="020B0604020202020204"/>
                <a:sym typeface="+mn-ea"/>
              </a:rPr>
              <a:t>某些</a:t>
            </a:r>
            <a:r>
              <a:rPr sz="1875" spc="-4" dirty="0">
                <a:latin typeface="Arial" panose="020B0604020202020204"/>
                <a:cs typeface="Arial" panose="020B0604020202020204"/>
                <a:sym typeface="+mn-ea"/>
              </a:rPr>
              <a:t>物种</a:t>
            </a:r>
            <a:r>
              <a:rPr sz="1875" dirty="0">
                <a:latin typeface="Arial" panose="020B0604020202020204"/>
                <a:cs typeface="Arial" panose="020B0604020202020204"/>
                <a:sym typeface="+mn-ea"/>
              </a:rPr>
              <a:t>的</a:t>
            </a:r>
            <a:r>
              <a:rPr sz="1875" spc="-4" dirty="0">
                <a:latin typeface="Arial" panose="020B0604020202020204"/>
                <a:cs typeface="Arial" panose="020B0604020202020204"/>
                <a:sym typeface="+mn-ea"/>
              </a:rPr>
              <a:t>概率是多少？</a:t>
            </a:r>
            <a:endParaRPr sz="1875" dirty="0">
              <a:latin typeface="Arial" panose="020B0604020202020204"/>
              <a:cs typeface="Arial" panose="020B0604020202020204"/>
            </a:endParaRPr>
          </a:p>
          <a:p>
            <a:pPr marL="243205" marR="227965" indent="-233680">
              <a:spcBef>
                <a:spcPts val="1870"/>
              </a:spcBef>
              <a:buClr>
                <a:srgbClr val="A6A6A6"/>
              </a:buClr>
              <a:buChar char="•"/>
              <a:tabLst>
                <a:tab pos="242570" algn="l"/>
                <a:tab pos="243205" algn="l"/>
              </a:tabLst>
            </a:pPr>
            <a:r>
              <a:rPr sz="1875" spc="-4" dirty="0">
                <a:latin typeface="Arial" panose="020B0604020202020204"/>
                <a:cs typeface="Arial" panose="020B0604020202020204"/>
              </a:rPr>
              <a:t>What</a:t>
            </a:r>
            <a:r>
              <a:rPr sz="1875" spc="11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is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dirty="0">
                <a:latin typeface="Arial" panose="020B0604020202020204"/>
                <a:cs typeface="Arial" panose="020B0604020202020204"/>
              </a:rPr>
              <a:t>the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relative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contribution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of</a:t>
            </a:r>
            <a:r>
              <a:rPr sz="1875" spc="11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environmental</a:t>
            </a:r>
            <a:r>
              <a:rPr sz="1875" dirty="0">
                <a:latin typeface="Arial" panose="020B0604020202020204"/>
                <a:cs typeface="Arial" panose="020B0604020202020204"/>
              </a:rPr>
              <a:t> vs</a:t>
            </a:r>
            <a:r>
              <a:rPr sz="1875" spc="8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species</a:t>
            </a:r>
            <a:r>
              <a:rPr sz="1875" spc="4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interactions</a:t>
            </a:r>
            <a:r>
              <a:rPr sz="1875" spc="8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in </a:t>
            </a:r>
            <a:r>
              <a:rPr sz="1875" spc="-510" dirty="0">
                <a:latin typeface="Arial" panose="020B0604020202020204"/>
                <a:cs typeface="Arial" panose="020B0604020202020204"/>
              </a:rPr>
              <a:t> </a:t>
            </a:r>
            <a:r>
              <a:rPr sz="1875" spc="-4" dirty="0">
                <a:latin typeface="Arial" panose="020B0604020202020204"/>
                <a:cs typeface="Arial" panose="020B0604020202020204"/>
              </a:rPr>
              <a:t>occupancy?</a:t>
            </a:r>
            <a:r>
              <a:rPr lang="en-US" sz="1875" spc="-4" dirty="0">
                <a:latin typeface="Arial" panose="020B0604020202020204"/>
                <a:cs typeface="Arial" panose="020B0604020202020204"/>
              </a:rPr>
              <a:t> </a:t>
            </a:r>
            <a:r>
              <a:rPr lang="zh-CN" sz="1875" spc="-4" dirty="0">
                <a:latin typeface="Arial" panose="020B0604020202020204"/>
                <a:cs typeface="Arial" panose="020B0604020202020204"/>
                <a:sym typeface="+mn-ea"/>
              </a:rPr>
              <a:t>在物种共存中，环境因素和物种之间的相互作用哪一个对物种出现的影响更大？</a:t>
            </a:r>
          </a:p>
          <a:p>
            <a:pPr marL="243205" marR="227965" indent="-233680">
              <a:spcBef>
                <a:spcPts val="1870"/>
              </a:spcBef>
              <a:buClr>
                <a:srgbClr val="A6A6A6"/>
              </a:buClr>
              <a:buChar char="•"/>
              <a:tabLst>
                <a:tab pos="242570" algn="l"/>
                <a:tab pos="243205" algn="l"/>
              </a:tabLst>
            </a:pPr>
            <a:endParaRPr sz="1875" dirty="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221990" y="799465"/>
            <a:ext cx="2773680" cy="1049020"/>
          </a:xfrm>
          <a:prstGeom prst="rect">
            <a:avLst/>
          </a:prstGeom>
        </p:spPr>
        <p:txBody>
          <a:bodyPr vert="horz" wrap="square" lIns="0" tIns="9525" rIns="0" bIns="0" rtlCol="0" anchor="ctr">
            <a:spAutoFit/>
          </a:bodyPr>
          <a:lstStyle/>
          <a:p>
            <a:pPr marL="9525">
              <a:spcBef>
                <a:spcPts val="75"/>
              </a:spcBef>
            </a:pPr>
            <a:r>
              <a:rPr sz="3375" spc="-4" dirty="0"/>
              <a:t>States</a:t>
            </a:r>
            <a:br>
              <a:rPr sz="3375" spc="-4" dirty="0"/>
            </a:br>
            <a:r>
              <a:rPr lang="zh-CN" sz="3375" spc="-4" dirty="0"/>
              <a:t>状态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6566" y="2143506"/>
            <a:ext cx="5557361" cy="394271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lnSpc>
                <a:spcPts val="3310"/>
              </a:lnSpc>
              <a:spcBef>
                <a:spcPts val="75"/>
              </a:spcBef>
              <a:tabLst>
                <a:tab pos="361315" algn="l"/>
              </a:tabLst>
            </a:pPr>
            <a:r>
              <a:rPr sz="2775" dirty="0">
                <a:latin typeface="Arial" panose="020B0604020202020204"/>
                <a:cs typeface="Arial" panose="020B0604020202020204"/>
              </a:rPr>
              <a:t>U	=</a:t>
            </a:r>
            <a:r>
              <a:rPr sz="2775" spc="-23" dirty="0">
                <a:latin typeface="Arial" panose="020B0604020202020204"/>
                <a:cs typeface="Arial" panose="020B0604020202020204"/>
              </a:rPr>
              <a:t> </a:t>
            </a:r>
            <a:r>
              <a:rPr sz="2775" spc="-4" dirty="0">
                <a:latin typeface="Arial" panose="020B0604020202020204"/>
                <a:cs typeface="Arial" panose="020B0604020202020204"/>
              </a:rPr>
              <a:t>site</a:t>
            </a:r>
            <a:r>
              <a:rPr sz="2775" spc="-19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unoccupied</a:t>
            </a:r>
          </a:p>
          <a:p>
            <a:pPr marL="9525">
              <a:lnSpc>
                <a:spcPts val="3310"/>
              </a:lnSpc>
            </a:pPr>
            <a:r>
              <a:rPr sz="2775" dirty="0">
                <a:latin typeface="Arial" panose="020B0604020202020204"/>
                <a:cs typeface="Arial" panose="020B0604020202020204"/>
              </a:rPr>
              <a:t>A</a:t>
            </a:r>
            <a:r>
              <a:rPr sz="2775" spc="-169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=</a:t>
            </a:r>
            <a:r>
              <a:rPr sz="2775" spc="-15" dirty="0">
                <a:latin typeface="Arial" panose="020B0604020202020204"/>
                <a:cs typeface="Arial" panose="020B0604020202020204"/>
              </a:rPr>
              <a:t> </a:t>
            </a:r>
            <a:r>
              <a:rPr sz="2775" spc="-4" dirty="0">
                <a:latin typeface="Arial" panose="020B0604020202020204"/>
                <a:cs typeface="Arial" panose="020B0604020202020204"/>
              </a:rPr>
              <a:t>site</a:t>
            </a:r>
            <a:r>
              <a:rPr sz="2775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occupied</a:t>
            </a:r>
            <a:r>
              <a:rPr sz="2775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by</a:t>
            </a:r>
            <a:r>
              <a:rPr sz="2775" spc="-15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species</a:t>
            </a:r>
            <a:r>
              <a:rPr sz="2775" spc="-165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A</a:t>
            </a:r>
            <a:r>
              <a:rPr sz="2775" spc="-165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only</a:t>
            </a:r>
          </a:p>
          <a:p>
            <a:pPr marL="9525" marR="3810">
              <a:lnSpc>
                <a:spcPts val="3290"/>
              </a:lnSpc>
              <a:spcBef>
                <a:spcPts val="170"/>
              </a:spcBef>
            </a:pPr>
            <a:r>
              <a:rPr sz="2775" dirty="0">
                <a:latin typeface="Arial" panose="020B0604020202020204"/>
                <a:cs typeface="Arial" panose="020B0604020202020204"/>
              </a:rPr>
              <a:t>B</a:t>
            </a:r>
            <a:r>
              <a:rPr sz="2775" spc="-19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=</a:t>
            </a:r>
            <a:r>
              <a:rPr sz="2775" spc="-11" dirty="0">
                <a:latin typeface="Arial" panose="020B0604020202020204"/>
                <a:cs typeface="Arial" panose="020B0604020202020204"/>
              </a:rPr>
              <a:t> </a:t>
            </a:r>
            <a:r>
              <a:rPr sz="2775" spc="-4" dirty="0">
                <a:latin typeface="Arial" panose="020B0604020202020204"/>
                <a:cs typeface="Arial" panose="020B0604020202020204"/>
              </a:rPr>
              <a:t>site</a:t>
            </a:r>
            <a:r>
              <a:rPr sz="2775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occupied</a:t>
            </a:r>
            <a:r>
              <a:rPr sz="2775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by</a:t>
            </a:r>
            <a:r>
              <a:rPr sz="2775" spc="-11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species</a:t>
            </a:r>
            <a:r>
              <a:rPr sz="2775" spc="-11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B</a:t>
            </a:r>
            <a:r>
              <a:rPr sz="2775" spc="-15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only </a:t>
            </a:r>
            <a:r>
              <a:rPr sz="2775" spc="-761" dirty="0">
                <a:latin typeface="Arial" panose="020B0604020202020204"/>
                <a:cs typeface="Arial" panose="020B0604020202020204"/>
              </a:rPr>
              <a:t> </a:t>
            </a:r>
            <a:r>
              <a:rPr sz="2775" spc="-4" dirty="0">
                <a:latin typeface="Arial" panose="020B0604020202020204"/>
                <a:cs typeface="Arial" panose="020B0604020202020204"/>
              </a:rPr>
              <a:t>AB</a:t>
            </a:r>
            <a:r>
              <a:rPr sz="2775" spc="-15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=</a:t>
            </a:r>
            <a:r>
              <a:rPr sz="2775" spc="-11" dirty="0">
                <a:latin typeface="Arial" panose="020B0604020202020204"/>
                <a:cs typeface="Arial" panose="020B0604020202020204"/>
              </a:rPr>
              <a:t> </a:t>
            </a:r>
            <a:r>
              <a:rPr sz="2775" spc="-4" dirty="0">
                <a:latin typeface="Arial" panose="020B0604020202020204"/>
                <a:cs typeface="Arial" panose="020B0604020202020204"/>
              </a:rPr>
              <a:t>site</a:t>
            </a:r>
            <a:r>
              <a:rPr sz="2775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occupied</a:t>
            </a:r>
            <a:r>
              <a:rPr sz="2775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by</a:t>
            </a:r>
            <a:r>
              <a:rPr sz="2775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775" spc="-4" dirty="0">
                <a:latin typeface="Arial" panose="020B0604020202020204"/>
                <a:cs typeface="Arial" panose="020B0604020202020204"/>
              </a:rPr>
              <a:t>both</a:t>
            </a:r>
            <a:r>
              <a:rPr sz="2775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species</a:t>
            </a:r>
          </a:p>
          <a:p>
            <a:pPr marL="9525" marR="3810">
              <a:lnSpc>
                <a:spcPts val="3290"/>
              </a:lnSpc>
              <a:spcBef>
                <a:spcPts val="170"/>
              </a:spcBef>
            </a:pPr>
            <a:endParaRPr sz="2775" dirty="0">
              <a:latin typeface="Arial" panose="020B0604020202020204"/>
              <a:cs typeface="Arial" panose="020B0604020202020204"/>
            </a:endParaRPr>
          </a:p>
          <a:p>
            <a:pPr marL="9525" marR="3810">
              <a:lnSpc>
                <a:spcPts val="3290"/>
              </a:lnSpc>
              <a:spcBef>
                <a:spcPts val="170"/>
              </a:spcBef>
            </a:pPr>
            <a:r>
              <a:rPr sz="2775" dirty="0">
                <a:latin typeface="Arial" panose="020B0604020202020204"/>
                <a:cs typeface="Arial" panose="020B0604020202020204"/>
              </a:rPr>
              <a:t>U</a:t>
            </a:r>
            <a:r>
              <a:rPr lang="en-US" sz="2775" dirty="0">
                <a:latin typeface="Arial" panose="020B0604020202020204"/>
                <a:cs typeface="Arial" panose="020B0604020202020204"/>
              </a:rPr>
              <a:t>=</a:t>
            </a:r>
            <a:r>
              <a:rPr sz="2775" dirty="0">
                <a:latin typeface="Arial" panose="020B0604020202020204"/>
                <a:cs typeface="Arial" panose="020B0604020202020204"/>
              </a:rPr>
              <a:t>未被占用的地点。</a:t>
            </a:r>
          </a:p>
          <a:p>
            <a:pPr marL="9525" marR="3810">
              <a:lnSpc>
                <a:spcPts val="3290"/>
              </a:lnSpc>
              <a:spcBef>
                <a:spcPts val="170"/>
              </a:spcBef>
            </a:pPr>
            <a:r>
              <a:rPr sz="2775" dirty="0">
                <a:latin typeface="Arial" panose="020B0604020202020204"/>
                <a:cs typeface="Arial" panose="020B0604020202020204"/>
              </a:rPr>
              <a:t>A</a:t>
            </a:r>
            <a:r>
              <a:rPr lang="en-US" sz="2775" dirty="0">
                <a:latin typeface="Arial" panose="020B0604020202020204"/>
                <a:cs typeface="Arial" panose="020B0604020202020204"/>
              </a:rPr>
              <a:t>=</a:t>
            </a:r>
            <a:r>
              <a:rPr sz="2775" dirty="0">
                <a:latin typeface="Arial" panose="020B0604020202020204"/>
                <a:cs typeface="Arial" panose="020B0604020202020204"/>
              </a:rPr>
              <a:t>仅由物种</a:t>
            </a:r>
            <a:r>
              <a:rPr sz="2775" dirty="0">
                <a:latin typeface="Arial" panose="020B0604020202020204"/>
                <a:cs typeface="Arial" panose="020B0604020202020204"/>
                <a:sym typeface="+mn-ea"/>
              </a:rPr>
              <a:t>A</a:t>
            </a:r>
            <a:r>
              <a:rPr sz="2775" dirty="0">
                <a:latin typeface="Arial" panose="020B0604020202020204"/>
                <a:cs typeface="Arial" panose="020B0604020202020204"/>
              </a:rPr>
              <a:t>占用的地点。</a:t>
            </a:r>
          </a:p>
          <a:p>
            <a:pPr marL="9525" marR="3810">
              <a:lnSpc>
                <a:spcPts val="3290"/>
              </a:lnSpc>
              <a:spcBef>
                <a:spcPts val="170"/>
              </a:spcBef>
            </a:pPr>
            <a:r>
              <a:rPr sz="2775" dirty="0">
                <a:latin typeface="Arial" panose="020B0604020202020204"/>
                <a:cs typeface="Arial" panose="020B0604020202020204"/>
              </a:rPr>
              <a:t>B</a:t>
            </a:r>
            <a:r>
              <a:rPr lang="en-US" sz="2775" dirty="0">
                <a:latin typeface="Arial" panose="020B0604020202020204"/>
                <a:cs typeface="Arial" panose="020B0604020202020204"/>
              </a:rPr>
              <a:t>=</a:t>
            </a:r>
            <a:r>
              <a:rPr sz="2775" dirty="0">
                <a:latin typeface="Arial" panose="020B0604020202020204"/>
                <a:cs typeface="Arial" panose="020B0604020202020204"/>
              </a:rPr>
              <a:t>仅由物种</a:t>
            </a:r>
            <a:r>
              <a:rPr sz="2775" dirty="0">
                <a:latin typeface="Arial" panose="020B0604020202020204"/>
                <a:cs typeface="Arial" panose="020B0604020202020204"/>
                <a:sym typeface="+mn-ea"/>
              </a:rPr>
              <a:t>B</a:t>
            </a:r>
            <a:r>
              <a:rPr sz="2775" dirty="0">
                <a:latin typeface="Arial" panose="020B0604020202020204"/>
                <a:cs typeface="Arial" panose="020B0604020202020204"/>
              </a:rPr>
              <a:t>占用的地点。</a:t>
            </a:r>
          </a:p>
          <a:p>
            <a:pPr marL="9525" marR="3810">
              <a:lnSpc>
                <a:spcPts val="3290"/>
              </a:lnSpc>
              <a:spcBef>
                <a:spcPts val="170"/>
              </a:spcBef>
            </a:pPr>
            <a:r>
              <a:rPr sz="2775" dirty="0">
                <a:latin typeface="Arial" panose="020B0604020202020204"/>
                <a:cs typeface="Arial" panose="020B0604020202020204"/>
              </a:rPr>
              <a:t>AB</a:t>
            </a:r>
            <a:r>
              <a:rPr lang="en-US" sz="2775" dirty="0">
                <a:latin typeface="Arial" panose="020B0604020202020204"/>
                <a:cs typeface="Arial" panose="020B0604020202020204"/>
              </a:rPr>
              <a:t>=</a:t>
            </a:r>
            <a:r>
              <a:rPr sz="2775" dirty="0">
                <a:latin typeface="Arial" panose="020B0604020202020204"/>
                <a:cs typeface="Arial" panose="020B0604020202020204"/>
              </a:rPr>
              <a:t>同时被物种</a:t>
            </a:r>
            <a:r>
              <a:rPr sz="2775" dirty="0">
                <a:latin typeface="Arial" panose="020B0604020202020204"/>
                <a:cs typeface="Arial" panose="020B0604020202020204"/>
                <a:sym typeface="+mn-ea"/>
              </a:rPr>
              <a:t>A和B</a:t>
            </a:r>
            <a:r>
              <a:rPr sz="2775" dirty="0">
                <a:latin typeface="Arial" panose="020B0604020202020204"/>
                <a:cs typeface="Arial" panose="020B0604020202020204"/>
              </a:rPr>
              <a:t>占用的地点。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251596" y="799083"/>
            <a:ext cx="2638901" cy="1049020"/>
          </a:xfrm>
          <a:prstGeom prst="rect">
            <a:avLst/>
          </a:prstGeom>
        </p:spPr>
        <p:txBody>
          <a:bodyPr vert="horz" wrap="square" lIns="0" tIns="9525" rIns="0" bIns="0" rtlCol="0" anchor="ctr">
            <a:spAutoFit/>
          </a:bodyPr>
          <a:lstStyle/>
          <a:p>
            <a:pPr marL="9525">
              <a:spcBef>
                <a:spcPts val="75"/>
              </a:spcBef>
            </a:pPr>
            <a:r>
              <a:rPr sz="3375" spc="-4" dirty="0"/>
              <a:t>State</a:t>
            </a:r>
            <a:r>
              <a:rPr sz="3375" spc="-56" dirty="0"/>
              <a:t> </a:t>
            </a:r>
            <a:r>
              <a:rPr sz="3375" spc="-4" dirty="0"/>
              <a:t>process</a:t>
            </a:r>
            <a:br>
              <a:rPr sz="3375" spc="-4" dirty="0"/>
            </a:br>
            <a:r>
              <a:rPr lang="zh-CN" sz="3375" spc="-4" dirty="0"/>
              <a:t>状态过程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845" y="2143760"/>
            <a:ext cx="8218170" cy="3893820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47625">
              <a:spcBef>
                <a:spcPts val="75"/>
              </a:spcBef>
            </a:pPr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</a:t>
            </a:r>
            <a:r>
              <a:rPr sz="2800" spc="-79" dirty="0">
                <a:latin typeface="Arial" panose="020B0604020202020204"/>
                <a:cs typeface="Arial" panose="020B0604020202020204"/>
              </a:rPr>
              <a:t> </a:t>
            </a:r>
            <a:r>
              <a:rPr lang="en-US" sz="2800" spc="-79" dirty="0">
                <a:latin typeface="Arial" panose="020B0604020202020204"/>
                <a:cs typeface="Arial" panose="020B0604020202020204"/>
              </a:rPr>
              <a:t>= </a:t>
            </a:r>
            <a:r>
              <a:rPr sz="2800" dirty="0">
                <a:latin typeface="Arial" panose="020B0604020202020204"/>
                <a:cs typeface="Arial" panose="020B0604020202020204"/>
              </a:rPr>
              <a:t>pro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b</a:t>
            </a:r>
            <a:r>
              <a:rPr sz="2800" dirty="0">
                <a:latin typeface="Arial" panose="020B0604020202020204"/>
                <a:cs typeface="Arial" panose="020B0604020202020204"/>
              </a:rPr>
              <a:t>.</a:t>
            </a:r>
            <a:r>
              <a:rPr sz="28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a si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t</a:t>
            </a:r>
            <a:r>
              <a:rPr sz="2800" dirty="0">
                <a:latin typeface="Arial" panose="020B0604020202020204"/>
                <a:cs typeface="Arial" panose="020B0604020202020204"/>
              </a:rPr>
              <a:t>e is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occ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u</a:t>
            </a:r>
            <a:r>
              <a:rPr sz="2800" dirty="0">
                <a:latin typeface="Arial" panose="020B0604020202020204"/>
                <a:cs typeface="Arial" panose="020B0604020202020204"/>
              </a:rPr>
              <a:t>pied by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s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p</a:t>
            </a:r>
            <a:r>
              <a:rPr sz="2800" dirty="0">
                <a:latin typeface="Arial" panose="020B0604020202020204"/>
                <a:cs typeface="Arial" panose="020B0604020202020204"/>
              </a:rPr>
              <a:t>ecies</a:t>
            </a:r>
            <a:r>
              <a:rPr sz="2800" spc="-158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A</a:t>
            </a:r>
          </a:p>
          <a:p>
            <a:pPr>
              <a:spcBef>
                <a:spcPts val="25"/>
              </a:spcBef>
            </a:pPr>
            <a:endParaRPr sz="2800" dirty="0">
              <a:latin typeface="Arial" panose="020B0604020202020204"/>
              <a:cs typeface="Arial" panose="020B0604020202020204"/>
            </a:endParaRPr>
          </a:p>
          <a:p>
            <a:pPr marL="47625"/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B</a:t>
            </a:r>
            <a:r>
              <a:rPr lang="en-US" sz="2800" spc="-79" dirty="0">
                <a:latin typeface="Arial" panose="020B0604020202020204"/>
                <a:cs typeface="Arial" panose="020B0604020202020204"/>
              </a:rPr>
              <a:t> = </a:t>
            </a:r>
            <a:r>
              <a:rPr sz="2800" dirty="0">
                <a:latin typeface="Arial" panose="020B0604020202020204"/>
                <a:cs typeface="Arial" panose="020B0604020202020204"/>
              </a:rPr>
              <a:t>pro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b</a:t>
            </a:r>
            <a:r>
              <a:rPr sz="2800" dirty="0">
                <a:latin typeface="Arial" panose="020B0604020202020204"/>
                <a:cs typeface="Arial" panose="020B0604020202020204"/>
              </a:rPr>
              <a:t>.</a:t>
            </a:r>
            <a:r>
              <a:rPr sz="28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a si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t</a:t>
            </a:r>
            <a:r>
              <a:rPr sz="2800" dirty="0">
                <a:latin typeface="Arial" panose="020B0604020202020204"/>
                <a:cs typeface="Arial" panose="020B0604020202020204"/>
              </a:rPr>
              <a:t>e is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occ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u</a:t>
            </a:r>
            <a:r>
              <a:rPr sz="2800" dirty="0">
                <a:latin typeface="Arial" panose="020B0604020202020204"/>
                <a:cs typeface="Arial" panose="020B0604020202020204"/>
              </a:rPr>
              <a:t>pied by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s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p</a:t>
            </a:r>
            <a:r>
              <a:rPr sz="2800" dirty="0">
                <a:latin typeface="Arial" panose="020B0604020202020204"/>
                <a:cs typeface="Arial" panose="020B0604020202020204"/>
              </a:rPr>
              <a:t>ecies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B</a:t>
            </a:r>
          </a:p>
          <a:p>
            <a:pPr>
              <a:spcBef>
                <a:spcPts val="25"/>
              </a:spcBef>
            </a:pPr>
            <a:endParaRPr sz="2800" dirty="0">
              <a:latin typeface="Arial" panose="020B0604020202020204"/>
              <a:cs typeface="Arial" panose="020B0604020202020204"/>
            </a:endParaRPr>
          </a:p>
          <a:p>
            <a:pPr marL="47625"/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AB</a:t>
            </a:r>
            <a:r>
              <a:rPr lang="en-US" sz="2800" spc="-79" dirty="0">
                <a:latin typeface="Arial" panose="020B0604020202020204"/>
                <a:cs typeface="Arial" panose="020B0604020202020204"/>
              </a:rPr>
              <a:t> = </a:t>
            </a:r>
            <a:r>
              <a:rPr sz="2800" dirty="0">
                <a:latin typeface="Arial" panose="020B0604020202020204"/>
                <a:cs typeface="Arial" panose="020B0604020202020204"/>
              </a:rPr>
              <a:t>pro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b</a:t>
            </a:r>
            <a:r>
              <a:rPr sz="2800" dirty="0">
                <a:latin typeface="Arial" panose="020B0604020202020204"/>
                <a:cs typeface="Arial" panose="020B0604020202020204"/>
              </a:rPr>
              <a:t>.</a:t>
            </a:r>
            <a:r>
              <a:rPr sz="28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a si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t</a:t>
            </a:r>
            <a:r>
              <a:rPr sz="2800" dirty="0">
                <a:latin typeface="Arial" panose="020B0604020202020204"/>
                <a:cs typeface="Arial" panose="020B0604020202020204"/>
              </a:rPr>
              <a:t>e is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occ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u</a:t>
            </a:r>
            <a:r>
              <a:rPr sz="2800" dirty="0">
                <a:latin typeface="Arial" panose="020B0604020202020204"/>
                <a:cs typeface="Arial" panose="020B0604020202020204"/>
              </a:rPr>
              <a:t>pied by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s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p</a:t>
            </a:r>
            <a:r>
              <a:rPr sz="2800" dirty="0">
                <a:latin typeface="Arial" panose="020B0604020202020204"/>
                <a:cs typeface="Arial" panose="020B0604020202020204"/>
              </a:rPr>
              <a:t>ecies</a:t>
            </a:r>
            <a:r>
              <a:rPr sz="2800" spc="-158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A</a:t>
            </a:r>
            <a:r>
              <a:rPr sz="2800" spc="-161" dirty="0">
                <a:latin typeface="Arial" panose="020B0604020202020204"/>
                <a:cs typeface="Arial" panose="020B0604020202020204"/>
              </a:rPr>
              <a:t> </a:t>
            </a:r>
            <a:r>
              <a:rPr sz="2800" u="sng" dirty="0">
                <a:latin typeface="Arial" panose="020B0604020202020204"/>
                <a:cs typeface="Arial" panose="020B0604020202020204"/>
              </a:rPr>
              <a:t>and</a:t>
            </a:r>
            <a:r>
              <a:rPr sz="2800" dirty="0">
                <a:latin typeface="Arial" panose="020B0604020202020204"/>
                <a:cs typeface="Arial" panose="020B0604020202020204"/>
              </a:rPr>
              <a:t> B</a:t>
            </a:r>
          </a:p>
          <a:p>
            <a:pPr marL="47625"/>
            <a:endParaRPr sz="2800" dirty="0">
              <a:latin typeface="Arial" panose="020B0604020202020204"/>
              <a:cs typeface="Arial" panose="020B0604020202020204"/>
            </a:endParaRPr>
          </a:p>
          <a:p>
            <a:pPr marL="47625"/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</a:t>
            </a:r>
            <a:r>
              <a:rPr sz="2800" spc="-79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lang="en-US" sz="2800" spc="-79" dirty="0">
                <a:latin typeface="Arial" panose="020B0604020202020204"/>
                <a:cs typeface="Arial" panose="020B0604020202020204"/>
                <a:sym typeface="+mn-ea"/>
              </a:rPr>
              <a:t>=</a:t>
            </a:r>
            <a:r>
              <a:rPr sz="2800" dirty="0">
                <a:latin typeface="Arial" panose="020B0604020202020204"/>
                <a:cs typeface="Arial" panose="020B0604020202020204"/>
                <a:sym typeface="+mn-ea"/>
              </a:rPr>
              <a:t>某</a:t>
            </a:r>
            <a:r>
              <a:rPr lang="zh-CN" sz="2800" dirty="0">
                <a:latin typeface="Arial" panose="020B0604020202020204"/>
                <a:cs typeface="Arial" panose="020B0604020202020204"/>
                <a:sym typeface="+mn-ea"/>
              </a:rPr>
              <a:t>地点</a:t>
            </a:r>
            <a:r>
              <a:rPr sz="2800" dirty="0">
                <a:latin typeface="Arial" panose="020B0604020202020204"/>
                <a:cs typeface="Arial" panose="020B0604020202020204"/>
                <a:sym typeface="+mn-ea"/>
              </a:rPr>
              <a:t>被物种 A 占用的</a:t>
            </a:r>
            <a:r>
              <a:rPr sz="2800" spc="4" dirty="0">
                <a:latin typeface="Arial" panose="020B0604020202020204"/>
                <a:cs typeface="Arial" panose="020B0604020202020204"/>
                <a:sym typeface="+mn-ea"/>
              </a:rPr>
              <a:t>概率</a:t>
            </a:r>
            <a:endParaRPr sz="2800" dirty="0">
              <a:latin typeface="Arial" panose="020B0604020202020204"/>
              <a:cs typeface="Arial" panose="020B0604020202020204"/>
            </a:endParaRPr>
          </a:p>
          <a:p>
            <a:pPr marL="47625"/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B</a:t>
            </a:r>
            <a:r>
              <a:rPr lang="en-US" sz="2800" spc="-79" dirty="0">
                <a:latin typeface="Arial" panose="020B0604020202020204"/>
                <a:cs typeface="Arial" panose="020B0604020202020204"/>
                <a:sym typeface="+mn-ea"/>
              </a:rPr>
              <a:t> = </a:t>
            </a:r>
            <a:r>
              <a:rPr sz="2800" dirty="0">
                <a:latin typeface="Arial" panose="020B0604020202020204"/>
                <a:cs typeface="Arial" panose="020B0604020202020204"/>
                <a:sym typeface="+mn-ea"/>
              </a:rPr>
              <a:t>某</a:t>
            </a:r>
            <a:r>
              <a:rPr lang="zh-CN" sz="2800" dirty="0">
                <a:latin typeface="Arial" panose="020B0604020202020204"/>
                <a:cs typeface="Arial" panose="020B0604020202020204"/>
                <a:sym typeface="+mn-ea"/>
              </a:rPr>
              <a:t>地点</a:t>
            </a:r>
            <a:r>
              <a:rPr sz="2800" dirty="0">
                <a:latin typeface="Arial" panose="020B0604020202020204"/>
                <a:cs typeface="Arial" panose="020B0604020202020204"/>
                <a:sym typeface="+mn-ea"/>
              </a:rPr>
              <a:t>被物种 B 占用的</a:t>
            </a:r>
            <a:r>
              <a:rPr sz="2800" spc="4" dirty="0">
                <a:latin typeface="Arial" panose="020B0604020202020204"/>
                <a:cs typeface="Arial" panose="020B0604020202020204"/>
                <a:sym typeface="+mn-ea"/>
              </a:rPr>
              <a:t>概率</a:t>
            </a:r>
            <a:endParaRPr sz="2800" spc="4" dirty="0">
              <a:latin typeface="Arial" panose="020B0604020202020204"/>
              <a:cs typeface="Arial" panose="020B0604020202020204"/>
            </a:endParaRPr>
          </a:p>
          <a:p>
            <a:pPr marL="47625"/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AB</a:t>
            </a:r>
            <a:r>
              <a:rPr lang="en-US" sz="2800" spc="-79" dirty="0">
                <a:latin typeface="Arial" panose="020B0604020202020204"/>
                <a:cs typeface="Arial" panose="020B0604020202020204"/>
                <a:sym typeface="+mn-ea"/>
              </a:rPr>
              <a:t> =</a:t>
            </a:r>
            <a:r>
              <a:rPr lang="zh-CN" altLang="en-US" sz="2800" spc="-79" dirty="0">
                <a:latin typeface="Arial" panose="020B0604020202020204"/>
                <a:cs typeface="Arial" panose="020B0604020202020204"/>
                <a:sym typeface="+mn-ea"/>
              </a:rPr>
              <a:t>某</a:t>
            </a:r>
            <a:r>
              <a:rPr lang="zh-CN" sz="2800" dirty="0">
                <a:latin typeface="Arial" panose="020B0604020202020204"/>
                <a:cs typeface="Arial" panose="020B0604020202020204"/>
                <a:sym typeface="+mn-ea"/>
              </a:rPr>
              <a:t>地点</a:t>
            </a:r>
            <a:r>
              <a:rPr sz="2800" dirty="0">
                <a:latin typeface="Arial" panose="020B0604020202020204"/>
                <a:cs typeface="Arial" panose="020B0604020202020204"/>
              </a:rPr>
              <a:t>同时被物种A</a:t>
            </a:r>
            <a:r>
              <a:rPr sz="2800" u="sng" dirty="0">
                <a:latin typeface="Arial" panose="020B0604020202020204"/>
                <a:cs typeface="Arial" panose="020B0604020202020204"/>
              </a:rPr>
              <a:t>和</a:t>
            </a:r>
            <a:r>
              <a:rPr sz="2800" dirty="0">
                <a:latin typeface="Arial" panose="020B0604020202020204"/>
                <a:cs typeface="Arial" panose="020B0604020202020204"/>
              </a:rPr>
              <a:t>B占用的概率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287191" y="799083"/>
            <a:ext cx="4565809" cy="1049020"/>
          </a:xfrm>
          <a:prstGeom prst="rect">
            <a:avLst/>
          </a:prstGeom>
        </p:spPr>
        <p:txBody>
          <a:bodyPr vert="horz" wrap="square" lIns="0" tIns="9525" rIns="0" bIns="0" rtlCol="0" anchor="ctr">
            <a:spAutoFit/>
          </a:bodyPr>
          <a:lstStyle/>
          <a:p>
            <a:pPr marL="9525">
              <a:spcBef>
                <a:spcPts val="75"/>
              </a:spcBef>
            </a:pPr>
            <a:r>
              <a:rPr sz="3375" spc="-4" dirty="0"/>
              <a:t>Conditional</a:t>
            </a:r>
            <a:r>
              <a:rPr sz="3375" spc="-30" dirty="0"/>
              <a:t> </a:t>
            </a:r>
            <a:r>
              <a:rPr sz="3375" spc="-4" dirty="0"/>
              <a:t>probabilities</a:t>
            </a:r>
            <a:br>
              <a:rPr sz="3375" spc="-4" dirty="0"/>
            </a:br>
            <a:r>
              <a:rPr sz="3375" spc="-4" dirty="0"/>
              <a:t>条件概率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23875" y="2310765"/>
            <a:ext cx="8319135" cy="4225290"/>
          </a:xfrm>
          <a:prstGeom prst="rect">
            <a:avLst/>
          </a:prstGeom>
        </p:spPr>
        <p:txBody>
          <a:bodyPr vert="horz" wrap="square" lIns="0" tIns="27146" rIns="0" bIns="0" rtlCol="0">
            <a:spAutoFit/>
          </a:bodyPr>
          <a:lstStyle/>
          <a:p>
            <a:pPr marL="38100" marR="71120">
              <a:lnSpc>
                <a:spcPts val="3290"/>
              </a:lnSpc>
              <a:spcBef>
                <a:spcPts val="215"/>
              </a:spcBef>
            </a:pPr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A|B</a:t>
            </a:r>
            <a:r>
              <a:rPr lang="en-US" sz="2800" spc="-79" baseline="30000" dirty="0">
                <a:latin typeface="Arial" panose="020B0604020202020204"/>
                <a:cs typeface="Arial" panose="020B0604020202020204"/>
              </a:rPr>
              <a:t> </a:t>
            </a:r>
            <a:r>
              <a:rPr lang="en-US" sz="2800" spc="-79" dirty="0">
                <a:latin typeface="Arial" panose="020B0604020202020204"/>
                <a:cs typeface="Arial" panose="020B0604020202020204"/>
              </a:rPr>
              <a:t>= </a:t>
            </a:r>
            <a:r>
              <a:rPr sz="2800" dirty="0">
                <a:latin typeface="Arial" panose="020B0604020202020204"/>
                <a:cs typeface="Arial" panose="020B0604020202020204"/>
              </a:rPr>
              <a:t>p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r</a:t>
            </a:r>
            <a:r>
              <a:rPr sz="2800" dirty="0">
                <a:latin typeface="Arial" panose="020B0604020202020204"/>
                <a:cs typeface="Arial" panose="020B0604020202020204"/>
              </a:rPr>
              <a:t>ob.</a:t>
            </a:r>
            <a:r>
              <a:rPr sz="28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a si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t</a:t>
            </a:r>
            <a:r>
              <a:rPr sz="2800" dirty="0">
                <a:latin typeface="Arial" panose="020B0604020202020204"/>
                <a:cs typeface="Arial" panose="020B0604020202020204"/>
              </a:rPr>
              <a:t>e is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occ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u</a:t>
            </a:r>
            <a:r>
              <a:rPr sz="2800" dirty="0">
                <a:latin typeface="Arial" panose="020B0604020202020204"/>
                <a:cs typeface="Arial" panose="020B0604020202020204"/>
              </a:rPr>
              <a:t>pied by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s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p</a:t>
            </a:r>
            <a:r>
              <a:rPr sz="2800" dirty="0">
                <a:latin typeface="Arial" panose="020B0604020202020204"/>
                <a:cs typeface="Arial" panose="020B0604020202020204"/>
              </a:rPr>
              <a:t>ecies</a:t>
            </a:r>
            <a:r>
              <a:rPr sz="2800" spc="-158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A</a:t>
            </a:r>
            <a:r>
              <a:rPr sz="2800" spc="-161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giv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e</a:t>
            </a:r>
            <a:r>
              <a:rPr sz="2800" dirty="0">
                <a:latin typeface="Arial" panose="020B0604020202020204"/>
                <a:cs typeface="Arial" panose="020B0604020202020204"/>
              </a:rPr>
              <a:t>n  p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r</a:t>
            </a:r>
            <a:r>
              <a:rPr sz="2800" dirty="0">
                <a:latin typeface="Arial" panose="020B0604020202020204"/>
                <a:cs typeface="Arial" panose="020B0604020202020204"/>
              </a:rPr>
              <a:t>es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e</a:t>
            </a:r>
            <a:r>
              <a:rPr sz="2800" dirty="0">
                <a:latin typeface="Arial" panose="020B0604020202020204"/>
                <a:cs typeface="Arial" panose="020B0604020202020204"/>
              </a:rPr>
              <a:t>nce of</a:t>
            </a:r>
            <a:r>
              <a:rPr sz="28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s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p</a:t>
            </a:r>
            <a:r>
              <a:rPr sz="2800" dirty="0">
                <a:latin typeface="Arial" panose="020B0604020202020204"/>
                <a:cs typeface="Arial" panose="020B0604020202020204"/>
              </a:rPr>
              <a:t>ecies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B</a:t>
            </a:r>
            <a:r>
              <a:rPr sz="28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=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 </a:t>
            </a:r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AB</a:t>
            </a:r>
            <a:r>
              <a:rPr sz="2800" spc="314" baseline="2400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2800" dirty="0">
                <a:latin typeface="Symbol" panose="05050102010706020507"/>
                <a:cs typeface="Symbol" panose="05050102010706020507"/>
              </a:rPr>
              <a:t></a:t>
            </a:r>
            <a:r>
              <a:rPr sz="2800" spc="-4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B</a:t>
            </a:r>
            <a:endParaRPr sz="2800" baseline="30000" dirty="0">
              <a:latin typeface="Symbol" panose="05050102010706020507"/>
              <a:cs typeface="Symbol" panose="05050102010706020507"/>
            </a:endParaRPr>
          </a:p>
          <a:p>
            <a:pPr>
              <a:spcBef>
                <a:spcPts val="25"/>
              </a:spcBef>
            </a:pPr>
            <a:endParaRPr sz="2800" dirty="0">
              <a:latin typeface="Symbol" panose="05050102010706020507"/>
              <a:cs typeface="Symbol" panose="05050102010706020507"/>
            </a:endParaRPr>
          </a:p>
          <a:p>
            <a:pPr marL="38100" marR="32385">
              <a:lnSpc>
                <a:spcPct val="102000"/>
              </a:lnSpc>
            </a:pPr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B|A</a:t>
            </a:r>
            <a:r>
              <a:rPr lang="en-US" sz="2800" spc="298" baseline="3000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=</a:t>
            </a:r>
            <a:r>
              <a:rPr sz="2800" spc="-79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p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r</a:t>
            </a:r>
            <a:r>
              <a:rPr sz="2800" dirty="0">
                <a:latin typeface="Arial" panose="020B0604020202020204"/>
                <a:cs typeface="Arial" panose="020B0604020202020204"/>
              </a:rPr>
              <a:t>ob.</a:t>
            </a:r>
            <a:r>
              <a:rPr sz="28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a si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t</a:t>
            </a:r>
            <a:r>
              <a:rPr sz="2800" dirty="0">
                <a:latin typeface="Arial" panose="020B0604020202020204"/>
                <a:cs typeface="Arial" panose="020B0604020202020204"/>
              </a:rPr>
              <a:t>e is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occ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u</a:t>
            </a:r>
            <a:r>
              <a:rPr sz="2800" dirty="0">
                <a:latin typeface="Arial" panose="020B0604020202020204"/>
                <a:cs typeface="Arial" panose="020B0604020202020204"/>
              </a:rPr>
              <a:t>pied by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s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p</a:t>
            </a:r>
            <a:r>
              <a:rPr sz="2800" dirty="0">
                <a:latin typeface="Arial" panose="020B0604020202020204"/>
                <a:cs typeface="Arial" panose="020B0604020202020204"/>
              </a:rPr>
              <a:t>ecies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B</a:t>
            </a:r>
            <a:r>
              <a:rPr sz="28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giv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e</a:t>
            </a:r>
            <a:r>
              <a:rPr sz="2800" dirty="0">
                <a:latin typeface="Arial" panose="020B0604020202020204"/>
                <a:cs typeface="Arial" panose="020B0604020202020204"/>
              </a:rPr>
              <a:t>n  p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r</a:t>
            </a:r>
            <a:r>
              <a:rPr sz="2800" dirty="0">
                <a:latin typeface="Arial" panose="020B0604020202020204"/>
                <a:cs typeface="Arial" panose="020B0604020202020204"/>
              </a:rPr>
              <a:t>es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e</a:t>
            </a:r>
            <a:r>
              <a:rPr sz="2800" dirty="0">
                <a:latin typeface="Arial" panose="020B0604020202020204"/>
                <a:cs typeface="Arial" panose="020B0604020202020204"/>
              </a:rPr>
              <a:t>nce of</a:t>
            </a:r>
            <a:r>
              <a:rPr sz="28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s</a:t>
            </a:r>
            <a:r>
              <a:rPr sz="2800" spc="4" dirty="0">
                <a:latin typeface="Arial" panose="020B0604020202020204"/>
                <a:cs typeface="Arial" panose="020B0604020202020204"/>
              </a:rPr>
              <a:t>p</a:t>
            </a:r>
            <a:r>
              <a:rPr sz="2800" dirty="0">
                <a:latin typeface="Arial" panose="020B0604020202020204"/>
                <a:cs typeface="Arial" panose="020B0604020202020204"/>
              </a:rPr>
              <a:t>ecies</a:t>
            </a:r>
            <a:r>
              <a:rPr sz="2800" spc="-158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A</a:t>
            </a:r>
            <a:r>
              <a:rPr sz="2800" spc="-161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=</a:t>
            </a:r>
            <a:r>
              <a:rPr sz="2800" spc="-4" dirty="0">
                <a:latin typeface="Arial" panose="020B0604020202020204"/>
                <a:cs typeface="Arial" panose="020B0604020202020204"/>
              </a:rPr>
              <a:t> </a:t>
            </a:r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AB</a:t>
            </a:r>
            <a:r>
              <a:rPr lang="en-US" sz="2800" baseline="-25000" dirty="0">
                <a:latin typeface="Symbol" panose="05050102010706020507" pitchFamily="18" charset="2"/>
                <a:sym typeface="Symbol" panose="05050102010706020507" pitchFamily="18" charset="2"/>
              </a:rPr>
              <a:t> </a:t>
            </a:r>
            <a:r>
              <a:rPr sz="2800" dirty="0">
                <a:latin typeface="Symbol" panose="05050102010706020507"/>
                <a:cs typeface="Symbol" panose="05050102010706020507"/>
              </a:rPr>
              <a:t></a:t>
            </a:r>
            <a:r>
              <a:rPr lang="en-US" sz="2800" spc="-4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</a:t>
            </a:r>
          </a:p>
          <a:p>
            <a:pPr marL="38100" marR="32385">
              <a:lnSpc>
                <a:spcPct val="102000"/>
              </a:lnSpc>
            </a:pPr>
            <a:endParaRPr sz="2800" baseline="30000" dirty="0">
              <a:latin typeface="Symbol" panose="05050102010706020507"/>
              <a:cs typeface="Symbol" panose="05050102010706020507"/>
            </a:endParaRPr>
          </a:p>
          <a:p>
            <a:pPr marL="38100" marR="32385">
              <a:lnSpc>
                <a:spcPct val="102000"/>
              </a:lnSpc>
            </a:pPr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A|B</a:t>
            </a:r>
            <a:r>
              <a:rPr lang="en-US" sz="2800" spc="-79" baseline="30000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lang="en-US" sz="2800" spc="-79" dirty="0">
                <a:latin typeface="Arial" panose="020B0604020202020204"/>
                <a:cs typeface="Arial" panose="020B0604020202020204"/>
                <a:sym typeface="+mn-ea"/>
              </a:rPr>
              <a:t>= </a:t>
            </a:r>
            <a:r>
              <a:rPr sz="2800" dirty="0">
                <a:latin typeface="Arial" panose="020B0604020202020204"/>
                <a:cs typeface="Arial" panose="020B0604020202020204"/>
                <a:sym typeface="+mn-ea"/>
              </a:rPr>
              <a:t>在物种 B 存在的情况下，一个地点被物种 A 占用的概率=</a:t>
            </a:r>
            <a:r>
              <a:rPr sz="2800" spc="-4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AB</a:t>
            </a:r>
            <a:r>
              <a:rPr sz="2800" spc="314" baseline="24000" dirty="0">
                <a:latin typeface="Times New Roman" panose="02020603050405020304"/>
                <a:cs typeface="Times New Roman" panose="02020603050405020304"/>
                <a:sym typeface="+mn-ea"/>
              </a:rPr>
              <a:t> </a:t>
            </a:r>
            <a:r>
              <a:rPr sz="2800" dirty="0">
                <a:latin typeface="Symbol" panose="05050102010706020507"/>
                <a:cs typeface="Symbol" panose="05050102010706020507"/>
                <a:sym typeface="+mn-ea"/>
              </a:rPr>
              <a:t></a:t>
            </a:r>
            <a:r>
              <a:rPr sz="2800" spc="-4" dirty="0">
                <a:latin typeface="Times New Roman" panose="02020603050405020304"/>
                <a:cs typeface="Times New Roman" panose="02020603050405020304"/>
                <a:sym typeface="+mn-ea"/>
              </a:rPr>
              <a:t> </a:t>
            </a:r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B</a:t>
            </a:r>
            <a:endParaRPr sz="2800" baseline="30000" dirty="0">
              <a:latin typeface="Symbol" panose="05050102010706020507"/>
              <a:cs typeface="Symbol" panose="05050102010706020507"/>
            </a:endParaRPr>
          </a:p>
          <a:p>
            <a:pPr marL="38100" marR="32385">
              <a:lnSpc>
                <a:spcPct val="102000"/>
              </a:lnSpc>
            </a:pPr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B|A</a:t>
            </a:r>
            <a:r>
              <a:rPr lang="en-US" sz="2800" spc="298" baseline="30000" dirty="0">
                <a:latin typeface="Times New Roman" panose="02020603050405020304"/>
                <a:cs typeface="Times New Roman" panose="02020603050405020304"/>
                <a:sym typeface="+mn-ea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  <a:sym typeface="+mn-ea"/>
              </a:rPr>
              <a:t>=</a:t>
            </a:r>
            <a:r>
              <a:rPr sz="2800" spc="-79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  <a:sym typeface="+mn-ea"/>
              </a:rPr>
              <a:t>在物种 A </a:t>
            </a:r>
            <a:r>
              <a:rPr lang="zh-CN" sz="2800" dirty="0">
                <a:latin typeface="Arial" panose="020B0604020202020204"/>
                <a:cs typeface="Arial" panose="020B0604020202020204"/>
                <a:sym typeface="+mn-ea"/>
              </a:rPr>
              <a:t>存在</a:t>
            </a:r>
            <a:r>
              <a:rPr sz="2800" dirty="0">
                <a:latin typeface="Arial" panose="020B0604020202020204"/>
                <a:cs typeface="Arial" panose="020B0604020202020204"/>
                <a:sym typeface="+mn-ea"/>
              </a:rPr>
              <a:t>的情况下，一个地点被物种 B 占用的概率</a:t>
            </a:r>
            <a:r>
              <a:rPr sz="2800" spc="-161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  <a:sym typeface="+mn-ea"/>
              </a:rPr>
              <a:t>=</a:t>
            </a:r>
            <a:r>
              <a:rPr sz="2800" spc="-4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AB</a:t>
            </a:r>
            <a:r>
              <a:rPr lang="en-US" sz="2800" baseline="-25000" dirty="0">
                <a:latin typeface="Symbol" panose="05050102010706020507" pitchFamily="18" charset="2"/>
                <a:sym typeface="Symbol" panose="05050102010706020507" pitchFamily="18" charset="2"/>
              </a:rPr>
              <a:t> </a:t>
            </a:r>
            <a:r>
              <a:rPr sz="2800" dirty="0">
                <a:latin typeface="Symbol" panose="05050102010706020507"/>
                <a:cs typeface="Symbol" panose="05050102010706020507"/>
                <a:sym typeface="+mn-ea"/>
              </a:rPr>
              <a:t></a:t>
            </a:r>
            <a:r>
              <a:rPr lang="en-US" sz="2800" spc="-4" dirty="0">
                <a:latin typeface="Times New Roman" panose="02020603050405020304"/>
                <a:cs typeface="Times New Roman" panose="02020603050405020304"/>
                <a:sym typeface="+mn-ea"/>
              </a:rPr>
              <a:t> </a:t>
            </a:r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</a:t>
            </a:r>
            <a:endParaRPr sz="2800" dirty="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239619" y="-18725"/>
            <a:ext cx="2662714" cy="1049020"/>
          </a:xfrm>
          <a:prstGeom prst="rect">
            <a:avLst/>
          </a:prstGeom>
        </p:spPr>
        <p:txBody>
          <a:bodyPr vert="horz" wrap="square" lIns="0" tIns="9525" rIns="0" bIns="0" rtlCol="0" anchor="ctr">
            <a:spAutoFit/>
          </a:bodyPr>
          <a:lstStyle/>
          <a:p>
            <a:pPr marL="9525">
              <a:spcBef>
                <a:spcPts val="75"/>
              </a:spcBef>
            </a:pPr>
            <a:r>
              <a:rPr sz="3375" spc="-53" dirty="0"/>
              <a:t>Venn</a:t>
            </a:r>
            <a:r>
              <a:rPr sz="3375" spc="-56" dirty="0"/>
              <a:t> </a:t>
            </a:r>
            <a:r>
              <a:rPr sz="3375" spc="-4" dirty="0"/>
              <a:t>diagram</a:t>
            </a:r>
            <a:br>
              <a:rPr sz="3375" spc="-4" dirty="0"/>
            </a:br>
            <a:r>
              <a:rPr sz="3375" spc="-53" dirty="0">
                <a:sym typeface="+mn-ea"/>
              </a:rPr>
              <a:t>维恩</a:t>
            </a:r>
            <a:r>
              <a:rPr sz="3375" spc="-4" dirty="0">
                <a:sym typeface="+mn-ea"/>
              </a:rPr>
              <a:t>图解</a:t>
            </a:r>
            <a:endParaRPr sz="3375" dirty="0"/>
          </a:p>
        </p:txBody>
      </p:sp>
      <p:sp>
        <p:nvSpPr>
          <p:cNvPr id="3" name="object 3"/>
          <p:cNvSpPr txBox="1"/>
          <p:nvPr/>
        </p:nvSpPr>
        <p:spPr>
          <a:xfrm>
            <a:off x="1426857" y="3392042"/>
            <a:ext cx="1507331" cy="173799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28575" marR="22860" indent="88900">
              <a:spcBef>
                <a:spcPts val="75"/>
              </a:spcBef>
            </a:pPr>
            <a:r>
              <a:rPr spc="-4" dirty="0">
                <a:latin typeface="Arial" panose="020B0604020202020204"/>
                <a:cs typeface="Arial" panose="020B0604020202020204"/>
              </a:rPr>
              <a:t>Occupied </a:t>
            </a:r>
            <a:r>
              <a:rPr dirty="0">
                <a:latin typeface="Arial" panose="020B0604020202020204"/>
                <a:cs typeface="Arial" panose="020B0604020202020204"/>
              </a:rPr>
              <a:t>by </a:t>
            </a:r>
            <a:r>
              <a:rPr spc="4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species</a:t>
            </a:r>
            <a:r>
              <a:rPr spc="-105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A</a:t>
            </a:r>
            <a:r>
              <a:rPr spc="-105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only</a:t>
            </a:r>
            <a:r>
              <a:rPr dirty="0">
                <a:latin typeface="Arial" panose="020B0604020202020204"/>
                <a:cs typeface="Arial" panose="020B0604020202020204"/>
                <a:sym typeface="+mn-ea"/>
              </a:rPr>
              <a:t>仅被物种 A </a:t>
            </a:r>
            <a:r>
              <a:rPr lang="zh-CN" spc="-4" dirty="0">
                <a:latin typeface="Arial" panose="020B0604020202020204"/>
                <a:cs typeface="Arial" panose="020B0604020202020204"/>
                <a:sym typeface="+mn-ea"/>
              </a:rPr>
              <a:t>占用</a:t>
            </a:r>
            <a:r>
              <a:rPr sz="2400" spc="-934" baseline="-17000" dirty="0">
                <a:latin typeface="Symbol" panose="05050102010706020507"/>
                <a:cs typeface="Symbol" panose="05050102010706020507"/>
              </a:rPr>
              <a:t></a:t>
            </a:r>
            <a:r>
              <a:rPr lang="en-US" sz="24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4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</a:t>
            </a:r>
            <a:r>
              <a:rPr lang="en-US" sz="2400" baseline="-25000" dirty="0">
                <a:latin typeface="Symbol" panose="05050102010706020507" pitchFamily="18" charset="2"/>
                <a:sym typeface="Symbol" panose="05050102010706020507" pitchFamily="18" charset="2"/>
              </a:rPr>
              <a:t> </a:t>
            </a:r>
            <a:r>
              <a:rPr sz="2400" baseline="-17000" dirty="0">
                <a:latin typeface="Arial" panose="020B0604020202020204"/>
                <a:cs typeface="Arial" panose="020B0604020202020204"/>
              </a:rPr>
              <a:t>–</a:t>
            </a:r>
            <a:r>
              <a:rPr sz="2400" spc="-11" baseline="-17000" dirty="0">
                <a:latin typeface="Arial" panose="020B0604020202020204"/>
                <a:cs typeface="Arial" panose="020B0604020202020204"/>
              </a:rPr>
              <a:t> </a:t>
            </a:r>
            <a:r>
              <a:rPr lang="en-US" sz="24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4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AB</a:t>
            </a:r>
          </a:p>
          <a:p>
            <a:pPr marL="134620">
              <a:spcBef>
                <a:spcPts val="190"/>
              </a:spcBef>
            </a:pPr>
            <a:endParaRPr sz="2400" baseline="30000" dirty="0">
              <a:latin typeface="Symbol" panose="05050102010706020507"/>
              <a:cs typeface="Symbol" panose="05050102010706020507"/>
            </a:endParaRPr>
          </a:p>
          <a:p>
            <a:pPr marL="134620">
              <a:spcBef>
                <a:spcPts val="190"/>
              </a:spcBef>
            </a:pPr>
            <a:endParaRPr sz="2400" baseline="30000" dirty="0">
              <a:latin typeface="Symbol" panose="05050102010706020507"/>
              <a:cs typeface="Symbol" panose="05050102010706020507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987165" y="3774440"/>
            <a:ext cx="1452245" cy="1217930"/>
          </a:xfrm>
          <a:prstGeom prst="rect">
            <a:avLst/>
          </a:prstGeom>
        </p:spPr>
        <p:txBody>
          <a:bodyPr vert="horz" wrap="square" lIns="0" tIns="7144" rIns="0" bIns="0" rtlCol="0">
            <a:spAutoFit/>
          </a:bodyPr>
          <a:lstStyle/>
          <a:p>
            <a:pPr marL="28575" marR="22860" indent="6350">
              <a:lnSpc>
                <a:spcPct val="101000"/>
              </a:lnSpc>
              <a:spcBef>
                <a:spcPts val="55"/>
              </a:spcBef>
            </a:pPr>
            <a:r>
              <a:rPr spc="-4" dirty="0">
                <a:latin typeface="Arial" panose="020B0604020202020204"/>
                <a:cs typeface="Arial" panose="020B0604020202020204"/>
              </a:rPr>
              <a:t>Occupied </a:t>
            </a:r>
            <a:r>
              <a:rPr dirty="0">
                <a:latin typeface="Arial" panose="020B0604020202020204"/>
                <a:cs typeface="Arial" panose="020B0604020202020204"/>
              </a:rPr>
              <a:t>by </a:t>
            </a:r>
            <a:r>
              <a:rPr spc="-491" dirty="0">
                <a:latin typeface="Arial" panose="020B0604020202020204"/>
                <a:cs typeface="Arial" panose="020B0604020202020204"/>
              </a:rPr>
              <a:t> </a:t>
            </a:r>
            <a:r>
              <a:rPr spc="-4" dirty="0">
                <a:latin typeface="Arial" panose="020B0604020202020204"/>
                <a:cs typeface="Arial" panose="020B0604020202020204"/>
              </a:rPr>
              <a:t>both</a:t>
            </a:r>
            <a:r>
              <a:rPr spc="-68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species</a:t>
            </a:r>
            <a:r>
              <a:rPr dirty="0">
                <a:latin typeface="Arial" panose="020B0604020202020204"/>
                <a:cs typeface="Arial" panose="020B0604020202020204"/>
                <a:sym typeface="+mn-ea"/>
              </a:rPr>
              <a:t>被</a:t>
            </a:r>
            <a:r>
              <a:rPr spc="-4" dirty="0">
                <a:latin typeface="Arial" panose="020B0604020202020204"/>
                <a:cs typeface="Arial" panose="020B0604020202020204"/>
                <a:sym typeface="+mn-ea"/>
              </a:rPr>
              <a:t>两个</a:t>
            </a:r>
            <a:r>
              <a:rPr dirty="0">
                <a:latin typeface="Arial" panose="020B0604020202020204"/>
                <a:cs typeface="Arial" panose="020B0604020202020204"/>
                <a:sym typeface="+mn-ea"/>
              </a:rPr>
              <a:t>物种</a:t>
            </a:r>
            <a:r>
              <a:rPr spc="-4" dirty="0">
                <a:latin typeface="Arial" panose="020B0604020202020204"/>
                <a:cs typeface="Arial" panose="020B0604020202020204"/>
                <a:sym typeface="+mn-ea"/>
              </a:rPr>
              <a:t>占用</a:t>
            </a:r>
            <a:r>
              <a:rPr lang="en-US" sz="24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4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AB</a:t>
            </a:r>
            <a:endParaRPr lang="en-US" sz="2400" dirty="0">
              <a:latin typeface="Symbol" panose="05050102010706020507"/>
              <a:cs typeface="Symbol" panose="05050102010706020507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793672" y="5727776"/>
            <a:ext cx="6055784" cy="86550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28575">
              <a:spcBef>
                <a:spcPts val="75"/>
              </a:spcBef>
            </a:pPr>
            <a:r>
              <a:rPr spc="-4" dirty="0">
                <a:latin typeface="Arial" panose="020B0604020202020204"/>
                <a:cs typeface="Arial" panose="020B0604020202020204"/>
              </a:rPr>
              <a:t>S</a:t>
            </a:r>
            <a:r>
              <a:rPr dirty="0">
                <a:latin typeface="Arial" panose="020B0604020202020204"/>
                <a:cs typeface="Arial" panose="020B0604020202020204"/>
              </a:rPr>
              <a:t>i</a:t>
            </a:r>
            <a:r>
              <a:rPr spc="-4" dirty="0">
                <a:latin typeface="Arial" panose="020B0604020202020204"/>
                <a:cs typeface="Arial" panose="020B0604020202020204"/>
              </a:rPr>
              <a:t>t</a:t>
            </a:r>
            <a:r>
              <a:rPr dirty="0">
                <a:latin typeface="Arial" panose="020B0604020202020204"/>
                <a:cs typeface="Arial" panose="020B0604020202020204"/>
              </a:rPr>
              <a:t>e</a:t>
            </a:r>
            <a:r>
              <a:rPr spc="-4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unoccupied</a:t>
            </a:r>
            <a:r>
              <a:rPr spc="-4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wi</a:t>
            </a:r>
            <a:r>
              <a:rPr spc="-4" dirty="0">
                <a:latin typeface="Arial" panose="020B0604020202020204"/>
                <a:cs typeface="Arial" panose="020B0604020202020204"/>
              </a:rPr>
              <a:t>t</a:t>
            </a:r>
            <a:r>
              <a:rPr dirty="0">
                <a:latin typeface="Arial" panose="020B0604020202020204"/>
                <a:cs typeface="Arial" panose="020B0604020202020204"/>
              </a:rPr>
              <a:t>h</a:t>
            </a:r>
            <a:r>
              <a:rPr spc="-4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prob</a:t>
            </a:r>
            <a:r>
              <a:rPr lang="zh-CN" dirty="0">
                <a:latin typeface="Arial" panose="020B0604020202020204"/>
                <a:cs typeface="Arial" panose="020B0604020202020204"/>
              </a:rPr>
              <a:t>该地点未被占用的概率</a:t>
            </a:r>
            <a:r>
              <a:rPr sz="2700" dirty="0">
                <a:latin typeface="Arial" panose="020B0604020202020204"/>
                <a:cs typeface="Arial" panose="020B0604020202020204"/>
              </a:rPr>
              <a:t>:</a:t>
            </a:r>
            <a:r>
              <a:rPr sz="2700" spc="-4" dirty="0">
                <a:latin typeface="Arial" panose="020B0604020202020204"/>
                <a:cs typeface="Arial" panose="020B0604020202020204"/>
              </a:rPr>
              <a:t> </a:t>
            </a:r>
          </a:p>
          <a:p>
            <a:pPr marL="28575">
              <a:spcBef>
                <a:spcPts val="75"/>
              </a:spcBef>
            </a:pPr>
            <a:r>
              <a:rPr sz="2700" i="1" dirty="0">
                <a:latin typeface="Symbol" panose="05050102010706020507"/>
                <a:cs typeface="Symbol" panose="05050102010706020507"/>
              </a:rPr>
              <a:t></a:t>
            </a:r>
            <a:r>
              <a:rPr sz="2700" dirty="0">
                <a:latin typeface="Times New Roman" panose="02020603050405020304"/>
                <a:cs typeface="Times New Roman" panose="02020603050405020304"/>
              </a:rPr>
              <a:t> – </a:t>
            </a:r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</a:t>
            </a:r>
            <a:r>
              <a:rPr lang="en-US" sz="2800" baseline="-25000" dirty="0">
                <a:latin typeface="Symbol" panose="05050102010706020507" pitchFamily="18" charset="2"/>
                <a:sym typeface="Symbol" panose="05050102010706020507" pitchFamily="18" charset="2"/>
              </a:rPr>
              <a:t>  </a:t>
            </a:r>
            <a:r>
              <a:rPr lang="en-US" sz="2800" dirty="0">
                <a:latin typeface="Times New Roman" panose="02020603050405020304"/>
                <a:cs typeface="Times New Roman" panose="02020603050405020304"/>
              </a:rPr>
              <a:t>– </a:t>
            </a:r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B</a:t>
            </a:r>
            <a:r>
              <a:rPr lang="en-US" sz="2800" dirty="0">
                <a:latin typeface="Symbol" panose="05050102010706020507" pitchFamily="18" charset="2"/>
                <a:sym typeface="Symbol" panose="05050102010706020507" pitchFamily="18" charset="2"/>
              </a:rPr>
              <a:t> +</a:t>
            </a:r>
            <a:r>
              <a:rPr lang="en-US" sz="2800" baseline="-17000" dirty="0">
                <a:latin typeface="Arial" panose="020B0604020202020204"/>
                <a:cs typeface="Arial" panose="020B0604020202020204"/>
              </a:rPr>
              <a:t> </a:t>
            </a:r>
            <a:r>
              <a:rPr lang="en-US" sz="28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8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AB</a:t>
            </a:r>
            <a:endParaRPr sz="2700" baseline="25000" dirty="0">
              <a:latin typeface="Symbol" panose="05050102010706020507"/>
              <a:cs typeface="Symbol" panose="05050102010706020507"/>
            </a:endParaRPr>
          </a:p>
        </p:txBody>
      </p:sp>
      <p:pic>
        <p:nvPicPr>
          <p:cNvPr id="13" name="object 2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00162" y="2647965"/>
            <a:ext cx="1026432" cy="672656"/>
          </a:xfrm>
          <a:prstGeom prst="rect">
            <a:avLst/>
          </a:prstGeom>
        </p:spPr>
      </p:pic>
      <p:pic>
        <p:nvPicPr>
          <p:cNvPr id="1026" name="Picture 2" descr="Eurasian lynx - Parc animalier de la Barbe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8478" y="2429968"/>
            <a:ext cx="962074" cy="962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ICT0250impbigWeb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38" t="9059" r="21099" b="30872"/>
          <a:stretch>
            <a:fillRect/>
          </a:stretch>
        </p:blipFill>
        <p:spPr bwMode="auto">
          <a:xfrm>
            <a:off x="3441512" y="2047234"/>
            <a:ext cx="2144332" cy="1727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Oval 13"/>
          <p:cNvSpPr/>
          <p:nvPr/>
        </p:nvSpPr>
        <p:spPr>
          <a:xfrm>
            <a:off x="933718" y="1063452"/>
            <a:ext cx="5085438" cy="430598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pc="-4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3010188" y="1063450"/>
            <a:ext cx="5085438" cy="430598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bject 3"/>
          <p:cNvSpPr txBox="1"/>
          <p:nvPr/>
        </p:nvSpPr>
        <p:spPr>
          <a:xfrm>
            <a:off x="6161133" y="3465959"/>
            <a:ext cx="1507331" cy="120967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28575" marR="22860" indent="88900">
              <a:spcBef>
                <a:spcPts val="75"/>
              </a:spcBef>
            </a:pPr>
            <a:r>
              <a:rPr spc="-4" dirty="0">
                <a:latin typeface="Arial" panose="020B0604020202020204"/>
                <a:cs typeface="Arial" panose="020B0604020202020204"/>
              </a:rPr>
              <a:t>Occupied </a:t>
            </a:r>
            <a:r>
              <a:rPr dirty="0">
                <a:latin typeface="Arial" panose="020B0604020202020204"/>
                <a:cs typeface="Arial" panose="020B0604020202020204"/>
              </a:rPr>
              <a:t>by </a:t>
            </a:r>
            <a:r>
              <a:rPr spc="4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species</a:t>
            </a:r>
            <a:r>
              <a:rPr spc="-105" dirty="0">
                <a:latin typeface="Arial" panose="020B0604020202020204"/>
                <a:cs typeface="Arial" panose="020B0604020202020204"/>
              </a:rPr>
              <a:t> </a:t>
            </a:r>
            <a:r>
              <a:rPr lang="en-US" spc="-105" dirty="0">
                <a:latin typeface="Arial" panose="020B0604020202020204"/>
                <a:cs typeface="Arial" panose="020B0604020202020204"/>
              </a:rPr>
              <a:t>B</a:t>
            </a:r>
            <a:r>
              <a:rPr spc="-105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only</a:t>
            </a:r>
            <a:r>
              <a:rPr dirty="0">
                <a:latin typeface="Arial" panose="020B0604020202020204"/>
                <a:cs typeface="Arial" panose="020B0604020202020204"/>
                <a:sym typeface="+mn-ea"/>
              </a:rPr>
              <a:t>仅被物种 </a:t>
            </a:r>
            <a:r>
              <a:rPr lang="en-US" spc="-105" dirty="0">
                <a:latin typeface="Arial" panose="020B0604020202020204"/>
                <a:cs typeface="Arial" panose="020B0604020202020204"/>
                <a:sym typeface="+mn-ea"/>
              </a:rPr>
              <a:t>B </a:t>
            </a:r>
            <a:r>
              <a:rPr spc="-4" dirty="0">
                <a:latin typeface="Arial" panose="020B0604020202020204"/>
                <a:cs typeface="Arial" panose="020B0604020202020204"/>
                <a:sym typeface="+mn-ea"/>
              </a:rPr>
              <a:t>占用</a:t>
            </a:r>
            <a:r>
              <a:rPr sz="2400" spc="-934" baseline="-17000" dirty="0">
                <a:latin typeface="Symbol" panose="05050102010706020507"/>
                <a:cs typeface="Symbol" panose="05050102010706020507"/>
              </a:rPr>
              <a:t></a:t>
            </a:r>
            <a:r>
              <a:rPr lang="en-US" sz="2400" i="1" dirty="0">
                <a:latin typeface="Symbol" panose="05050102010706020507" pitchFamily="18" charset="2"/>
                <a:sym typeface="Symbol" panose="05050102010706020507" pitchFamily="18" charset="2"/>
              </a:rPr>
              <a:t> </a:t>
            </a:r>
            <a:r>
              <a:rPr lang="en-US" sz="24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4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B</a:t>
            </a:r>
            <a:r>
              <a:rPr lang="en-US" sz="2400" baseline="-25000" dirty="0">
                <a:latin typeface="Symbol" panose="05050102010706020507" pitchFamily="18" charset="2"/>
                <a:sym typeface="Symbol" panose="05050102010706020507" pitchFamily="18" charset="2"/>
              </a:rPr>
              <a:t> </a:t>
            </a:r>
            <a:r>
              <a:rPr sz="2400" baseline="-17000" dirty="0">
                <a:latin typeface="Arial" panose="020B0604020202020204"/>
                <a:cs typeface="Arial" panose="020B0604020202020204"/>
              </a:rPr>
              <a:t>–</a:t>
            </a:r>
            <a:r>
              <a:rPr sz="2400" spc="-11" baseline="-17000" dirty="0">
                <a:latin typeface="Arial" panose="020B0604020202020204"/>
                <a:cs typeface="Arial" panose="020B0604020202020204"/>
              </a:rPr>
              <a:t> </a:t>
            </a:r>
            <a:r>
              <a:rPr lang="en-US" sz="24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4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AB</a:t>
            </a:r>
            <a:endParaRPr sz="2400" baseline="30000" dirty="0">
              <a:latin typeface="Symbol" panose="05050102010706020507"/>
              <a:cs typeface="Symbol" panose="0505010201070602050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906440" y="799083"/>
            <a:ext cx="1329214" cy="1049020"/>
          </a:xfrm>
          <a:prstGeom prst="rect">
            <a:avLst/>
          </a:prstGeom>
        </p:spPr>
        <p:txBody>
          <a:bodyPr vert="horz" wrap="square" lIns="0" tIns="9525" rIns="0" bIns="0" rtlCol="0" anchor="ctr">
            <a:spAutoFit/>
          </a:bodyPr>
          <a:lstStyle/>
          <a:p>
            <a:pPr marL="9525">
              <a:spcBef>
                <a:spcPts val="75"/>
              </a:spcBef>
            </a:pPr>
            <a:r>
              <a:rPr sz="3375" spc="-4" dirty="0"/>
              <a:t>E</a:t>
            </a:r>
            <a:r>
              <a:rPr sz="3375" dirty="0"/>
              <a:t>v</a:t>
            </a:r>
            <a:r>
              <a:rPr sz="3375" spc="-4" dirty="0"/>
              <a:t>ent</a:t>
            </a:r>
            <a:r>
              <a:rPr sz="3375" dirty="0"/>
              <a:t>s</a:t>
            </a:r>
            <a:br>
              <a:rPr sz="3375" dirty="0"/>
            </a:br>
            <a:r>
              <a:rPr lang="zh-CN" sz="3375" dirty="0"/>
              <a:t>事件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6565" y="2143505"/>
            <a:ext cx="4049078" cy="3836035"/>
          </a:xfrm>
          <a:prstGeom prst="rect">
            <a:avLst/>
          </a:prstGeom>
        </p:spPr>
        <p:txBody>
          <a:bodyPr vert="horz" wrap="square" lIns="0" tIns="27146" rIns="0" bIns="0" rtlCol="0">
            <a:spAutoFit/>
          </a:bodyPr>
          <a:lstStyle/>
          <a:p>
            <a:pPr marL="9525" marR="395605">
              <a:lnSpc>
                <a:spcPts val="3290"/>
              </a:lnSpc>
              <a:spcBef>
                <a:spcPts val="215"/>
              </a:spcBef>
            </a:pPr>
            <a:r>
              <a:rPr sz="2775" dirty="0">
                <a:latin typeface="Arial" panose="020B0604020202020204"/>
                <a:cs typeface="Arial" panose="020B0604020202020204"/>
              </a:rPr>
              <a:t>0</a:t>
            </a:r>
            <a:r>
              <a:rPr sz="2775" spc="-15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=</a:t>
            </a:r>
            <a:r>
              <a:rPr sz="2775" spc="-19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species</a:t>
            </a:r>
            <a:r>
              <a:rPr sz="2775" spc="-15" dirty="0">
                <a:latin typeface="Arial" panose="020B0604020202020204"/>
                <a:cs typeface="Arial" panose="020B0604020202020204"/>
              </a:rPr>
              <a:t> </a:t>
            </a:r>
            <a:r>
              <a:rPr sz="2775" spc="-4" dirty="0">
                <a:latin typeface="Arial" panose="020B0604020202020204"/>
                <a:cs typeface="Arial" panose="020B0604020202020204"/>
              </a:rPr>
              <a:t>undetected </a:t>
            </a:r>
            <a:r>
              <a:rPr sz="2775" spc="-761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1</a:t>
            </a:r>
            <a:r>
              <a:rPr sz="2775" spc="-4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=</a:t>
            </a:r>
            <a:r>
              <a:rPr sz="2775" spc="-161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A</a:t>
            </a:r>
            <a:r>
              <a:rPr sz="2775" spc="-165" dirty="0">
                <a:latin typeface="Arial" panose="020B0604020202020204"/>
                <a:cs typeface="Arial" panose="020B0604020202020204"/>
              </a:rPr>
              <a:t> </a:t>
            </a:r>
            <a:r>
              <a:rPr sz="2775" spc="-4" dirty="0">
                <a:latin typeface="Arial" panose="020B0604020202020204"/>
                <a:cs typeface="Arial" panose="020B0604020202020204"/>
              </a:rPr>
              <a:t>detected</a:t>
            </a:r>
            <a:endParaRPr sz="2775" dirty="0">
              <a:latin typeface="Arial" panose="020B0604020202020204"/>
              <a:cs typeface="Arial" panose="020B0604020202020204"/>
            </a:endParaRPr>
          </a:p>
          <a:p>
            <a:pPr marL="9525">
              <a:lnSpc>
                <a:spcPts val="3265"/>
              </a:lnSpc>
              <a:tabLst>
                <a:tab pos="607060" algn="l"/>
              </a:tabLst>
            </a:pPr>
            <a:r>
              <a:rPr sz="2775" dirty="0">
                <a:latin typeface="Arial" panose="020B0604020202020204"/>
                <a:cs typeface="Arial" panose="020B0604020202020204"/>
              </a:rPr>
              <a:t>2 =	B</a:t>
            </a:r>
            <a:r>
              <a:rPr sz="2775" spc="-38" dirty="0">
                <a:latin typeface="Arial" panose="020B0604020202020204"/>
                <a:cs typeface="Arial" panose="020B0604020202020204"/>
              </a:rPr>
              <a:t> </a:t>
            </a:r>
            <a:r>
              <a:rPr sz="2775" spc="-4" dirty="0">
                <a:latin typeface="Arial" panose="020B0604020202020204"/>
                <a:cs typeface="Arial" panose="020B0604020202020204"/>
              </a:rPr>
              <a:t>detected</a:t>
            </a:r>
            <a:endParaRPr sz="2775" dirty="0">
              <a:latin typeface="Arial" panose="020B0604020202020204"/>
              <a:cs typeface="Arial" panose="020B0604020202020204"/>
            </a:endParaRPr>
          </a:p>
          <a:p>
            <a:pPr marL="9525">
              <a:lnSpc>
                <a:spcPts val="3310"/>
              </a:lnSpc>
            </a:pPr>
            <a:r>
              <a:rPr sz="2775" dirty="0">
                <a:latin typeface="Arial" panose="020B0604020202020204"/>
                <a:cs typeface="Arial" panose="020B0604020202020204"/>
              </a:rPr>
              <a:t>3</a:t>
            </a:r>
            <a:r>
              <a:rPr sz="2775" spc="-11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=</a:t>
            </a:r>
            <a:r>
              <a:rPr sz="2775" spc="-11" dirty="0">
                <a:latin typeface="Arial" panose="020B0604020202020204"/>
                <a:cs typeface="Arial" panose="020B0604020202020204"/>
              </a:rPr>
              <a:t> </a:t>
            </a:r>
            <a:r>
              <a:rPr sz="2775" spc="-4" dirty="0">
                <a:latin typeface="Arial" panose="020B0604020202020204"/>
                <a:cs typeface="Arial" panose="020B0604020202020204"/>
              </a:rPr>
              <a:t>both</a:t>
            </a:r>
            <a:r>
              <a:rPr sz="2775" spc="-11" dirty="0">
                <a:latin typeface="Arial" panose="020B0604020202020204"/>
                <a:cs typeface="Arial" panose="020B0604020202020204"/>
              </a:rPr>
              <a:t> </a:t>
            </a:r>
            <a:r>
              <a:rPr sz="2775" dirty="0">
                <a:latin typeface="Arial" panose="020B0604020202020204"/>
                <a:cs typeface="Arial" panose="020B0604020202020204"/>
              </a:rPr>
              <a:t>species</a:t>
            </a:r>
            <a:r>
              <a:rPr sz="2775" spc="-11" dirty="0">
                <a:latin typeface="Arial" panose="020B0604020202020204"/>
                <a:cs typeface="Arial" panose="020B0604020202020204"/>
              </a:rPr>
              <a:t> </a:t>
            </a:r>
            <a:r>
              <a:rPr sz="2775" spc="-4" dirty="0">
                <a:latin typeface="Arial" panose="020B0604020202020204"/>
                <a:cs typeface="Arial" panose="020B0604020202020204"/>
              </a:rPr>
              <a:t>detected</a:t>
            </a:r>
          </a:p>
          <a:p>
            <a:pPr marL="9525">
              <a:lnSpc>
                <a:spcPts val="3310"/>
              </a:lnSpc>
            </a:pPr>
            <a:endParaRPr sz="2775" dirty="0">
              <a:latin typeface="Arial" panose="020B0604020202020204"/>
              <a:cs typeface="Arial" panose="020B0604020202020204"/>
            </a:endParaRPr>
          </a:p>
          <a:p>
            <a:pPr marL="9525">
              <a:lnSpc>
                <a:spcPts val="3310"/>
              </a:lnSpc>
            </a:pPr>
            <a:r>
              <a:rPr sz="2775" dirty="0">
                <a:latin typeface="Arial" panose="020B0604020202020204"/>
                <a:cs typeface="Arial" panose="020B0604020202020204"/>
              </a:rPr>
              <a:t>0</a:t>
            </a:r>
            <a:r>
              <a:rPr lang="en-US" sz="2775" dirty="0">
                <a:latin typeface="Arial" panose="020B0604020202020204"/>
                <a:cs typeface="Arial" panose="020B0604020202020204"/>
              </a:rPr>
              <a:t> = </a:t>
            </a:r>
            <a:r>
              <a:rPr sz="2775" dirty="0">
                <a:latin typeface="Arial" panose="020B0604020202020204"/>
                <a:cs typeface="Arial" panose="020B0604020202020204"/>
              </a:rPr>
              <a:t>未检测到物种</a:t>
            </a:r>
          </a:p>
          <a:p>
            <a:pPr marL="9525">
              <a:lnSpc>
                <a:spcPts val="3310"/>
              </a:lnSpc>
            </a:pPr>
            <a:r>
              <a:rPr sz="2775" dirty="0">
                <a:latin typeface="Arial" panose="020B0604020202020204"/>
                <a:cs typeface="Arial" panose="020B0604020202020204"/>
              </a:rPr>
              <a:t>1</a:t>
            </a:r>
            <a:r>
              <a:rPr lang="en-US" sz="2775" dirty="0">
                <a:latin typeface="Arial" panose="020B0604020202020204"/>
                <a:cs typeface="Arial" panose="020B0604020202020204"/>
              </a:rPr>
              <a:t> = </a:t>
            </a:r>
            <a:r>
              <a:rPr sz="2775" dirty="0">
                <a:latin typeface="Arial" panose="020B0604020202020204"/>
                <a:cs typeface="Arial" panose="020B0604020202020204"/>
              </a:rPr>
              <a:t>检测到物种A</a:t>
            </a:r>
          </a:p>
          <a:p>
            <a:pPr marL="9525">
              <a:lnSpc>
                <a:spcPts val="3310"/>
              </a:lnSpc>
            </a:pPr>
            <a:r>
              <a:rPr sz="2775" dirty="0">
                <a:latin typeface="Arial" panose="020B0604020202020204"/>
                <a:cs typeface="Arial" panose="020B0604020202020204"/>
              </a:rPr>
              <a:t>2</a:t>
            </a:r>
            <a:r>
              <a:rPr lang="en-US" sz="2775" dirty="0">
                <a:latin typeface="Arial" panose="020B0604020202020204"/>
                <a:cs typeface="Arial" panose="020B0604020202020204"/>
              </a:rPr>
              <a:t> = </a:t>
            </a:r>
            <a:r>
              <a:rPr sz="2775" dirty="0">
                <a:latin typeface="Arial" panose="020B0604020202020204"/>
                <a:cs typeface="Arial" panose="020B0604020202020204"/>
              </a:rPr>
              <a:t>检测到物种B</a:t>
            </a:r>
          </a:p>
          <a:p>
            <a:pPr marL="9525">
              <a:lnSpc>
                <a:spcPts val="3310"/>
              </a:lnSpc>
            </a:pPr>
            <a:r>
              <a:rPr sz="2775" dirty="0">
                <a:latin typeface="Arial" panose="020B0604020202020204"/>
                <a:cs typeface="Arial" panose="020B0604020202020204"/>
              </a:rPr>
              <a:t>3</a:t>
            </a:r>
            <a:r>
              <a:rPr lang="en-US" sz="2775" dirty="0">
                <a:latin typeface="Arial" panose="020B0604020202020204"/>
                <a:cs typeface="Arial" panose="020B0604020202020204"/>
              </a:rPr>
              <a:t> = </a:t>
            </a:r>
            <a:r>
              <a:rPr sz="2775" dirty="0">
                <a:latin typeface="Arial" panose="020B0604020202020204"/>
                <a:cs typeface="Arial" panose="020B0604020202020204"/>
              </a:rPr>
              <a:t>同时检测到物种A和B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96753" y="58673"/>
            <a:ext cx="3948589" cy="1049020"/>
          </a:xfrm>
          <a:prstGeom prst="rect">
            <a:avLst/>
          </a:prstGeom>
        </p:spPr>
        <p:txBody>
          <a:bodyPr vert="horz" wrap="square" lIns="0" tIns="9525" rIns="0" bIns="0" rtlCol="0" anchor="ctr">
            <a:spAutoFit/>
          </a:bodyPr>
          <a:lstStyle/>
          <a:p>
            <a:pPr marL="9525">
              <a:spcBef>
                <a:spcPts val="75"/>
              </a:spcBef>
            </a:pPr>
            <a:r>
              <a:rPr sz="3375" spc="-4" dirty="0"/>
              <a:t>Observation</a:t>
            </a:r>
            <a:r>
              <a:rPr sz="3375" spc="-45" dirty="0"/>
              <a:t> </a:t>
            </a:r>
            <a:r>
              <a:rPr sz="3375" spc="-4" dirty="0"/>
              <a:t>process</a:t>
            </a:r>
            <a:br>
              <a:rPr sz="3375" spc="-4" dirty="0"/>
            </a:br>
            <a:r>
              <a:rPr sz="3375" spc="-4" dirty="0">
                <a:sym typeface="+mn-ea"/>
              </a:rPr>
              <a:t>观察过程</a:t>
            </a:r>
            <a:endParaRPr sz="3375"/>
          </a:p>
        </p:txBody>
      </p:sp>
      <p:sp>
        <p:nvSpPr>
          <p:cNvPr id="3" name="object 3"/>
          <p:cNvSpPr txBox="1"/>
          <p:nvPr/>
        </p:nvSpPr>
        <p:spPr>
          <a:xfrm>
            <a:off x="255905" y="1118870"/>
            <a:ext cx="8780780" cy="5483860"/>
          </a:xfrm>
          <a:prstGeom prst="rect">
            <a:avLst/>
          </a:prstGeom>
        </p:spPr>
        <p:txBody>
          <a:bodyPr vert="horz" wrap="square" lIns="0" tIns="150971" rIns="0" bIns="0" rtlCol="0">
            <a:spAutoFit/>
          </a:bodyPr>
          <a:lstStyle/>
          <a:p>
            <a:pPr marL="38100">
              <a:spcBef>
                <a:spcPts val="1190"/>
              </a:spcBef>
            </a:pPr>
            <a:r>
              <a:rPr spc="-4" dirty="0">
                <a:latin typeface="Arial" panose="020B0604020202020204"/>
                <a:cs typeface="Arial" panose="020B0604020202020204"/>
              </a:rPr>
              <a:t>p</a:t>
            </a:r>
            <a:r>
              <a:rPr spc="-5" baseline="25000" dirty="0">
                <a:latin typeface="Arial" panose="020B0604020202020204"/>
                <a:cs typeface="Arial" panose="020B0604020202020204"/>
              </a:rPr>
              <a:t>A</a:t>
            </a:r>
            <a:r>
              <a:rPr spc="33" baseline="25000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=</a:t>
            </a:r>
            <a:r>
              <a:rPr spc="-60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prob.</a:t>
            </a:r>
            <a:r>
              <a:rPr spc="-8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detecting species</a:t>
            </a:r>
            <a:r>
              <a:rPr spc="-120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A</a:t>
            </a:r>
            <a:r>
              <a:rPr spc="-124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given</a:t>
            </a:r>
            <a:r>
              <a:rPr spc="4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only</a:t>
            </a:r>
            <a:r>
              <a:rPr spc="-4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species</a:t>
            </a:r>
            <a:r>
              <a:rPr spc="-120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A</a:t>
            </a:r>
            <a:r>
              <a:rPr spc="-124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is</a:t>
            </a:r>
            <a:r>
              <a:rPr spc="-4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present</a:t>
            </a:r>
          </a:p>
          <a:p>
            <a:pPr marL="38100">
              <a:spcBef>
                <a:spcPts val="1120"/>
              </a:spcBef>
            </a:pPr>
            <a:r>
              <a:rPr spc="-4" dirty="0">
                <a:latin typeface="Arial" panose="020B0604020202020204"/>
                <a:cs typeface="Arial" panose="020B0604020202020204"/>
              </a:rPr>
              <a:t>p</a:t>
            </a:r>
            <a:r>
              <a:rPr spc="-5" baseline="25000" dirty="0">
                <a:latin typeface="Arial" panose="020B0604020202020204"/>
                <a:cs typeface="Arial" panose="020B0604020202020204"/>
              </a:rPr>
              <a:t>B</a:t>
            </a:r>
            <a:r>
              <a:rPr spc="33" baseline="25000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=</a:t>
            </a:r>
            <a:r>
              <a:rPr spc="-60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prob.</a:t>
            </a:r>
            <a:r>
              <a:rPr spc="-8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detecting species</a:t>
            </a:r>
            <a:r>
              <a:rPr spc="-4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B</a:t>
            </a:r>
            <a:r>
              <a:rPr spc="-4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given only</a:t>
            </a:r>
            <a:r>
              <a:rPr spc="-4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species</a:t>
            </a:r>
            <a:r>
              <a:rPr spc="-4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B</a:t>
            </a:r>
            <a:r>
              <a:rPr spc="-8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is</a:t>
            </a:r>
            <a:r>
              <a:rPr spc="-4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present</a:t>
            </a:r>
          </a:p>
          <a:p>
            <a:pPr marL="38100">
              <a:spcBef>
                <a:spcPts val="1190"/>
              </a:spcBef>
            </a:pPr>
            <a:r>
              <a:rPr spc="-4" dirty="0">
                <a:latin typeface="Arial" panose="020B0604020202020204"/>
                <a:cs typeface="Arial" panose="020B0604020202020204"/>
                <a:sym typeface="+mn-ea"/>
              </a:rPr>
              <a:t>p</a:t>
            </a:r>
            <a:r>
              <a:rPr spc="-5" baseline="25000" dirty="0">
                <a:latin typeface="Arial" panose="020B0604020202020204"/>
                <a:cs typeface="Arial" panose="020B0604020202020204"/>
                <a:sym typeface="+mn-ea"/>
              </a:rPr>
              <a:t>A</a:t>
            </a:r>
            <a:r>
              <a:rPr spc="33" baseline="25000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  <a:sym typeface="+mn-ea"/>
              </a:rPr>
              <a:t>= 在只有物种 A 存在的情况下检测到物种 A 的概率</a:t>
            </a:r>
            <a:endParaRPr dirty="0">
              <a:latin typeface="Arial" panose="020B0604020202020204"/>
              <a:cs typeface="Arial" panose="020B0604020202020204"/>
            </a:endParaRPr>
          </a:p>
          <a:p>
            <a:pPr marL="38100">
              <a:spcBef>
                <a:spcPts val="1120"/>
              </a:spcBef>
            </a:pPr>
            <a:r>
              <a:rPr spc="-4" dirty="0">
                <a:latin typeface="Arial" panose="020B0604020202020204"/>
                <a:cs typeface="Arial" panose="020B0604020202020204"/>
                <a:sym typeface="+mn-ea"/>
              </a:rPr>
              <a:t>p</a:t>
            </a:r>
            <a:r>
              <a:rPr spc="-5" baseline="25000" dirty="0">
                <a:latin typeface="Arial" panose="020B0604020202020204"/>
                <a:cs typeface="Arial" panose="020B0604020202020204"/>
                <a:sym typeface="+mn-ea"/>
              </a:rPr>
              <a:t>B</a:t>
            </a:r>
            <a:r>
              <a:rPr spc="33" baseline="25000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  <a:sym typeface="+mn-ea"/>
              </a:rPr>
              <a:t>= 在只有物种 B 存在的情况下检测到物种 B 的概率</a:t>
            </a:r>
          </a:p>
          <a:p>
            <a:pPr marL="38100">
              <a:spcBef>
                <a:spcPts val="1120"/>
              </a:spcBef>
            </a:pPr>
            <a:endParaRPr dirty="0">
              <a:latin typeface="Arial" panose="020B0604020202020204"/>
              <a:cs typeface="Arial" panose="020B0604020202020204"/>
            </a:endParaRPr>
          </a:p>
          <a:p>
            <a:pPr marL="38100">
              <a:spcBef>
                <a:spcPts val="1120"/>
              </a:spcBef>
            </a:pPr>
            <a:r>
              <a:rPr spc="-4" dirty="0">
                <a:latin typeface="Arial" panose="020B0604020202020204"/>
                <a:cs typeface="Arial" panose="020B0604020202020204"/>
              </a:rPr>
              <a:t>r</a:t>
            </a:r>
            <a:r>
              <a:rPr spc="-5" baseline="25000" dirty="0">
                <a:latin typeface="Arial" panose="020B0604020202020204"/>
                <a:cs typeface="Arial" panose="020B0604020202020204"/>
              </a:rPr>
              <a:t>AB</a:t>
            </a:r>
            <a:r>
              <a:rPr spc="33" baseline="25000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=</a:t>
            </a:r>
            <a:r>
              <a:rPr spc="-60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prob.</a:t>
            </a:r>
            <a:r>
              <a:rPr spc="-8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detecting both species</a:t>
            </a:r>
            <a:r>
              <a:rPr spc="-116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A</a:t>
            </a:r>
            <a:r>
              <a:rPr spc="-124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and B</a:t>
            </a:r>
            <a:r>
              <a:rPr spc="-8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when both present </a:t>
            </a:r>
            <a:r>
              <a:rPr spc="-570" dirty="0">
                <a:latin typeface="Arial" panose="020B0604020202020204"/>
                <a:cs typeface="Arial" panose="020B0604020202020204"/>
              </a:rPr>
              <a:t> </a:t>
            </a:r>
          </a:p>
          <a:p>
            <a:pPr marL="38100">
              <a:spcBef>
                <a:spcPts val="1120"/>
              </a:spcBef>
            </a:pPr>
            <a:r>
              <a:rPr spc="-4" dirty="0">
                <a:latin typeface="Arial" panose="020B0604020202020204"/>
                <a:cs typeface="Arial" panose="020B0604020202020204"/>
              </a:rPr>
              <a:t>r</a:t>
            </a:r>
            <a:r>
              <a:rPr spc="-5" baseline="25000" dirty="0">
                <a:latin typeface="Arial" panose="020B0604020202020204"/>
                <a:cs typeface="Arial" panose="020B0604020202020204"/>
              </a:rPr>
              <a:t>Ab </a:t>
            </a:r>
            <a:r>
              <a:rPr dirty="0">
                <a:latin typeface="Arial" panose="020B0604020202020204"/>
                <a:cs typeface="Arial" panose="020B0604020202020204"/>
              </a:rPr>
              <a:t>= prob. detecting species A but not B when both present </a:t>
            </a:r>
            <a:r>
              <a:rPr spc="4" dirty="0">
                <a:latin typeface="Arial" panose="020B0604020202020204"/>
                <a:cs typeface="Arial" panose="020B0604020202020204"/>
              </a:rPr>
              <a:t> </a:t>
            </a:r>
          </a:p>
          <a:p>
            <a:pPr marL="38100">
              <a:spcBef>
                <a:spcPts val="1120"/>
              </a:spcBef>
            </a:pPr>
            <a:r>
              <a:rPr dirty="0">
                <a:latin typeface="Arial" panose="020B0604020202020204"/>
                <a:cs typeface="Arial" panose="020B0604020202020204"/>
              </a:rPr>
              <a:t>r</a:t>
            </a:r>
            <a:r>
              <a:rPr baseline="25000" dirty="0">
                <a:latin typeface="Arial" panose="020B0604020202020204"/>
                <a:cs typeface="Arial" panose="020B0604020202020204"/>
              </a:rPr>
              <a:t>aB </a:t>
            </a:r>
            <a:r>
              <a:rPr dirty="0">
                <a:latin typeface="Arial" panose="020B0604020202020204"/>
                <a:cs typeface="Arial" panose="020B0604020202020204"/>
              </a:rPr>
              <a:t>= prob. detecting species B but not A when both present </a:t>
            </a:r>
            <a:r>
              <a:rPr spc="4" dirty="0">
                <a:latin typeface="Arial" panose="020B0604020202020204"/>
                <a:cs typeface="Arial" panose="020B0604020202020204"/>
              </a:rPr>
              <a:t> </a:t>
            </a:r>
          </a:p>
          <a:p>
            <a:pPr marL="38100">
              <a:spcBef>
                <a:spcPts val="1120"/>
              </a:spcBef>
            </a:pPr>
            <a:r>
              <a:rPr dirty="0">
                <a:latin typeface="Arial" panose="020B0604020202020204"/>
                <a:cs typeface="Arial" panose="020B0604020202020204"/>
              </a:rPr>
              <a:t>r</a:t>
            </a:r>
            <a:r>
              <a:rPr baseline="25000" dirty="0">
                <a:latin typeface="Arial" panose="020B0604020202020204"/>
                <a:cs typeface="Arial" panose="020B0604020202020204"/>
              </a:rPr>
              <a:t>ab</a:t>
            </a:r>
            <a:r>
              <a:rPr spc="39" baseline="25000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=</a:t>
            </a:r>
            <a:r>
              <a:rPr spc="-60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prob.</a:t>
            </a:r>
            <a:r>
              <a:rPr spc="-8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detecting neither species</a:t>
            </a:r>
            <a:r>
              <a:rPr spc="-4" dirty="0">
                <a:latin typeface="Arial" panose="020B0604020202020204"/>
                <a:cs typeface="Arial" panose="020B0604020202020204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</a:rPr>
              <a:t>when both present</a:t>
            </a:r>
          </a:p>
          <a:p>
            <a:pPr marL="38100">
              <a:spcBef>
                <a:spcPts val="1120"/>
              </a:spcBef>
            </a:pPr>
            <a:r>
              <a:rPr spc="-4" dirty="0">
                <a:latin typeface="Arial" panose="020B0604020202020204"/>
                <a:cs typeface="Arial" panose="020B0604020202020204"/>
                <a:sym typeface="+mn-ea"/>
              </a:rPr>
              <a:t>r</a:t>
            </a:r>
            <a:r>
              <a:rPr spc="-5" baseline="25000" dirty="0">
                <a:latin typeface="Arial" panose="020B0604020202020204"/>
                <a:cs typeface="Arial" panose="020B0604020202020204"/>
                <a:sym typeface="+mn-ea"/>
              </a:rPr>
              <a:t>AB</a:t>
            </a:r>
            <a:r>
              <a:rPr dirty="0">
                <a:latin typeface="Arial" panose="020B0604020202020204"/>
                <a:cs typeface="Arial" panose="020B0604020202020204"/>
                <a:sym typeface="+mn-ea"/>
              </a:rPr>
              <a:t>=</a:t>
            </a:r>
            <a:r>
              <a:rPr lang="en-US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  <a:sym typeface="+mn-ea"/>
              </a:rPr>
              <a:t>当物种A和B同时存在时，同时检测到物种A和B的概率</a:t>
            </a:r>
          </a:p>
          <a:p>
            <a:pPr marL="38100">
              <a:spcBef>
                <a:spcPts val="1120"/>
              </a:spcBef>
            </a:pPr>
            <a:r>
              <a:rPr spc="-4" dirty="0">
                <a:latin typeface="Arial" panose="020B0604020202020204"/>
                <a:cs typeface="Arial" panose="020B0604020202020204"/>
                <a:sym typeface="+mn-ea"/>
              </a:rPr>
              <a:t>r</a:t>
            </a:r>
            <a:r>
              <a:rPr spc="-5" baseline="25000" dirty="0">
                <a:latin typeface="Arial" panose="020B0604020202020204"/>
                <a:cs typeface="Arial" panose="020B0604020202020204"/>
                <a:sym typeface="+mn-ea"/>
              </a:rPr>
              <a:t>Ab </a:t>
            </a:r>
            <a:r>
              <a:rPr dirty="0">
                <a:latin typeface="Arial" panose="020B0604020202020204"/>
                <a:cs typeface="Arial" panose="020B0604020202020204"/>
                <a:sym typeface="+mn-ea"/>
              </a:rPr>
              <a:t>=</a:t>
            </a:r>
            <a:r>
              <a:rPr lang="en-US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  <a:sym typeface="+mn-ea"/>
              </a:rPr>
              <a:t>当物种A和B同时存在时，检测到物种A但未检测到物种B的概率</a:t>
            </a:r>
          </a:p>
          <a:p>
            <a:pPr marL="38100">
              <a:spcBef>
                <a:spcPts val="1120"/>
              </a:spcBef>
            </a:pPr>
            <a:r>
              <a:rPr dirty="0">
                <a:latin typeface="Arial" panose="020B0604020202020204"/>
                <a:cs typeface="Arial" panose="020B0604020202020204"/>
                <a:sym typeface="+mn-ea"/>
              </a:rPr>
              <a:t>r</a:t>
            </a:r>
            <a:r>
              <a:rPr baseline="25000" dirty="0">
                <a:latin typeface="Arial" panose="020B0604020202020204"/>
                <a:cs typeface="Arial" panose="020B0604020202020204"/>
                <a:sym typeface="+mn-ea"/>
              </a:rPr>
              <a:t>aB </a:t>
            </a:r>
            <a:r>
              <a:rPr dirty="0">
                <a:latin typeface="Arial" panose="020B0604020202020204"/>
                <a:cs typeface="Arial" panose="020B0604020202020204"/>
                <a:sym typeface="+mn-ea"/>
              </a:rPr>
              <a:t>=</a:t>
            </a:r>
            <a:r>
              <a:rPr lang="en-US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  <a:sym typeface="+mn-ea"/>
              </a:rPr>
              <a:t>当物种A和B同时存在时，检测到物种B但未检测到物种A的概率</a:t>
            </a:r>
          </a:p>
          <a:p>
            <a:pPr marL="38100">
              <a:spcBef>
                <a:spcPts val="1120"/>
              </a:spcBef>
            </a:pPr>
            <a:r>
              <a:rPr dirty="0">
                <a:latin typeface="Arial" panose="020B0604020202020204"/>
                <a:cs typeface="Arial" panose="020B0604020202020204"/>
                <a:sym typeface="+mn-ea"/>
              </a:rPr>
              <a:t>r</a:t>
            </a:r>
            <a:r>
              <a:rPr baseline="25000" dirty="0">
                <a:latin typeface="Arial" panose="020B0604020202020204"/>
                <a:cs typeface="Arial" panose="020B0604020202020204"/>
                <a:sym typeface="+mn-ea"/>
              </a:rPr>
              <a:t>ab</a:t>
            </a:r>
            <a:r>
              <a:rPr spc="39" baseline="25000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dirty="0">
                <a:latin typeface="Arial" panose="020B0604020202020204"/>
                <a:cs typeface="Arial" panose="020B0604020202020204"/>
                <a:sym typeface="+mn-ea"/>
              </a:rPr>
              <a:t>=</a:t>
            </a:r>
            <a:r>
              <a:rPr spc="-60" dirty="0">
                <a:latin typeface="Arial" panose="020B0604020202020204"/>
                <a:cs typeface="Arial" panose="020B0604020202020204"/>
                <a:sym typeface="+mn-ea"/>
              </a:rPr>
              <a:t> 当物种A和B同时存在时，未检测到任何物种的概率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1102" y="2099491"/>
            <a:ext cx="8541544" cy="1413986"/>
            <a:chOff x="468135" y="1656321"/>
            <a:chExt cx="11388725" cy="1885314"/>
          </a:xfrm>
        </p:grpSpPr>
        <p:sp>
          <p:nvSpPr>
            <p:cNvPr id="3" name="object 3"/>
            <p:cNvSpPr/>
            <p:nvPr/>
          </p:nvSpPr>
          <p:spPr>
            <a:xfrm>
              <a:off x="474485" y="1662671"/>
              <a:ext cx="11376025" cy="1474470"/>
            </a:xfrm>
            <a:custGeom>
              <a:avLst/>
              <a:gdLst/>
              <a:ahLst/>
              <a:cxnLst/>
              <a:rect l="l" t="t" r="r" b="b"/>
              <a:pathLst>
                <a:path w="11376025" h="1474470">
                  <a:moveTo>
                    <a:pt x="0" y="1474397"/>
                  </a:moveTo>
                  <a:lnTo>
                    <a:pt x="11375788" y="1474397"/>
                  </a:lnTo>
                  <a:lnTo>
                    <a:pt x="11375788" y="0"/>
                  </a:lnTo>
                  <a:lnTo>
                    <a:pt x="0" y="0"/>
                  </a:lnTo>
                  <a:lnTo>
                    <a:pt x="0" y="1474397"/>
                  </a:lnTo>
                  <a:close/>
                </a:path>
              </a:pathLst>
            </a:custGeom>
            <a:solidFill>
              <a:srgbClr val="00B0EA"/>
            </a:solidFill>
          </p:spPr>
          <p:txBody>
            <a:bodyPr wrap="square" lIns="0" tIns="0" rIns="0" bIns="0" rtlCol="0"/>
            <a:lstStyle/>
            <a:p>
              <a:endParaRPr sz="1350"/>
            </a:p>
          </p:txBody>
        </p:sp>
        <p:sp>
          <p:nvSpPr>
            <p:cNvPr id="4" name="object 4"/>
            <p:cNvSpPr/>
            <p:nvPr/>
          </p:nvSpPr>
          <p:spPr>
            <a:xfrm>
              <a:off x="474485" y="1662671"/>
              <a:ext cx="11376025" cy="1872614"/>
            </a:xfrm>
            <a:custGeom>
              <a:avLst/>
              <a:gdLst/>
              <a:ahLst/>
              <a:cxnLst/>
              <a:rect l="l" t="t" r="r" b="b"/>
              <a:pathLst>
                <a:path w="11376025" h="1872614">
                  <a:moveTo>
                    <a:pt x="0" y="0"/>
                  </a:moveTo>
                  <a:lnTo>
                    <a:pt x="11375789" y="0"/>
                  </a:lnTo>
                  <a:lnTo>
                    <a:pt x="11375789" y="1872000"/>
                  </a:lnTo>
                  <a:lnTo>
                    <a:pt x="0" y="1872000"/>
                  </a:lnTo>
                  <a:lnTo>
                    <a:pt x="0" y="0"/>
                  </a:lnTo>
                  <a:close/>
                </a:path>
              </a:pathLst>
            </a:custGeom>
            <a:ln w="12700">
              <a:solidFill>
                <a:srgbClr val="00B0EA"/>
              </a:solidFill>
            </a:ln>
          </p:spPr>
          <p:txBody>
            <a:bodyPr wrap="square" lIns="0" tIns="0" rIns="0" bIns="0" rtlCol="0"/>
            <a:lstStyle/>
            <a:p>
              <a:endParaRPr sz="1350"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3404570" y="2104135"/>
            <a:ext cx="2433161" cy="112712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spcBef>
                <a:spcPts val="75"/>
              </a:spcBef>
              <a:tabLst>
                <a:tab pos="1203325" algn="l"/>
              </a:tabLst>
            </a:pPr>
            <a:r>
              <a:rPr sz="3600" spc="-4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In</a:t>
            </a:r>
            <a:r>
              <a:rPr sz="3600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i</a:t>
            </a:r>
            <a:r>
              <a:rPr sz="3600" spc="-4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t</a:t>
            </a:r>
            <a:r>
              <a:rPr sz="3600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i</a:t>
            </a:r>
            <a:r>
              <a:rPr sz="3600" spc="-4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a</a:t>
            </a:r>
            <a:r>
              <a:rPr sz="3600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l	s</a:t>
            </a:r>
            <a:r>
              <a:rPr sz="3600" spc="-4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tate</a:t>
            </a:r>
            <a:r>
              <a:rPr sz="3600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s</a:t>
            </a:r>
          </a:p>
          <a:p>
            <a:pPr marL="9525">
              <a:spcBef>
                <a:spcPts val="75"/>
              </a:spcBef>
              <a:tabLst>
                <a:tab pos="1203325" algn="l"/>
              </a:tabLst>
            </a:pPr>
            <a:r>
              <a:rPr sz="3600" spc="-4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初始状态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348499" y="3205289"/>
            <a:ext cx="8546783" cy="2747486"/>
            <a:chOff x="464665" y="3130718"/>
            <a:chExt cx="11395710" cy="3663315"/>
          </a:xfrm>
        </p:grpSpPr>
        <p:sp>
          <p:nvSpPr>
            <p:cNvPr id="7" name="object 7"/>
            <p:cNvSpPr/>
            <p:nvPr/>
          </p:nvSpPr>
          <p:spPr>
            <a:xfrm>
              <a:off x="471015" y="3137068"/>
              <a:ext cx="11383010" cy="3650615"/>
            </a:xfrm>
            <a:custGeom>
              <a:avLst/>
              <a:gdLst/>
              <a:ahLst/>
              <a:cxnLst/>
              <a:rect l="l" t="t" r="r" b="b"/>
              <a:pathLst>
                <a:path w="11383010" h="3650615">
                  <a:moveTo>
                    <a:pt x="11382733" y="0"/>
                  </a:moveTo>
                  <a:lnTo>
                    <a:pt x="0" y="0"/>
                  </a:lnTo>
                  <a:lnTo>
                    <a:pt x="0" y="3650004"/>
                  </a:lnTo>
                  <a:lnTo>
                    <a:pt x="11382733" y="3650004"/>
                  </a:lnTo>
                  <a:lnTo>
                    <a:pt x="1138273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350"/>
            </a:p>
          </p:txBody>
        </p:sp>
        <p:sp>
          <p:nvSpPr>
            <p:cNvPr id="8" name="object 8"/>
            <p:cNvSpPr/>
            <p:nvPr/>
          </p:nvSpPr>
          <p:spPr>
            <a:xfrm>
              <a:off x="471015" y="3137068"/>
              <a:ext cx="11383010" cy="3650615"/>
            </a:xfrm>
            <a:custGeom>
              <a:avLst/>
              <a:gdLst/>
              <a:ahLst/>
              <a:cxnLst/>
              <a:rect l="l" t="t" r="r" b="b"/>
              <a:pathLst>
                <a:path w="11383010" h="3650615">
                  <a:moveTo>
                    <a:pt x="0" y="0"/>
                  </a:moveTo>
                  <a:lnTo>
                    <a:pt x="11382733" y="0"/>
                  </a:lnTo>
                  <a:lnTo>
                    <a:pt x="11382733" y="3650004"/>
                  </a:lnTo>
                  <a:lnTo>
                    <a:pt x="0" y="3650004"/>
                  </a:lnTo>
                  <a:lnTo>
                    <a:pt x="0" y="0"/>
                  </a:lnTo>
                  <a:close/>
                </a:path>
              </a:pathLst>
            </a:custGeom>
            <a:ln w="12700">
              <a:solidFill>
                <a:srgbClr val="CBE4F7"/>
              </a:solidFill>
            </a:ln>
          </p:spPr>
          <p:txBody>
            <a:bodyPr wrap="square" lIns="0" tIns="0" rIns="0" bIns="0" rtlCol="0"/>
            <a:lstStyle/>
            <a:p>
              <a:endParaRPr sz="1350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355932" y="4250939"/>
            <a:ext cx="3860959" cy="45204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spcBef>
                <a:spcPts val="105"/>
              </a:spcBef>
              <a:tabLst>
                <a:tab pos="1657985" algn="l"/>
                <a:tab pos="3274060" algn="l"/>
              </a:tabLst>
            </a:pPr>
            <a:r>
              <a:rPr sz="4275" spc="-62" baseline="-24000" dirty="0">
                <a:latin typeface="Symbol" panose="05050102010706020507"/>
                <a:cs typeface="Symbol" panose="05050102010706020507"/>
              </a:rPr>
              <a:t></a:t>
            </a:r>
            <a:r>
              <a:rPr sz="4275" spc="-529" baseline="-2400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615" dirty="0">
                <a:latin typeface="Times New Roman" panose="02020603050405020304"/>
                <a:cs typeface="Times New Roman" panose="02020603050405020304"/>
              </a:rPr>
              <a:t>A </a:t>
            </a:r>
            <a:r>
              <a:rPr sz="1615" spc="-127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165" spc="11" baseline="-25000" dirty="0">
                <a:latin typeface="Symbol" panose="05050102010706020507"/>
                <a:cs typeface="Symbol" panose="05050102010706020507"/>
              </a:rPr>
              <a:t></a:t>
            </a:r>
            <a:r>
              <a:rPr sz="4165" spc="-624" baseline="-2500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275" spc="-62" baseline="-24000" dirty="0">
                <a:latin typeface="Symbol" panose="05050102010706020507"/>
                <a:cs typeface="Symbol" panose="05050102010706020507"/>
              </a:rPr>
              <a:t></a:t>
            </a:r>
            <a:r>
              <a:rPr sz="4275" spc="-529" baseline="-2400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615" spc="-15" dirty="0">
                <a:latin typeface="Times New Roman" panose="02020603050405020304"/>
                <a:cs typeface="Times New Roman" panose="02020603050405020304"/>
              </a:rPr>
              <a:t>A</a:t>
            </a:r>
            <a:r>
              <a:rPr sz="1615" dirty="0">
                <a:latin typeface="Times New Roman" panose="02020603050405020304"/>
                <a:cs typeface="Times New Roman" panose="02020603050405020304"/>
              </a:rPr>
              <a:t>B	</a:t>
            </a:r>
            <a:r>
              <a:rPr sz="4275" spc="-62" baseline="-24000" dirty="0">
                <a:latin typeface="Symbol" panose="05050102010706020507"/>
                <a:cs typeface="Symbol" panose="05050102010706020507"/>
              </a:rPr>
              <a:t></a:t>
            </a:r>
            <a:r>
              <a:rPr sz="4275" spc="-585" baseline="-2400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615" dirty="0">
                <a:latin typeface="Times New Roman" panose="02020603050405020304"/>
                <a:cs typeface="Times New Roman" panose="02020603050405020304"/>
              </a:rPr>
              <a:t>B </a:t>
            </a:r>
            <a:r>
              <a:rPr sz="1615" spc="-127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165" spc="11" baseline="-25000" dirty="0">
                <a:latin typeface="Symbol" panose="05050102010706020507"/>
                <a:cs typeface="Symbol" panose="05050102010706020507"/>
              </a:rPr>
              <a:t></a:t>
            </a:r>
            <a:r>
              <a:rPr sz="4165" spc="-624" baseline="-2500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275" spc="-62" baseline="-24000" dirty="0">
                <a:latin typeface="Symbol" panose="05050102010706020507"/>
                <a:cs typeface="Symbol" panose="05050102010706020507"/>
              </a:rPr>
              <a:t></a:t>
            </a:r>
            <a:r>
              <a:rPr sz="4275" spc="-529" baseline="-2400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615" spc="-15" dirty="0">
                <a:latin typeface="Times New Roman" panose="02020603050405020304"/>
                <a:cs typeface="Times New Roman" panose="02020603050405020304"/>
              </a:rPr>
              <a:t>A</a:t>
            </a:r>
            <a:r>
              <a:rPr sz="1615" dirty="0">
                <a:latin typeface="Times New Roman" panose="02020603050405020304"/>
                <a:cs typeface="Times New Roman" panose="02020603050405020304"/>
              </a:rPr>
              <a:t>B	</a:t>
            </a:r>
            <a:r>
              <a:rPr sz="4275" spc="-62" baseline="-24000" dirty="0">
                <a:latin typeface="Symbol" panose="05050102010706020507"/>
                <a:cs typeface="Symbol" panose="05050102010706020507"/>
              </a:rPr>
              <a:t></a:t>
            </a:r>
            <a:r>
              <a:rPr sz="4275" spc="-529" baseline="-2400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615" spc="-15" dirty="0">
                <a:latin typeface="Times New Roman" panose="02020603050405020304"/>
                <a:cs typeface="Times New Roman" panose="02020603050405020304"/>
              </a:rPr>
              <a:t>A</a:t>
            </a:r>
            <a:r>
              <a:rPr sz="1615" dirty="0">
                <a:latin typeface="Times New Roman" panose="02020603050405020304"/>
                <a:cs typeface="Times New Roman" panose="02020603050405020304"/>
              </a:rPr>
              <a:t>B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2401627" y="4530766"/>
            <a:ext cx="1018223" cy="324928"/>
          </a:xfrm>
          <a:prstGeom prst="rect">
            <a:avLst/>
          </a:prstGeom>
        </p:spPr>
        <p:txBody>
          <a:bodyPr vert="horz" wrap="square" lIns="0" tIns="11906" rIns="0" bIns="0" rtlCol="0">
            <a:spAutoFit/>
          </a:bodyPr>
          <a:lstStyle/>
          <a:p>
            <a:pPr marL="28575">
              <a:lnSpc>
                <a:spcPts val="2385"/>
              </a:lnSpc>
              <a:spcBef>
                <a:spcPts val="95"/>
              </a:spcBef>
            </a:pPr>
            <a:r>
              <a:rPr sz="2775" spc="210" dirty="0">
                <a:latin typeface="Times New Roman" panose="02020603050405020304"/>
                <a:cs typeface="Times New Roman" panose="02020603050405020304"/>
              </a:rPr>
              <a:t>1</a:t>
            </a:r>
            <a:r>
              <a:rPr sz="2775" spc="8" dirty="0">
                <a:latin typeface="Symbol" panose="05050102010706020507"/>
                <a:cs typeface="Symbol" panose="05050102010706020507"/>
              </a:rPr>
              <a:t></a:t>
            </a:r>
            <a:r>
              <a:rPr sz="2775" spc="-221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2775" spc="11" dirty="0">
                <a:latin typeface="Symbol" panose="05050102010706020507"/>
                <a:cs typeface="Symbol" panose="05050102010706020507"/>
              </a:rPr>
              <a:t></a:t>
            </a:r>
            <a:endParaRPr sz="2775" dirty="0">
              <a:latin typeface="Symbol" panose="05050102010706020507"/>
              <a:cs typeface="Symbol" panose="05050102010706020507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671185" y="3775329"/>
            <a:ext cx="239554" cy="378950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spcBef>
                <a:spcPts val="75"/>
              </a:spcBef>
            </a:pPr>
            <a:r>
              <a:rPr sz="2400" dirty="0">
                <a:latin typeface="Arial" panose="020B0604020202020204"/>
                <a:cs typeface="Arial" panose="020B0604020202020204"/>
              </a:rPr>
              <a:t>U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890058" y="3775329"/>
            <a:ext cx="222409" cy="378950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spcBef>
                <a:spcPts val="75"/>
              </a:spcBef>
            </a:pPr>
            <a:r>
              <a:rPr sz="2400" dirty="0">
                <a:latin typeface="Arial" panose="020B0604020202020204"/>
                <a:cs typeface="Arial" panose="020B0604020202020204"/>
              </a:rPr>
              <a:t>A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431096" y="3775329"/>
            <a:ext cx="222409" cy="378950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spcBef>
                <a:spcPts val="75"/>
              </a:spcBef>
            </a:pPr>
            <a:r>
              <a:rPr sz="2400" dirty="0">
                <a:latin typeface="Arial" panose="020B0604020202020204"/>
                <a:cs typeface="Arial" panose="020B0604020202020204"/>
              </a:rPr>
              <a:t>B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633260" y="3775329"/>
            <a:ext cx="426244" cy="378950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spcBef>
                <a:spcPts val="75"/>
              </a:spcBef>
            </a:pPr>
            <a:r>
              <a:rPr sz="2400" dirty="0">
                <a:latin typeface="Arial" panose="020B0604020202020204"/>
                <a:cs typeface="Arial" panose="020B0604020202020204"/>
              </a:rPr>
              <a:t>AB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Left Bracket 19"/>
          <p:cNvSpPr/>
          <p:nvPr/>
        </p:nvSpPr>
        <p:spPr>
          <a:xfrm>
            <a:off x="2274627" y="4315904"/>
            <a:ext cx="127000" cy="637789"/>
          </a:xfrm>
          <a:prstGeom prst="leftBracke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Left Bracket 20"/>
          <p:cNvSpPr/>
          <p:nvPr/>
        </p:nvSpPr>
        <p:spPr>
          <a:xfrm rot="10800000">
            <a:off x="7216891" y="4315903"/>
            <a:ext cx="127000" cy="637789"/>
          </a:xfrm>
          <a:prstGeom prst="leftBracke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250961" y="372028"/>
            <a:ext cx="2638901" cy="528991"/>
          </a:xfrm>
          <a:prstGeom prst="rect">
            <a:avLst/>
          </a:prstGeom>
        </p:spPr>
        <p:txBody>
          <a:bodyPr vert="horz" wrap="square" lIns="0" tIns="9525" rIns="0" bIns="0" rtlCol="0" anchor="ctr">
            <a:spAutoFit/>
          </a:bodyPr>
          <a:lstStyle/>
          <a:p>
            <a:pPr marL="9525">
              <a:spcBef>
                <a:spcPts val="75"/>
              </a:spcBef>
            </a:pPr>
            <a:r>
              <a:rPr sz="3375" spc="-4" dirty="0"/>
              <a:t>State</a:t>
            </a:r>
            <a:r>
              <a:rPr sz="3375" spc="-56" dirty="0"/>
              <a:t> </a:t>
            </a:r>
            <a:r>
              <a:rPr sz="3375" spc="-4" dirty="0"/>
              <a:t>process</a:t>
            </a:r>
            <a:endParaRPr sz="3375"/>
          </a:p>
        </p:txBody>
      </p:sp>
      <p:grpSp>
        <p:nvGrpSpPr>
          <p:cNvPr id="3" name="object 3"/>
          <p:cNvGrpSpPr/>
          <p:nvPr/>
        </p:nvGrpSpPr>
        <p:grpSpPr>
          <a:xfrm>
            <a:off x="351102" y="1611811"/>
            <a:ext cx="8541544" cy="1413986"/>
            <a:chOff x="468135" y="1656321"/>
            <a:chExt cx="11388725" cy="1885314"/>
          </a:xfrm>
        </p:grpSpPr>
        <p:sp>
          <p:nvSpPr>
            <p:cNvPr id="4" name="object 4"/>
            <p:cNvSpPr/>
            <p:nvPr/>
          </p:nvSpPr>
          <p:spPr>
            <a:xfrm>
              <a:off x="474485" y="1662671"/>
              <a:ext cx="11376025" cy="1474470"/>
            </a:xfrm>
            <a:custGeom>
              <a:avLst/>
              <a:gdLst/>
              <a:ahLst/>
              <a:cxnLst/>
              <a:rect l="l" t="t" r="r" b="b"/>
              <a:pathLst>
                <a:path w="11376025" h="1474470">
                  <a:moveTo>
                    <a:pt x="0" y="1474397"/>
                  </a:moveTo>
                  <a:lnTo>
                    <a:pt x="11375788" y="1474397"/>
                  </a:lnTo>
                  <a:lnTo>
                    <a:pt x="11375788" y="0"/>
                  </a:lnTo>
                  <a:lnTo>
                    <a:pt x="0" y="0"/>
                  </a:lnTo>
                  <a:lnTo>
                    <a:pt x="0" y="1474397"/>
                  </a:lnTo>
                  <a:close/>
                </a:path>
              </a:pathLst>
            </a:custGeom>
            <a:solidFill>
              <a:srgbClr val="00B0EA"/>
            </a:solidFill>
          </p:spPr>
          <p:txBody>
            <a:bodyPr wrap="square" lIns="0" tIns="0" rIns="0" bIns="0" rtlCol="0"/>
            <a:lstStyle/>
            <a:p>
              <a:endParaRPr sz="1350"/>
            </a:p>
          </p:txBody>
        </p:sp>
        <p:sp>
          <p:nvSpPr>
            <p:cNvPr id="5" name="object 5"/>
            <p:cNvSpPr/>
            <p:nvPr/>
          </p:nvSpPr>
          <p:spPr>
            <a:xfrm>
              <a:off x="474485" y="1662671"/>
              <a:ext cx="11376025" cy="1872614"/>
            </a:xfrm>
            <a:custGeom>
              <a:avLst/>
              <a:gdLst/>
              <a:ahLst/>
              <a:cxnLst/>
              <a:rect l="l" t="t" r="r" b="b"/>
              <a:pathLst>
                <a:path w="11376025" h="1872614">
                  <a:moveTo>
                    <a:pt x="0" y="0"/>
                  </a:moveTo>
                  <a:lnTo>
                    <a:pt x="11375789" y="0"/>
                  </a:lnTo>
                  <a:lnTo>
                    <a:pt x="11375789" y="1872000"/>
                  </a:lnTo>
                  <a:lnTo>
                    <a:pt x="0" y="1872000"/>
                  </a:lnTo>
                  <a:lnTo>
                    <a:pt x="0" y="0"/>
                  </a:lnTo>
                  <a:close/>
                </a:path>
              </a:pathLst>
            </a:custGeom>
            <a:ln w="12700">
              <a:solidFill>
                <a:srgbClr val="00B0EA"/>
              </a:solidFill>
            </a:ln>
          </p:spPr>
          <p:txBody>
            <a:bodyPr wrap="square" lIns="0" tIns="0" rIns="0" bIns="0" rtlCol="0"/>
            <a:lstStyle/>
            <a:p>
              <a:endParaRPr sz="135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252026" y="1594865"/>
            <a:ext cx="2814638" cy="112712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spcBef>
                <a:spcPts val="75"/>
              </a:spcBef>
            </a:pPr>
            <a:r>
              <a:rPr sz="3600" spc="-4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State</a:t>
            </a:r>
            <a:r>
              <a:rPr sz="3600" spc="-4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3600" spc="-4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process</a:t>
            </a:r>
          </a:p>
          <a:p>
            <a:pPr marL="9525">
              <a:spcBef>
                <a:spcPts val="75"/>
              </a:spcBef>
            </a:pPr>
            <a:r>
              <a:rPr lang="zh-CN" sz="3600" spc="-4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状态过程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348499" y="2717609"/>
            <a:ext cx="8546783" cy="2747486"/>
            <a:chOff x="464665" y="3130718"/>
            <a:chExt cx="11395710" cy="3663315"/>
          </a:xfrm>
        </p:grpSpPr>
        <p:sp>
          <p:nvSpPr>
            <p:cNvPr id="8" name="object 8"/>
            <p:cNvSpPr/>
            <p:nvPr/>
          </p:nvSpPr>
          <p:spPr>
            <a:xfrm>
              <a:off x="471015" y="3137068"/>
              <a:ext cx="11383010" cy="3650615"/>
            </a:xfrm>
            <a:custGeom>
              <a:avLst/>
              <a:gdLst/>
              <a:ahLst/>
              <a:cxnLst/>
              <a:rect l="l" t="t" r="r" b="b"/>
              <a:pathLst>
                <a:path w="11383010" h="3650615">
                  <a:moveTo>
                    <a:pt x="11382733" y="0"/>
                  </a:moveTo>
                  <a:lnTo>
                    <a:pt x="0" y="0"/>
                  </a:lnTo>
                  <a:lnTo>
                    <a:pt x="0" y="3650004"/>
                  </a:lnTo>
                  <a:lnTo>
                    <a:pt x="11382733" y="3650004"/>
                  </a:lnTo>
                  <a:lnTo>
                    <a:pt x="1138273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350"/>
            </a:p>
          </p:txBody>
        </p:sp>
        <p:sp>
          <p:nvSpPr>
            <p:cNvPr id="9" name="object 9"/>
            <p:cNvSpPr/>
            <p:nvPr/>
          </p:nvSpPr>
          <p:spPr>
            <a:xfrm>
              <a:off x="471015" y="3137068"/>
              <a:ext cx="11383010" cy="3650615"/>
            </a:xfrm>
            <a:custGeom>
              <a:avLst/>
              <a:gdLst/>
              <a:ahLst/>
              <a:cxnLst/>
              <a:rect l="l" t="t" r="r" b="b"/>
              <a:pathLst>
                <a:path w="11383010" h="3650615">
                  <a:moveTo>
                    <a:pt x="0" y="0"/>
                  </a:moveTo>
                  <a:lnTo>
                    <a:pt x="11382733" y="0"/>
                  </a:lnTo>
                  <a:lnTo>
                    <a:pt x="11382733" y="3650004"/>
                  </a:lnTo>
                  <a:lnTo>
                    <a:pt x="0" y="3650004"/>
                  </a:lnTo>
                  <a:lnTo>
                    <a:pt x="0" y="0"/>
                  </a:lnTo>
                  <a:close/>
                </a:path>
              </a:pathLst>
            </a:custGeom>
            <a:ln w="12700">
              <a:solidFill>
                <a:srgbClr val="CBE4F7"/>
              </a:solidFill>
            </a:ln>
          </p:spPr>
          <p:txBody>
            <a:bodyPr wrap="square" lIns="0" tIns="0" rIns="0" bIns="0" rtlCol="0"/>
            <a:lstStyle/>
            <a:p>
              <a:endParaRPr sz="1350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752532" y="4683563"/>
            <a:ext cx="133350" cy="369813"/>
          </a:xfrm>
          <a:prstGeom prst="rect">
            <a:avLst/>
          </a:prstGeom>
        </p:spPr>
        <p:txBody>
          <a:bodyPr vert="horz" wrap="square" lIns="0" tIns="11906" rIns="0" bIns="0" rtlCol="0">
            <a:spAutoFit/>
          </a:bodyPr>
          <a:lstStyle/>
          <a:p>
            <a:pPr marL="9525">
              <a:spcBef>
                <a:spcPts val="95"/>
              </a:spcBef>
            </a:pPr>
            <a:r>
              <a:rPr sz="2325" spc="8" dirty="0">
                <a:latin typeface="Symbol" panose="05050102010706020507"/>
                <a:cs typeface="Symbol" panose="05050102010706020507"/>
              </a:rPr>
              <a:t></a:t>
            </a:r>
            <a:endParaRPr sz="2325">
              <a:latin typeface="Symbol" panose="05050102010706020507"/>
              <a:cs typeface="Symbol" panose="05050102010706020507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752532" y="3355111"/>
            <a:ext cx="133350" cy="948176"/>
          </a:xfrm>
          <a:prstGeom prst="rect">
            <a:avLst/>
          </a:prstGeom>
        </p:spPr>
        <p:txBody>
          <a:bodyPr vert="horz" wrap="square" lIns="0" tIns="11906" rIns="0" bIns="0" rtlCol="0">
            <a:spAutoFit/>
          </a:bodyPr>
          <a:lstStyle/>
          <a:p>
            <a:pPr marL="9525">
              <a:lnSpc>
                <a:spcPts val="2545"/>
              </a:lnSpc>
              <a:spcBef>
                <a:spcPts val="95"/>
              </a:spcBef>
            </a:pPr>
            <a:r>
              <a:rPr sz="2325" spc="8" dirty="0">
                <a:latin typeface="Symbol" panose="05050102010706020507"/>
                <a:cs typeface="Symbol" panose="05050102010706020507"/>
              </a:rPr>
              <a:t></a:t>
            </a:r>
            <a:endParaRPr sz="2325" dirty="0">
              <a:latin typeface="Symbol" panose="05050102010706020507"/>
              <a:cs typeface="Symbol" panose="05050102010706020507"/>
            </a:endParaRPr>
          </a:p>
          <a:p>
            <a:pPr marL="9525">
              <a:lnSpc>
                <a:spcPts val="2285"/>
              </a:lnSpc>
            </a:pPr>
            <a:r>
              <a:rPr sz="2325" spc="8" dirty="0">
                <a:latin typeface="Symbol" panose="05050102010706020507"/>
                <a:cs typeface="Symbol" panose="05050102010706020507"/>
              </a:rPr>
              <a:t></a:t>
            </a:r>
            <a:endParaRPr sz="2325" dirty="0">
              <a:latin typeface="Symbol" panose="05050102010706020507"/>
              <a:cs typeface="Symbol" panose="05050102010706020507"/>
            </a:endParaRPr>
          </a:p>
          <a:p>
            <a:pPr marL="9525">
              <a:lnSpc>
                <a:spcPts val="2535"/>
              </a:lnSpc>
            </a:pPr>
            <a:r>
              <a:rPr sz="2325" spc="8" dirty="0">
                <a:latin typeface="Symbol" panose="05050102010706020507"/>
                <a:cs typeface="Symbol" panose="05050102010706020507"/>
              </a:rPr>
              <a:t></a:t>
            </a:r>
            <a:endParaRPr sz="2325" dirty="0">
              <a:latin typeface="Symbol" panose="05050102010706020507"/>
              <a:cs typeface="Symbol" panose="05050102010706020507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752532" y="4224728"/>
            <a:ext cx="133350" cy="369813"/>
          </a:xfrm>
          <a:prstGeom prst="rect">
            <a:avLst/>
          </a:prstGeom>
        </p:spPr>
        <p:txBody>
          <a:bodyPr vert="horz" wrap="square" lIns="0" tIns="11906" rIns="0" bIns="0" rtlCol="0">
            <a:spAutoFit/>
          </a:bodyPr>
          <a:lstStyle/>
          <a:p>
            <a:pPr marL="9525">
              <a:spcBef>
                <a:spcPts val="95"/>
              </a:spcBef>
            </a:pPr>
            <a:r>
              <a:rPr sz="2325" spc="8" dirty="0">
                <a:latin typeface="Symbol" panose="05050102010706020507"/>
                <a:cs typeface="Symbol" panose="05050102010706020507"/>
              </a:rPr>
              <a:t></a:t>
            </a:r>
            <a:endParaRPr sz="2325">
              <a:latin typeface="Symbol" panose="05050102010706020507"/>
              <a:cs typeface="Symbol" panose="05050102010706020507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636273" y="4683563"/>
            <a:ext cx="133350" cy="369813"/>
          </a:xfrm>
          <a:prstGeom prst="rect">
            <a:avLst/>
          </a:prstGeom>
        </p:spPr>
        <p:txBody>
          <a:bodyPr vert="horz" wrap="square" lIns="0" tIns="11906" rIns="0" bIns="0" rtlCol="0">
            <a:spAutoFit/>
          </a:bodyPr>
          <a:lstStyle/>
          <a:p>
            <a:pPr marL="9525">
              <a:spcBef>
                <a:spcPts val="95"/>
              </a:spcBef>
            </a:pPr>
            <a:r>
              <a:rPr sz="2325" spc="8" dirty="0">
                <a:latin typeface="Symbol" panose="05050102010706020507"/>
                <a:cs typeface="Symbol" panose="05050102010706020507"/>
              </a:rPr>
              <a:t></a:t>
            </a:r>
            <a:endParaRPr sz="2325">
              <a:latin typeface="Symbol" panose="05050102010706020507"/>
              <a:cs typeface="Symbol" panose="05050102010706020507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636273" y="3355111"/>
            <a:ext cx="133350" cy="1243129"/>
          </a:xfrm>
          <a:prstGeom prst="rect">
            <a:avLst/>
          </a:prstGeom>
        </p:spPr>
        <p:txBody>
          <a:bodyPr vert="horz" wrap="square" lIns="0" tIns="11906" rIns="0" bIns="0" rtlCol="0">
            <a:spAutoFit/>
          </a:bodyPr>
          <a:lstStyle/>
          <a:p>
            <a:pPr marL="9525">
              <a:lnSpc>
                <a:spcPts val="2545"/>
              </a:lnSpc>
              <a:spcBef>
                <a:spcPts val="95"/>
              </a:spcBef>
            </a:pPr>
            <a:r>
              <a:rPr sz="2325" spc="8" dirty="0">
                <a:latin typeface="Symbol" panose="05050102010706020507"/>
                <a:cs typeface="Symbol" panose="05050102010706020507"/>
              </a:rPr>
              <a:t></a:t>
            </a:r>
            <a:endParaRPr sz="2325">
              <a:latin typeface="Symbol" panose="05050102010706020507"/>
              <a:cs typeface="Symbol" panose="05050102010706020507"/>
            </a:endParaRPr>
          </a:p>
          <a:p>
            <a:pPr marL="9525">
              <a:lnSpc>
                <a:spcPts val="2285"/>
              </a:lnSpc>
            </a:pPr>
            <a:r>
              <a:rPr sz="2325" spc="8" dirty="0">
                <a:latin typeface="Symbol" panose="05050102010706020507"/>
                <a:cs typeface="Symbol" panose="05050102010706020507"/>
              </a:rPr>
              <a:t></a:t>
            </a:r>
            <a:endParaRPr sz="2325">
              <a:latin typeface="Symbol" panose="05050102010706020507"/>
              <a:cs typeface="Symbol" panose="05050102010706020507"/>
            </a:endParaRPr>
          </a:p>
          <a:p>
            <a:pPr marL="9525">
              <a:lnSpc>
                <a:spcPts val="2275"/>
              </a:lnSpc>
            </a:pPr>
            <a:r>
              <a:rPr sz="2325" spc="8" dirty="0">
                <a:latin typeface="Symbol" panose="05050102010706020507"/>
                <a:cs typeface="Symbol" panose="05050102010706020507"/>
              </a:rPr>
              <a:t></a:t>
            </a:r>
            <a:endParaRPr sz="2325">
              <a:latin typeface="Symbol" panose="05050102010706020507"/>
              <a:cs typeface="Symbol" panose="05050102010706020507"/>
            </a:endParaRPr>
          </a:p>
          <a:p>
            <a:pPr marL="9525">
              <a:lnSpc>
                <a:spcPts val="2535"/>
              </a:lnSpc>
            </a:pPr>
            <a:r>
              <a:rPr sz="2325" spc="8" dirty="0">
                <a:latin typeface="Symbol" panose="05050102010706020507"/>
                <a:cs typeface="Symbol" panose="05050102010706020507"/>
              </a:rPr>
              <a:t></a:t>
            </a:r>
            <a:endParaRPr sz="2325">
              <a:latin typeface="Symbol" panose="05050102010706020507"/>
              <a:cs typeface="Symbol" panose="05050102010706020507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636273" y="4513825"/>
            <a:ext cx="133350" cy="369813"/>
          </a:xfrm>
          <a:prstGeom prst="rect">
            <a:avLst/>
          </a:prstGeom>
        </p:spPr>
        <p:txBody>
          <a:bodyPr vert="horz" wrap="square" lIns="0" tIns="11906" rIns="0" bIns="0" rtlCol="0">
            <a:spAutoFit/>
          </a:bodyPr>
          <a:lstStyle/>
          <a:p>
            <a:pPr marL="9525">
              <a:spcBef>
                <a:spcPts val="95"/>
              </a:spcBef>
            </a:pPr>
            <a:r>
              <a:rPr sz="2325" spc="8" dirty="0">
                <a:latin typeface="Symbol" panose="05050102010706020507"/>
                <a:cs typeface="Symbol" panose="05050102010706020507"/>
              </a:rPr>
              <a:t></a:t>
            </a:r>
            <a:endParaRPr sz="2325">
              <a:latin typeface="Symbol" panose="05050102010706020507"/>
              <a:cs typeface="Symbol" panose="05050102010706020507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179034" y="3472815"/>
            <a:ext cx="239554" cy="1117614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 marR="3810" algn="just">
              <a:spcBef>
                <a:spcPts val="75"/>
              </a:spcBef>
            </a:pPr>
            <a:r>
              <a:rPr sz="2400" dirty="0">
                <a:latin typeface="Arial" panose="020B0604020202020204"/>
                <a:cs typeface="Arial" panose="020B0604020202020204"/>
              </a:rPr>
              <a:t>U  A </a:t>
            </a:r>
            <a:r>
              <a:rPr sz="2400" spc="-660" dirty="0">
                <a:latin typeface="Arial" panose="020B0604020202020204"/>
                <a:cs typeface="Arial" panose="020B0604020202020204"/>
              </a:rPr>
              <a:t> </a:t>
            </a:r>
            <a:r>
              <a:rPr sz="2400" dirty="0">
                <a:latin typeface="Arial" panose="020B0604020202020204"/>
                <a:cs typeface="Arial" panose="020B0604020202020204"/>
              </a:rPr>
              <a:t>B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159984" y="4567809"/>
            <a:ext cx="745331" cy="378950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28575">
              <a:spcBef>
                <a:spcPts val="75"/>
              </a:spcBef>
              <a:tabLst>
                <a:tab pos="601980" algn="l"/>
              </a:tabLst>
            </a:pPr>
            <a:r>
              <a:rPr sz="2400" dirty="0">
                <a:latin typeface="Arial" panose="020B0604020202020204"/>
                <a:cs typeface="Arial" panose="020B0604020202020204"/>
              </a:rPr>
              <a:t>AB	</a:t>
            </a:r>
            <a:r>
              <a:rPr sz="3490" spc="11" baseline="12000" dirty="0">
                <a:latin typeface="Symbol" panose="05050102010706020507"/>
                <a:cs typeface="Symbol" panose="05050102010706020507"/>
              </a:rPr>
              <a:t></a:t>
            </a:r>
            <a:endParaRPr sz="3490" baseline="12000">
              <a:latin typeface="Symbol" panose="05050102010706020507"/>
              <a:cs typeface="Symbol" panose="05050102010706020507"/>
            </a:endParaRPr>
          </a:p>
        </p:txBody>
      </p:sp>
      <p:graphicFrame>
        <p:nvGraphicFramePr>
          <p:cNvPr id="18" name="object 18"/>
          <p:cNvGraphicFramePr>
            <a:graphicFrameLocks noGrp="1"/>
          </p:cNvGraphicFramePr>
          <p:nvPr/>
        </p:nvGraphicFramePr>
        <p:xfrm>
          <a:off x="3990059" y="2893992"/>
          <a:ext cx="1623535" cy="217989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05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00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67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62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0063">
                <a:tc>
                  <a:txBody>
                    <a:bodyPr/>
                    <a:lstStyle/>
                    <a:p>
                      <a:pPr marL="31750">
                        <a:lnSpc>
                          <a:spcPts val="3535"/>
                        </a:lnSpc>
                      </a:pPr>
                      <a:r>
                        <a:rPr sz="2400" dirty="0">
                          <a:latin typeface="Arial" panose="020B0604020202020204"/>
                          <a:cs typeface="Arial" panose="020B0604020202020204"/>
                        </a:rPr>
                        <a:t>U</a:t>
                      </a:r>
                      <a:endParaRPr sz="24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60020">
                        <a:lnSpc>
                          <a:spcPts val="3535"/>
                        </a:lnSpc>
                      </a:pPr>
                      <a:r>
                        <a:rPr sz="2400" dirty="0">
                          <a:latin typeface="Arial" panose="020B0604020202020204"/>
                          <a:cs typeface="Arial" panose="020B0604020202020204"/>
                        </a:rPr>
                        <a:t>A</a:t>
                      </a:r>
                      <a:endParaRPr sz="24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R="107950" algn="r">
                        <a:lnSpc>
                          <a:spcPts val="3535"/>
                        </a:lnSpc>
                      </a:pPr>
                      <a:r>
                        <a:rPr sz="2400" dirty="0">
                          <a:latin typeface="Arial" panose="020B0604020202020204"/>
                          <a:cs typeface="Arial" panose="020B0604020202020204"/>
                        </a:rPr>
                        <a:t>B</a:t>
                      </a:r>
                      <a:endParaRPr sz="24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ts val="3535"/>
                        </a:lnSpc>
                      </a:pPr>
                      <a:r>
                        <a:rPr sz="2400" dirty="0">
                          <a:latin typeface="Arial" panose="020B0604020202020204"/>
                          <a:cs typeface="Arial" panose="020B0604020202020204"/>
                        </a:rPr>
                        <a:t>AB</a:t>
                      </a:r>
                      <a:endParaRPr sz="24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920"/>
                        </a:spcBef>
                      </a:pPr>
                      <a:r>
                        <a:rPr sz="2300" dirty="0">
                          <a:latin typeface="Times New Roman" panose="02020603050405020304"/>
                          <a:cs typeface="Times New Roman" panose="02020603050405020304"/>
                        </a:rPr>
                        <a:t>1</a:t>
                      </a:r>
                      <a:endParaRPr sz="23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87629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8115">
                        <a:lnSpc>
                          <a:spcPct val="100000"/>
                        </a:lnSpc>
                        <a:spcBef>
                          <a:spcPts val="920"/>
                        </a:spcBef>
                      </a:pPr>
                      <a:r>
                        <a:rPr sz="2300" dirty="0">
                          <a:latin typeface="Times New Roman" panose="02020603050405020304"/>
                          <a:cs typeface="Times New Roman" panose="02020603050405020304"/>
                        </a:rPr>
                        <a:t>0</a:t>
                      </a:r>
                      <a:endParaRPr sz="23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87629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R="79375" algn="r">
                        <a:lnSpc>
                          <a:spcPct val="100000"/>
                        </a:lnSpc>
                        <a:spcBef>
                          <a:spcPts val="920"/>
                        </a:spcBef>
                      </a:pPr>
                      <a:r>
                        <a:rPr sz="2300" dirty="0">
                          <a:latin typeface="Times New Roman" panose="02020603050405020304"/>
                          <a:cs typeface="Times New Roman" panose="02020603050405020304"/>
                        </a:rPr>
                        <a:t>0</a:t>
                      </a:r>
                      <a:endParaRPr sz="23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87629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ct val="100000"/>
                        </a:lnSpc>
                        <a:spcBef>
                          <a:spcPts val="920"/>
                        </a:spcBef>
                      </a:pPr>
                      <a:r>
                        <a:rPr sz="2300" dirty="0">
                          <a:latin typeface="Times New Roman" panose="02020603050405020304"/>
                          <a:cs typeface="Times New Roman" panose="02020603050405020304"/>
                        </a:rPr>
                        <a:t>0</a:t>
                      </a:r>
                      <a:endParaRPr sz="23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87629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144">
                <a:tc>
                  <a:txBody>
                    <a:bodyPr/>
                    <a:lstStyle/>
                    <a:p>
                      <a:pPr marL="60960">
                        <a:lnSpc>
                          <a:spcPts val="3440"/>
                        </a:lnSpc>
                      </a:pPr>
                      <a:r>
                        <a:rPr sz="2300" dirty="0">
                          <a:latin typeface="Times New Roman" panose="02020603050405020304"/>
                          <a:cs typeface="Times New Roman" panose="02020603050405020304"/>
                        </a:rPr>
                        <a:t>0</a:t>
                      </a:r>
                      <a:endParaRPr sz="23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4940">
                        <a:lnSpc>
                          <a:spcPts val="3440"/>
                        </a:lnSpc>
                      </a:pPr>
                      <a:r>
                        <a:rPr sz="2300" dirty="0">
                          <a:latin typeface="Times New Roman" panose="02020603050405020304"/>
                          <a:cs typeface="Times New Roman" panose="02020603050405020304"/>
                        </a:rPr>
                        <a:t>1</a:t>
                      </a:r>
                      <a:endParaRPr sz="23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R="79375" algn="r">
                        <a:lnSpc>
                          <a:spcPts val="3440"/>
                        </a:lnSpc>
                      </a:pPr>
                      <a:r>
                        <a:rPr sz="2300" dirty="0">
                          <a:latin typeface="Times New Roman" panose="02020603050405020304"/>
                          <a:cs typeface="Times New Roman" panose="02020603050405020304"/>
                        </a:rPr>
                        <a:t>0</a:t>
                      </a:r>
                      <a:endParaRPr sz="23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3440"/>
                        </a:lnSpc>
                      </a:pPr>
                      <a:r>
                        <a:rPr sz="2300" dirty="0">
                          <a:latin typeface="Times New Roman" panose="02020603050405020304"/>
                          <a:cs typeface="Times New Roman" panose="02020603050405020304"/>
                        </a:rPr>
                        <a:t>0</a:t>
                      </a:r>
                      <a:endParaRPr sz="23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144">
                <a:tc>
                  <a:txBody>
                    <a:bodyPr/>
                    <a:lstStyle/>
                    <a:p>
                      <a:pPr marL="60960">
                        <a:lnSpc>
                          <a:spcPts val="3440"/>
                        </a:lnSpc>
                      </a:pPr>
                      <a:r>
                        <a:rPr sz="2300" dirty="0">
                          <a:latin typeface="Times New Roman" panose="02020603050405020304"/>
                          <a:cs typeface="Times New Roman" panose="02020603050405020304"/>
                        </a:rPr>
                        <a:t>0</a:t>
                      </a:r>
                      <a:endParaRPr sz="23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8115">
                        <a:lnSpc>
                          <a:spcPts val="3440"/>
                        </a:lnSpc>
                      </a:pPr>
                      <a:r>
                        <a:rPr sz="2300" dirty="0">
                          <a:latin typeface="Times New Roman" panose="02020603050405020304"/>
                          <a:cs typeface="Times New Roman" panose="02020603050405020304"/>
                        </a:rPr>
                        <a:t>0</a:t>
                      </a:r>
                      <a:endParaRPr sz="23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R="82550" algn="r">
                        <a:lnSpc>
                          <a:spcPts val="3440"/>
                        </a:lnSpc>
                      </a:pPr>
                      <a:r>
                        <a:rPr sz="2300" dirty="0">
                          <a:latin typeface="Times New Roman" panose="02020603050405020304"/>
                          <a:cs typeface="Times New Roman" panose="02020603050405020304"/>
                        </a:rPr>
                        <a:t>1</a:t>
                      </a:r>
                      <a:endParaRPr sz="23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3440"/>
                        </a:lnSpc>
                      </a:pPr>
                      <a:r>
                        <a:rPr sz="2300" dirty="0">
                          <a:latin typeface="Times New Roman" panose="02020603050405020304"/>
                          <a:cs typeface="Times New Roman" panose="02020603050405020304"/>
                        </a:rPr>
                        <a:t>0</a:t>
                      </a:r>
                      <a:endParaRPr sz="23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60960">
                        <a:lnSpc>
                          <a:spcPts val="3440"/>
                        </a:lnSpc>
                      </a:pPr>
                      <a:r>
                        <a:rPr sz="2300" dirty="0">
                          <a:latin typeface="Times New Roman" panose="02020603050405020304"/>
                          <a:cs typeface="Times New Roman" panose="02020603050405020304"/>
                        </a:rPr>
                        <a:t>0</a:t>
                      </a:r>
                      <a:endParaRPr sz="23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8115">
                        <a:lnSpc>
                          <a:spcPts val="3440"/>
                        </a:lnSpc>
                      </a:pPr>
                      <a:r>
                        <a:rPr sz="2300" dirty="0">
                          <a:latin typeface="Times New Roman" panose="02020603050405020304"/>
                          <a:cs typeface="Times New Roman" panose="02020603050405020304"/>
                        </a:rPr>
                        <a:t>0</a:t>
                      </a:r>
                      <a:endParaRPr sz="23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R="79375" algn="r">
                        <a:lnSpc>
                          <a:spcPts val="3440"/>
                        </a:lnSpc>
                      </a:pPr>
                      <a:r>
                        <a:rPr sz="2300" dirty="0">
                          <a:latin typeface="Times New Roman" panose="02020603050405020304"/>
                          <a:cs typeface="Times New Roman" panose="02020603050405020304"/>
                        </a:rPr>
                        <a:t>0</a:t>
                      </a:r>
                      <a:endParaRPr sz="23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88925">
                        <a:lnSpc>
                          <a:spcPts val="3440"/>
                        </a:lnSpc>
                      </a:pPr>
                      <a:r>
                        <a:rPr sz="2300" dirty="0">
                          <a:latin typeface="Times New Roman" panose="02020603050405020304"/>
                          <a:cs typeface="Times New Roman" panose="02020603050405020304"/>
                        </a:rPr>
                        <a:t>1</a:t>
                      </a:r>
                      <a:endParaRPr sz="23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97388" y="420923"/>
            <a:ext cx="3948589" cy="528991"/>
          </a:xfrm>
          <a:prstGeom prst="rect">
            <a:avLst/>
          </a:prstGeom>
        </p:spPr>
        <p:txBody>
          <a:bodyPr vert="horz" wrap="square" lIns="0" tIns="9525" rIns="0" bIns="0" rtlCol="0" anchor="ctr">
            <a:spAutoFit/>
          </a:bodyPr>
          <a:lstStyle/>
          <a:p>
            <a:pPr marL="9525">
              <a:spcBef>
                <a:spcPts val="75"/>
              </a:spcBef>
            </a:pPr>
            <a:r>
              <a:rPr sz="3375" spc="-4" dirty="0"/>
              <a:t>Observation</a:t>
            </a:r>
            <a:r>
              <a:rPr sz="3375" spc="-41" dirty="0"/>
              <a:t> </a:t>
            </a:r>
            <a:r>
              <a:rPr sz="3375" spc="-4" dirty="0"/>
              <a:t>process</a:t>
            </a:r>
            <a:endParaRPr sz="3375"/>
          </a:p>
        </p:txBody>
      </p:sp>
      <p:grpSp>
        <p:nvGrpSpPr>
          <p:cNvPr id="3" name="object 3"/>
          <p:cNvGrpSpPr/>
          <p:nvPr/>
        </p:nvGrpSpPr>
        <p:grpSpPr>
          <a:xfrm>
            <a:off x="259715" y="1072515"/>
            <a:ext cx="8529955" cy="1414145"/>
            <a:chOff x="468135" y="1656321"/>
            <a:chExt cx="11388725" cy="1885314"/>
          </a:xfrm>
        </p:grpSpPr>
        <p:sp>
          <p:nvSpPr>
            <p:cNvPr id="4" name="object 4"/>
            <p:cNvSpPr/>
            <p:nvPr/>
          </p:nvSpPr>
          <p:spPr>
            <a:xfrm>
              <a:off x="474485" y="1662671"/>
              <a:ext cx="11376025" cy="1474470"/>
            </a:xfrm>
            <a:custGeom>
              <a:avLst/>
              <a:gdLst/>
              <a:ahLst/>
              <a:cxnLst/>
              <a:rect l="l" t="t" r="r" b="b"/>
              <a:pathLst>
                <a:path w="11376025" h="1474470">
                  <a:moveTo>
                    <a:pt x="0" y="1474397"/>
                  </a:moveTo>
                  <a:lnTo>
                    <a:pt x="11375788" y="1474397"/>
                  </a:lnTo>
                  <a:lnTo>
                    <a:pt x="11375788" y="0"/>
                  </a:lnTo>
                  <a:lnTo>
                    <a:pt x="0" y="0"/>
                  </a:lnTo>
                  <a:lnTo>
                    <a:pt x="0" y="1474397"/>
                  </a:lnTo>
                  <a:close/>
                </a:path>
              </a:pathLst>
            </a:custGeom>
            <a:solidFill>
              <a:srgbClr val="00B0EA"/>
            </a:solidFill>
          </p:spPr>
          <p:txBody>
            <a:bodyPr wrap="square" lIns="0" tIns="0" rIns="0" bIns="0" rtlCol="0"/>
            <a:lstStyle/>
            <a:p>
              <a:endParaRPr sz="1350"/>
            </a:p>
          </p:txBody>
        </p:sp>
        <p:sp>
          <p:nvSpPr>
            <p:cNvPr id="5" name="object 5"/>
            <p:cNvSpPr/>
            <p:nvPr/>
          </p:nvSpPr>
          <p:spPr>
            <a:xfrm>
              <a:off x="474485" y="1662671"/>
              <a:ext cx="11376025" cy="1872614"/>
            </a:xfrm>
            <a:custGeom>
              <a:avLst/>
              <a:gdLst/>
              <a:ahLst/>
              <a:cxnLst/>
              <a:rect l="l" t="t" r="r" b="b"/>
              <a:pathLst>
                <a:path w="11376025" h="1872614">
                  <a:moveTo>
                    <a:pt x="0" y="0"/>
                  </a:moveTo>
                  <a:lnTo>
                    <a:pt x="11375789" y="0"/>
                  </a:lnTo>
                  <a:lnTo>
                    <a:pt x="11375789" y="1872000"/>
                  </a:lnTo>
                  <a:lnTo>
                    <a:pt x="0" y="1872000"/>
                  </a:lnTo>
                  <a:lnTo>
                    <a:pt x="0" y="0"/>
                  </a:lnTo>
                  <a:close/>
                </a:path>
              </a:pathLst>
            </a:custGeom>
            <a:ln w="12700">
              <a:solidFill>
                <a:srgbClr val="00B0EA"/>
              </a:solidFill>
            </a:ln>
          </p:spPr>
          <p:txBody>
            <a:bodyPr wrap="square" lIns="0" tIns="0" rIns="0" bIns="0" rtlCol="0"/>
            <a:lstStyle/>
            <a:p>
              <a:endParaRPr sz="135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515808" y="1077340"/>
            <a:ext cx="4212431" cy="112712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spcBef>
                <a:spcPts val="75"/>
              </a:spcBef>
            </a:pPr>
            <a:r>
              <a:rPr sz="3600" spc="-4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Observation</a:t>
            </a:r>
            <a:r>
              <a:rPr sz="3600" spc="-30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3600" spc="-4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process</a:t>
            </a:r>
          </a:p>
          <a:p>
            <a:pPr marL="9525">
              <a:spcBef>
                <a:spcPts val="75"/>
              </a:spcBef>
            </a:pPr>
            <a:r>
              <a:rPr sz="3600" spc="-4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观察过程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247015" y="2178685"/>
            <a:ext cx="8547100" cy="4553585"/>
            <a:chOff x="464665" y="3130718"/>
            <a:chExt cx="11395710" cy="3663315"/>
          </a:xfrm>
        </p:grpSpPr>
        <p:sp>
          <p:nvSpPr>
            <p:cNvPr id="8" name="object 8"/>
            <p:cNvSpPr/>
            <p:nvPr/>
          </p:nvSpPr>
          <p:spPr>
            <a:xfrm>
              <a:off x="471015" y="3137068"/>
              <a:ext cx="11383010" cy="3650615"/>
            </a:xfrm>
            <a:custGeom>
              <a:avLst/>
              <a:gdLst/>
              <a:ahLst/>
              <a:cxnLst/>
              <a:rect l="l" t="t" r="r" b="b"/>
              <a:pathLst>
                <a:path w="11383010" h="3650615">
                  <a:moveTo>
                    <a:pt x="11382733" y="0"/>
                  </a:moveTo>
                  <a:lnTo>
                    <a:pt x="0" y="0"/>
                  </a:lnTo>
                  <a:lnTo>
                    <a:pt x="0" y="3650004"/>
                  </a:lnTo>
                  <a:lnTo>
                    <a:pt x="11382733" y="3650004"/>
                  </a:lnTo>
                  <a:lnTo>
                    <a:pt x="1138273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350"/>
            </a:p>
          </p:txBody>
        </p:sp>
        <p:sp>
          <p:nvSpPr>
            <p:cNvPr id="9" name="object 9"/>
            <p:cNvSpPr/>
            <p:nvPr/>
          </p:nvSpPr>
          <p:spPr>
            <a:xfrm>
              <a:off x="471015" y="3137068"/>
              <a:ext cx="11383010" cy="3650615"/>
            </a:xfrm>
            <a:custGeom>
              <a:avLst/>
              <a:gdLst/>
              <a:ahLst/>
              <a:cxnLst/>
              <a:rect l="l" t="t" r="r" b="b"/>
              <a:pathLst>
                <a:path w="11383010" h="3650615">
                  <a:moveTo>
                    <a:pt x="0" y="0"/>
                  </a:moveTo>
                  <a:lnTo>
                    <a:pt x="11382733" y="0"/>
                  </a:lnTo>
                  <a:lnTo>
                    <a:pt x="11382733" y="3650004"/>
                  </a:lnTo>
                  <a:lnTo>
                    <a:pt x="0" y="3650004"/>
                  </a:lnTo>
                  <a:lnTo>
                    <a:pt x="0" y="0"/>
                  </a:lnTo>
                  <a:close/>
                </a:path>
              </a:pathLst>
            </a:custGeom>
            <a:ln w="12700">
              <a:solidFill>
                <a:srgbClr val="CBE4F7"/>
              </a:solidFill>
            </a:ln>
          </p:spPr>
          <p:txBody>
            <a:bodyPr wrap="square" lIns="0" tIns="0" rIns="0" bIns="0" rtlCol="0"/>
            <a:lstStyle/>
            <a:p>
              <a:endParaRPr sz="1350"/>
            </a:p>
          </p:txBody>
        </p:sp>
      </p:grpSp>
      <p:pic>
        <p:nvPicPr>
          <p:cNvPr id="22" name="Pictur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16" y="2218764"/>
            <a:ext cx="4374473" cy="2737905"/>
          </a:xfrm>
          <a:prstGeom prst="rect">
            <a:avLst/>
          </a:prstGeom>
        </p:spPr>
      </p:pic>
      <p:sp>
        <p:nvSpPr>
          <p:cNvPr id="23" name="object 3"/>
          <p:cNvSpPr txBox="1"/>
          <p:nvPr/>
        </p:nvSpPr>
        <p:spPr>
          <a:xfrm>
            <a:off x="4478020" y="2218690"/>
            <a:ext cx="4350385" cy="4699000"/>
          </a:xfrm>
          <a:prstGeom prst="rect">
            <a:avLst/>
          </a:prstGeom>
        </p:spPr>
        <p:txBody>
          <a:bodyPr vert="horz" wrap="square" lIns="0" tIns="150971" rIns="0" bIns="0" rtlCol="0">
            <a:spAutoFit/>
          </a:bodyPr>
          <a:lstStyle/>
          <a:p>
            <a:pPr marL="38100">
              <a:spcBef>
                <a:spcPts val="600"/>
              </a:spcBef>
            </a:pPr>
            <a:r>
              <a:rPr sz="1400" spc="-4" dirty="0">
                <a:latin typeface="Arial" panose="020B0604020202020204"/>
                <a:cs typeface="Arial" panose="020B0604020202020204"/>
              </a:rPr>
              <a:t>p</a:t>
            </a:r>
            <a:r>
              <a:rPr sz="1400" spc="-5" baseline="25000" dirty="0">
                <a:latin typeface="Arial" panose="020B0604020202020204"/>
                <a:cs typeface="Arial" panose="020B0604020202020204"/>
              </a:rPr>
              <a:t>A</a:t>
            </a:r>
            <a:r>
              <a:rPr sz="1400" spc="33" baseline="25000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=</a:t>
            </a:r>
            <a:r>
              <a:rPr sz="1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prob.</a:t>
            </a:r>
            <a:r>
              <a:rPr sz="12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detecting species</a:t>
            </a:r>
            <a:r>
              <a:rPr sz="1200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A</a:t>
            </a:r>
            <a:r>
              <a:rPr sz="1200" spc="-124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given</a:t>
            </a:r>
            <a:r>
              <a:rPr sz="1200" spc="4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only</a:t>
            </a:r>
            <a:r>
              <a:rPr sz="12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species</a:t>
            </a:r>
            <a:r>
              <a:rPr sz="1200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A</a:t>
            </a:r>
            <a:r>
              <a:rPr sz="1200" spc="-124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is</a:t>
            </a:r>
            <a:r>
              <a:rPr sz="12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present</a:t>
            </a:r>
          </a:p>
          <a:p>
            <a:pPr marL="38100">
              <a:spcBef>
                <a:spcPts val="600"/>
              </a:spcBef>
            </a:pPr>
            <a:r>
              <a:rPr sz="1400" spc="-4" dirty="0">
                <a:latin typeface="Arial" panose="020B0604020202020204"/>
                <a:cs typeface="Arial" panose="020B0604020202020204"/>
              </a:rPr>
              <a:t>p</a:t>
            </a:r>
            <a:r>
              <a:rPr sz="1400" spc="-5" baseline="25000" dirty="0">
                <a:latin typeface="Arial" panose="020B0604020202020204"/>
                <a:cs typeface="Arial" panose="020B0604020202020204"/>
              </a:rPr>
              <a:t>B</a:t>
            </a:r>
            <a:r>
              <a:rPr sz="1400" spc="33" baseline="25000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=</a:t>
            </a:r>
            <a:r>
              <a:rPr sz="1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prob.</a:t>
            </a:r>
            <a:r>
              <a:rPr sz="12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detecting species</a:t>
            </a:r>
            <a:r>
              <a:rPr sz="12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B</a:t>
            </a:r>
            <a:r>
              <a:rPr sz="12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given only</a:t>
            </a:r>
            <a:r>
              <a:rPr sz="12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species</a:t>
            </a:r>
            <a:r>
              <a:rPr sz="12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B</a:t>
            </a:r>
            <a:r>
              <a:rPr sz="12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is</a:t>
            </a:r>
            <a:r>
              <a:rPr sz="12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present</a:t>
            </a:r>
          </a:p>
          <a:p>
            <a:pPr marL="38100">
              <a:spcBef>
                <a:spcPts val="1190"/>
              </a:spcBef>
            </a:pPr>
            <a:r>
              <a:rPr sz="1200" spc="-4" dirty="0">
                <a:latin typeface="Arial" panose="020B0604020202020204"/>
                <a:cs typeface="Arial" panose="020B0604020202020204"/>
                <a:sym typeface="+mn-ea"/>
              </a:rPr>
              <a:t>p</a:t>
            </a:r>
            <a:r>
              <a:rPr sz="1200" spc="-5" baseline="25000" dirty="0">
                <a:latin typeface="Arial" panose="020B0604020202020204"/>
                <a:cs typeface="Arial" panose="020B0604020202020204"/>
                <a:sym typeface="+mn-ea"/>
              </a:rPr>
              <a:t>A</a:t>
            </a:r>
            <a:r>
              <a:rPr sz="1200" spc="33" baseline="25000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  <a:sym typeface="+mn-ea"/>
              </a:rPr>
              <a:t>= 在只有物种 A 存在的情况下检测到物种 A 的概率</a:t>
            </a:r>
            <a:endParaRPr sz="1200" dirty="0">
              <a:latin typeface="Arial" panose="020B0604020202020204"/>
              <a:cs typeface="Arial" panose="020B0604020202020204"/>
            </a:endParaRPr>
          </a:p>
          <a:p>
            <a:pPr marL="38100">
              <a:spcBef>
                <a:spcPts val="1120"/>
              </a:spcBef>
            </a:pPr>
            <a:r>
              <a:rPr sz="1200" spc="-4" dirty="0">
                <a:latin typeface="Arial" panose="020B0604020202020204"/>
                <a:cs typeface="Arial" panose="020B0604020202020204"/>
                <a:sym typeface="+mn-ea"/>
              </a:rPr>
              <a:t>p</a:t>
            </a:r>
            <a:r>
              <a:rPr sz="1200" spc="-5" baseline="25000" dirty="0">
                <a:latin typeface="Arial" panose="020B0604020202020204"/>
                <a:cs typeface="Arial" panose="020B0604020202020204"/>
                <a:sym typeface="+mn-ea"/>
              </a:rPr>
              <a:t>B</a:t>
            </a:r>
            <a:r>
              <a:rPr sz="1200" spc="33" baseline="25000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  <a:sym typeface="+mn-ea"/>
              </a:rPr>
              <a:t>= 在只有物种 B 存在的情况下检测到物种 B 的概率</a:t>
            </a:r>
          </a:p>
          <a:p>
            <a:pPr marL="38100">
              <a:spcBef>
                <a:spcPts val="600"/>
              </a:spcBef>
            </a:pPr>
            <a:endParaRPr sz="1200" dirty="0">
              <a:latin typeface="Arial" panose="020B0604020202020204"/>
              <a:cs typeface="Arial" panose="020B0604020202020204"/>
            </a:endParaRPr>
          </a:p>
          <a:p>
            <a:pPr marL="38100" marR="87630">
              <a:spcBef>
                <a:spcPts val="600"/>
              </a:spcBef>
            </a:pPr>
            <a:r>
              <a:rPr sz="1400" spc="-4" dirty="0">
                <a:latin typeface="Arial" panose="020B0604020202020204"/>
                <a:cs typeface="Arial" panose="020B0604020202020204"/>
              </a:rPr>
              <a:t>r</a:t>
            </a:r>
            <a:r>
              <a:rPr sz="1400" spc="-5" baseline="25000" dirty="0">
                <a:latin typeface="Arial" panose="020B0604020202020204"/>
                <a:cs typeface="Arial" panose="020B0604020202020204"/>
              </a:rPr>
              <a:t>AB</a:t>
            </a:r>
            <a:r>
              <a:rPr sz="1400" spc="33" baseline="25000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=</a:t>
            </a:r>
            <a:r>
              <a:rPr sz="1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prob.</a:t>
            </a:r>
            <a:r>
              <a:rPr sz="12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detecting both species</a:t>
            </a:r>
            <a:r>
              <a:rPr sz="1200" spc="-116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A</a:t>
            </a:r>
            <a:r>
              <a:rPr sz="1200" spc="-124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and B</a:t>
            </a:r>
            <a:r>
              <a:rPr sz="12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when both present </a:t>
            </a:r>
            <a:endParaRPr lang="en-US" sz="1200" dirty="0">
              <a:latin typeface="Arial" panose="020B0604020202020204"/>
              <a:cs typeface="Arial" panose="020B0604020202020204"/>
            </a:endParaRPr>
          </a:p>
          <a:p>
            <a:pPr marL="38100" marR="87630">
              <a:spcBef>
                <a:spcPts val="600"/>
              </a:spcBef>
            </a:pPr>
            <a:r>
              <a:rPr sz="1200" spc="-570" dirty="0">
                <a:latin typeface="Arial" panose="020B0604020202020204"/>
                <a:cs typeface="Arial" panose="020B0604020202020204"/>
              </a:rPr>
              <a:t> </a:t>
            </a:r>
            <a:r>
              <a:rPr sz="1400" spc="-4" dirty="0">
                <a:latin typeface="Arial" panose="020B0604020202020204"/>
                <a:cs typeface="Arial" panose="020B0604020202020204"/>
              </a:rPr>
              <a:t>r</a:t>
            </a:r>
            <a:r>
              <a:rPr sz="1400" spc="-5" baseline="25000" dirty="0">
                <a:latin typeface="Arial" panose="020B0604020202020204"/>
                <a:cs typeface="Arial" panose="020B0604020202020204"/>
              </a:rPr>
              <a:t>Ab </a:t>
            </a:r>
            <a:r>
              <a:rPr sz="1200" dirty="0">
                <a:latin typeface="Arial" panose="020B0604020202020204"/>
                <a:cs typeface="Arial" panose="020B0604020202020204"/>
              </a:rPr>
              <a:t>= prob. detecting species A but not B when both present </a:t>
            </a:r>
            <a:r>
              <a:rPr sz="1200" spc="4" dirty="0">
                <a:latin typeface="Arial" panose="020B0604020202020204"/>
                <a:cs typeface="Arial" panose="020B0604020202020204"/>
              </a:rPr>
              <a:t> </a:t>
            </a:r>
            <a:endParaRPr lang="en-US" sz="1200" spc="4" dirty="0">
              <a:latin typeface="Arial" panose="020B0604020202020204"/>
              <a:cs typeface="Arial" panose="020B0604020202020204"/>
            </a:endParaRPr>
          </a:p>
          <a:p>
            <a:pPr marL="38100" marR="87630">
              <a:spcBef>
                <a:spcPts val="600"/>
              </a:spcBef>
            </a:pPr>
            <a:r>
              <a:rPr sz="1400" dirty="0" err="1">
                <a:latin typeface="Arial" panose="020B0604020202020204"/>
                <a:cs typeface="Arial" panose="020B0604020202020204"/>
              </a:rPr>
              <a:t>r</a:t>
            </a:r>
            <a:r>
              <a:rPr sz="1400" baseline="25000" dirty="0" err="1">
                <a:latin typeface="Arial" panose="020B0604020202020204"/>
                <a:cs typeface="Arial" panose="020B0604020202020204"/>
              </a:rPr>
              <a:t>aB</a:t>
            </a:r>
            <a:r>
              <a:rPr sz="1400" baseline="25000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= prob. detecting species B but not A when both present </a:t>
            </a:r>
            <a:r>
              <a:rPr sz="1200" spc="4" dirty="0">
                <a:latin typeface="Arial" panose="020B0604020202020204"/>
                <a:cs typeface="Arial" panose="020B0604020202020204"/>
              </a:rPr>
              <a:t> </a:t>
            </a:r>
            <a:endParaRPr lang="en-US" sz="1200" spc="4" dirty="0">
              <a:latin typeface="Arial" panose="020B0604020202020204"/>
              <a:cs typeface="Arial" panose="020B0604020202020204"/>
            </a:endParaRPr>
          </a:p>
          <a:p>
            <a:pPr marL="38100" marR="87630">
              <a:spcBef>
                <a:spcPts val="600"/>
              </a:spcBef>
            </a:pPr>
            <a:r>
              <a:rPr sz="1400" dirty="0" err="1">
                <a:latin typeface="Arial" panose="020B0604020202020204"/>
                <a:cs typeface="Arial" panose="020B0604020202020204"/>
              </a:rPr>
              <a:t>r</a:t>
            </a:r>
            <a:r>
              <a:rPr sz="1400" baseline="25000" dirty="0" err="1">
                <a:latin typeface="Arial" panose="020B0604020202020204"/>
                <a:cs typeface="Arial" panose="020B0604020202020204"/>
              </a:rPr>
              <a:t>ab</a:t>
            </a:r>
            <a:r>
              <a:rPr sz="1400" spc="39" baseline="25000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=</a:t>
            </a:r>
            <a:r>
              <a:rPr sz="1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prob.</a:t>
            </a:r>
            <a:r>
              <a:rPr sz="12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detecting neither species</a:t>
            </a:r>
            <a:r>
              <a:rPr sz="1200" spc="-4" dirty="0"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</a:rPr>
              <a:t>when both present</a:t>
            </a:r>
          </a:p>
          <a:p>
            <a:pPr marL="38100">
              <a:spcBef>
                <a:spcPts val="1120"/>
              </a:spcBef>
            </a:pPr>
            <a:r>
              <a:rPr sz="1200" spc="-4" dirty="0">
                <a:latin typeface="Arial" panose="020B0604020202020204"/>
                <a:cs typeface="Arial" panose="020B0604020202020204"/>
                <a:sym typeface="+mn-ea"/>
              </a:rPr>
              <a:t>r</a:t>
            </a:r>
            <a:r>
              <a:rPr sz="1200" spc="-5" baseline="25000" dirty="0">
                <a:latin typeface="Arial" panose="020B0604020202020204"/>
                <a:cs typeface="Arial" panose="020B0604020202020204"/>
                <a:sym typeface="+mn-ea"/>
              </a:rPr>
              <a:t>AB</a:t>
            </a:r>
            <a:r>
              <a:rPr sz="1200" dirty="0">
                <a:latin typeface="Arial" panose="020B0604020202020204"/>
                <a:cs typeface="Arial" panose="020B0604020202020204"/>
                <a:sym typeface="+mn-ea"/>
              </a:rPr>
              <a:t>=</a:t>
            </a:r>
            <a:r>
              <a:rPr lang="en-US" sz="1200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  <a:sym typeface="+mn-ea"/>
              </a:rPr>
              <a:t>当物种A和B同时存在时，同时检测到物种A和B的概率</a:t>
            </a:r>
          </a:p>
          <a:p>
            <a:pPr marL="38100">
              <a:spcBef>
                <a:spcPts val="1120"/>
              </a:spcBef>
            </a:pPr>
            <a:r>
              <a:rPr sz="1200" spc="-4" dirty="0">
                <a:latin typeface="Arial" panose="020B0604020202020204"/>
                <a:cs typeface="Arial" panose="020B0604020202020204"/>
                <a:sym typeface="+mn-ea"/>
              </a:rPr>
              <a:t>r</a:t>
            </a:r>
            <a:r>
              <a:rPr sz="1200" spc="-5" baseline="25000" dirty="0">
                <a:latin typeface="Arial" panose="020B0604020202020204"/>
                <a:cs typeface="Arial" panose="020B0604020202020204"/>
                <a:sym typeface="+mn-ea"/>
              </a:rPr>
              <a:t>Ab </a:t>
            </a:r>
            <a:r>
              <a:rPr sz="1200" dirty="0">
                <a:latin typeface="Arial" panose="020B0604020202020204"/>
                <a:cs typeface="Arial" panose="020B0604020202020204"/>
                <a:sym typeface="+mn-ea"/>
              </a:rPr>
              <a:t>=</a:t>
            </a:r>
            <a:r>
              <a:rPr lang="en-US" sz="1200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  <a:sym typeface="+mn-ea"/>
              </a:rPr>
              <a:t>当物种A和B同时存在时，检测到物种A但未检测到物种B的概率</a:t>
            </a:r>
          </a:p>
          <a:p>
            <a:pPr marL="38100">
              <a:spcBef>
                <a:spcPts val="1120"/>
              </a:spcBef>
            </a:pPr>
            <a:r>
              <a:rPr sz="1200" dirty="0">
                <a:latin typeface="Arial" panose="020B0604020202020204"/>
                <a:cs typeface="Arial" panose="020B0604020202020204"/>
                <a:sym typeface="+mn-ea"/>
              </a:rPr>
              <a:t>r</a:t>
            </a:r>
            <a:r>
              <a:rPr sz="1200" baseline="25000" dirty="0">
                <a:latin typeface="Arial" panose="020B0604020202020204"/>
                <a:cs typeface="Arial" panose="020B0604020202020204"/>
                <a:sym typeface="+mn-ea"/>
              </a:rPr>
              <a:t>aB </a:t>
            </a:r>
            <a:r>
              <a:rPr sz="1200" dirty="0">
                <a:latin typeface="Arial" panose="020B0604020202020204"/>
                <a:cs typeface="Arial" panose="020B0604020202020204"/>
                <a:sym typeface="+mn-ea"/>
              </a:rPr>
              <a:t>=</a:t>
            </a:r>
            <a:r>
              <a:rPr lang="en-US" sz="1200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  <a:sym typeface="+mn-ea"/>
              </a:rPr>
              <a:t>当物种A和B同时存在时，检测到物种B但未检测到物种A的概率</a:t>
            </a:r>
          </a:p>
          <a:p>
            <a:pPr marL="38100">
              <a:spcBef>
                <a:spcPts val="1120"/>
              </a:spcBef>
            </a:pPr>
            <a:r>
              <a:rPr sz="1200" dirty="0">
                <a:latin typeface="Arial" panose="020B0604020202020204"/>
                <a:cs typeface="Arial" panose="020B0604020202020204"/>
                <a:sym typeface="+mn-ea"/>
              </a:rPr>
              <a:t>r</a:t>
            </a:r>
            <a:r>
              <a:rPr sz="1200" baseline="25000" dirty="0">
                <a:latin typeface="Arial" panose="020B0604020202020204"/>
                <a:cs typeface="Arial" panose="020B0604020202020204"/>
                <a:sym typeface="+mn-ea"/>
              </a:rPr>
              <a:t>ab</a:t>
            </a:r>
            <a:r>
              <a:rPr sz="1200" spc="39" baseline="25000" dirty="0">
                <a:latin typeface="Arial" panose="020B0604020202020204"/>
                <a:cs typeface="Arial" panose="020B0604020202020204"/>
                <a:sym typeface="+mn-ea"/>
              </a:rPr>
              <a:t> </a:t>
            </a:r>
            <a:r>
              <a:rPr sz="1200" dirty="0">
                <a:latin typeface="Arial" panose="020B0604020202020204"/>
                <a:cs typeface="Arial" panose="020B0604020202020204"/>
                <a:sym typeface="+mn-ea"/>
              </a:rPr>
              <a:t>=</a:t>
            </a:r>
            <a:r>
              <a:rPr sz="1200" spc="-60" dirty="0">
                <a:latin typeface="Arial" panose="020B0604020202020204"/>
                <a:cs typeface="Arial" panose="020B0604020202020204"/>
                <a:sym typeface="+mn-ea"/>
              </a:rPr>
              <a:t> 当物种A和B同时存在时，未检测到任何物种的概率</a:t>
            </a:r>
          </a:p>
          <a:p>
            <a:pPr marL="38100" marR="87630">
              <a:spcBef>
                <a:spcPts val="600"/>
              </a:spcBef>
            </a:pPr>
            <a:endParaRPr sz="1200" dirty="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322910" y="117093"/>
            <a:ext cx="4496276" cy="1049020"/>
          </a:xfrm>
          <a:prstGeom prst="rect">
            <a:avLst/>
          </a:prstGeom>
        </p:spPr>
        <p:txBody>
          <a:bodyPr vert="horz" wrap="square" lIns="0" tIns="9525" rIns="0" bIns="0" rtlCol="0" anchor="ctr">
            <a:spAutoFit/>
          </a:bodyPr>
          <a:lstStyle/>
          <a:p>
            <a:pPr marL="9525">
              <a:spcBef>
                <a:spcPts val="75"/>
              </a:spcBef>
            </a:pPr>
            <a:r>
              <a:rPr sz="3375" spc="-4" dirty="0"/>
              <a:t>Quantifying</a:t>
            </a:r>
            <a:r>
              <a:rPr sz="3375" spc="-41" dirty="0"/>
              <a:t> </a:t>
            </a:r>
            <a:r>
              <a:rPr sz="3375" spc="-4" dirty="0"/>
              <a:t>interactions</a:t>
            </a:r>
            <a:br>
              <a:rPr sz="3375" spc="-4" dirty="0"/>
            </a:br>
            <a:r>
              <a:rPr sz="3375" spc="-4" dirty="0">
                <a:sym typeface="+mn-ea"/>
              </a:rPr>
              <a:t>量化相互作用</a:t>
            </a:r>
            <a:endParaRPr sz="3375"/>
          </a:p>
        </p:txBody>
      </p:sp>
      <p:sp>
        <p:nvSpPr>
          <p:cNvPr id="3" name="object 3"/>
          <p:cNvSpPr txBox="1"/>
          <p:nvPr/>
        </p:nvSpPr>
        <p:spPr>
          <a:xfrm>
            <a:off x="170180" y="1246505"/>
            <a:ext cx="8829040" cy="5384800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47625">
              <a:spcBef>
                <a:spcPts val="75"/>
              </a:spcBef>
              <a:tabLst>
                <a:tab pos="3632835" algn="l"/>
              </a:tabLst>
            </a:pPr>
            <a:r>
              <a:rPr sz="2000" spc="-8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nte</a:t>
            </a:r>
            <a:r>
              <a:rPr sz="2000" spc="-45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sz="2000" spc="-4" dirty="0">
                <a:latin typeface="Arial" panose="020B0604020202020204" pitchFamily="34" charset="0"/>
                <a:cs typeface="Arial" panose="020B0604020202020204" pitchFamily="34" charset="0"/>
              </a:rPr>
              <a:t>ac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sz="2000" spc="4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on e</a:t>
            </a:r>
            <a:r>
              <a:rPr sz="2000" spc="-4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sz="2000" spc="4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2000" spc="-4" dirty="0">
                <a:latin typeface="Arial" panose="020B0604020202020204" pitchFamily="34" charset="0"/>
                <a:cs typeface="Arial" panose="020B0604020202020204" pitchFamily="34" charset="0"/>
              </a:rPr>
              <a:t>ma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ted</a:t>
            </a:r>
            <a:r>
              <a:rPr sz="2000" spc="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spc="-4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sz="2000" spc="4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:	</a:t>
            </a:r>
            <a:r>
              <a:rPr lang="en-US" sz="2000" spc="-330" dirty="0">
                <a:latin typeface="Symbol" panose="05050102010706020507"/>
                <a:cs typeface="Arial" panose="020B0604020202020204" pitchFamily="34" charset="0"/>
                <a:sym typeface="Symbol" panose="05050102010706020507" pitchFamily="18" charset="2"/>
              </a:rPr>
              <a:t></a:t>
            </a:r>
            <a:r>
              <a:rPr sz="2000" spc="-4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2000" dirty="0">
                <a:latin typeface="Symbol" panose="05050102010706020507"/>
                <a:cs typeface="Arial" panose="020B0604020202020204" pitchFamily="34" charset="0"/>
              </a:rPr>
              <a:t></a:t>
            </a:r>
            <a:r>
              <a:rPr sz="2000" spc="4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lang="en-US" sz="20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0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AB</a:t>
            </a:r>
            <a:r>
              <a:rPr lang="en-US" sz="2000" baseline="30000" dirty="0">
                <a:latin typeface="Symbol" panose="05050102010706020507" pitchFamily="18" charset="2"/>
                <a:sym typeface="Symbol" panose="05050102010706020507" pitchFamily="18" charset="2"/>
              </a:rPr>
              <a:t> </a:t>
            </a:r>
            <a:r>
              <a:rPr lang="en-US" sz="2000" dirty="0">
                <a:latin typeface="Symbol" panose="05050102010706020507" pitchFamily="18" charset="2"/>
                <a:sym typeface="Symbol" panose="05050102010706020507" pitchFamily="18" charset="2"/>
              </a:rPr>
              <a:t>/ (</a:t>
            </a:r>
            <a:r>
              <a:rPr lang="en-US" sz="20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0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</a:t>
            </a:r>
            <a:r>
              <a:rPr lang="en-US" sz="2000" dirty="0">
                <a:latin typeface="Symbol" panose="05050102010706020507" pitchFamily="18" charset="2"/>
                <a:sym typeface="Symbol" panose="05050102010706020507" pitchFamily="18" charset="2"/>
              </a:rPr>
              <a:t> </a:t>
            </a:r>
            <a:r>
              <a:rPr lang="en-US" sz="20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0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B</a:t>
            </a:r>
            <a:r>
              <a:rPr lang="en-US" sz="2000" dirty="0">
                <a:latin typeface="Symbol" panose="05050102010706020507" pitchFamily="18" charset="2"/>
                <a:sym typeface="Symbol" panose="05050102010706020507" pitchFamily="18" charset="2"/>
              </a:rPr>
              <a:t>)</a:t>
            </a:r>
            <a:endParaRPr sz="2000" dirty="0">
              <a:latin typeface="Comic Sans MS" panose="030F0702030302020204"/>
              <a:cs typeface="Arial" panose="020B0604020202020204" pitchFamily="34" charset="0"/>
            </a:endParaRPr>
          </a:p>
          <a:p>
            <a:pPr marL="437515">
              <a:spcBef>
                <a:spcPts val="2895"/>
              </a:spcBef>
              <a:tabLst>
                <a:tab pos="826135" algn="l"/>
              </a:tabLst>
            </a:pPr>
            <a:r>
              <a:rPr lang="en-US" sz="2000" spc="-330" dirty="0">
                <a:latin typeface="Symbol" panose="05050102010706020507"/>
                <a:cs typeface="Arial" panose="020B0604020202020204" pitchFamily="34" charset="0"/>
                <a:sym typeface="Symbol" panose="05050102010706020507" pitchFamily="18" charset="2"/>
              </a:rPr>
              <a:t>  </a:t>
            </a:r>
            <a:r>
              <a:rPr lang="en-US" sz="2000" spc="-33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&lt;</a:t>
            </a:r>
            <a:r>
              <a:rPr sz="2000" spc="6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sz="2000" spc="-1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11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sz="2000" spc="-1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spc="-8" dirty="0">
                <a:latin typeface="Arial" panose="020B0604020202020204" pitchFamily="34" charset="0"/>
                <a:cs typeface="Arial" panose="020B0604020202020204" pitchFamily="34" charset="0"/>
              </a:rPr>
              <a:t>avoidance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(less</a:t>
            </a:r>
            <a:r>
              <a:rPr sz="2000" spc="-8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spc="-4" dirty="0">
                <a:latin typeface="Arial" panose="020B0604020202020204" pitchFamily="34" charset="0"/>
                <a:cs typeface="Arial" panose="020B0604020202020204" pitchFamily="34" charset="0"/>
              </a:rPr>
              <a:t>frequent than 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expected)</a:t>
            </a:r>
          </a:p>
          <a:p>
            <a:pPr>
              <a:spcBef>
                <a:spcPts val="5"/>
              </a:spcBef>
            </a:pPr>
            <a:endParaRPr sz="2000" dirty="0">
              <a:latin typeface="Tahoma" panose="020B0604030504040204"/>
              <a:cs typeface="Tahoma" panose="020B0604030504040204"/>
            </a:endParaRPr>
          </a:p>
          <a:p>
            <a:pPr marL="437515">
              <a:tabLst>
                <a:tab pos="826135" algn="l"/>
              </a:tabLst>
            </a:pPr>
            <a:r>
              <a:rPr lang="en-US" sz="2000" spc="-330" dirty="0">
                <a:latin typeface="Symbol" panose="05050102010706020507"/>
                <a:cs typeface="Arial" panose="020B0604020202020204" pitchFamily="34" charset="0"/>
                <a:sym typeface="Symbol" panose="05050102010706020507" pitchFamily="18" charset="2"/>
              </a:rPr>
              <a:t>   </a:t>
            </a:r>
            <a:r>
              <a:rPr lang="en-US" sz="2000" spc="-33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&gt;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1</a:t>
            </a:r>
            <a:r>
              <a:rPr sz="2000" spc="-1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11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sz="2000" spc="-1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spc="-8" dirty="0">
                <a:latin typeface="Arial" panose="020B0604020202020204" pitchFamily="34" charset="0"/>
                <a:cs typeface="Arial" panose="020B0604020202020204" pitchFamily="34" charset="0"/>
              </a:rPr>
              <a:t>convergence</a:t>
            </a:r>
            <a:r>
              <a:rPr sz="2000" spc="-4" dirty="0">
                <a:latin typeface="Arial" panose="020B0604020202020204" pitchFamily="34" charset="0"/>
                <a:cs typeface="Arial" panose="020B0604020202020204" pitchFamily="34" charset="0"/>
              </a:rPr>
              <a:t> (more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spc="-4" dirty="0">
                <a:latin typeface="Arial" panose="020B0604020202020204" pitchFamily="34" charset="0"/>
                <a:cs typeface="Arial" panose="020B0604020202020204" pitchFamily="34" charset="0"/>
              </a:rPr>
              <a:t>frequent than 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expected)</a:t>
            </a:r>
          </a:p>
          <a:p>
            <a:pPr>
              <a:spcBef>
                <a:spcPts val="20"/>
              </a:spcBef>
            </a:pPr>
            <a:endParaRPr sz="2000" dirty="0">
              <a:latin typeface="Tahoma" panose="020B0604030504040204"/>
              <a:cs typeface="Tahoma" panose="020B0604030504040204"/>
            </a:endParaRPr>
          </a:p>
          <a:p>
            <a:pPr marL="437515">
              <a:tabLst>
                <a:tab pos="826135" algn="l"/>
              </a:tabLst>
            </a:pPr>
            <a:r>
              <a:rPr lang="en-US" sz="2000" spc="-330" dirty="0">
                <a:latin typeface="Symbol" panose="05050102010706020507"/>
                <a:cs typeface="Arial" panose="020B0604020202020204" pitchFamily="34" charset="0"/>
                <a:sym typeface="Symbol" panose="05050102010706020507" pitchFamily="18" charset="2"/>
              </a:rPr>
              <a:t>  </a:t>
            </a:r>
            <a:r>
              <a:rPr sz="2000" spc="-330" dirty="0">
                <a:latin typeface="Arial" panose="020B0604020202020204"/>
                <a:cs typeface="Arial" panose="020B0604020202020204"/>
              </a:rPr>
              <a:t>= </a:t>
            </a:r>
            <a:r>
              <a:rPr lang="en-US" sz="2000" spc="-330" dirty="0">
                <a:latin typeface="Arial" panose="020B0604020202020204"/>
                <a:cs typeface="Arial" panose="020B0604020202020204"/>
              </a:rPr>
              <a:t> </a:t>
            </a:r>
            <a:r>
              <a:rPr sz="2000" spc="-330" dirty="0">
                <a:latin typeface="Arial" panose="020B0604020202020204"/>
                <a:cs typeface="Arial" panose="020B0604020202020204"/>
              </a:rPr>
              <a:t>1</a:t>
            </a:r>
            <a:r>
              <a:rPr sz="2000" spc="-4" dirty="0">
                <a:latin typeface="Arial" panose="020B0604020202020204"/>
                <a:cs typeface="Arial" panose="020B0604020202020204"/>
              </a:rPr>
              <a:t> </a:t>
            </a:r>
            <a:r>
              <a:rPr lang="en-US" sz="2000" spc="-4" dirty="0">
                <a:latin typeface="Arial" panose="020B0604020202020204"/>
                <a:cs typeface="Arial" panose="020B0604020202020204"/>
                <a:sym typeface="Wingdings" panose="05000000000000000000" pitchFamily="2" charset="2"/>
              </a:rPr>
              <a:t></a:t>
            </a:r>
            <a:r>
              <a:rPr sz="2000" spc="-8" dirty="0">
                <a:latin typeface="Arial" panose="020B0604020202020204"/>
                <a:cs typeface="Arial" panose="020B0604020202020204"/>
              </a:rPr>
              <a:t> </a:t>
            </a:r>
            <a:r>
              <a:rPr sz="2000" spc="4" dirty="0">
                <a:latin typeface="Tahoma" panose="020B0604030504040204"/>
                <a:cs typeface="Tahoma" panose="020B0604030504040204"/>
              </a:rPr>
              <a:t>i</a:t>
            </a:r>
            <a:r>
              <a:rPr sz="2000" dirty="0">
                <a:latin typeface="Tahoma" panose="020B0604030504040204"/>
                <a:cs typeface="Tahoma" panose="020B0604030504040204"/>
              </a:rPr>
              <a:t>n</a:t>
            </a:r>
            <a:r>
              <a:rPr sz="2000" spc="4" dirty="0">
                <a:latin typeface="Tahoma" panose="020B0604030504040204"/>
                <a:cs typeface="Tahoma" panose="020B0604030504040204"/>
              </a:rPr>
              <a:t>depe</a:t>
            </a:r>
            <a:r>
              <a:rPr sz="2000" dirty="0">
                <a:latin typeface="Tahoma" panose="020B0604030504040204"/>
                <a:cs typeface="Tahoma" panose="020B0604030504040204"/>
              </a:rPr>
              <a:t>n</a:t>
            </a:r>
            <a:r>
              <a:rPr sz="2000" spc="4" dirty="0">
                <a:latin typeface="Tahoma" panose="020B0604030504040204"/>
                <a:cs typeface="Tahoma" panose="020B0604030504040204"/>
              </a:rPr>
              <a:t>de</a:t>
            </a:r>
            <a:r>
              <a:rPr sz="2000" dirty="0">
                <a:latin typeface="Tahoma" panose="020B0604030504040204"/>
                <a:cs typeface="Tahoma" panose="020B0604030504040204"/>
              </a:rPr>
              <a:t>n</a:t>
            </a:r>
            <a:r>
              <a:rPr sz="2000" spc="-4" dirty="0">
                <a:latin typeface="Tahoma" panose="020B0604030504040204"/>
                <a:cs typeface="Tahoma" panose="020B0604030504040204"/>
              </a:rPr>
              <a:t>c</a:t>
            </a:r>
            <a:r>
              <a:rPr sz="2000" dirty="0">
                <a:latin typeface="Tahoma" panose="020B0604030504040204"/>
                <a:cs typeface="Tahoma" panose="020B0604030504040204"/>
              </a:rPr>
              <a:t>e </a:t>
            </a:r>
            <a:r>
              <a:rPr lang="en-US" sz="2000" dirty="0">
                <a:latin typeface="Symbol" panose="05050102010706020507" pitchFamily="18" charset="2"/>
                <a:sym typeface="Symbol" panose="05050102010706020507" pitchFamily="18" charset="2"/>
              </a:rPr>
              <a:t>( </a:t>
            </a:r>
            <a:r>
              <a:rPr lang="en-US" sz="20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0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AB</a:t>
            </a:r>
            <a:r>
              <a:rPr lang="en-US" sz="2000" dirty="0">
                <a:latin typeface="Symbol" panose="05050102010706020507" pitchFamily="18" charset="2"/>
                <a:sym typeface="Symbol" panose="05050102010706020507" pitchFamily="18" charset="2"/>
              </a:rPr>
              <a:t> = </a:t>
            </a:r>
            <a:r>
              <a:rPr lang="en-US" sz="20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0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</a:t>
            </a:r>
            <a:r>
              <a:rPr lang="en-US" sz="2000" dirty="0">
                <a:latin typeface="Symbol" panose="05050102010706020507" pitchFamily="18" charset="2"/>
                <a:sym typeface="Symbol" panose="05050102010706020507" pitchFamily="18" charset="2"/>
              </a:rPr>
              <a:t> </a:t>
            </a:r>
            <a:r>
              <a:rPr lang="en-US" sz="20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0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B</a:t>
            </a:r>
            <a:r>
              <a:rPr lang="en-US" sz="2000" dirty="0">
                <a:latin typeface="Symbol" panose="05050102010706020507" pitchFamily="18" charset="2"/>
                <a:sym typeface="Symbol" panose="05050102010706020507" pitchFamily="18" charset="2"/>
              </a:rPr>
              <a:t>)</a:t>
            </a:r>
          </a:p>
          <a:p>
            <a:pPr marL="437515">
              <a:tabLst>
                <a:tab pos="826135" algn="l"/>
              </a:tabLst>
            </a:pPr>
            <a:endParaRPr lang="en-US" sz="2000" dirty="0">
              <a:latin typeface="Comic Sans MS" panose="030F0702030302020204"/>
              <a:cs typeface="Arial" panose="020B0604020202020204" pitchFamily="34" charset="0"/>
            </a:endParaRPr>
          </a:p>
          <a:p>
            <a:pPr marL="47625">
              <a:spcBef>
                <a:spcPts val="75"/>
              </a:spcBef>
              <a:tabLst>
                <a:tab pos="3632835" algn="l"/>
              </a:tabLst>
            </a:pPr>
            <a:r>
              <a:rPr lang="zh-CN" sz="2000" spc="4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相互作用估计值（表示物种A和B在共存地点同时出现的概率与各自独立出现概率的比值）</a:t>
            </a:r>
            <a:r>
              <a:rPr lang="en-US" sz="2000" spc="-330" dirty="0">
                <a:latin typeface="Symbol" panose="05050102010706020507"/>
                <a:cs typeface="Arial" panose="020B0604020202020204" pitchFamily="34" charset="0"/>
                <a:sym typeface="Symbol" panose="05050102010706020507" pitchFamily="18" charset="2"/>
              </a:rPr>
              <a:t>： </a:t>
            </a:r>
            <a:r>
              <a:rPr sz="2000" dirty="0">
                <a:latin typeface="Symbol" panose="05050102010706020507"/>
                <a:cs typeface="Arial" panose="020B0604020202020204" pitchFamily="34" charset="0"/>
                <a:sym typeface="+mn-ea"/>
              </a:rPr>
              <a:t>  </a:t>
            </a:r>
            <a:r>
              <a:rPr lang="en-US" sz="20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0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AB</a:t>
            </a:r>
            <a:r>
              <a:rPr lang="en-US" sz="2000" baseline="30000" dirty="0">
                <a:latin typeface="Symbol" panose="05050102010706020507" pitchFamily="18" charset="2"/>
                <a:sym typeface="Symbol" panose="05050102010706020507" pitchFamily="18" charset="2"/>
              </a:rPr>
              <a:t> </a:t>
            </a:r>
            <a:r>
              <a:rPr lang="en-US" sz="2000" dirty="0">
                <a:latin typeface="Symbol" panose="05050102010706020507" pitchFamily="18" charset="2"/>
                <a:sym typeface="Symbol" panose="05050102010706020507" pitchFamily="18" charset="2"/>
              </a:rPr>
              <a:t> / (</a:t>
            </a:r>
            <a:r>
              <a:rPr lang="en-US" sz="20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0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</a:t>
            </a:r>
            <a:r>
              <a:rPr lang="en-US" sz="2000" dirty="0" err="1">
                <a:latin typeface="Symbol" panose="05050102010706020507" pitchFamily="18" charset="2"/>
                <a:sym typeface="Symbol" panose="05050102010706020507" pitchFamily="18" charset="2"/>
              </a:rPr>
              <a:t> y )</a:t>
            </a:r>
            <a:r>
              <a:rPr lang="en-US" sz="20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B</a:t>
            </a:r>
            <a:endParaRPr sz="2000" dirty="0">
              <a:latin typeface="Comic Sans MS" panose="030F0702030302020204"/>
              <a:cs typeface="Arial" panose="020B0604020202020204" pitchFamily="34" charset="0"/>
            </a:endParaRPr>
          </a:p>
          <a:p>
            <a:pPr marL="437515">
              <a:spcBef>
                <a:spcPts val="2895"/>
              </a:spcBef>
              <a:tabLst>
                <a:tab pos="826135" algn="l"/>
              </a:tabLst>
            </a:pPr>
            <a:r>
              <a:rPr lang="en-US" sz="2000" spc="-33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 &lt; 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1 </a:t>
            </a:r>
            <a:r>
              <a:rPr lang="en-US" sz="2000" spc="-11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zh-CN" sz="2000" spc="-8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回避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（物种A和B的共存</a:t>
            </a:r>
            <a:r>
              <a:rPr lang="zh-CN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概率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低于预期）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5"/>
              </a:spcBef>
            </a:pPr>
            <a:endParaRPr sz="2000" dirty="0">
              <a:latin typeface="Tahoma" panose="020B0604030504040204"/>
              <a:cs typeface="Tahoma" panose="020B0604030504040204"/>
            </a:endParaRPr>
          </a:p>
          <a:p>
            <a:pPr marL="437515">
              <a:tabLst>
                <a:tab pos="826135" algn="l"/>
              </a:tabLst>
            </a:pPr>
            <a:r>
              <a:rPr lang="en-US" sz="2000" spc="-33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 &gt; 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1 </a:t>
            </a:r>
            <a:r>
              <a:rPr lang="en-US" sz="2000" spc="-11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zh-CN" sz="2000" spc="-8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聚集</a:t>
            </a:r>
            <a:r>
              <a:rPr sz="2000" spc="-4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（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物种A和B的共存</a:t>
            </a:r>
            <a:r>
              <a:rPr lang="zh-CN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概率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高于预期</a:t>
            </a:r>
            <a:r>
              <a:rPr sz="2000" spc="-4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）</a:t>
            </a:r>
            <a:endParaRPr sz="2000" spc="-4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20"/>
              </a:spcBef>
            </a:pPr>
            <a:endParaRPr sz="2000" dirty="0">
              <a:latin typeface="Tahoma" panose="020B0604030504040204"/>
              <a:cs typeface="Tahoma" panose="020B0604030504040204"/>
            </a:endParaRPr>
          </a:p>
          <a:p>
            <a:pPr marL="437515">
              <a:tabLst>
                <a:tab pos="826135" algn="l"/>
              </a:tabLst>
            </a:pPr>
            <a:r>
              <a:rPr lang="en-US" sz="2000" spc="-330" dirty="0">
                <a:latin typeface="Symbol" panose="05050102010706020507"/>
                <a:cs typeface="Arial" panose="020B0604020202020204" pitchFamily="34" charset="0"/>
                <a:sym typeface="Symbol" panose="05050102010706020507" pitchFamily="18" charset="2"/>
              </a:rPr>
              <a:t> </a:t>
            </a:r>
            <a:r>
              <a:rPr sz="2000" spc="-330" dirty="0">
                <a:latin typeface="Arial" panose="020B0604020202020204"/>
                <a:cs typeface="Arial" panose="020B0604020202020204"/>
                <a:sym typeface="+mn-ea"/>
              </a:rPr>
              <a:t>= 1 </a:t>
            </a:r>
            <a:r>
              <a:rPr lang="en-US" sz="2000" spc="-4" dirty="0">
                <a:latin typeface="Arial" panose="020B0604020202020204"/>
                <a:cs typeface="Arial" panose="020B0604020202020204"/>
                <a:sym typeface="Wingdings" panose="05000000000000000000" pitchFamily="2" charset="2"/>
              </a:rPr>
              <a:t> </a:t>
            </a:r>
            <a:r>
              <a:rPr lang="zh-CN" sz="2000" dirty="0">
                <a:latin typeface="Tahoma" panose="020B0604030504040204"/>
                <a:cs typeface="Tahoma" panose="020B0604030504040204"/>
                <a:sym typeface="+mn-ea"/>
              </a:rPr>
              <a:t>独立（物种A和B的共存概率与各自独立出现的概率相等）</a:t>
            </a:r>
            <a:r>
              <a:rPr sz="2000" dirty="0">
                <a:latin typeface="Tahoma" panose="020B0604030504040204"/>
                <a:cs typeface="Tahoma" panose="020B0604030504040204"/>
                <a:sym typeface="+mn-ea"/>
              </a:rPr>
              <a:t> </a:t>
            </a:r>
            <a:r>
              <a:rPr lang="en-US" sz="2000" dirty="0">
                <a:latin typeface="Symbol" panose="05050102010706020507" pitchFamily="18" charset="2"/>
                <a:sym typeface="Symbol" panose="05050102010706020507" pitchFamily="18" charset="2"/>
              </a:rPr>
              <a:t>( </a:t>
            </a:r>
            <a:r>
              <a:rPr lang="en-US" sz="20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0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AB</a:t>
            </a:r>
            <a:r>
              <a:rPr lang="en-US" sz="2000" dirty="0">
                <a:latin typeface="Symbol" panose="05050102010706020507" pitchFamily="18" charset="2"/>
                <a:sym typeface="Symbol" panose="05050102010706020507" pitchFamily="18" charset="2"/>
              </a:rPr>
              <a:t> = </a:t>
            </a:r>
            <a:r>
              <a:rPr lang="en-US" sz="2000" dirty="0" err="1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20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A</a:t>
            </a:r>
            <a:r>
              <a:rPr lang="en-US" sz="2000" dirty="0" err="1">
                <a:latin typeface="Symbol" panose="05050102010706020507" pitchFamily="18" charset="2"/>
                <a:sym typeface="Symbol" panose="05050102010706020507" pitchFamily="18" charset="2"/>
              </a:rPr>
              <a:t> y )</a:t>
            </a:r>
            <a:r>
              <a:rPr lang="en-US" sz="2000" baseline="30000" dirty="0" err="1">
                <a:latin typeface="Symbol" panose="05050102010706020507" pitchFamily="18" charset="2"/>
                <a:sym typeface="Symbol" panose="05050102010706020507" pitchFamily="18" charset="2"/>
              </a:rPr>
              <a:t>B</a:t>
            </a:r>
            <a:endParaRPr sz="2000" dirty="0">
              <a:latin typeface="Comic Sans MS" panose="030F0702030302020204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2MwZTM1NDgyZTEzMGYwNDQyOTIwZWQ0YmNlZDc4ZDA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75*398"/>
  <p:tag name="TABLE_ENDDRAG_RECT" val="15*112*675*39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1563</Words>
  <Application>Microsoft Office PowerPoint</Application>
  <PresentationFormat>On-screen Show (4:3)</PresentationFormat>
  <Paragraphs>243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Calibri</vt:lpstr>
      <vt:lpstr>Comic Sans MS</vt:lpstr>
      <vt:lpstr>Symbol</vt:lpstr>
      <vt:lpstr>Tahoma</vt:lpstr>
      <vt:lpstr>Times New Roman</vt:lpstr>
      <vt:lpstr>Office Theme</vt:lpstr>
      <vt:lpstr>Multi-Species Occupancy Models</vt:lpstr>
      <vt:lpstr>Multi-Species Occupancy Models</vt:lpstr>
      <vt:lpstr>Multi-Species Occupancy Models</vt:lpstr>
      <vt:lpstr>Multi-Species Occupancy Models</vt:lpstr>
      <vt:lpstr>PowerPoint Presentation</vt:lpstr>
      <vt:lpstr>PowerPoint Presentation</vt:lpstr>
      <vt:lpstr>Estimating species  co-occurrence</vt:lpstr>
      <vt:lpstr>Rationale 原理</vt:lpstr>
      <vt:lpstr>Why are certain species found together? 为什么某些物种被发现在一起？</vt:lpstr>
      <vt:lpstr>Summary of Interspecific Interactions 种间相互作用概述</vt:lpstr>
      <vt:lpstr>Questions you might want to ask 你可能想问的问题</vt:lpstr>
      <vt:lpstr>States 状态</vt:lpstr>
      <vt:lpstr>State process 状态过程</vt:lpstr>
      <vt:lpstr>Conditional probabilities 条件概率</vt:lpstr>
      <vt:lpstr>Venn diagram 维恩图解</vt:lpstr>
      <vt:lpstr>Events 事件</vt:lpstr>
      <vt:lpstr>Observation process 观察过程</vt:lpstr>
      <vt:lpstr>PowerPoint Presentation</vt:lpstr>
      <vt:lpstr>State process</vt:lpstr>
      <vt:lpstr>Observation process</vt:lpstr>
      <vt:lpstr>Quantifying interactions 量化相互作用</vt:lpstr>
    </vt:vector>
  </TitlesOfParts>
  <Company>University of Victoria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 Baum;dan_popescu@sfu.ca</dc:creator>
  <cp:lastModifiedBy>Viorel Popescu</cp:lastModifiedBy>
  <cp:revision>555</cp:revision>
  <dcterms:created xsi:type="dcterms:W3CDTF">2012-09-18T22:01:00Z</dcterms:created>
  <dcterms:modified xsi:type="dcterms:W3CDTF">2024-04-14T15:52:59Z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A12F139B1F244AD5B126111D9EA09D7B_13</vt:lpwstr>
  </property>
  <property fmtid="{D5CDD505-2E9C-101B-9397-08002B2CF9AE}" pid="3" name="KSOProductBuildVer">
    <vt:lpwstr>2052-12.1.0.16250</vt:lpwstr>
  </property>
</Properties>
</file>