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1042" r:id="rId3"/>
    <p:sldId id="338" r:id="rId5"/>
    <p:sldId id="843" r:id="rId6"/>
    <p:sldId id="833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C00FF"/>
    <a:srgbClr val="E2E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0" autoAdjust="0"/>
    <p:restoredTop sz="83878" autoAdjust="0"/>
  </p:normalViewPr>
  <p:slideViewPr>
    <p:cSldViewPr snapToGrid="0" snapToObjects="1" showGuides="1">
      <p:cViewPr varScale="1">
        <p:scale>
          <a:sx n="93" d="100"/>
          <a:sy n="93" d="100"/>
        </p:scale>
        <p:origin x="1956" y="78"/>
      </p:cViewPr>
      <p:guideLst>
        <p:guide orient="horz"/>
        <p:guide pos="288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588"/>
    </p:cViewPr>
  </p:sorterViewPr>
  <p:notesViewPr>
    <p:cSldViewPr snapToGrid="0" snapToObjects="1">
      <p:cViewPr varScale="1">
        <p:scale>
          <a:sx n="118" d="100"/>
          <a:sy n="118" d="100"/>
        </p:scale>
        <p:origin x="-5048" y="-104"/>
      </p:cViewPr>
      <p:guideLst>
        <p:guide orient="horz" pos="284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BA1C-DB3A-774D-BF63-C74147DF77E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6B3A4-733A-9E48-9D0C-CC9BA8AFA5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5"/>
            <a:ext cx="7772401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BFD8-13BE-B34C-9D38-93A96E46EA28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0203-3692-EE42-9F0C-0A601B9B7F08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7" y="4406905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7" y="2906713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2748-9D98-3F49-B5F9-742FAC37F4F9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F1FD-AACD-9948-9283-1F9691DFC0B4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5" y="153511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5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582B-6698-EC48-875C-50CEAA3C67F4}" type="datetime1">
              <a:rPr lang="en-CA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6D6D-CCCE-B749-8D34-846F8A67EFC0}" type="datetime1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EB7D-0180-5147-9FFD-9F568677AE1E}" type="datetime1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3B9D-1BC3-8D45-B4A5-24010FA1B146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295" indent="0">
              <a:buNone/>
              <a:defRPr sz="2000"/>
            </a:lvl7pPr>
            <a:lvl8pPr marL="3198495" indent="0">
              <a:buNone/>
              <a:defRPr sz="2000"/>
            </a:lvl8pPr>
            <a:lvl9pPr marL="365506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706C-2B08-8E43-97C9-BC50088B1CD1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8B-6047-3E47-9E7D-4122E207D896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5" y="274643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0F54-3091-F744-960B-084737488211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6605" y="6244828"/>
            <a:ext cx="2134811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3605" y="6244828"/>
            <a:ext cx="2896811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2606" y="6244828"/>
            <a:ext cx="2134811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8D2197-9F94-4AD3-8C52-4E27C0C3075B}" type="slidenum">
              <a:rPr lang="en-US">
                <a:solidFill>
                  <a:srgbClr val="FFFFFF"/>
                </a:solidFill>
              </a:rPr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40"/>
            <a:ext cx="8229600" cy="1143001"/>
          </a:xfrm>
          <a:prstGeom prst="rect">
            <a:avLst/>
          </a:prstGeom>
        </p:spPr>
        <p:txBody>
          <a:bodyPr vert="horz" lIns="91379" tIns="45689" rIns="91379" bIns="45689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379" tIns="45689" rIns="91379" bIns="45689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  <a:endParaRPr lang="en-CA" dirty="0"/>
          </a:p>
          <a:p>
            <a:pPr lvl="1"/>
            <a:r>
              <a:rPr lang="en-CA" dirty="0"/>
              <a:t>Second level</a:t>
            </a:r>
            <a:endParaRPr lang="en-CA" dirty="0"/>
          </a:p>
          <a:p>
            <a:pPr lvl="2"/>
            <a:r>
              <a:rPr lang="en-CA" dirty="0"/>
              <a:t>Third level</a:t>
            </a:r>
            <a:endParaRPr lang="en-CA" dirty="0"/>
          </a:p>
          <a:p>
            <a:pPr lvl="3"/>
            <a:r>
              <a:rPr lang="en-CA"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A7869-BEC3-AC47-8AE5-EC3C0C76D79E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6"/>
            <a:ext cx="2895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315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23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59893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613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26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457200" eaLnBrk="1" hangingPunct="1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Estimating </a:t>
            </a: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b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co-occurrence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009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物种共存估计</a:t>
            </a:r>
            <a:endParaRPr lang="en-US" sz="4000" b="1" dirty="0">
              <a:solidFill>
                <a:srgbClr val="00009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6409" y="179323"/>
            <a:ext cx="1829276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dirty="0"/>
              <a:t>R</a:t>
            </a:r>
            <a:r>
              <a:rPr sz="3375" spc="-4" dirty="0"/>
              <a:t>a</a:t>
            </a:r>
            <a:r>
              <a:rPr sz="3375" dirty="0"/>
              <a:t>ti</a:t>
            </a:r>
            <a:r>
              <a:rPr sz="3375" spc="-4" dirty="0"/>
              <a:t>ona</a:t>
            </a:r>
            <a:r>
              <a:rPr sz="3375" dirty="0"/>
              <a:t>le</a:t>
            </a:r>
            <a:br>
              <a:rPr sz="3375" dirty="0"/>
            </a:br>
            <a:r>
              <a:rPr sz="3375" dirty="0"/>
              <a:t>原理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376555" y="1250315"/>
            <a:ext cx="8678545" cy="53714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spc="-4" dirty="0">
                <a:latin typeface="Arial" panose="020B0604020202020204"/>
                <a:cs typeface="Arial" panose="020B0604020202020204"/>
              </a:rPr>
              <a:t>Several (say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2)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different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 species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on</a:t>
            </a:r>
            <a:r>
              <a:rPr sz="2400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r>
              <a:rPr sz="2400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site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90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spc="-4" dirty="0">
                <a:latin typeface="Arial" panose="020B0604020202020204"/>
                <a:cs typeface="Arial" panose="020B0604020202020204"/>
              </a:rPr>
              <a:t>Interactions</a:t>
            </a:r>
            <a:r>
              <a:rPr sz="2400" spc="-11" dirty="0">
                <a:latin typeface="Arial" panose="020B0604020202020204"/>
                <a:cs typeface="Arial" panose="020B0604020202020204"/>
              </a:rPr>
              <a:t> affect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occupancy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probabilities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marR="3810" indent="-233680">
              <a:lnSpc>
                <a:spcPts val="2845"/>
              </a:lnSpc>
              <a:spcBef>
                <a:spcPts val="198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spc="-4" dirty="0">
                <a:latin typeface="Arial" panose="020B0604020202020204"/>
                <a:cs typeface="Arial" panose="020B0604020202020204"/>
              </a:rPr>
              <a:t>Detection of </a:t>
            </a:r>
            <a:r>
              <a:rPr sz="2400" dirty="0">
                <a:latin typeface="Arial" panose="020B0604020202020204"/>
                <a:cs typeface="Arial" panose="020B0604020202020204"/>
              </a:rPr>
              <a:t>a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species </a:t>
            </a:r>
            <a:r>
              <a:rPr sz="2400" spc="-11" dirty="0">
                <a:latin typeface="Arial" panose="020B0604020202020204"/>
                <a:cs typeface="Arial" panose="020B0604020202020204"/>
              </a:rPr>
              <a:t>affected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by presence of another </a:t>
            </a:r>
            <a:r>
              <a:rPr sz="2400" spc="-656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one: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blurred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interactions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4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u="heavy" spc="-4" dirty="0">
                <a:uFill>
                  <a:solidFill>
                    <a:srgbClr val="FFFFFF"/>
                  </a:solidFill>
                </a:uFill>
                <a:latin typeface="Arial" panose="020B0604020202020204"/>
                <a:cs typeface="Arial" panose="020B0604020202020204"/>
              </a:rPr>
              <a:t>Examples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:</a:t>
            </a:r>
            <a:r>
              <a:rPr sz="2400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predation,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mutualism,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4" dirty="0">
                <a:latin typeface="Arial" panose="020B0604020202020204"/>
                <a:cs typeface="Arial" panose="020B0604020202020204"/>
              </a:rPr>
              <a:t>competition,</a:t>
            </a:r>
            <a:r>
              <a:rPr sz="24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…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9525" indent="0">
              <a:spcBef>
                <a:spcPts val="1840"/>
              </a:spcBef>
              <a:buClr>
                <a:srgbClr val="A6A6A6"/>
              </a:buClr>
              <a:buNone/>
              <a:tabLst>
                <a:tab pos="242570" algn="l"/>
                <a:tab pos="24320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一个地点有几个</a:t>
            </a:r>
            <a:r>
              <a:rPr lang="zh-CN" sz="2400" dirty="0">
                <a:latin typeface="Arial" panose="020B0604020202020204"/>
                <a:cs typeface="Arial" panose="020B0604020202020204"/>
              </a:rPr>
              <a:t>（</a:t>
            </a:r>
            <a:r>
              <a:rPr sz="2400" dirty="0">
                <a:latin typeface="Arial" panose="020B0604020202020204"/>
                <a:cs typeface="Arial" panose="020B0604020202020204"/>
              </a:rPr>
              <a:t>比如2个</a:t>
            </a:r>
            <a:r>
              <a:rPr lang="zh-CN" sz="2400" dirty="0">
                <a:latin typeface="Arial" panose="020B0604020202020204"/>
                <a:cs typeface="Arial" panose="020B0604020202020204"/>
              </a:rPr>
              <a:t>）</a:t>
            </a:r>
            <a:r>
              <a:rPr sz="2400" dirty="0">
                <a:latin typeface="Arial" panose="020B0604020202020204"/>
                <a:cs typeface="Arial" panose="020B0604020202020204"/>
              </a:rPr>
              <a:t>不同的物种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4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相互作用会影响物种的</a:t>
            </a:r>
            <a:r>
              <a:rPr lang="zh-CN" sz="2400" dirty="0">
                <a:latin typeface="Arial" panose="020B0604020202020204"/>
                <a:cs typeface="Arial" panose="020B0604020202020204"/>
              </a:rPr>
              <a:t>占用</a:t>
            </a:r>
            <a:r>
              <a:rPr sz="2400" dirty="0">
                <a:latin typeface="Arial" panose="020B0604020202020204"/>
                <a:cs typeface="Arial" panose="020B0604020202020204"/>
              </a:rPr>
              <a:t>概率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4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一个物种的检测受到另一个物种存在的影响</a:t>
            </a:r>
            <a:r>
              <a:rPr lang="zh-CN" sz="2400" dirty="0">
                <a:latin typeface="Arial" panose="020B0604020202020204"/>
                <a:cs typeface="Arial" panose="020B0604020202020204"/>
              </a:rPr>
              <a:t>：</a:t>
            </a:r>
            <a:r>
              <a:rPr sz="2400" dirty="0">
                <a:latin typeface="Arial" panose="020B0604020202020204"/>
                <a:cs typeface="Arial" panose="020B0604020202020204"/>
              </a:rPr>
              <a:t>相互作用模糊不清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4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例子</a:t>
            </a:r>
            <a:r>
              <a:rPr lang="zh-CN" sz="2400" dirty="0">
                <a:latin typeface="Arial" panose="020B0604020202020204"/>
                <a:cs typeface="Arial" panose="020B0604020202020204"/>
              </a:rPr>
              <a:t>：</a:t>
            </a:r>
            <a:r>
              <a:rPr sz="2400" dirty="0">
                <a:latin typeface="Arial" panose="020B0604020202020204"/>
                <a:cs typeface="Arial" panose="020B0604020202020204"/>
              </a:rPr>
              <a:t>捕食、互惠、竞争……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21" y="139915"/>
            <a:ext cx="7285542" cy="871761"/>
          </a:xfrm>
          <a:noFill/>
        </p:spPr>
        <p:txBody>
          <a:bodyPr vert="horz" wrap="square" lIns="68162" tIns="34082" rIns="68162" bIns="34082" numCol="1" rtlCol="0" anchor="ctr" anchorCtr="0" compatLnSpc="1">
            <a:normAutofit fontScale="90000"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certain species found together?</a:t>
            </a:r>
            <a:b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为什么某些物种被发现在一起？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167765"/>
            <a:ext cx="6237605" cy="5549900"/>
          </a:xfrm>
          <a:noFill/>
        </p:spPr>
        <p:txBody>
          <a:bodyPr vert="horz" wrap="square" lIns="68162" tIns="34082" rIns="68162" bIns="34082" numCol="1" rtlCol="0" anchor="t" anchorCtr="0" compatLnSpc="1">
            <a:normAutofit fontScale="70000"/>
          </a:bodyPr>
          <a:lstStyle/>
          <a:p>
            <a:pPr>
              <a:buFontTx/>
              <a:buNone/>
            </a:pPr>
            <a:r>
              <a:rPr lang="en-US" sz="2250" b="1" dirty="0">
                <a:latin typeface="Arial" panose="020B0604020202020204" pitchFamily="34" charset="0"/>
                <a:cs typeface="Arial" panose="020B0604020202020204" pitchFamily="34" charset="0"/>
              </a:rPr>
              <a:t>1) Interactive Hypothesis - Clements</a:t>
            </a:r>
            <a:endParaRPr lang="en-US" sz="22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community is an integrated set of species held together by the interaction of its members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communities have emergent properties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discrete boundaries between communities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emphasizing studying assemblages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97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互动假说--克莱门茨</a:t>
            </a:r>
            <a:endParaRPr lang="en-US" sz="197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群落是由其成员相互作用而维系在一起的一个完整的物种集合体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群落</a:t>
            </a: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具有独特的、整体性</a:t>
            </a:r>
            <a:r>
              <a:rPr lang="zh-CN" alt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的特征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群落之间存在离散的边界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强调研究不同</a:t>
            </a:r>
            <a:r>
              <a:rPr lang="zh-CN" alt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群落的</a:t>
            </a: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组合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250" b="1" dirty="0">
                <a:latin typeface="Arial" panose="020B0604020202020204" pitchFamily="34" charset="0"/>
                <a:cs typeface="Arial" panose="020B0604020202020204" pitchFamily="34" charset="0"/>
              </a:rPr>
              <a:t>2) Individualistic Hypothesis – Gleason</a:t>
            </a:r>
            <a:endParaRPr lang="en-US" sz="22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species share similar abiotic requirements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no discrete boundaries between communities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</a:rPr>
              <a:t>emphasizes studying single species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97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个体化假说--格里森</a:t>
            </a:r>
            <a:endParaRPr lang="en-US" sz="197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物种具有相似的非生物要求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群落</a:t>
            </a: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之间没有</a:t>
            </a:r>
            <a:r>
              <a:rPr lang="zh-CN" alt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明确</a:t>
            </a:r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的界限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7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强调研究单一物种</a:t>
            </a:r>
            <a:endParaRPr lang="en-US" sz="19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 descr="Image result for frederick clement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575" y="708499"/>
            <a:ext cx="1870379" cy="317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Henry allen Gleas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665" y="4068173"/>
            <a:ext cx="1372560" cy="272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9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9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9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93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93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932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932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932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932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932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932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932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932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832" y="449601"/>
            <a:ext cx="8188655" cy="857250"/>
          </a:xfrm>
          <a:noFill/>
        </p:spPr>
        <p:txBody>
          <a:bodyPr vert="horz" wrap="square" lIns="68162" tIns="34082" rIns="68162" bIns="34082" numCol="1" rtlCol="0" anchor="ctr" anchorCtr="0" compatLnSpc="1">
            <a:normAutofit fontScale="90000"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Interspecific Interactions</a:t>
            </a:r>
            <a:b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种间相互作用概述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14960" y="1424305"/>
          <a:ext cx="858075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7970"/>
                <a:gridCol w="2211705"/>
                <a:gridCol w="2291080"/>
              </a:tblGrid>
              <a:tr h="7010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of interaction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互动类型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 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物种 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 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物种 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Competition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竞争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Consumer-Resource relationships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消费者-资源关系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Herbivory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食草动物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Predation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捕食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Parasitism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寄生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Mutualism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互利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/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偏利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共生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Commensalism</a:t>
                      </a: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共生</a:t>
                      </a:r>
                      <a:endParaRPr lang="zh-CN" altLang="en-US" sz="2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Amenselism</a:t>
                      </a:r>
                      <a:r>
                        <a:rPr lang="zh-CN" altLang="en-US" sz="2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偏害共生</a:t>
                      </a:r>
                      <a:endParaRPr lang="zh-CN" altLang="en-US" sz="2000" dirty="0" err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endParaRPr lang="en-US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992" y="574930"/>
            <a:ext cx="5244941" cy="88646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2850" spc="-4" dirty="0"/>
              <a:t>Questions</a:t>
            </a:r>
            <a:r>
              <a:rPr sz="2850" spc="-15" dirty="0"/>
              <a:t> </a:t>
            </a:r>
            <a:r>
              <a:rPr sz="2850" spc="-4" dirty="0"/>
              <a:t>you</a:t>
            </a:r>
            <a:r>
              <a:rPr sz="2850" spc="-15" dirty="0"/>
              <a:t> </a:t>
            </a:r>
            <a:r>
              <a:rPr sz="2850" dirty="0"/>
              <a:t>might</a:t>
            </a:r>
            <a:r>
              <a:rPr sz="2850" spc="-23" dirty="0"/>
              <a:t> </a:t>
            </a:r>
            <a:r>
              <a:rPr sz="2850" spc="-4" dirty="0"/>
              <a:t>want</a:t>
            </a:r>
            <a:r>
              <a:rPr sz="2850" spc="-15" dirty="0"/>
              <a:t> </a:t>
            </a:r>
            <a:r>
              <a:rPr sz="2850" spc="-4" dirty="0"/>
              <a:t>to</a:t>
            </a:r>
            <a:r>
              <a:rPr sz="2850" spc="-15" dirty="0"/>
              <a:t> </a:t>
            </a:r>
            <a:r>
              <a:rPr sz="2850" spc="-4" dirty="0"/>
              <a:t>ask</a:t>
            </a:r>
            <a:br>
              <a:rPr sz="2850" spc="-4" dirty="0"/>
            </a:br>
            <a:r>
              <a:rPr lang="zh-CN" sz="2850" spc="-4" dirty="0"/>
              <a:t>你可能想问的问题</a:t>
            </a:r>
            <a:endParaRPr lang="zh-CN" sz="2850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176530" y="1730375"/>
            <a:ext cx="8967470" cy="49676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marR="12001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dirty="0">
                <a:latin typeface="Arial" panose="020B0604020202020204"/>
                <a:cs typeface="Arial" panose="020B0604020202020204"/>
              </a:rPr>
              <a:t>Are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</a:rPr>
              <a:t>the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interacting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or</a:t>
            </a:r>
            <a:r>
              <a:rPr sz="1875" spc="11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not?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(beware:</a:t>
            </a:r>
            <a:r>
              <a:rPr sz="1875" spc="11" dirty="0">
                <a:latin typeface="Arial" panose="020B0604020202020204"/>
                <a:cs typeface="Arial" panose="020B0604020202020204"/>
              </a:rPr>
              <a:t> </a:t>
            </a:r>
            <a:r>
              <a:rPr sz="1875" u="sng" spc="-4" dirty="0">
                <a:latin typeface="Arial" panose="020B0604020202020204"/>
                <a:cs typeface="Arial" panose="020B0604020202020204"/>
              </a:rPr>
              <a:t>co-occurrence</a:t>
            </a:r>
            <a:r>
              <a:rPr sz="1875" u="sng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u="sng" spc="-4" dirty="0">
                <a:latin typeface="Arial" panose="020B0604020202020204"/>
                <a:cs typeface="Arial" panose="020B0604020202020204"/>
              </a:rPr>
              <a:t>is</a:t>
            </a:r>
            <a:r>
              <a:rPr sz="1875" u="sng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u="sng" spc="-4" dirty="0">
                <a:latin typeface="Arial" panose="020B0604020202020204"/>
                <a:cs typeface="Arial" panose="020B0604020202020204"/>
              </a:rPr>
              <a:t>not</a:t>
            </a:r>
            <a:r>
              <a:rPr sz="1875" u="sng" spc="11" dirty="0">
                <a:latin typeface="Arial" panose="020B0604020202020204"/>
                <a:cs typeface="Arial" panose="020B0604020202020204"/>
              </a:rPr>
              <a:t> </a:t>
            </a:r>
            <a:r>
              <a:rPr sz="1875" u="sng" spc="-4" dirty="0">
                <a:latin typeface="Arial" panose="020B0604020202020204"/>
                <a:cs typeface="Arial" panose="020B0604020202020204"/>
              </a:rPr>
              <a:t>necessary </a:t>
            </a:r>
            <a:r>
              <a:rPr sz="1875" u="sng" spc="-510" dirty="0">
                <a:latin typeface="Arial" panose="020B0604020202020204"/>
                <a:cs typeface="Arial" panose="020B0604020202020204"/>
              </a:rPr>
              <a:t> </a:t>
            </a:r>
            <a:r>
              <a:rPr sz="1875" u="sng" spc="-4" dirty="0">
                <a:latin typeface="Arial" panose="020B0604020202020204"/>
                <a:cs typeface="Arial" panose="020B0604020202020204"/>
              </a:rPr>
              <a:t>interaction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)</a:t>
            </a:r>
            <a:r>
              <a:rPr lang="en-US" sz="1875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物种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之间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是否</a:t>
            </a:r>
            <a:r>
              <a:rPr sz="1875" spc="11" dirty="0">
                <a:latin typeface="Arial" panose="020B0604020202020204"/>
                <a:cs typeface="Arial" panose="020B0604020202020204"/>
                <a:sym typeface="+mn-ea"/>
              </a:rPr>
              <a:t>存在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相互作用</a:t>
            </a:r>
            <a:r>
              <a:rPr lang="zh-CN" sz="1875" spc="-4" dirty="0">
                <a:latin typeface="Arial" panose="020B0604020202020204"/>
                <a:cs typeface="Arial" panose="020B0604020202020204"/>
                <a:sym typeface="+mn-ea"/>
              </a:rPr>
              <a:t>？</a:t>
            </a:r>
            <a:r>
              <a:rPr lang="zh-CN" sz="1875" spc="-4" dirty="0">
                <a:latin typeface="Arial" panose="020B0604020202020204"/>
                <a:cs typeface="Arial" panose="020B0604020202020204"/>
                <a:sym typeface="+mn-ea"/>
              </a:rPr>
              <a:t>（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注意：</a:t>
            </a:r>
            <a:r>
              <a:rPr sz="1875" u="sng" spc="-4" dirty="0">
                <a:latin typeface="Arial" panose="020B0604020202020204"/>
                <a:cs typeface="Arial" panose="020B0604020202020204"/>
                <a:sym typeface="+mn-ea"/>
              </a:rPr>
              <a:t>共同出现并不一定是相互作用</a:t>
            </a:r>
            <a:r>
              <a:rPr lang="zh-CN" sz="1875" u="sng" spc="-4" dirty="0">
                <a:latin typeface="Arial" panose="020B0604020202020204"/>
                <a:cs typeface="Arial" panose="020B0604020202020204"/>
                <a:sym typeface="+mn-ea"/>
              </a:rPr>
              <a:t>）</a:t>
            </a:r>
            <a:endParaRPr sz="1875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4" dirty="0">
                <a:latin typeface="Arial" panose="020B0604020202020204"/>
                <a:cs typeface="Arial" panose="020B0604020202020204"/>
              </a:rPr>
              <a:t>Do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interactions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</a:rPr>
              <a:t>vary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along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an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environmental gradient?</a:t>
            </a:r>
            <a:r>
              <a:rPr lang="en-US" sz="1875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物种之间的相互作用会随着环境梯度的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变化而变化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吗？</a:t>
            </a:r>
            <a:endParaRPr sz="1875" dirty="0">
              <a:latin typeface="Arial" panose="020B0604020202020204"/>
              <a:cs typeface="Arial" panose="020B0604020202020204"/>
            </a:endParaRPr>
          </a:p>
          <a:p>
            <a:pPr marL="243205" marR="3810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4" dirty="0">
                <a:latin typeface="Arial" panose="020B0604020202020204"/>
                <a:cs typeface="Arial" panose="020B0604020202020204"/>
              </a:rPr>
              <a:t>What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marginal occupancy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probability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of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</a:rPr>
              <a:t>some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sz="1875" dirty="0">
                <a:latin typeface="Arial" panose="020B0604020202020204"/>
                <a:cs typeface="Arial" panose="020B0604020202020204"/>
              </a:rPr>
              <a:t> (that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averaged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on </a:t>
            </a:r>
            <a:r>
              <a:rPr sz="1875" spc="-510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presence/absence of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all other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species)</a:t>
            </a:r>
            <a:r>
              <a:rPr lang="en-US" sz="1875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某些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物种的边际</a:t>
            </a:r>
            <a:r>
              <a:rPr lang="zh-CN" sz="1875" spc="-4" dirty="0">
                <a:latin typeface="Arial" panose="020B0604020202020204"/>
                <a:cs typeface="Arial" panose="020B0604020202020204"/>
                <a:sym typeface="+mn-ea"/>
              </a:rPr>
              <a:t>占用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概率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是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多少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（即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所有其他物种存在/不存在的平均值）</a:t>
            </a:r>
            <a:endParaRPr sz="1875" dirty="0">
              <a:latin typeface="Arial" panose="020B0604020202020204"/>
              <a:cs typeface="Arial" panose="020B0604020202020204"/>
            </a:endParaRPr>
          </a:p>
          <a:p>
            <a:pPr marL="243205" marR="26987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4" dirty="0">
                <a:latin typeface="Arial" panose="020B0604020202020204"/>
                <a:cs typeface="Arial" panose="020B0604020202020204"/>
              </a:rPr>
              <a:t>What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probability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of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</a:rPr>
              <a:t>some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conditional on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presence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or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absence</a:t>
            </a:r>
            <a:r>
              <a:rPr sz="1875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of </a:t>
            </a:r>
            <a:r>
              <a:rPr sz="1875" spc="-510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other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lang="en-US" sz="1875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以是否存在其他物种为条件，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某些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物种</a:t>
            </a:r>
            <a:r>
              <a:rPr sz="1875" dirty="0">
                <a:latin typeface="Arial" panose="020B0604020202020204"/>
                <a:cs typeface="Arial" panose="020B0604020202020204"/>
                <a:sym typeface="+mn-ea"/>
              </a:rPr>
              <a:t>的</a:t>
            </a:r>
            <a:r>
              <a:rPr sz="1875" spc="-4" dirty="0">
                <a:latin typeface="Arial" panose="020B0604020202020204"/>
                <a:cs typeface="Arial" panose="020B0604020202020204"/>
                <a:sym typeface="+mn-ea"/>
              </a:rPr>
              <a:t>概率是多少？</a:t>
            </a:r>
            <a:endParaRPr sz="1875" dirty="0">
              <a:latin typeface="Arial" panose="020B0604020202020204"/>
              <a:cs typeface="Arial" panose="020B0604020202020204"/>
            </a:endParaRPr>
          </a:p>
          <a:p>
            <a:pPr marL="243205" marR="22796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4" dirty="0">
                <a:latin typeface="Arial" panose="020B0604020202020204"/>
                <a:cs typeface="Arial" panose="020B0604020202020204"/>
              </a:rPr>
              <a:t>What</a:t>
            </a:r>
            <a:r>
              <a:rPr sz="1875" spc="11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latin typeface="Arial" panose="020B0604020202020204"/>
                <a:cs typeface="Arial" panose="020B0604020202020204"/>
              </a:rPr>
              <a:t>the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relative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contribution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of</a:t>
            </a:r>
            <a:r>
              <a:rPr sz="1875" spc="11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environmental</a:t>
            </a:r>
            <a:r>
              <a:rPr sz="1875" dirty="0">
                <a:latin typeface="Arial" panose="020B0604020202020204"/>
                <a:cs typeface="Arial" panose="020B0604020202020204"/>
              </a:rPr>
              <a:t> vs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species</a:t>
            </a:r>
            <a:r>
              <a:rPr sz="1875" spc="4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interactions</a:t>
            </a:r>
            <a:r>
              <a:rPr sz="1875" spc="8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in </a:t>
            </a:r>
            <a:r>
              <a:rPr sz="1875" spc="-510" dirty="0"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latin typeface="Arial" panose="020B0604020202020204"/>
                <a:cs typeface="Arial" panose="020B0604020202020204"/>
              </a:rPr>
              <a:t>occupancy?</a:t>
            </a:r>
            <a:r>
              <a:rPr lang="en-US" sz="1875" spc="-4" dirty="0">
                <a:latin typeface="Arial" panose="020B0604020202020204"/>
                <a:cs typeface="Arial" panose="020B0604020202020204"/>
              </a:rPr>
              <a:t> </a:t>
            </a:r>
            <a:r>
              <a:rPr lang="zh-CN" sz="1875" spc="-4" dirty="0">
                <a:latin typeface="Arial" panose="020B0604020202020204"/>
                <a:cs typeface="Arial" panose="020B0604020202020204"/>
                <a:sym typeface="+mn-ea"/>
              </a:rPr>
              <a:t>在物种共存中，环境因素和物种之间的相互作用哪一个对物种出现的影响更大？</a:t>
            </a:r>
            <a:endParaRPr lang="zh-CN" sz="1875" spc="-4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243205" marR="22796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endParaRPr sz="187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990" y="799465"/>
            <a:ext cx="2773680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States</a:t>
            </a:r>
            <a:br>
              <a:rPr sz="3375" spc="-4" dirty="0"/>
            </a:br>
            <a:r>
              <a:rPr lang="zh-CN" sz="3375" spc="-4" dirty="0"/>
              <a:t>状态</a:t>
            </a:r>
            <a:endParaRPr lang="zh-CN" sz="3375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436566" y="2143506"/>
            <a:ext cx="5557361" cy="39427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3310"/>
              </a:lnSpc>
              <a:spcBef>
                <a:spcPts val="75"/>
              </a:spcBef>
              <a:tabLst>
                <a:tab pos="361315" algn="l"/>
              </a:tabLst>
            </a:pPr>
            <a:r>
              <a:rPr sz="2775" dirty="0">
                <a:latin typeface="Arial" panose="020B0604020202020204"/>
                <a:cs typeface="Arial" panose="020B0604020202020204"/>
              </a:rPr>
              <a:t>U	=</a:t>
            </a:r>
            <a:r>
              <a:rPr sz="2775" spc="-23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site</a:t>
            </a:r>
            <a:r>
              <a:rPr sz="2775" spc="-19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unoccupied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A</a:t>
            </a:r>
            <a:r>
              <a:rPr sz="2775" spc="-169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site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occupied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by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species</a:t>
            </a:r>
            <a:r>
              <a:rPr sz="2775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A</a:t>
            </a:r>
            <a:r>
              <a:rPr sz="2775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only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B</a:t>
            </a:r>
            <a:r>
              <a:rPr sz="2775" spc="-19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site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occupied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by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species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B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only </a:t>
            </a:r>
            <a:r>
              <a:rPr sz="2775" spc="-761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AB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site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occupied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by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both</a:t>
            </a:r>
            <a:r>
              <a:rPr sz="2775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species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U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dirty="0">
                <a:latin typeface="Arial" panose="020B0604020202020204"/>
                <a:cs typeface="Arial" panose="020B0604020202020204"/>
              </a:rPr>
              <a:t>未被占用的地点。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A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dirty="0">
                <a:latin typeface="Arial" panose="020B0604020202020204"/>
                <a:cs typeface="Arial" panose="020B0604020202020204"/>
              </a:rPr>
              <a:t>仅由物种</a:t>
            </a:r>
            <a:r>
              <a:rPr sz="2775" dirty="0">
                <a:latin typeface="Arial" panose="020B0604020202020204"/>
                <a:cs typeface="Arial" panose="020B0604020202020204"/>
                <a:sym typeface="+mn-ea"/>
              </a:rPr>
              <a:t>A</a:t>
            </a:r>
            <a:r>
              <a:rPr sz="2775" dirty="0">
                <a:latin typeface="Arial" panose="020B0604020202020204"/>
                <a:cs typeface="Arial" panose="020B0604020202020204"/>
              </a:rPr>
              <a:t>占用</a:t>
            </a:r>
            <a:r>
              <a:rPr sz="2775" dirty="0">
                <a:latin typeface="Arial" panose="020B0604020202020204"/>
                <a:cs typeface="Arial" panose="020B0604020202020204"/>
              </a:rPr>
              <a:t>的地点。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B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dirty="0">
                <a:latin typeface="Arial" panose="020B0604020202020204"/>
                <a:cs typeface="Arial" panose="020B0604020202020204"/>
              </a:rPr>
              <a:t>仅由物种</a:t>
            </a:r>
            <a:r>
              <a:rPr sz="2775" dirty="0">
                <a:latin typeface="Arial" panose="020B0604020202020204"/>
                <a:cs typeface="Arial" panose="020B0604020202020204"/>
                <a:sym typeface="+mn-ea"/>
              </a:rPr>
              <a:t>B</a:t>
            </a:r>
            <a:r>
              <a:rPr sz="2775" dirty="0">
                <a:latin typeface="Arial" panose="020B0604020202020204"/>
                <a:cs typeface="Arial" panose="020B0604020202020204"/>
              </a:rPr>
              <a:t>占用</a:t>
            </a:r>
            <a:r>
              <a:rPr sz="2775" dirty="0">
                <a:latin typeface="Arial" panose="020B0604020202020204"/>
                <a:cs typeface="Arial" panose="020B0604020202020204"/>
              </a:rPr>
              <a:t>的地点。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 marR="3810">
              <a:lnSpc>
                <a:spcPts val="3290"/>
              </a:lnSpc>
              <a:spcBef>
                <a:spcPts val="170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AB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dirty="0">
                <a:latin typeface="Arial" panose="020B0604020202020204"/>
                <a:cs typeface="Arial" panose="020B0604020202020204"/>
              </a:rPr>
              <a:t>同时被物种</a:t>
            </a:r>
            <a:r>
              <a:rPr sz="2775" dirty="0">
                <a:latin typeface="Arial" panose="020B0604020202020204"/>
                <a:cs typeface="Arial" panose="020B0604020202020204"/>
                <a:sym typeface="+mn-ea"/>
              </a:rPr>
              <a:t>A和B</a:t>
            </a:r>
            <a:r>
              <a:rPr sz="2775" dirty="0">
                <a:latin typeface="Arial" panose="020B0604020202020204"/>
                <a:cs typeface="Arial" panose="020B0604020202020204"/>
              </a:rPr>
              <a:t>占用</a:t>
            </a:r>
            <a:r>
              <a:rPr sz="2775" dirty="0">
                <a:latin typeface="Arial" panose="020B0604020202020204"/>
                <a:cs typeface="Arial" panose="020B0604020202020204"/>
              </a:rPr>
              <a:t>的地点。</a:t>
            </a:r>
            <a:endParaRPr sz="277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1596" y="799083"/>
            <a:ext cx="2638901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State</a:t>
            </a:r>
            <a:r>
              <a:rPr sz="3375" spc="-56" dirty="0"/>
              <a:t> </a:t>
            </a:r>
            <a:r>
              <a:rPr sz="3375" spc="-4" dirty="0"/>
              <a:t>process</a:t>
            </a:r>
            <a:br>
              <a:rPr sz="3375" spc="-4" dirty="0"/>
            </a:br>
            <a:r>
              <a:rPr lang="zh-CN" sz="3375" spc="-4" dirty="0"/>
              <a:t>状态过程</a:t>
            </a:r>
            <a:endParaRPr lang="zh-CN" sz="3375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410845" y="2143760"/>
            <a:ext cx="8218170" cy="38938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</a:pP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sz="2800" spc="-79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 spc="-79" dirty="0">
                <a:latin typeface="Arial" panose="020B0604020202020204"/>
                <a:cs typeface="Arial" panose="020B0604020202020204"/>
              </a:rPr>
              <a:t>= </a:t>
            </a:r>
            <a:r>
              <a:rPr sz="2800" dirty="0">
                <a:latin typeface="Arial" panose="020B0604020202020204"/>
                <a:cs typeface="Arial" panose="020B0604020202020204"/>
              </a:rPr>
              <a:t>pro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b</a:t>
            </a:r>
            <a:r>
              <a:rPr sz="2800" dirty="0">
                <a:latin typeface="Arial" panose="020B0604020202020204"/>
                <a:cs typeface="Arial" panose="020B0604020202020204"/>
              </a:rPr>
              <a:t>.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 si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t</a:t>
            </a:r>
            <a:r>
              <a:rPr sz="2800" dirty="0">
                <a:latin typeface="Arial" panose="020B0604020202020204"/>
                <a:cs typeface="Arial" panose="020B0604020202020204"/>
              </a:rPr>
              <a:t>e is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occ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u</a:t>
            </a:r>
            <a:r>
              <a:rPr sz="2800" dirty="0">
                <a:latin typeface="Arial" panose="020B0604020202020204"/>
                <a:cs typeface="Arial" panose="020B0604020202020204"/>
              </a:rPr>
              <a:t>pied by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15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25"/>
              </a:spcBef>
            </a:pPr>
            <a:endParaRPr sz="2800" dirty="0">
              <a:latin typeface="Arial" panose="020B0604020202020204"/>
              <a:cs typeface="Arial" panose="020B0604020202020204"/>
            </a:endParaRPr>
          </a:p>
          <a:p>
            <a:pPr marL="47625"/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800" spc="-79" dirty="0">
                <a:latin typeface="Arial" panose="020B0604020202020204"/>
                <a:cs typeface="Arial" panose="020B0604020202020204"/>
              </a:rPr>
              <a:t> = </a:t>
            </a:r>
            <a:r>
              <a:rPr sz="2800" dirty="0">
                <a:latin typeface="Arial" panose="020B0604020202020204"/>
                <a:cs typeface="Arial" panose="020B0604020202020204"/>
              </a:rPr>
              <a:t>pro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b</a:t>
            </a:r>
            <a:r>
              <a:rPr sz="2800" dirty="0">
                <a:latin typeface="Arial" panose="020B0604020202020204"/>
                <a:cs typeface="Arial" panose="020B0604020202020204"/>
              </a:rPr>
              <a:t>.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 si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t</a:t>
            </a:r>
            <a:r>
              <a:rPr sz="2800" dirty="0">
                <a:latin typeface="Arial" panose="020B0604020202020204"/>
                <a:cs typeface="Arial" panose="020B0604020202020204"/>
              </a:rPr>
              <a:t>e is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occ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u</a:t>
            </a:r>
            <a:r>
              <a:rPr sz="2800" dirty="0">
                <a:latin typeface="Arial" panose="020B0604020202020204"/>
                <a:cs typeface="Arial" panose="020B0604020202020204"/>
              </a:rPr>
              <a:t>pied by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25"/>
              </a:spcBef>
            </a:pPr>
            <a:endParaRPr sz="2800" dirty="0">
              <a:latin typeface="Arial" panose="020B0604020202020204"/>
              <a:cs typeface="Arial" panose="020B0604020202020204"/>
            </a:endParaRPr>
          </a:p>
          <a:p>
            <a:pPr marL="47625"/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800" spc="-79" dirty="0">
                <a:latin typeface="Arial" panose="020B0604020202020204"/>
                <a:cs typeface="Arial" panose="020B0604020202020204"/>
              </a:rPr>
              <a:t> = </a:t>
            </a:r>
            <a:r>
              <a:rPr sz="2800" dirty="0">
                <a:latin typeface="Arial" panose="020B0604020202020204"/>
                <a:cs typeface="Arial" panose="020B0604020202020204"/>
              </a:rPr>
              <a:t>pro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b</a:t>
            </a:r>
            <a:r>
              <a:rPr sz="2800" dirty="0">
                <a:latin typeface="Arial" panose="020B0604020202020204"/>
                <a:cs typeface="Arial" panose="020B0604020202020204"/>
              </a:rPr>
              <a:t>.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 si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t</a:t>
            </a:r>
            <a:r>
              <a:rPr sz="2800" dirty="0">
                <a:latin typeface="Arial" panose="020B0604020202020204"/>
                <a:cs typeface="Arial" panose="020B0604020202020204"/>
              </a:rPr>
              <a:t>e is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occ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u</a:t>
            </a:r>
            <a:r>
              <a:rPr sz="2800" dirty="0">
                <a:latin typeface="Arial" panose="020B0604020202020204"/>
                <a:cs typeface="Arial" panose="020B0604020202020204"/>
              </a:rPr>
              <a:t>pied by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15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161" dirty="0">
                <a:latin typeface="Arial" panose="020B0604020202020204"/>
                <a:cs typeface="Arial" panose="020B0604020202020204"/>
              </a:rPr>
              <a:t> </a:t>
            </a:r>
            <a:r>
              <a:rPr sz="2800" u="sng" dirty="0">
                <a:latin typeface="Arial" panose="020B0604020202020204"/>
                <a:cs typeface="Arial" panose="020B0604020202020204"/>
              </a:rPr>
              <a:t>and</a:t>
            </a:r>
            <a:r>
              <a:rPr sz="2800" dirty="0">
                <a:latin typeface="Arial" panose="020B0604020202020204"/>
                <a:cs typeface="Arial" panose="020B0604020202020204"/>
              </a:rPr>
              <a:t> B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47625"/>
            <a:endParaRPr sz="2800" dirty="0">
              <a:latin typeface="Arial" panose="020B0604020202020204"/>
              <a:cs typeface="Arial" panose="020B0604020202020204"/>
            </a:endParaRPr>
          </a:p>
          <a:p>
            <a:pPr marL="47625"/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sz="2800" spc="-79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2800" spc="-79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某</a:t>
            </a:r>
            <a:r>
              <a:rPr lang="zh-CN" sz="2800" dirty="0">
                <a:latin typeface="Arial" panose="020B0604020202020204"/>
                <a:cs typeface="Arial" panose="020B0604020202020204"/>
                <a:sym typeface="+mn-ea"/>
              </a:rPr>
              <a:t>地点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被物种 A 占用的</a:t>
            </a:r>
            <a:r>
              <a:rPr sz="2800" spc="4" dirty="0">
                <a:latin typeface="Arial" panose="020B0604020202020204"/>
                <a:cs typeface="Arial" panose="020B0604020202020204"/>
                <a:sym typeface="+mn-ea"/>
              </a:rPr>
              <a:t>概率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47625"/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800" spc="-79" dirty="0">
                <a:latin typeface="Arial" panose="020B0604020202020204"/>
                <a:cs typeface="Arial" panose="020B0604020202020204"/>
                <a:sym typeface="+mn-ea"/>
              </a:rPr>
              <a:t> =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某</a:t>
            </a:r>
            <a:r>
              <a:rPr lang="zh-CN" sz="2800" dirty="0">
                <a:latin typeface="Arial" panose="020B0604020202020204"/>
                <a:cs typeface="Arial" panose="020B0604020202020204"/>
                <a:sym typeface="+mn-ea"/>
              </a:rPr>
              <a:t>地点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被物种 B 占用的</a:t>
            </a:r>
            <a:r>
              <a:rPr sz="2800" spc="4" dirty="0">
                <a:latin typeface="Arial" panose="020B0604020202020204"/>
                <a:cs typeface="Arial" panose="020B0604020202020204"/>
                <a:sym typeface="+mn-ea"/>
              </a:rPr>
              <a:t>概率</a:t>
            </a:r>
            <a:endParaRPr sz="2800" spc="4" dirty="0">
              <a:latin typeface="Arial" panose="020B0604020202020204"/>
              <a:cs typeface="Arial" panose="020B0604020202020204"/>
            </a:endParaRPr>
          </a:p>
          <a:p>
            <a:pPr marL="47625"/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800" spc="-79" dirty="0">
                <a:latin typeface="Arial" panose="020B0604020202020204"/>
                <a:cs typeface="Arial" panose="020B0604020202020204"/>
                <a:sym typeface="+mn-ea"/>
              </a:rPr>
              <a:t> =</a:t>
            </a:r>
            <a:r>
              <a:rPr lang="zh-CN" altLang="en-US" sz="2800" spc="-79" dirty="0">
                <a:latin typeface="Arial" panose="020B0604020202020204"/>
                <a:cs typeface="Arial" panose="020B0604020202020204"/>
                <a:sym typeface="+mn-ea"/>
              </a:rPr>
              <a:t>某</a:t>
            </a:r>
            <a:r>
              <a:rPr lang="zh-CN" sz="2800" dirty="0">
                <a:latin typeface="Arial" panose="020B0604020202020204"/>
                <a:cs typeface="Arial" panose="020B0604020202020204"/>
                <a:sym typeface="+mn-ea"/>
              </a:rPr>
              <a:t>地点</a:t>
            </a:r>
            <a:r>
              <a:rPr sz="2800" dirty="0">
                <a:latin typeface="Arial" panose="020B0604020202020204"/>
                <a:cs typeface="Arial" panose="020B0604020202020204"/>
              </a:rPr>
              <a:t>同时被物种A</a:t>
            </a:r>
            <a:r>
              <a:rPr sz="2800" u="sng" dirty="0">
                <a:latin typeface="Arial" panose="020B0604020202020204"/>
                <a:cs typeface="Arial" panose="020B0604020202020204"/>
              </a:rPr>
              <a:t>和</a:t>
            </a:r>
            <a:r>
              <a:rPr sz="2800" dirty="0">
                <a:latin typeface="Arial" panose="020B0604020202020204"/>
                <a:cs typeface="Arial" panose="020B0604020202020204"/>
              </a:rPr>
              <a:t>B占用的概率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7191" y="799083"/>
            <a:ext cx="4565809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Conditional</a:t>
            </a:r>
            <a:r>
              <a:rPr sz="3375" spc="-30" dirty="0"/>
              <a:t> </a:t>
            </a:r>
            <a:r>
              <a:rPr sz="3375" spc="-4" dirty="0"/>
              <a:t>probabilities</a:t>
            </a:r>
            <a:br>
              <a:rPr sz="3375" spc="-4" dirty="0"/>
            </a:br>
            <a:r>
              <a:rPr sz="3375" spc="-4" dirty="0"/>
              <a:t>条件概率</a:t>
            </a:r>
            <a:endParaRPr sz="3375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523875" y="2310765"/>
            <a:ext cx="8319135" cy="4225290"/>
          </a:xfrm>
          <a:prstGeom prst="rect">
            <a:avLst/>
          </a:prstGeom>
        </p:spPr>
        <p:txBody>
          <a:bodyPr vert="horz" wrap="square" lIns="0" tIns="27146" rIns="0" bIns="0" rtlCol="0">
            <a:spAutoFit/>
          </a:bodyPr>
          <a:lstStyle/>
          <a:p>
            <a:pPr marL="38100" marR="71120">
              <a:lnSpc>
                <a:spcPts val="3290"/>
              </a:lnSpc>
              <a:spcBef>
                <a:spcPts val="215"/>
              </a:spcBef>
            </a:pP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A|B</a:t>
            </a:r>
            <a:r>
              <a:rPr lang="en-US" sz="2800" spc="-79" baseline="30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 spc="-79" dirty="0">
                <a:latin typeface="Arial" panose="020B0604020202020204"/>
                <a:cs typeface="Arial" panose="020B0604020202020204"/>
              </a:rPr>
              <a:t>= </a:t>
            </a:r>
            <a:r>
              <a:rPr sz="2800" dirty="0">
                <a:latin typeface="Arial" panose="020B0604020202020204"/>
                <a:cs typeface="Arial" panose="020B0604020202020204"/>
              </a:rPr>
              <a:t>p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r</a:t>
            </a:r>
            <a:r>
              <a:rPr sz="2800" dirty="0">
                <a:latin typeface="Arial" panose="020B0604020202020204"/>
                <a:cs typeface="Arial" panose="020B0604020202020204"/>
              </a:rPr>
              <a:t>ob.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 si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t</a:t>
            </a:r>
            <a:r>
              <a:rPr sz="2800" dirty="0">
                <a:latin typeface="Arial" panose="020B0604020202020204"/>
                <a:cs typeface="Arial" panose="020B0604020202020204"/>
              </a:rPr>
              <a:t>e is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occ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u</a:t>
            </a:r>
            <a:r>
              <a:rPr sz="2800" dirty="0">
                <a:latin typeface="Arial" panose="020B0604020202020204"/>
                <a:cs typeface="Arial" panose="020B0604020202020204"/>
              </a:rPr>
              <a:t>pied by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15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161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giv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e</a:t>
            </a:r>
            <a:r>
              <a:rPr sz="2800" dirty="0">
                <a:latin typeface="Arial" panose="020B0604020202020204"/>
                <a:cs typeface="Arial" panose="020B0604020202020204"/>
              </a:rPr>
              <a:t>n  p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r</a:t>
            </a:r>
            <a:r>
              <a:rPr sz="2800" dirty="0">
                <a:latin typeface="Arial" panose="020B0604020202020204"/>
                <a:cs typeface="Arial" panose="020B0604020202020204"/>
              </a:rPr>
              <a:t>es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e</a:t>
            </a:r>
            <a:r>
              <a:rPr sz="2800" dirty="0">
                <a:latin typeface="Arial" panose="020B0604020202020204"/>
                <a:cs typeface="Arial" panose="020B0604020202020204"/>
              </a:rPr>
              <a:t>nce of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=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sz="2800" spc="314" baseline="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</a:rPr>
              <a:t></a:t>
            </a:r>
            <a:r>
              <a:rPr sz="2800" spc="-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sz="2800" baseline="30000" dirty="0">
              <a:latin typeface="Symbol" panose="05050102010706020507"/>
              <a:cs typeface="Symbol" panose="05050102010706020507"/>
            </a:endParaRPr>
          </a:p>
          <a:p>
            <a:pPr>
              <a:spcBef>
                <a:spcPts val="25"/>
              </a:spcBef>
            </a:pPr>
            <a:endParaRPr sz="2800" dirty="0">
              <a:latin typeface="Symbol" panose="05050102010706020507"/>
              <a:cs typeface="Symbol" panose="05050102010706020507"/>
            </a:endParaRPr>
          </a:p>
          <a:p>
            <a:pPr marL="38100" marR="32385">
              <a:lnSpc>
                <a:spcPct val="102000"/>
              </a:lnSpc>
            </a:pP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B|A</a:t>
            </a:r>
            <a:r>
              <a:rPr lang="en-US" sz="2800" spc="298" baseline="30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=</a:t>
            </a:r>
            <a:r>
              <a:rPr sz="2800" spc="-79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p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r</a:t>
            </a:r>
            <a:r>
              <a:rPr sz="2800" dirty="0">
                <a:latin typeface="Arial" panose="020B0604020202020204"/>
                <a:cs typeface="Arial" panose="020B0604020202020204"/>
              </a:rPr>
              <a:t>ob.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 si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t</a:t>
            </a:r>
            <a:r>
              <a:rPr sz="2800" dirty="0">
                <a:latin typeface="Arial" panose="020B0604020202020204"/>
                <a:cs typeface="Arial" panose="020B0604020202020204"/>
              </a:rPr>
              <a:t>e is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occ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u</a:t>
            </a:r>
            <a:r>
              <a:rPr sz="2800" dirty="0">
                <a:latin typeface="Arial" panose="020B0604020202020204"/>
                <a:cs typeface="Arial" panose="020B0604020202020204"/>
              </a:rPr>
              <a:t>pied by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giv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e</a:t>
            </a:r>
            <a:r>
              <a:rPr sz="2800" dirty="0">
                <a:latin typeface="Arial" panose="020B0604020202020204"/>
                <a:cs typeface="Arial" panose="020B0604020202020204"/>
              </a:rPr>
              <a:t>n  p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r</a:t>
            </a:r>
            <a:r>
              <a:rPr sz="2800" dirty="0">
                <a:latin typeface="Arial" panose="020B0604020202020204"/>
                <a:cs typeface="Arial" panose="020B0604020202020204"/>
              </a:rPr>
              <a:t>es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e</a:t>
            </a:r>
            <a:r>
              <a:rPr sz="2800" dirty="0">
                <a:latin typeface="Arial" panose="020B0604020202020204"/>
                <a:cs typeface="Arial" panose="020B0604020202020204"/>
              </a:rPr>
              <a:t>nce of</a:t>
            </a:r>
            <a:r>
              <a:rPr sz="28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</a:t>
            </a:r>
            <a:r>
              <a:rPr sz="2800" spc="4" dirty="0">
                <a:latin typeface="Arial" panose="020B0604020202020204"/>
                <a:cs typeface="Arial" panose="020B0604020202020204"/>
              </a:rPr>
              <a:t>p</a:t>
            </a:r>
            <a:r>
              <a:rPr sz="2800" dirty="0">
                <a:latin typeface="Arial" panose="020B0604020202020204"/>
                <a:cs typeface="Arial" panose="020B0604020202020204"/>
              </a:rPr>
              <a:t>ecies</a:t>
            </a:r>
            <a:r>
              <a:rPr sz="2800" spc="-158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161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=</a:t>
            </a:r>
            <a:r>
              <a:rPr sz="2800" spc="-4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800" baseline="-25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</a:rPr>
              <a:t></a:t>
            </a:r>
            <a:r>
              <a:rPr lang="en-US" sz="2800" spc="-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endParaRPr lang="en-US" sz="2800" baseline="30000" dirty="0" err="1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38100" marR="32385">
              <a:lnSpc>
                <a:spcPct val="102000"/>
              </a:lnSpc>
            </a:pPr>
            <a:endParaRPr sz="2800" baseline="30000" dirty="0">
              <a:latin typeface="Symbol" panose="05050102010706020507"/>
              <a:cs typeface="Symbol" panose="05050102010706020507"/>
            </a:endParaRPr>
          </a:p>
          <a:p>
            <a:pPr marL="38100" marR="32385">
              <a:lnSpc>
                <a:spcPct val="102000"/>
              </a:lnSpc>
            </a:pP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A|B</a:t>
            </a:r>
            <a:r>
              <a:rPr lang="en-US" sz="2800" spc="-79" baseline="30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2800" spc="-79" dirty="0">
                <a:latin typeface="Arial" panose="020B0604020202020204"/>
                <a:cs typeface="Arial" panose="020B0604020202020204"/>
                <a:sym typeface="+mn-ea"/>
              </a:rPr>
              <a:t>=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在物种 B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存在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的情况下，一个地点被物种 A 占用的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概率=</a:t>
            </a:r>
            <a:r>
              <a:rPr sz="2800" spc="-4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sz="2800" spc="314" baseline="24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  <a:sym typeface="+mn-ea"/>
              </a:rPr>
              <a:t></a:t>
            </a:r>
            <a:r>
              <a:rPr sz="2800" spc="-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sz="2800" baseline="30000" dirty="0">
              <a:latin typeface="Symbol" panose="05050102010706020507"/>
              <a:cs typeface="Symbol" panose="05050102010706020507"/>
            </a:endParaRPr>
          </a:p>
          <a:p>
            <a:pPr marL="38100" marR="32385">
              <a:lnSpc>
                <a:spcPct val="102000"/>
              </a:lnSpc>
            </a:pP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B|A</a:t>
            </a:r>
            <a:r>
              <a:rPr lang="en-US" sz="2800" spc="298" baseline="30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2800" spc="-79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在物种 A </a:t>
            </a:r>
            <a:r>
              <a:rPr lang="zh-CN" sz="2800" dirty="0">
                <a:latin typeface="Arial" panose="020B0604020202020204"/>
                <a:cs typeface="Arial" panose="020B0604020202020204"/>
                <a:sym typeface="+mn-ea"/>
              </a:rPr>
              <a:t>存在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的情况下，一个地点被物种 B 占用的概率</a:t>
            </a:r>
            <a:r>
              <a:rPr sz="2800" spc="-161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2800" spc="-4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800" baseline="-25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  <a:sym typeface="+mn-ea"/>
              </a:rPr>
              <a:t></a:t>
            </a:r>
            <a:r>
              <a:rPr lang="en-US" sz="2800" spc="-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9619" y="-18725"/>
            <a:ext cx="2662714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53" dirty="0"/>
              <a:t>Venn</a:t>
            </a:r>
            <a:r>
              <a:rPr sz="3375" spc="-56" dirty="0"/>
              <a:t> </a:t>
            </a:r>
            <a:r>
              <a:rPr sz="3375" spc="-4" dirty="0"/>
              <a:t>diagram</a:t>
            </a:r>
            <a:br>
              <a:rPr sz="3375" spc="-4" dirty="0"/>
            </a:br>
            <a:r>
              <a:rPr sz="3375" spc="-53" dirty="0">
                <a:sym typeface="+mn-ea"/>
              </a:rPr>
              <a:t>维恩</a:t>
            </a:r>
            <a:r>
              <a:rPr sz="3375" spc="-4" dirty="0">
                <a:sym typeface="+mn-ea"/>
              </a:rPr>
              <a:t>图解</a:t>
            </a:r>
            <a:endParaRPr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1426857" y="3392042"/>
            <a:ext cx="1507331" cy="17379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 indent="88900">
              <a:spcBef>
                <a:spcPts val="75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Occupied </a:t>
            </a:r>
            <a:r>
              <a:rPr dirty="0">
                <a:latin typeface="Arial" panose="020B0604020202020204"/>
                <a:cs typeface="Arial" panose="020B0604020202020204"/>
              </a:rPr>
              <a:t>by </a:t>
            </a:r>
            <a:r>
              <a:rPr spc="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species</a:t>
            </a:r>
            <a:r>
              <a:rPr spc="-105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A</a:t>
            </a:r>
            <a:r>
              <a:rPr spc="-105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only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仅被物种 A </a:t>
            </a:r>
            <a:r>
              <a:rPr lang="zh-CN" spc="-4" dirty="0">
                <a:latin typeface="Arial" panose="020B0604020202020204"/>
                <a:cs typeface="Arial" panose="020B0604020202020204"/>
                <a:sym typeface="+mn-ea"/>
              </a:rPr>
              <a:t>占用</a:t>
            </a:r>
            <a:r>
              <a:rPr sz="2400" spc="-934" baseline="-17000" dirty="0">
                <a:latin typeface="Symbol" panose="05050102010706020507"/>
                <a:cs typeface="Symbol" panose="05050102010706020507"/>
              </a:rPr>
              <a:t></a:t>
            </a:r>
            <a:r>
              <a:rPr lang="en-US" sz="24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4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400" baseline="-25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sz="2400" baseline="-17000" dirty="0">
                <a:latin typeface="Arial" panose="020B0604020202020204"/>
                <a:cs typeface="Arial" panose="020B0604020202020204"/>
              </a:rPr>
              <a:t>–</a:t>
            </a:r>
            <a:r>
              <a:rPr sz="2400" spc="-11" baseline="-17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4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endParaRPr lang="en-US" sz="2400" baseline="30000" dirty="0" err="1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134620">
              <a:spcBef>
                <a:spcPts val="190"/>
              </a:spcBef>
            </a:pPr>
            <a:endParaRPr sz="2400" baseline="30000" dirty="0">
              <a:latin typeface="Symbol" panose="05050102010706020507"/>
              <a:cs typeface="Symbol" panose="05050102010706020507"/>
            </a:endParaRPr>
          </a:p>
          <a:p>
            <a:pPr marL="134620">
              <a:spcBef>
                <a:spcPts val="190"/>
              </a:spcBef>
            </a:pPr>
            <a:endParaRPr sz="2400" baseline="30000" dirty="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7165" y="3774440"/>
            <a:ext cx="1452245" cy="1217930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28575" marR="22860" indent="6350">
              <a:lnSpc>
                <a:spcPct val="101000"/>
              </a:lnSpc>
              <a:spcBef>
                <a:spcPts val="55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Occupied </a:t>
            </a:r>
            <a:r>
              <a:rPr dirty="0">
                <a:latin typeface="Arial" panose="020B0604020202020204"/>
                <a:cs typeface="Arial" panose="020B0604020202020204"/>
              </a:rPr>
              <a:t>by </a:t>
            </a:r>
            <a:r>
              <a:rPr spc="-491" dirty="0">
                <a:latin typeface="Arial" panose="020B0604020202020204"/>
                <a:cs typeface="Arial" panose="020B0604020202020204"/>
              </a:rPr>
              <a:t> </a:t>
            </a:r>
            <a:r>
              <a:rPr spc="-4" dirty="0">
                <a:latin typeface="Arial" panose="020B0604020202020204"/>
                <a:cs typeface="Arial" panose="020B0604020202020204"/>
              </a:rPr>
              <a:t>both</a:t>
            </a:r>
            <a:r>
              <a:rPr spc="-6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species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被</a:t>
            </a: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两个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物种</a:t>
            </a: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占用</a:t>
            </a:r>
            <a:r>
              <a:rPr lang="en-US" sz="24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4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endParaRPr lang="en-US" sz="2400" dirty="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3672" y="5727776"/>
            <a:ext cx="6055784" cy="8655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S</a:t>
            </a:r>
            <a:r>
              <a:rPr dirty="0">
                <a:latin typeface="Arial" panose="020B0604020202020204"/>
                <a:cs typeface="Arial" panose="020B0604020202020204"/>
              </a:rPr>
              <a:t>i</a:t>
            </a:r>
            <a:r>
              <a:rPr spc="-4" dirty="0">
                <a:latin typeface="Arial" panose="020B0604020202020204"/>
                <a:cs typeface="Arial" panose="020B0604020202020204"/>
              </a:rPr>
              <a:t>t</a:t>
            </a:r>
            <a:r>
              <a:rPr dirty="0">
                <a:latin typeface="Arial" panose="020B0604020202020204"/>
                <a:cs typeface="Arial" panose="020B0604020202020204"/>
              </a:rPr>
              <a:t>e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unoccupied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wi</a:t>
            </a:r>
            <a:r>
              <a:rPr spc="-4" dirty="0">
                <a:latin typeface="Arial" panose="020B0604020202020204"/>
                <a:cs typeface="Arial" panose="020B0604020202020204"/>
              </a:rPr>
              <a:t>t</a:t>
            </a:r>
            <a:r>
              <a:rPr dirty="0">
                <a:latin typeface="Arial" panose="020B0604020202020204"/>
                <a:cs typeface="Arial" panose="020B0604020202020204"/>
              </a:rPr>
              <a:t>h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prob</a:t>
            </a:r>
            <a:r>
              <a:rPr lang="zh-CN" dirty="0">
                <a:latin typeface="Arial" panose="020B0604020202020204"/>
                <a:cs typeface="Arial" panose="020B0604020202020204"/>
              </a:rPr>
              <a:t>该地点未被占用的概率</a:t>
            </a:r>
            <a:r>
              <a:rPr sz="2700" dirty="0">
                <a:latin typeface="Arial" panose="020B0604020202020204"/>
                <a:cs typeface="Arial" panose="020B0604020202020204"/>
              </a:rPr>
              <a:t>:</a:t>
            </a:r>
            <a:r>
              <a:rPr sz="2700" spc="-4" dirty="0">
                <a:latin typeface="Arial" panose="020B0604020202020204"/>
                <a:cs typeface="Arial" panose="020B0604020202020204"/>
              </a:rPr>
              <a:t> </a:t>
            </a:r>
            <a:endParaRPr sz="2700" spc="-4" dirty="0">
              <a:latin typeface="Arial" panose="020B0604020202020204"/>
              <a:cs typeface="Arial" panose="020B0604020202020204"/>
            </a:endParaRPr>
          </a:p>
          <a:p>
            <a:pPr marL="28575">
              <a:spcBef>
                <a:spcPts val="75"/>
              </a:spcBef>
            </a:pPr>
            <a:r>
              <a:rPr sz="2700" i="1" dirty="0">
                <a:latin typeface="Symbol" panose="05050102010706020507"/>
                <a:cs typeface="Symbol" panose="05050102010706020507"/>
              </a:rPr>
              <a:t>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 –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800" baseline="-25000" dirty="0">
                <a:latin typeface="Symbol" panose="05050102010706020507" pitchFamily="18" charset="2"/>
                <a:sym typeface="Symbol" panose="05050102010706020507" pitchFamily="18" charset="2"/>
              </a:rPr>
              <a:t>  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 +</a:t>
            </a:r>
            <a:r>
              <a:rPr lang="en-US" sz="2800" baseline="-17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8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8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endParaRPr sz="2700" baseline="25000" dirty="0">
              <a:latin typeface="Symbol" panose="05050102010706020507"/>
              <a:cs typeface="Symbol" panose="05050102010706020507"/>
            </a:endParaRPr>
          </a:p>
        </p:txBody>
      </p:sp>
      <p:pic>
        <p:nvPicPr>
          <p:cNvPr id="13" name="object 2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0162" y="2647965"/>
            <a:ext cx="1026432" cy="672656"/>
          </a:xfrm>
          <a:prstGeom prst="rect">
            <a:avLst/>
          </a:prstGeom>
        </p:spPr>
      </p:pic>
      <p:pic>
        <p:nvPicPr>
          <p:cNvPr id="1026" name="Picture 2" descr="Eurasian lynx - Parc animalier de la Barb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78" y="2429968"/>
            <a:ext cx="962074" cy="96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0250impbigWeb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8" t="9059" r="21099" b="30872"/>
          <a:stretch>
            <a:fillRect/>
          </a:stretch>
        </p:blipFill>
        <p:spPr bwMode="auto">
          <a:xfrm>
            <a:off x="3441512" y="2047234"/>
            <a:ext cx="2144332" cy="172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/>
          <p:cNvSpPr/>
          <p:nvPr/>
        </p:nvSpPr>
        <p:spPr>
          <a:xfrm>
            <a:off x="933718" y="1063452"/>
            <a:ext cx="5085438" cy="43059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-4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010188" y="1063450"/>
            <a:ext cx="5085438" cy="43059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3"/>
          <p:cNvSpPr txBox="1"/>
          <p:nvPr/>
        </p:nvSpPr>
        <p:spPr>
          <a:xfrm>
            <a:off x="6161133" y="3465959"/>
            <a:ext cx="1507331" cy="12096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 indent="88900">
              <a:spcBef>
                <a:spcPts val="75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Occupied </a:t>
            </a:r>
            <a:r>
              <a:rPr dirty="0">
                <a:latin typeface="Arial" panose="020B0604020202020204"/>
                <a:cs typeface="Arial" panose="020B0604020202020204"/>
              </a:rPr>
              <a:t>by </a:t>
            </a:r>
            <a:r>
              <a:rPr spc="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species</a:t>
            </a:r>
            <a:r>
              <a:rPr spc="-10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pc="-105" dirty="0">
                <a:latin typeface="Arial" panose="020B0604020202020204"/>
                <a:cs typeface="Arial" panose="020B0604020202020204"/>
              </a:rPr>
              <a:t>B</a:t>
            </a:r>
            <a:r>
              <a:rPr spc="-105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only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仅被物种 </a:t>
            </a:r>
            <a:r>
              <a:rPr lang="en-US" spc="-105" dirty="0">
                <a:latin typeface="Arial" panose="020B0604020202020204"/>
                <a:cs typeface="Arial" panose="020B0604020202020204"/>
                <a:sym typeface="+mn-ea"/>
              </a:rPr>
              <a:t>B </a:t>
            </a: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占用</a:t>
            </a:r>
            <a:r>
              <a:rPr sz="2400" spc="-934" baseline="-17000" dirty="0">
                <a:latin typeface="Symbol" panose="05050102010706020507"/>
                <a:cs typeface="Symbol" panose="05050102010706020507"/>
              </a:rPr>
              <a:t></a:t>
            </a:r>
            <a:r>
              <a:rPr lang="en-US" sz="2400" i="1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sz="24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4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400" baseline="-25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sz="2400" baseline="-17000" dirty="0">
                <a:latin typeface="Arial" panose="020B0604020202020204"/>
                <a:cs typeface="Arial" panose="020B0604020202020204"/>
              </a:rPr>
              <a:t>–</a:t>
            </a:r>
            <a:r>
              <a:rPr sz="2400" spc="-11" baseline="-17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4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endParaRPr sz="2400" baseline="30000" dirty="0">
              <a:latin typeface="Symbol" panose="05050102010706020507"/>
              <a:cs typeface="Symbol" panose="0505010201070602050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6440" y="799083"/>
            <a:ext cx="1329214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E</a:t>
            </a:r>
            <a:r>
              <a:rPr sz="3375" dirty="0"/>
              <a:t>v</a:t>
            </a:r>
            <a:r>
              <a:rPr sz="3375" spc="-4" dirty="0"/>
              <a:t>ent</a:t>
            </a:r>
            <a:r>
              <a:rPr sz="3375" dirty="0"/>
              <a:t>s</a:t>
            </a:r>
            <a:br>
              <a:rPr sz="3375" dirty="0"/>
            </a:br>
            <a:r>
              <a:rPr lang="zh-CN" sz="3375" dirty="0"/>
              <a:t>事件</a:t>
            </a:r>
            <a:endParaRPr lang="zh-CN" sz="3375" dirty="0"/>
          </a:p>
        </p:txBody>
      </p:sp>
      <p:sp>
        <p:nvSpPr>
          <p:cNvPr id="3" name="object 3"/>
          <p:cNvSpPr txBox="1"/>
          <p:nvPr/>
        </p:nvSpPr>
        <p:spPr>
          <a:xfrm>
            <a:off x="436565" y="2143505"/>
            <a:ext cx="4049078" cy="3836035"/>
          </a:xfrm>
          <a:prstGeom prst="rect">
            <a:avLst/>
          </a:prstGeom>
        </p:spPr>
        <p:txBody>
          <a:bodyPr vert="horz" wrap="square" lIns="0" tIns="27146" rIns="0" bIns="0" rtlCol="0">
            <a:spAutoFit/>
          </a:bodyPr>
          <a:lstStyle/>
          <a:p>
            <a:pPr marL="9525" marR="395605">
              <a:lnSpc>
                <a:spcPts val="3290"/>
              </a:lnSpc>
              <a:spcBef>
                <a:spcPts val="215"/>
              </a:spcBef>
            </a:pPr>
            <a:r>
              <a:rPr sz="2775" dirty="0">
                <a:latin typeface="Arial" panose="020B0604020202020204"/>
                <a:cs typeface="Arial" panose="020B0604020202020204"/>
              </a:rPr>
              <a:t>0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9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species</a:t>
            </a:r>
            <a:r>
              <a:rPr sz="2775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undetected </a:t>
            </a:r>
            <a:r>
              <a:rPr sz="2775" spc="-76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1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6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A</a:t>
            </a:r>
            <a:r>
              <a:rPr sz="2775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detected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265"/>
              </a:lnSpc>
              <a:tabLst>
                <a:tab pos="607060" algn="l"/>
              </a:tabLst>
            </a:pPr>
            <a:r>
              <a:rPr sz="2775" dirty="0">
                <a:latin typeface="Arial" panose="020B0604020202020204"/>
                <a:cs typeface="Arial" panose="020B0604020202020204"/>
              </a:rPr>
              <a:t>2 =	B</a:t>
            </a:r>
            <a:r>
              <a:rPr sz="2775" spc="-38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detected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3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=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both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dirty="0">
                <a:latin typeface="Arial" panose="020B0604020202020204"/>
                <a:cs typeface="Arial" panose="020B0604020202020204"/>
              </a:rPr>
              <a:t>species</a:t>
            </a:r>
            <a:r>
              <a:rPr sz="2775" spc="-11" dirty="0">
                <a:latin typeface="Arial" panose="020B0604020202020204"/>
                <a:cs typeface="Arial" panose="020B0604020202020204"/>
              </a:rPr>
              <a:t> </a:t>
            </a:r>
            <a:r>
              <a:rPr sz="2775" spc="-4" dirty="0">
                <a:latin typeface="Arial" panose="020B0604020202020204"/>
                <a:cs typeface="Arial" panose="020B0604020202020204"/>
              </a:rPr>
              <a:t>detected</a:t>
            </a:r>
            <a:endParaRPr sz="2775" spc="-4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0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 = </a:t>
            </a:r>
            <a:r>
              <a:rPr sz="2775" dirty="0">
                <a:latin typeface="Arial" panose="020B0604020202020204"/>
                <a:cs typeface="Arial" panose="020B0604020202020204"/>
              </a:rPr>
              <a:t>未检测到物种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1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 = </a:t>
            </a:r>
            <a:r>
              <a:rPr sz="2775" dirty="0">
                <a:latin typeface="Arial" panose="020B0604020202020204"/>
                <a:cs typeface="Arial" panose="020B0604020202020204"/>
              </a:rPr>
              <a:t>检测到物种A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2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 = </a:t>
            </a:r>
            <a:r>
              <a:rPr sz="2775" dirty="0">
                <a:latin typeface="Arial" panose="020B0604020202020204"/>
                <a:cs typeface="Arial" panose="020B0604020202020204"/>
              </a:rPr>
              <a:t>检测到物种B</a:t>
            </a:r>
            <a:endParaRPr sz="2775" dirty="0">
              <a:latin typeface="Arial" panose="020B0604020202020204"/>
              <a:cs typeface="Arial" panose="020B0604020202020204"/>
            </a:endParaRPr>
          </a:p>
          <a:p>
            <a:pPr marL="9525">
              <a:lnSpc>
                <a:spcPts val="3310"/>
              </a:lnSpc>
            </a:pPr>
            <a:r>
              <a:rPr sz="2775" dirty="0">
                <a:latin typeface="Arial" panose="020B0604020202020204"/>
                <a:cs typeface="Arial" panose="020B0604020202020204"/>
              </a:rPr>
              <a:t>3</a:t>
            </a:r>
            <a:r>
              <a:rPr lang="en-US" sz="2775" dirty="0">
                <a:latin typeface="Arial" panose="020B0604020202020204"/>
                <a:cs typeface="Arial" panose="020B0604020202020204"/>
              </a:rPr>
              <a:t> = </a:t>
            </a:r>
            <a:r>
              <a:rPr sz="2775" dirty="0">
                <a:latin typeface="Arial" panose="020B0604020202020204"/>
                <a:cs typeface="Arial" panose="020B0604020202020204"/>
              </a:rPr>
              <a:t>同时检测到物种A和B</a:t>
            </a:r>
            <a:endParaRPr sz="277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6753" y="58673"/>
            <a:ext cx="3948589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Observation</a:t>
            </a:r>
            <a:r>
              <a:rPr sz="3375" spc="-45" dirty="0"/>
              <a:t> </a:t>
            </a:r>
            <a:r>
              <a:rPr sz="3375" spc="-4" dirty="0"/>
              <a:t>process</a:t>
            </a:r>
            <a:br>
              <a:rPr sz="3375" spc="-4" dirty="0"/>
            </a:br>
            <a:r>
              <a:rPr sz="3375" spc="-4" dirty="0">
                <a:sym typeface="+mn-ea"/>
              </a:rPr>
              <a:t>观察过程</a:t>
            </a:r>
            <a:endParaRPr sz="3375"/>
          </a:p>
        </p:txBody>
      </p:sp>
      <p:sp>
        <p:nvSpPr>
          <p:cNvPr id="3" name="object 3"/>
          <p:cNvSpPr txBox="1"/>
          <p:nvPr/>
        </p:nvSpPr>
        <p:spPr>
          <a:xfrm>
            <a:off x="255905" y="1118870"/>
            <a:ext cx="8780780" cy="5483860"/>
          </a:xfrm>
          <a:prstGeom prst="rect">
            <a:avLst/>
          </a:prstGeom>
        </p:spPr>
        <p:txBody>
          <a:bodyPr vert="horz" wrap="square" lIns="0" tIns="150971" rIns="0" bIns="0" rtlCol="0">
            <a:spAutoFit/>
          </a:bodyPr>
          <a:lstStyle/>
          <a:p>
            <a:pPr marL="38100">
              <a:spcBef>
                <a:spcPts val="1190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p</a:t>
            </a:r>
            <a:r>
              <a:rPr spc="-5" baseline="25000" dirty="0">
                <a:latin typeface="Arial" panose="020B0604020202020204"/>
                <a:cs typeface="Arial" panose="020B0604020202020204"/>
              </a:rPr>
              <a:t>A</a:t>
            </a:r>
            <a:r>
              <a:rPr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=</a:t>
            </a:r>
            <a:r>
              <a:rPr spc="-6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prob.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detecting species</a:t>
            </a:r>
            <a:r>
              <a:rPr spc="-12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A</a:t>
            </a:r>
            <a:r>
              <a:rPr spc="-12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given</a:t>
            </a:r>
            <a:r>
              <a:rPr spc="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only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species</a:t>
            </a:r>
            <a:r>
              <a:rPr spc="-12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A</a:t>
            </a:r>
            <a:r>
              <a:rPr spc="-12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is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present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p</a:t>
            </a:r>
            <a:r>
              <a:rPr spc="-5" baseline="25000" dirty="0">
                <a:latin typeface="Arial" panose="020B0604020202020204"/>
                <a:cs typeface="Arial" panose="020B0604020202020204"/>
              </a:rPr>
              <a:t>B</a:t>
            </a:r>
            <a:r>
              <a:rPr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=</a:t>
            </a:r>
            <a:r>
              <a:rPr spc="-6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prob.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detecting species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B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given only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species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B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is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present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90"/>
              </a:spcBef>
            </a:pP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p</a:t>
            </a:r>
            <a:r>
              <a:rPr spc="-5" baseline="25000" dirty="0">
                <a:latin typeface="Arial" panose="020B0604020202020204"/>
                <a:cs typeface="Arial" panose="020B0604020202020204"/>
                <a:sym typeface="+mn-ea"/>
              </a:rPr>
              <a:t>A</a:t>
            </a:r>
            <a:r>
              <a:rPr spc="33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 在只有物种 A 存在的情况下检测到物种 A 的概率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p</a:t>
            </a:r>
            <a:r>
              <a:rPr spc="-5" baseline="25000" dirty="0">
                <a:latin typeface="Arial" panose="020B0604020202020204"/>
                <a:cs typeface="Arial" panose="020B0604020202020204"/>
                <a:sym typeface="+mn-ea"/>
              </a:rPr>
              <a:t>B</a:t>
            </a:r>
            <a:r>
              <a:rPr spc="33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 在只有物种 B 存在的情况下检测到物种 B 的概率</a:t>
            </a:r>
            <a:endParaRPr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endParaRPr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r</a:t>
            </a:r>
            <a:r>
              <a:rPr spc="-5" baseline="25000" dirty="0">
                <a:latin typeface="Arial" panose="020B0604020202020204"/>
                <a:cs typeface="Arial" panose="020B0604020202020204"/>
              </a:rPr>
              <a:t>AB</a:t>
            </a:r>
            <a:r>
              <a:rPr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=</a:t>
            </a:r>
            <a:r>
              <a:rPr spc="-6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prob.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detecting both species</a:t>
            </a:r>
            <a:r>
              <a:rPr spc="-116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A</a:t>
            </a:r>
            <a:r>
              <a:rPr spc="-12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and B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when both present </a:t>
            </a:r>
            <a:r>
              <a:rPr spc="-570" dirty="0">
                <a:latin typeface="Arial" panose="020B0604020202020204"/>
                <a:cs typeface="Arial" panose="020B0604020202020204"/>
              </a:rPr>
              <a:t> </a:t>
            </a:r>
            <a:endParaRPr spc="-570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</a:rPr>
              <a:t>r</a:t>
            </a:r>
            <a:r>
              <a:rPr spc="-5" baseline="25000" dirty="0">
                <a:latin typeface="Arial" panose="020B0604020202020204"/>
                <a:cs typeface="Arial" panose="020B0604020202020204"/>
              </a:rPr>
              <a:t>Ab </a:t>
            </a:r>
            <a:r>
              <a:rPr dirty="0">
                <a:latin typeface="Arial" panose="020B0604020202020204"/>
                <a:cs typeface="Arial" panose="020B0604020202020204"/>
              </a:rPr>
              <a:t>= prob. detecting species A but not B when both present </a:t>
            </a:r>
            <a:r>
              <a:rPr spc="4" dirty="0">
                <a:latin typeface="Arial" panose="020B0604020202020204"/>
                <a:cs typeface="Arial" panose="020B0604020202020204"/>
              </a:rPr>
              <a:t> </a:t>
            </a:r>
            <a:endParaRPr spc="4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r</a:t>
            </a:r>
            <a:r>
              <a:rPr baseline="25000" dirty="0">
                <a:latin typeface="Arial" panose="020B0604020202020204"/>
                <a:cs typeface="Arial" panose="020B0604020202020204"/>
              </a:rPr>
              <a:t>aB </a:t>
            </a:r>
            <a:r>
              <a:rPr dirty="0">
                <a:latin typeface="Arial" panose="020B0604020202020204"/>
                <a:cs typeface="Arial" panose="020B0604020202020204"/>
              </a:rPr>
              <a:t>= prob. detecting species B but not A when both present </a:t>
            </a:r>
            <a:r>
              <a:rPr spc="4" dirty="0">
                <a:latin typeface="Arial" panose="020B0604020202020204"/>
                <a:cs typeface="Arial" panose="020B0604020202020204"/>
              </a:rPr>
              <a:t> </a:t>
            </a:r>
            <a:endParaRPr spc="4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r</a:t>
            </a:r>
            <a:r>
              <a:rPr baseline="25000" dirty="0">
                <a:latin typeface="Arial" panose="020B0604020202020204"/>
                <a:cs typeface="Arial" panose="020B0604020202020204"/>
              </a:rPr>
              <a:t>ab</a:t>
            </a:r>
            <a:r>
              <a:rPr spc="39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=</a:t>
            </a:r>
            <a:r>
              <a:rPr spc="-6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prob.</a:t>
            </a:r>
            <a:r>
              <a:rPr spc="-8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detecting neither species</a:t>
            </a:r>
            <a:r>
              <a:rPr spc="-4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</a:rPr>
              <a:t>when both present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pc="-5" baseline="25000" dirty="0">
                <a:latin typeface="Arial" panose="020B0604020202020204"/>
                <a:cs typeface="Arial" panose="020B0604020202020204"/>
                <a:sym typeface="+mn-ea"/>
              </a:rPr>
              <a:t>AB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当物种A和B同时存在时，同时检测到物种A和B的概率</a:t>
            </a:r>
            <a:endParaRPr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spc="-4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pc="-5" baseline="25000" dirty="0">
                <a:latin typeface="Arial" panose="020B0604020202020204"/>
                <a:cs typeface="Arial" panose="020B0604020202020204"/>
                <a:sym typeface="+mn-ea"/>
              </a:rPr>
              <a:t>Ab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当物种A和B同时存在时，检测到物种A但未检测到物种B的概率</a:t>
            </a:r>
            <a:endParaRPr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baseline="25000" dirty="0">
                <a:latin typeface="Arial" panose="020B0604020202020204"/>
                <a:cs typeface="Arial" panose="020B0604020202020204"/>
                <a:sym typeface="+mn-ea"/>
              </a:rPr>
              <a:t>aB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当物种A和B同时存在时，检测到物种B但未检测到物种A的概率</a:t>
            </a:r>
            <a:endParaRPr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baseline="25000" dirty="0">
                <a:latin typeface="Arial" panose="020B0604020202020204"/>
                <a:cs typeface="Arial" panose="020B0604020202020204"/>
                <a:sym typeface="+mn-ea"/>
              </a:rPr>
              <a:t>ab</a:t>
            </a:r>
            <a:r>
              <a:rPr spc="39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pc="-60" dirty="0">
                <a:latin typeface="Arial" panose="020B0604020202020204"/>
                <a:cs typeface="Arial" panose="020B0604020202020204"/>
                <a:sym typeface="+mn-ea"/>
              </a:rPr>
              <a:t> 当物种A和B同时存在时，未检测到任何物种的概率</a:t>
            </a:r>
            <a:endParaRPr spc="-60" dirty="0"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1102" y="2099491"/>
            <a:ext cx="8541544" cy="1413986"/>
            <a:chOff x="468135" y="1656321"/>
            <a:chExt cx="11388725" cy="1885314"/>
          </a:xfrm>
        </p:grpSpPr>
        <p:sp>
          <p:nvSpPr>
            <p:cNvPr id="3" name="object 3"/>
            <p:cNvSpPr/>
            <p:nvPr/>
          </p:nvSpPr>
          <p:spPr>
            <a:xfrm>
              <a:off x="474485" y="1662671"/>
              <a:ext cx="11376025" cy="1474470"/>
            </a:xfrm>
            <a:custGeom>
              <a:avLst/>
              <a:gdLst/>
              <a:ahLst/>
              <a:cxnLst/>
              <a:rect l="l" t="t" r="r" b="b"/>
              <a:pathLst>
                <a:path w="11376025" h="1474470">
                  <a:moveTo>
                    <a:pt x="0" y="1474397"/>
                  </a:moveTo>
                  <a:lnTo>
                    <a:pt x="11375788" y="1474397"/>
                  </a:lnTo>
                  <a:lnTo>
                    <a:pt x="11375788" y="0"/>
                  </a:lnTo>
                  <a:lnTo>
                    <a:pt x="0" y="0"/>
                  </a:lnTo>
                  <a:lnTo>
                    <a:pt x="0" y="1474397"/>
                  </a:lnTo>
                  <a:close/>
                </a:path>
              </a:pathLst>
            </a:custGeom>
            <a:solidFill>
              <a:srgbClr val="00B0E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" name="object 4"/>
            <p:cNvSpPr/>
            <p:nvPr/>
          </p:nvSpPr>
          <p:spPr>
            <a:xfrm>
              <a:off x="474485" y="1662671"/>
              <a:ext cx="11376025" cy="1872614"/>
            </a:xfrm>
            <a:custGeom>
              <a:avLst/>
              <a:gdLst/>
              <a:ahLst/>
              <a:cxnLst/>
              <a:rect l="l" t="t" r="r" b="b"/>
              <a:pathLst>
                <a:path w="11376025" h="1872614">
                  <a:moveTo>
                    <a:pt x="0" y="0"/>
                  </a:moveTo>
                  <a:lnTo>
                    <a:pt x="11375789" y="0"/>
                  </a:lnTo>
                  <a:lnTo>
                    <a:pt x="11375789" y="1872000"/>
                  </a:lnTo>
                  <a:lnTo>
                    <a:pt x="0" y="187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B0E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04570" y="2104135"/>
            <a:ext cx="2433161" cy="11271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203325" algn="l"/>
              </a:tabLst>
            </a:pP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36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36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36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	s</a:t>
            </a: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tate</a:t>
            </a:r>
            <a:r>
              <a:rPr sz="36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endParaRPr sz="36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  <a:tabLst>
                <a:tab pos="1203325" algn="l"/>
              </a:tabLst>
            </a:pP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初始状态</a:t>
            </a:r>
            <a:endParaRPr sz="3600" spc="-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8499" y="3205289"/>
            <a:ext cx="8546783" cy="2747486"/>
            <a:chOff x="464665" y="3130718"/>
            <a:chExt cx="11395710" cy="3663315"/>
          </a:xfrm>
        </p:grpSpPr>
        <p:sp>
          <p:nvSpPr>
            <p:cNvPr id="7" name="object 7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11382733" y="0"/>
                  </a:moveTo>
                  <a:lnTo>
                    <a:pt x="0" y="0"/>
                  </a:lnTo>
                  <a:lnTo>
                    <a:pt x="0" y="3650004"/>
                  </a:lnTo>
                  <a:lnTo>
                    <a:pt x="11382733" y="3650004"/>
                  </a:lnTo>
                  <a:lnTo>
                    <a:pt x="11382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0" y="0"/>
                  </a:moveTo>
                  <a:lnTo>
                    <a:pt x="11382733" y="0"/>
                  </a:lnTo>
                  <a:lnTo>
                    <a:pt x="11382733" y="3650004"/>
                  </a:lnTo>
                  <a:lnTo>
                    <a:pt x="0" y="36500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BE4F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55932" y="4250939"/>
            <a:ext cx="3860959" cy="4520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  <a:tabLst>
                <a:tab pos="1657985" algn="l"/>
                <a:tab pos="3274060" algn="l"/>
              </a:tabLst>
            </a:pPr>
            <a:r>
              <a:rPr sz="4275" spc="-62" baseline="-24000" dirty="0">
                <a:latin typeface="Symbol" panose="05050102010706020507"/>
                <a:cs typeface="Symbol" panose="05050102010706020507"/>
              </a:rPr>
              <a:t></a:t>
            </a:r>
            <a:r>
              <a:rPr sz="4275" spc="-529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615" spc="-1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65" spc="11" baseline="-25000" dirty="0">
                <a:latin typeface="Symbol" panose="05050102010706020507"/>
                <a:cs typeface="Symbol" panose="05050102010706020507"/>
              </a:rPr>
              <a:t></a:t>
            </a:r>
            <a:r>
              <a:rPr sz="4165" spc="-624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75" spc="-62" baseline="-24000" dirty="0">
                <a:latin typeface="Symbol" panose="05050102010706020507"/>
                <a:cs typeface="Symbol" panose="05050102010706020507"/>
              </a:rPr>
              <a:t></a:t>
            </a:r>
            <a:r>
              <a:rPr sz="4275" spc="-529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15" spc="-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15" dirty="0">
                <a:latin typeface="Times New Roman" panose="02020603050405020304"/>
                <a:cs typeface="Times New Roman" panose="02020603050405020304"/>
              </a:rPr>
              <a:t>B	</a:t>
            </a:r>
            <a:r>
              <a:rPr sz="4275" spc="-62" baseline="-24000" dirty="0">
                <a:latin typeface="Symbol" panose="05050102010706020507"/>
                <a:cs typeface="Symbol" panose="05050102010706020507"/>
              </a:rPr>
              <a:t></a:t>
            </a:r>
            <a:r>
              <a:rPr sz="4275" spc="-585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15" dirty="0"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1615" spc="-1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65" spc="11" baseline="-25000" dirty="0">
                <a:latin typeface="Symbol" panose="05050102010706020507"/>
                <a:cs typeface="Symbol" panose="05050102010706020507"/>
              </a:rPr>
              <a:t></a:t>
            </a:r>
            <a:r>
              <a:rPr sz="4165" spc="-624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75" spc="-62" baseline="-24000" dirty="0">
                <a:latin typeface="Symbol" panose="05050102010706020507"/>
                <a:cs typeface="Symbol" panose="05050102010706020507"/>
              </a:rPr>
              <a:t></a:t>
            </a:r>
            <a:r>
              <a:rPr sz="4275" spc="-529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15" spc="-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15" dirty="0">
                <a:latin typeface="Times New Roman" panose="02020603050405020304"/>
                <a:cs typeface="Times New Roman" panose="02020603050405020304"/>
              </a:rPr>
              <a:t>B	</a:t>
            </a:r>
            <a:r>
              <a:rPr sz="4275" spc="-62" baseline="-24000" dirty="0">
                <a:latin typeface="Symbol" panose="05050102010706020507"/>
                <a:cs typeface="Symbol" panose="05050102010706020507"/>
              </a:rPr>
              <a:t></a:t>
            </a:r>
            <a:r>
              <a:rPr sz="4275" spc="-529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15" spc="-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15" dirty="0">
                <a:latin typeface="Times New Roman" panose="02020603050405020304"/>
                <a:cs typeface="Times New Roman" panose="02020603050405020304"/>
              </a:rPr>
              <a:t>B</a:t>
            </a:r>
            <a:endParaRPr sz="161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1627" y="4530766"/>
            <a:ext cx="1018223" cy="32492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28575">
              <a:lnSpc>
                <a:spcPts val="2385"/>
              </a:lnSpc>
              <a:spcBef>
                <a:spcPts val="95"/>
              </a:spcBef>
            </a:pPr>
            <a:r>
              <a:rPr sz="2775" spc="2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775" spc="8" dirty="0">
                <a:latin typeface="Symbol" panose="05050102010706020507"/>
                <a:cs typeface="Symbol" panose="05050102010706020507"/>
              </a:rPr>
              <a:t></a:t>
            </a:r>
            <a:r>
              <a:rPr sz="2775" spc="-22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75" spc="11" dirty="0">
                <a:latin typeface="Symbol" panose="05050102010706020507"/>
                <a:cs typeface="Symbol" panose="05050102010706020507"/>
              </a:rPr>
              <a:t></a:t>
            </a:r>
            <a:endParaRPr sz="2775" dirty="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1185" y="3775329"/>
            <a:ext cx="23955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U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0058" y="3775329"/>
            <a:ext cx="222409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1096" y="3775329"/>
            <a:ext cx="222409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3260" y="3775329"/>
            <a:ext cx="42624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AB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Left Bracket 19"/>
          <p:cNvSpPr/>
          <p:nvPr/>
        </p:nvSpPr>
        <p:spPr>
          <a:xfrm>
            <a:off x="2274627" y="4315904"/>
            <a:ext cx="127000" cy="637789"/>
          </a:xfrm>
          <a:prstGeom prst="leftBracke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/>
          <p:cNvSpPr/>
          <p:nvPr/>
        </p:nvSpPr>
        <p:spPr>
          <a:xfrm rot="10800000">
            <a:off x="7216891" y="4315903"/>
            <a:ext cx="127000" cy="637789"/>
          </a:xfrm>
          <a:prstGeom prst="leftBracke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0961" y="372028"/>
            <a:ext cx="2638901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State</a:t>
            </a:r>
            <a:r>
              <a:rPr sz="3375" spc="-56" dirty="0"/>
              <a:t> </a:t>
            </a:r>
            <a:r>
              <a:rPr sz="3375" spc="-4" dirty="0"/>
              <a:t>process</a:t>
            </a:r>
            <a:endParaRPr sz="3375"/>
          </a:p>
        </p:txBody>
      </p:sp>
      <p:grpSp>
        <p:nvGrpSpPr>
          <p:cNvPr id="3" name="object 3"/>
          <p:cNvGrpSpPr/>
          <p:nvPr/>
        </p:nvGrpSpPr>
        <p:grpSpPr>
          <a:xfrm>
            <a:off x="351102" y="1611811"/>
            <a:ext cx="8541544" cy="1413986"/>
            <a:chOff x="468135" y="1656321"/>
            <a:chExt cx="11388725" cy="1885314"/>
          </a:xfrm>
        </p:grpSpPr>
        <p:sp>
          <p:nvSpPr>
            <p:cNvPr id="4" name="object 4"/>
            <p:cNvSpPr/>
            <p:nvPr/>
          </p:nvSpPr>
          <p:spPr>
            <a:xfrm>
              <a:off x="474485" y="1662671"/>
              <a:ext cx="11376025" cy="1474470"/>
            </a:xfrm>
            <a:custGeom>
              <a:avLst/>
              <a:gdLst/>
              <a:ahLst/>
              <a:cxnLst/>
              <a:rect l="l" t="t" r="r" b="b"/>
              <a:pathLst>
                <a:path w="11376025" h="1474470">
                  <a:moveTo>
                    <a:pt x="0" y="1474397"/>
                  </a:moveTo>
                  <a:lnTo>
                    <a:pt x="11375788" y="1474397"/>
                  </a:lnTo>
                  <a:lnTo>
                    <a:pt x="11375788" y="0"/>
                  </a:lnTo>
                  <a:lnTo>
                    <a:pt x="0" y="0"/>
                  </a:lnTo>
                  <a:lnTo>
                    <a:pt x="0" y="1474397"/>
                  </a:lnTo>
                  <a:close/>
                </a:path>
              </a:pathLst>
            </a:custGeom>
            <a:solidFill>
              <a:srgbClr val="00B0E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474485" y="1662671"/>
              <a:ext cx="11376025" cy="1872614"/>
            </a:xfrm>
            <a:custGeom>
              <a:avLst/>
              <a:gdLst/>
              <a:ahLst/>
              <a:cxnLst/>
              <a:rect l="l" t="t" r="r" b="b"/>
              <a:pathLst>
                <a:path w="11376025" h="1872614">
                  <a:moveTo>
                    <a:pt x="0" y="0"/>
                  </a:moveTo>
                  <a:lnTo>
                    <a:pt x="11375789" y="0"/>
                  </a:lnTo>
                  <a:lnTo>
                    <a:pt x="11375789" y="1872000"/>
                  </a:lnTo>
                  <a:lnTo>
                    <a:pt x="0" y="187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B0E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52026" y="1594865"/>
            <a:ext cx="2814638" cy="11271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3600" spc="-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process</a:t>
            </a:r>
            <a:endParaRPr sz="3600" spc="-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状态过程</a:t>
            </a:r>
            <a:endParaRPr lang="zh-CN" sz="3600" spc="-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8499" y="2717609"/>
            <a:ext cx="8546783" cy="2747486"/>
            <a:chOff x="464665" y="3130718"/>
            <a:chExt cx="11395710" cy="3663315"/>
          </a:xfrm>
        </p:grpSpPr>
        <p:sp>
          <p:nvSpPr>
            <p:cNvPr id="8" name="object 8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11382733" y="0"/>
                  </a:moveTo>
                  <a:lnTo>
                    <a:pt x="0" y="0"/>
                  </a:lnTo>
                  <a:lnTo>
                    <a:pt x="0" y="3650004"/>
                  </a:lnTo>
                  <a:lnTo>
                    <a:pt x="11382733" y="3650004"/>
                  </a:lnTo>
                  <a:lnTo>
                    <a:pt x="11382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0" y="0"/>
                  </a:moveTo>
                  <a:lnTo>
                    <a:pt x="11382733" y="0"/>
                  </a:lnTo>
                  <a:lnTo>
                    <a:pt x="11382733" y="3650004"/>
                  </a:lnTo>
                  <a:lnTo>
                    <a:pt x="0" y="36500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BE4F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52532" y="4683563"/>
            <a:ext cx="133350" cy="3698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</a:t>
            </a:r>
            <a:endParaRPr sz="232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2532" y="3355111"/>
            <a:ext cx="133350" cy="948176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lnSpc>
                <a:spcPts val="2545"/>
              </a:lnSpc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</a:t>
            </a:r>
            <a:endParaRPr sz="2325" dirty="0">
              <a:latin typeface="Symbol" panose="05050102010706020507"/>
              <a:cs typeface="Symbol" panose="05050102010706020507"/>
            </a:endParaRPr>
          </a:p>
          <a:p>
            <a:pPr marL="9525">
              <a:lnSpc>
                <a:spcPts val="2285"/>
              </a:lnSpc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</a:t>
            </a:r>
            <a:endParaRPr sz="2325" dirty="0">
              <a:latin typeface="Symbol" panose="05050102010706020507"/>
              <a:cs typeface="Symbol" panose="05050102010706020507"/>
            </a:endParaRPr>
          </a:p>
          <a:p>
            <a:pPr marL="9525">
              <a:lnSpc>
                <a:spcPts val="2535"/>
              </a:lnSpc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</a:t>
            </a:r>
            <a:endParaRPr sz="2325" dirty="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2532" y="4224728"/>
            <a:ext cx="133350" cy="3698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</a:t>
            </a:r>
            <a:endParaRPr sz="232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6273" y="4683563"/>
            <a:ext cx="133350" cy="3698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</a:t>
            </a:r>
            <a:endParaRPr sz="232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36273" y="3355111"/>
            <a:ext cx="133350" cy="1243129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lnSpc>
                <a:spcPts val="2545"/>
              </a:lnSpc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</a:t>
            </a:r>
            <a:endParaRPr sz="2325">
              <a:latin typeface="Symbol" panose="05050102010706020507"/>
              <a:cs typeface="Symbol" panose="05050102010706020507"/>
            </a:endParaRPr>
          </a:p>
          <a:p>
            <a:pPr marL="9525">
              <a:lnSpc>
                <a:spcPts val="2285"/>
              </a:lnSpc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</a:t>
            </a:r>
            <a:endParaRPr sz="2325">
              <a:latin typeface="Symbol" panose="05050102010706020507"/>
              <a:cs typeface="Symbol" panose="05050102010706020507"/>
            </a:endParaRPr>
          </a:p>
          <a:p>
            <a:pPr marL="9525">
              <a:lnSpc>
                <a:spcPts val="2275"/>
              </a:lnSpc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</a:t>
            </a:r>
            <a:endParaRPr sz="2325">
              <a:latin typeface="Symbol" panose="05050102010706020507"/>
              <a:cs typeface="Symbol" panose="05050102010706020507"/>
            </a:endParaRPr>
          </a:p>
          <a:p>
            <a:pPr marL="9525">
              <a:lnSpc>
                <a:spcPts val="2535"/>
              </a:lnSpc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</a:t>
            </a:r>
            <a:endParaRPr sz="232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6273" y="4513825"/>
            <a:ext cx="133350" cy="3698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5"/>
              </a:spcBef>
            </a:pPr>
            <a:r>
              <a:rPr sz="2325" spc="8" dirty="0">
                <a:latin typeface="Symbol" panose="05050102010706020507"/>
                <a:cs typeface="Symbol" panose="05050102010706020507"/>
              </a:rPr>
              <a:t></a:t>
            </a:r>
            <a:endParaRPr sz="232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9034" y="3472815"/>
            <a:ext cx="239554" cy="11176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just">
              <a:spcBef>
                <a:spcPts val="7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U  A </a:t>
            </a:r>
            <a:r>
              <a:rPr sz="2400" spc="-66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59984" y="4567809"/>
            <a:ext cx="745331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601980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AB	</a:t>
            </a:r>
            <a:r>
              <a:rPr sz="3490" spc="11" baseline="12000" dirty="0">
                <a:latin typeface="Symbol" panose="05050102010706020507"/>
                <a:cs typeface="Symbol" panose="05050102010706020507"/>
              </a:rPr>
              <a:t></a:t>
            </a:r>
            <a:endParaRPr sz="3490" baseline="12000">
              <a:latin typeface="Symbol" panose="05050102010706020507"/>
              <a:cs typeface="Symbol" panose="05050102010706020507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3990059" y="2893992"/>
          <a:ext cx="1623535" cy="2179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521"/>
                <a:gridCol w="400049"/>
                <a:gridCol w="366713"/>
                <a:gridCol w="496252"/>
              </a:tblGrid>
              <a:tr h="500063">
                <a:tc>
                  <a:txBody>
                    <a:bodyPr/>
                    <a:lstStyle/>
                    <a:p>
                      <a:pPr marL="31750">
                        <a:lnSpc>
                          <a:spcPts val="3535"/>
                        </a:lnSpc>
                      </a:pP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3535"/>
                        </a:lnSpc>
                      </a:pP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ts val="3535"/>
                        </a:lnSpc>
                      </a:pP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3535"/>
                        </a:lnSpc>
                      </a:pP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AB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762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762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762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7629" marB="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pPr marL="6096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pPr marL="6096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60960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3440"/>
                        </a:lnSpc>
                      </a:pPr>
                      <a:r>
                        <a:rPr sz="23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388" y="420923"/>
            <a:ext cx="3948589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Observation</a:t>
            </a:r>
            <a:r>
              <a:rPr sz="3375" spc="-41" dirty="0"/>
              <a:t> </a:t>
            </a:r>
            <a:r>
              <a:rPr sz="3375" spc="-4" dirty="0"/>
              <a:t>process</a:t>
            </a:r>
            <a:endParaRPr sz="3375"/>
          </a:p>
        </p:txBody>
      </p:sp>
      <p:grpSp>
        <p:nvGrpSpPr>
          <p:cNvPr id="3" name="object 3"/>
          <p:cNvGrpSpPr/>
          <p:nvPr/>
        </p:nvGrpSpPr>
        <p:grpSpPr>
          <a:xfrm>
            <a:off x="259715" y="1072515"/>
            <a:ext cx="8529955" cy="1414145"/>
            <a:chOff x="468135" y="1656321"/>
            <a:chExt cx="11388725" cy="1885314"/>
          </a:xfrm>
        </p:grpSpPr>
        <p:sp>
          <p:nvSpPr>
            <p:cNvPr id="4" name="object 4"/>
            <p:cNvSpPr/>
            <p:nvPr/>
          </p:nvSpPr>
          <p:spPr>
            <a:xfrm>
              <a:off x="474485" y="1662671"/>
              <a:ext cx="11376025" cy="1474470"/>
            </a:xfrm>
            <a:custGeom>
              <a:avLst/>
              <a:gdLst/>
              <a:ahLst/>
              <a:cxnLst/>
              <a:rect l="l" t="t" r="r" b="b"/>
              <a:pathLst>
                <a:path w="11376025" h="1474470">
                  <a:moveTo>
                    <a:pt x="0" y="1474397"/>
                  </a:moveTo>
                  <a:lnTo>
                    <a:pt x="11375788" y="1474397"/>
                  </a:lnTo>
                  <a:lnTo>
                    <a:pt x="11375788" y="0"/>
                  </a:lnTo>
                  <a:lnTo>
                    <a:pt x="0" y="0"/>
                  </a:lnTo>
                  <a:lnTo>
                    <a:pt x="0" y="1474397"/>
                  </a:lnTo>
                  <a:close/>
                </a:path>
              </a:pathLst>
            </a:custGeom>
            <a:solidFill>
              <a:srgbClr val="00B0E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474485" y="1662671"/>
              <a:ext cx="11376025" cy="1872614"/>
            </a:xfrm>
            <a:custGeom>
              <a:avLst/>
              <a:gdLst/>
              <a:ahLst/>
              <a:cxnLst/>
              <a:rect l="l" t="t" r="r" b="b"/>
              <a:pathLst>
                <a:path w="11376025" h="1872614">
                  <a:moveTo>
                    <a:pt x="0" y="0"/>
                  </a:moveTo>
                  <a:lnTo>
                    <a:pt x="11375789" y="0"/>
                  </a:lnTo>
                  <a:lnTo>
                    <a:pt x="11375789" y="1872000"/>
                  </a:lnTo>
                  <a:lnTo>
                    <a:pt x="0" y="187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B0E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15808" y="1077340"/>
            <a:ext cx="4212431" cy="11271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Observation</a:t>
            </a:r>
            <a:r>
              <a:rPr sz="3600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process</a:t>
            </a:r>
            <a:endParaRPr sz="3600" spc="-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sz="36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观察过程</a:t>
            </a:r>
            <a:endParaRPr sz="3600" spc="-4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7015" y="2178685"/>
            <a:ext cx="8547100" cy="4553585"/>
            <a:chOff x="464665" y="3130718"/>
            <a:chExt cx="11395710" cy="3663315"/>
          </a:xfrm>
        </p:grpSpPr>
        <p:sp>
          <p:nvSpPr>
            <p:cNvPr id="8" name="object 8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11382733" y="0"/>
                  </a:moveTo>
                  <a:lnTo>
                    <a:pt x="0" y="0"/>
                  </a:lnTo>
                  <a:lnTo>
                    <a:pt x="0" y="3650004"/>
                  </a:lnTo>
                  <a:lnTo>
                    <a:pt x="11382733" y="3650004"/>
                  </a:lnTo>
                  <a:lnTo>
                    <a:pt x="11382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471015" y="3137068"/>
              <a:ext cx="11383010" cy="3650615"/>
            </a:xfrm>
            <a:custGeom>
              <a:avLst/>
              <a:gdLst/>
              <a:ahLst/>
              <a:cxnLst/>
              <a:rect l="l" t="t" r="r" b="b"/>
              <a:pathLst>
                <a:path w="11383010" h="3650615">
                  <a:moveTo>
                    <a:pt x="0" y="0"/>
                  </a:moveTo>
                  <a:lnTo>
                    <a:pt x="11382733" y="0"/>
                  </a:lnTo>
                  <a:lnTo>
                    <a:pt x="11382733" y="3650004"/>
                  </a:lnTo>
                  <a:lnTo>
                    <a:pt x="0" y="36500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BE4F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16" y="2218764"/>
            <a:ext cx="4374473" cy="2737905"/>
          </a:xfrm>
          <a:prstGeom prst="rect">
            <a:avLst/>
          </a:prstGeom>
        </p:spPr>
      </p:pic>
      <p:sp>
        <p:nvSpPr>
          <p:cNvPr id="23" name="object 3"/>
          <p:cNvSpPr txBox="1"/>
          <p:nvPr/>
        </p:nvSpPr>
        <p:spPr>
          <a:xfrm>
            <a:off x="4478020" y="2218690"/>
            <a:ext cx="4350385" cy="4699000"/>
          </a:xfrm>
          <a:prstGeom prst="rect">
            <a:avLst/>
          </a:prstGeom>
        </p:spPr>
        <p:txBody>
          <a:bodyPr vert="horz" wrap="square" lIns="0" tIns="150971" rIns="0" bIns="0" rtlCol="0">
            <a:spAutoFit/>
          </a:bodyPr>
          <a:lstStyle/>
          <a:p>
            <a:pPr marL="38100">
              <a:spcBef>
                <a:spcPts val="600"/>
              </a:spcBef>
            </a:pPr>
            <a:r>
              <a:rPr sz="1400" spc="-4" dirty="0">
                <a:latin typeface="Arial" panose="020B0604020202020204"/>
                <a:cs typeface="Arial" panose="020B0604020202020204"/>
              </a:rPr>
              <a:t>p</a:t>
            </a:r>
            <a:r>
              <a:rPr sz="1400" spc="-5" baseline="25000" dirty="0">
                <a:latin typeface="Arial" panose="020B0604020202020204"/>
                <a:cs typeface="Arial" panose="020B0604020202020204"/>
              </a:rPr>
              <a:t>A</a:t>
            </a:r>
            <a:r>
              <a:rPr sz="1400"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=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prob.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detecting species</a:t>
            </a:r>
            <a:r>
              <a:rPr sz="12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12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given</a:t>
            </a:r>
            <a:r>
              <a:rPr sz="1200" spc="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only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species</a:t>
            </a:r>
            <a:r>
              <a:rPr sz="12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12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is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present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600"/>
              </a:spcBef>
            </a:pPr>
            <a:r>
              <a:rPr sz="1400" spc="-4" dirty="0">
                <a:latin typeface="Arial" panose="020B0604020202020204"/>
                <a:cs typeface="Arial" panose="020B0604020202020204"/>
              </a:rPr>
              <a:t>p</a:t>
            </a:r>
            <a:r>
              <a:rPr sz="1400" spc="-5" baseline="25000" dirty="0">
                <a:latin typeface="Arial" panose="020B0604020202020204"/>
                <a:cs typeface="Arial" panose="020B0604020202020204"/>
              </a:rPr>
              <a:t>B</a:t>
            </a:r>
            <a:r>
              <a:rPr sz="1400"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=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prob.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detecting species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B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given only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species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B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is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present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90"/>
              </a:spcBef>
            </a:pPr>
            <a:r>
              <a:rPr sz="1200" spc="-4" dirty="0">
                <a:latin typeface="Arial" panose="020B0604020202020204"/>
                <a:cs typeface="Arial" panose="020B0604020202020204"/>
                <a:sym typeface="+mn-ea"/>
              </a:rPr>
              <a:t>p</a:t>
            </a:r>
            <a:r>
              <a:rPr sz="1200" spc="-5" baseline="25000" dirty="0">
                <a:latin typeface="Arial" panose="020B0604020202020204"/>
                <a:cs typeface="Arial" panose="020B0604020202020204"/>
                <a:sym typeface="+mn-ea"/>
              </a:rPr>
              <a:t>A</a:t>
            </a:r>
            <a:r>
              <a:rPr sz="1200" spc="33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 在只有物种 A 存在的情况下检测到物种 A 的概率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z="1200" spc="-4" dirty="0">
                <a:latin typeface="Arial" panose="020B0604020202020204"/>
                <a:cs typeface="Arial" panose="020B0604020202020204"/>
                <a:sym typeface="+mn-ea"/>
              </a:rPr>
              <a:t>p</a:t>
            </a:r>
            <a:r>
              <a:rPr sz="1200" spc="-5" baseline="25000" dirty="0">
                <a:latin typeface="Arial" panose="020B0604020202020204"/>
                <a:cs typeface="Arial" panose="020B0604020202020204"/>
                <a:sym typeface="+mn-ea"/>
              </a:rPr>
              <a:t>B</a:t>
            </a:r>
            <a:r>
              <a:rPr sz="1200" spc="33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 在只有物种 B 存在的情况下检测到物种 B 的概率</a:t>
            </a:r>
            <a:endParaRPr sz="1200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600"/>
              </a:spcBef>
            </a:pPr>
            <a:endParaRPr sz="1200" dirty="0">
              <a:latin typeface="Arial" panose="020B0604020202020204"/>
              <a:cs typeface="Arial" panose="020B0604020202020204"/>
            </a:endParaRPr>
          </a:p>
          <a:p>
            <a:pPr marL="38100" marR="87630">
              <a:spcBef>
                <a:spcPts val="600"/>
              </a:spcBef>
            </a:pPr>
            <a:r>
              <a:rPr sz="1400" spc="-4" dirty="0">
                <a:latin typeface="Arial" panose="020B0604020202020204"/>
                <a:cs typeface="Arial" panose="020B0604020202020204"/>
              </a:rPr>
              <a:t>r</a:t>
            </a:r>
            <a:r>
              <a:rPr sz="1400" spc="-5" baseline="25000" dirty="0">
                <a:latin typeface="Arial" panose="020B0604020202020204"/>
                <a:cs typeface="Arial" panose="020B0604020202020204"/>
              </a:rPr>
              <a:t>AB</a:t>
            </a:r>
            <a:r>
              <a:rPr sz="1400" spc="33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=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prob.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detecting both species</a:t>
            </a:r>
            <a:r>
              <a:rPr sz="1200" spc="-116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12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and B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when both present </a:t>
            </a:r>
            <a:endParaRPr lang="en-US" sz="1200" dirty="0">
              <a:latin typeface="Arial" panose="020B0604020202020204"/>
              <a:cs typeface="Arial" panose="020B0604020202020204"/>
            </a:endParaRPr>
          </a:p>
          <a:p>
            <a:pPr marL="38100" marR="87630">
              <a:spcBef>
                <a:spcPts val="600"/>
              </a:spcBef>
            </a:pPr>
            <a:r>
              <a:rPr sz="1200" spc="-57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4" dirty="0">
                <a:latin typeface="Arial" panose="020B0604020202020204"/>
                <a:cs typeface="Arial" panose="020B0604020202020204"/>
              </a:rPr>
              <a:t>r</a:t>
            </a:r>
            <a:r>
              <a:rPr sz="1400" spc="-5" baseline="25000" dirty="0">
                <a:latin typeface="Arial" panose="020B0604020202020204"/>
                <a:cs typeface="Arial" panose="020B0604020202020204"/>
              </a:rPr>
              <a:t>Ab </a:t>
            </a:r>
            <a:r>
              <a:rPr sz="1200" dirty="0">
                <a:latin typeface="Arial" panose="020B0604020202020204"/>
                <a:cs typeface="Arial" panose="020B0604020202020204"/>
              </a:rPr>
              <a:t>= prob. detecting species A but not B when both present </a:t>
            </a:r>
            <a:r>
              <a:rPr sz="1200" spc="4" dirty="0">
                <a:latin typeface="Arial" panose="020B0604020202020204"/>
                <a:cs typeface="Arial" panose="020B0604020202020204"/>
              </a:rPr>
              <a:t> </a:t>
            </a:r>
            <a:endParaRPr lang="en-US" sz="1200" spc="4" dirty="0">
              <a:latin typeface="Arial" panose="020B0604020202020204"/>
              <a:cs typeface="Arial" panose="020B0604020202020204"/>
            </a:endParaRPr>
          </a:p>
          <a:p>
            <a:pPr marL="38100" marR="87630">
              <a:spcBef>
                <a:spcPts val="600"/>
              </a:spcBef>
            </a:pPr>
            <a:r>
              <a:rPr sz="1400" dirty="0" err="1">
                <a:latin typeface="Arial" panose="020B0604020202020204"/>
                <a:cs typeface="Arial" panose="020B0604020202020204"/>
              </a:rPr>
              <a:t>r</a:t>
            </a:r>
            <a:r>
              <a:rPr sz="1400" baseline="25000" dirty="0" err="1">
                <a:latin typeface="Arial" panose="020B0604020202020204"/>
                <a:cs typeface="Arial" panose="020B0604020202020204"/>
              </a:rPr>
              <a:t>aB</a:t>
            </a:r>
            <a:r>
              <a:rPr sz="1400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= prob. detecting species B but not A when both present </a:t>
            </a:r>
            <a:r>
              <a:rPr sz="1200" spc="4" dirty="0">
                <a:latin typeface="Arial" panose="020B0604020202020204"/>
                <a:cs typeface="Arial" panose="020B0604020202020204"/>
              </a:rPr>
              <a:t> </a:t>
            </a:r>
            <a:endParaRPr lang="en-US" sz="1200" spc="4" dirty="0">
              <a:latin typeface="Arial" panose="020B0604020202020204"/>
              <a:cs typeface="Arial" panose="020B0604020202020204"/>
            </a:endParaRPr>
          </a:p>
          <a:p>
            <a:pPr marL="38100" marR="87630">
              <a:spcBef>
                <a:spcPts val="600"/>
              </a:spcBef>
            </a:pPr>
            <a:r>
              <a:rPr sz="1400" dirty="0" err="1">
                <a:latin typeface="Arial" panose="020B0604020202020204"/>
                <a:cs typeface="Arial" panose="020B0604020202020204"/>
              </a:rPr>
              <a:t>r</a:t>
            </a:r>
            <a:r>
              <a:rPr sz="1400" baseline="25000" dirty="0" err="1">
                <a:latin typeface="Arial" panose="020B0604020202020204"/>
                <a:cs typeface="Arial" panose="020B0604020202020204"/>
              </a:rPr>
              <a:t>ab</a:t>
            </a:r>
            <a:r>
              <a:rPr sz="1400" spc="39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=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prob.</a:t>
            </a:r>
            <a:r>
              <a:rPr sz="12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detecting neither species</a:t>
            </a:r>
            <a:r>
              <a:rPr sz="1200" spc="-4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when both present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38100">
              <a:spcBef>
                <a:spcPts val="1120"/>
              </a:spcBef>
            </a:pPr>
            <a:r>
              <a:rPr sz="1200" spc="-4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z="1200" spc="-5" baseline="25000" dirty="0">
                <a:latin typeface="Arial" panose="020B0604020202020204"/>
                <a:cs typeface="Arial" panose="020B0604020202020204"/>
                <a:sym typeface="+mn-ea"/>
              </a:rPr>
              <a:t>AB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sz="12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当物种A和B同时存在时，同时检测到物种A和B的概率</a:t>
            </a:r>
            <a:endParaRPr sz="1200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sz="1200" spc="-4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z="1200" spc="-5" baseline="25000" dirty="0">
                <a:latin typeface="Arial" panose="020B0604020202020204"/>
                <a:cs typeface="Arial" panose="020B0604020202020204"/>
                <a:sym typeface="+mn-ea"/>
              </a:rPr>
              <a:t>Ab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sz="12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当物种A和B同时存在时，检测到物种A但未检测到物种B的概率</a:t>
            </a:r>
            <a:endParaRPr sz="1200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z="1200" baseline="25000" dirty="0">
                <a:latin typeface="Arial" panose="020B0604020202020204"/>
                <a:cs typeface="Arial" panose="020B0604020202020204"/>
                <a:sym typeface="+mn-ea"/>
              </a:rPr>
              <a:t>aB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lang="en-US" sz="12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当物种A和B同时存在时，检测到物种B但未检测到物种A的概率</a:t>
            </a:r>
            <a:endParaRPr sz="1200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>
              <a:spcBef>
                <a:spcPts val="1120"/>
              </a:spcBef>
            </a:pP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r</a:t>
            </a:r>
            <a:r>
              <a:rPr sz="1200" baseline="25000" dirty="0">
                <a:latin typeface="Arial" panose="020B0604020202020204"/>
                <a:cs typeface="Arial" panose="020B0604020202020204"/>
                <a:sym typeface="+mn-ea"/>
              </a:rPr>
              <a:t>ab</a:t>
            </a:r>
            <a:r>
              <a:rPr sz="1200" spc="39" baseline="2500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  <a:sym typeface="+mn-ea"/>
              </a:rPr>
              <a:t>=</a:t>
            </a:r>
            <a:r>
              <a:rPr sz="1200" spc="-60" dirty="0">
                <a:latin typeface="Arial" panose="020B0604020202020204"/>
                <a:cs typeface="Arial" panose="020B0604020202020204"/>
                <a:sym typeface="+mn-ea"/>
              </a:rPr>
              <a:t> 当物种A和B同时存在时，未检测到任何物种的概率</a:t>
            </a:r>
            <a:endParaRPr sz="1200" spc="-60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38100" marR="87630">
              <a:spcBef>
                <a:spcPts val="600"/>
              </a:spcBef>
            </a:pPr>
            <a:endParaRPr sz="12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10" y="117093"/>
            <a:ext cx="4496276" cy="104902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spc="-4" dirty="0"/>
              <a:t>Quantifying</a:t>
            </a:r>
            <a:r>
              <a:rPr sz="3375" spc="-41" dirty="0"/>
              <a:t> </a:t>
            </a:r>
            <a:r>
              <a:rPr sz="3375" spc="-4" dirty="0"/>
              <a:t>interactions</a:t>
            </a:r>
            <a:br>
              <a:rPr sz="3375" spc="-4" dirty="0"/>
            </a:br>
            <a:r>
              <a:rPr sz="3375" spc="-4" dirty="0">
                <a:sym typeface="+mn-ea"/>
              </a:rPr>
              <a:t>量化相互作用</a:t>
            </a:r>
            <a:endParaRPr sz="3375"/>
          </a:p>
        </p:txBody>
      </p:sp>
      <p:sp>
        <p:nvSpPr>
          <p:cNvPr id="3" name="object 3"/>
          <p:cNvSpPr txBox="1"/>
          <p:nvPr/>
        </p:nvSpPr>
        <p:spPr>
          <a:xfrm>
            <a:off x="170180" y="1246505"/>
            <a:ext cx="8829040" cy="53848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nte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on e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ted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	</a:t>
            </a: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</a:t>
            </a:r>
            <a:r>
              <a:rPr sz="2000" spc="-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Symbol" panose="05050102010706020507"/>
                <a:cs typeface="Arial" panose="020B0604020202020204" pitchFamily="34" charset="0"/>
              </a:rPr>
              <a:t></a:t>
            </a:r>
            <a:r>
              <a:rPr sz="2000" spc="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000" baseline="30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/ (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)</a:t>
            </a:r>
            <a:endParaRPr sz="2000" dirty="0">
              <a:latin typeface="Comic Sans MS" panose="030F0702030302020204"/>
              <a:cs typeface="Arial" panose="020B0604020202020204" pitchFamily="34" charset="0"/>
            </a:endParaRPr>
          </a:p>
          <a:p>
            <a:pPr marL="437515">
              <a:spcBef>
                <a:spcPts val="2895"/>
              </a:spcBef>
              <a:tabLst>
                <a:tab pos="826135" algn="l"/>
              </a:tabLst>
            </a:pP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  </a:t>
            </a:r>
            <a:r>
              <a:rPr lang="en-US" sz="2000" spc="-33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sz="2000" spc="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1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avoidance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(less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frequent than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expected)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5"/>
              </a:spcBef>
            </a:pPr>
            <a:endParaRPr sz="2000" dirty="0">
              <a:latin typeface="Tahoma" panose="020B0604030504040204"/>
              <a:cs typeface="Tahoma" panose="020B0604030504040204"/>
            </a:endParaRPr>
          </a:p>
          <a:p>
            <a:pPr marL="437515">
              <a:tabLst>
                <a:tab pos="826135" algn="l"/>
              </a:tabLst>
            </a:pP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   </a:t>
            </a:r>
            <a:r>
              <a:rPr lang="en-US" sz="2000" spc="-33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1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convergence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 (more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frequent than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expected)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0"/>
              </a:spcBef>
            </a:pPr>
            <a:endParaRPr sz="2000" dirty="0">
              <a:latin typeface="Tahoma" panose="020B0604030504040204"/>
              <a:cs typeface="Tahoma" panose="020B0604030504040204"/>
            </a:endParaRPr>
          </a:p>
          <a:p>
            <a:pPr marL="437515">
              <a:tabLst>
                <a:tab pos="826135" algn="l"/>
              </a:tabLst>
            </a:pP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  </a:t>
            </a:r>
            <a:r>
              <a:rPr sz="2000" spc="-330" dirty="0">
                <a:latin typeface="Arial" panose="020B0604020202020204"/>
                <a:cs typeface="Arial" panose="020B0604020202020204"/>
              </a:rPr>
              <a:t>= </a:t>
            </a:r>
            <a:r>
              <a:rPr lang="en-US" sz="2000" spc="-33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330" dirty="0">
                <a:latin typeface="Arial" panose="020B0604020202020204"/>
                <a:cs typeface="Arial" panose="020B0604020202020204"/>
              </a:rPr>
              <a:t>1</a:t>
            </a:r>
            <a:r>
              <a:rPr sz="2000" spc="-4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4" dirty="0">
                <a:latin typeface="Arial" panose="020B0604020202020204"/>
                <a:cs typeface="Arial" panose="020B0604020202020204"/>
                <a:sym typeface="Wingdings" panose="05000000000000000000" pitchFamily="2" charset="2"/>
              </a:rPr>
              <a:t></a:t>
            </a:r>
            <a:r>
              <a:rPr sz="2000" spc="-8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4" dirty="0">
                <a:latin typeface="Tahoma" panose="020B0604030504040204"/>
                <a:cs typeface="Tahoma" panose="020B0604030504040204"/>
              </a:rPr>
              <a:t>i</a:t>
            </a:r>
            <a:r>
              <a:rPr sz="2000" dirty="0">
                <a:latin typeface="Tahoma" panose="020B0604030504040204"/>
                <a:cs typeface="Tahoma" panose="020B0604030504040204"/>
              </a:rPr>
              <a:t>n</a:t>
            </a:r>
            <a:r>
              <a:rPr sz="2000" spc="4" dirty="0">
                <a:latin typeface="Tahoma" panose="020B0604030504040204"/>
                <a:cs typeface="Tahoma" panose="020B0604030504040204"/>
              </a:rPr>
              <a:t>depe</a:t>
            </a:r>
            <a:r>
              <a:rPr sz="2000" dirty="0">
                <a:latin typeface="Tahoma" panose="020B0604030504040204"/>
                <a:cs typeface="Tahoma" panose="020B0604030504040204"/>
              </a:rPr>
              <a:t>n</a:t>
            </a:r>
            <a:r>
              <a:rPr sz="2000" spc="4" dirty="0">
                <a:latin typeface="Tahoma" panose="020B0604030504040204"/>
                <a:cs typeface="Tahoma" panose="020B0604030504040204"/>
              </a:rPr>
              <a:t>de</a:t>
            </a:r>
            <a:r>
              <a:rPr sz="2000" dirty="0">
                <a:latin typeface="Tahoma" panose="020B0604030504040204"/>
                <a:cs typeface="Tahoma" panose="020B0604030504040204"/>
              </a:rPr>
              <a:t>n</a:t>
            </a:r>
            <a:r>
              <a:rPr sz="2000" spc="-4" dirty="0">
                <a:latin typeface="Tahoma" panose="020B0604030504040204"/>
                <a:cs typeface="Tahoma" panose="020B0604030504040204"/>
              </a:rPr>
              <a:t>c</a:t>
            </a:r>
            <a:r>
              <a:rPr sz="2000" dirty="0">
                <a:latin typeface="Tahoma" panose="020B0604030504040204"/>
                <a:cs typeface="Tahoma" panose="020B0604030504040204"/>
              </a:rPr>
              <a:t>e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(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 =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)</a:t>
            </a:r>
            <a:endParaRPr lang="en-US" sz="2000" dirty="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437515">
              <a:tabLst>
                <a:tab pos="826135" algn="l"/>
              </a:tabLst>
            </a:pPr>
            <a:endParaRPr lang="en-US" sz="2000" dirty="0">
              <a:latin typeface="Comic Sans MS" panose="030F0702030302020204"/>
              <a:cs typeface="Arial" panose="020B0604020202020204" pitchFamily="34" charset="0"/>
            </a:endParaRPr>
          </a:p>
          <a:p>
            <a:pPr marL="47625">
              <a:spcBef>
                <a:spcPts val="75"/>
              </a:spcBef>
              <a:tabLst>
                <a:tab pos="3632835" algn="l"/>
              </a:tabLst>
            </a:pPr>
            <a:r>
              <a:rPr lang="zh-CN" sz="2000" spc="4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相互作用估计值（表示物种A和B在共存地点同时出现的概率与各自独立出现概率的比值）</a:t>
            </a: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： </a:t>
            </a:r>
            <a:r>
              <a:rPr sz="2000" dirty="0">
                <a:latin typeface="Symbol" panose="05050102010706020507"/>
                <a:cs typeface="Arial" panose="020B0604020202020204" pitchFamily="34" charset="0"/>
                <a:sym typeface="+mn-ea"/>
              </a:rPr>
              <a:t> 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000" baseline="300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 / (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 y )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sz="2000" dirty="0">
              <a:latin typeface="Comic Sans MS" panose="030F0702030302020204"/>
              <a:cs typeface="Arial" panose="020B0604020202020204" pitchFamily="34" charset="0"/>
            </a:endParaRPr>
          </a:p>
          <a:p>
            <a:pPr marL="437515">
              <a:spcBef>
                <a:spcPts val="2895"/>
              </a:spcBef>
              <a:tabLst>
                <a:tab pos="826135" algn="l"/>
              </a:tabLst>
            </a:pPr>
            <a:r>
              <a:rPr lang="en-US" sz="2000" spc="-33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 &lt;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</a:t>
            </a:r>
            <a:r>
              <a:rPr lang="en-US" sz="2000" spc="-1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zh-CN" sz="2000" spc="-8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回避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（物种A和B的共存</a:t>
            </a: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概率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低于预期）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5"/>
              </a:spcBef>
            </a:pPr>
            <a:endParaRPr sz="2000" dirty="0">
              <a:latin typeface="Tahoma" panose="020B0604030504040204"/>
              <a:cs typeface="Tahoma" panose="020B0604030504040204"/>
            </a:endParaRPr>
          </a:p>
          <a:p>
            <a:pPr marL="437515">
              <a:tabLst>
                <a:tab pos="826135" algn="l"/>
              </a:tabLst>
            </a:pPr>
            <a:r>
              <a:rPr lang="en-US" sz="2000" spc="-33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 &gt;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</a:t>
            </a:r>
            <a:r>
              <a:rPr lang="en-US" sz="2000" spc="-1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zh-CN" sz="2000" spc="-8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聚集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物种A和B的共存</a:t>
            </a: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概率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高于预期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endParaRPr sz="2000" spc="-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0"/>
              </a:spcBef>
            </a:pPr>
            <a:endParaRPr sz="2000" dirty="0">
              <a:latin typeface="Tahoma" panose="020B0604030504040204"/>
              <a:cs typeface="Tahoma" panose="020B0604030504040204"/>
            </a:endParaRPr>
          </a:p>
          <a:p>
            <a:pPr marL="437515">
              <a:tabLst>
                <a:tab pos="826135" algn="l"/>
              </a:tabLst>
            </a:pPr>
            <a:r>
              <a:rPr lang="en-US" sz="2000" spc="-330" dirty="0">
                <a:latin typeface="Symbol" panose="05050102010706020507"/>
                <a:cs typeface="Arial" panose="020B0604020202020204" pitchFamily="34" charset="0"/>
                <a:sym typeface="Symbol" panose="05050102010706020507" pitchFamily="18" charset="2"/>
              </a:rPr>
              <a:t> </a:t>
            </a:r>
            <a:r>
              <a:rPr sz="2000" spc="-330" dirty="0">
                <a:latin typeface="Arial" panose="020B0604020202020204"/>
                <a:cs typeface="Arial" panose="020B0604020202020204"/>
                <a:sym typeface="+mn-ea"/>
              </a:rPr>
              <a:t>= 1 </a:t>
            </a:r>
            <a:r>
              <a:rPr lang="en-US" sz="2000" spc="-4" dirty="0">
                <a:latin typeface="Arial" panose="020B0604020202020204"/>
                <a:cs typeface="Arial" panose="020B0604020202020204"/>
                <a:sym typeface="Wingdings" panose="05000000000000000000" pitchFamily="2" charset="2"/>
              </a:rPr>
              <a:t> </a:t>
            </a:r>
            <a:r>
              <a:rPr lang="zh-CN" sz="2000" dirty="0">
                <a:latin typeface="Tahoma" panose="020B0604030504040204"/>
                <a:cs typeface="Tahoma" panose="020B0604030504040204"/>
                <a:sym typeface="+mn-ea"/>
              </a:rPr>
              <a:t>独立（物种A和B的共存概率与各自独立出现的概率相等）</a:t>
            </a:r>
            <a:r>
              <a:rPr sz="2000" dirty="0">
                <a:latin typeface="Tahoma" panose="020B0604030504040204"/>
                <a:cs typeface="Tahoma" panose="020B0604030504040204"/>
                <a:sym typeface="+mn-ea"/>
              </a:rPr>
              <a:t>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(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 = 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sz="2000" dirty="0" err="1">
                <a:latin typeface="Symbol" panose="05050102010706020507" pitchFamily="18" charset="2"/>
                <a:sym typeface="Symbol" panose="05050102010706020507" pitchFamily="18" charset="2"/>
              </a:rPr>
              <a:t> y )</a:t>
            </a:r>
            <a:r>
              <a:rPr lang="en-US" sz="2000" baseline="300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sz="2000" dirty="0">
              <a:latin typeface="Comic Sans MS" panose="030F07020303020202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5*398"/>
  <p:tag name="TABLE_ENDDRAG_RECT" val="15*112*675*398"/>
</p:tagLst>
</file>

<file path=ppt/tags/tag2.xml><?xml version="1.0" encoding="utf-8"?>
<p:tagLst xmlns:p="http://schemas.openxmlformats.org/presentationml/2006/main">
  <p:tag name="commondata" val="eyJoZGlkIjoiM2MwZTM1NDgyZTEzMGYwNDQyOTIwZWQ0YmNlZDc4Z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4481</Words>
  <Application>WPS 演示</Application>
  <PresentationFormat>On-screen Show (4:3)</PresentationFormat>
  <Paragraphs>291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Symbol</vt:lpstr>
      <vt:lpstr>Times New Roman</vt:lpstr>
      <vt:lpstr>Symbol</vt:lpstr>
      <vt:lpstr>Comic Sans MS</vt:lpstr>
      <vt:lpstr>Tahoma</vt:lpstr>
      <vt:lpstr>Calibri</vt:lpstr>
      <vt:lpstr>微软雅黑</vt:lpstr>
      <vt:lpstr>Arial Unicode MS</vt:lpstr>
      <vt:lpstr>Office Theme</vt:lpstr>
      <vt:lpstr>Estimating species  co-occurrence</vt:lpstr>
      <vt:lpstr>Rationale 原理</vt:lpstr>
      <vt:lpstr>Why are certain species found together? 为什么某些物种被发现在一起？</vt:lpstr>
      <vt:lpstr>Summary of Interspecific Interactions 种间相互作用概述</vt:lpstr>
      <vt:lpstr>Questions you might want to ask 你可能想问的问题</vt:lpstr>
      <vt:lpstr>States 状态</vt:lpstr>
      <vt:lpstr>State process 状态过程</vt:lpstr>
      <vt:lpstr>Conditional probabilities 条件概率</vt:lpstr>
      <vt:lpstr>Venn diagram 维恩图解</vt:lpstr>
      <vt:lpstr>Events 事件</vt:lpstr>
      <vt:lpstr>Observation process 观察过程</vt:lpstr>
      <vt:lpstr>PowerPoint 演示文稿</vt:lpstr>
      <vt:lpstr>State process</vt:lpstr>
      <vt:lpstr>Observation process</vt:lpstr>
      <vt:lpstr>Quantifying interactions 量化相互作用</vt:lpstr>
    </vt:vector>
  </TitlesOfParts>
  <Company>University of Victoria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Baum;dan_popescu@sfu.ca</dc:creator>
  <cp:lastModifiedBy>WCY</cp:lastModifiedBy>
  <cp:revision>555</cp:revision>
  <dcterms:created xsi:type="dcterms:W3CDTF">2012-09-18T22:01:00Z</dcterms:created>
  <dcterms:modified xsi:type="dcterms:W3CDTF">2024-03-28T07:14:17Z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A12F139B1F244AD5B126111D9EA09D7B_13</vt:lpwstr>
  </property>
  <property fmtid="{D5CDD505-2E9C-101B-9397-08002B2CF9AE}" pid="3" name="KSOProductBuildVer">
    <vt:lpwstr>2052-12.1.0.16250</vt:lpwstr>
  </property>
</Properties>
</file>