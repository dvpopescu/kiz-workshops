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36"/>
  </p:handoutMasterIdLst>
  <p:sldIdLst>
    <p:sldId id="1027" r:id="rId3"/>
    <p:sldId id="1115" r:id="rId5"/>
    <p:sldId id="1028" r:id="rId6"/>
    <p:sldId id="1030" r:id="rId7"/>
    <p:sldId id="1142" r:id="rId8"/>
    <p:sldId id="1077" r:id="rId9"/>
    <p:sldId id="1104" r:id="rId10"/>
    <p:sldId id="1105" r:id="rId11"/>
    <p:sldId id="1103" r:id="rId12"/>
    <p:sldId id="1033" r:id="rId13"/>
    <p:sldId id="1061" r:id="rId14"/>
    <p:sldId id="1066" r:id="rId15"/>
    <p:sldId id="1143" r:id="rId16"/>
    <p:sldId id="1035" r:id="rId17"/>
    <p:sldId id="1036" r:id="rId18"/>
    <p:sldId id="1069" r:id="rId19"/>
    <p:sldId id="1106" r:id="rId20"/>
    <p:sldId id="1040" r:id="rId21"/>
    <p:sldId id="1116" r:id="rId22"/>
    <p:sldId id="1108" r:id="rId23"/>
    <p:sldId id="1117" r:id="rId24"/>
    <p:sldId id="1107" r:id="rId25"/>
    <p:sldId id="1144" r:id="rId26"/>
    <p:sldId id="1118" r:id="rId27"/>
    <p:sldId id="1041" r:id="rId28"/>
    <p:sldId id="1109" r:id="rId29"/>
    <p:sldId id="1110" r:id="rId30"/>
    <p:sldId id="1145" r:id="rId31"/>
    <p:sldId id="1111" r:id="rId32"/>
    <p:sldId id="1112" r:id="rId33"/>
    <p:sldId id="1113" r:id="rId34"/>
    <p:sldId id="1114" r:id="rId35"/>
  </p:sldIdLst>
  <p:sldSz cx="9144000" cy="6858000" type="screen4x3"/>
  <p:notesSz cx="6858000" cy="9144000"/>
  <p:custDataLst>
    <p:tags r:id="rId4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87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ick Dulvy" initials="ND" lastIdx="1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32" autoAdjust="0"/>
    <p:restoredTop sz="87846" autoAdjust="0"/>
  </p:normalViewPr>
  <p:slideViewPr>
    <p:cSldViewPr snapToGrid="0" snapToObjects="1" showGuides="1">
      <p:cViewPr varScale="1">
        <p:scale>
          <a:sx n="97" d="100"/>
          <a:sy n="97" d="100"/>
        </p:scale>
        <p:origin x="2280" y="84"/>
      </p:cViewPr>
      <p:guideLst>
        <p:guide orient="horz" pos="2188"/>
        <p:guide pos="287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gs" Target="tags/tag18.xml"/><Relationship Id="rId40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8012AB-719A-D047-945A-B744512AD8F0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4CDD0-CF87-D544-AD12-A932CFF7C10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A4FFD-2244-BD43-ADCC-55C407AA6B4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  <a:endParaRPr lang="en-CA"/>
          </a:p>
          <a:p>
            <a:pPr lvl="1"/>
            <a:r>
              <a:rPr lang="en-CA"/>
              <a:t>Second level</a:t>
            </a:r>
            <a:endParaRPr lang="en-CA"/>
          </a:p>
          <a:p>
            <a:pPr lvl="2"/>
            <a:r>
              <a:rPr lang="en-CA"/>
              <a:t>Third level</a:t>
            </a:r>
            <a:endParaRPr lang="en-CA"/>
          </a:p>
          <a:p>
            <a:pPr lvl="3"/>
            <a:r>
              <a:rPr lang="en-CA"/>
              <a:t>Fourth level</a:t>
            </a:r>
            <a:endParaRPr lang="en-CA"/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DFA54-D39D-1D48-8493-93DD0796946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DFA54-D39D-1D48-8493-93DD0796946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4% had a trend. For more than 95% of ENDANGERED SPECIES in richest country with data/scientists,</a:t>
            </a:r>
            <a:r>
              <a:rPr lang="en-US" baseline="0" dirty="0"/>
              <a:t> no one knew whether the population was growing, shrinking or stable?</a:t>
            </a:r>
            <a:endParaRPr lang="en-US" baseline="0" dirty="0"/>
          </a:p>
          <a:p>
            <a:r>
              <a:rPr lang="en-US" dirty="0"/>
              <a:t>ACTIVITY:</a:t>
            </a:r>
            <a:r>
              <a:rPr lang="en-US" baseline="0" dirty="0"/>
              <a:t> 2 minutes – to list why – focus on biological reasons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DFA54-D39D-1D48-8493-93DD0796946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OHLONE tiger</a:t>
            </a:r>
            <a:r>
              <a:rPr lang="en-US" baseline="0" dirty="0"/>
              <a:t> beetle – usually blended in grass, even experts have trouble spotting them, let along making an accurate / comprehensive count.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DFA54-D39D-1D48-8493-93DD0796946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 eaLnBrk="0" hangingPunct="0"/>
            <a:fld id="{90BCC89D-F471-4432-A8AC-B5381F68B9DC}" type="slidenum">
              <a:rPr lang="en-US" sz="1200"/>
            </a:fld>
            <a:endParaRPr lang="en-US" sz="1200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COUNTS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work only for IMMOBILE SPEICES, in LTD. Area with all life stages readily visible. FOR MOST SPEICES CENSUSES are impossible or prohibitively expensive.</a:t>
            </a:r>
            <a:endParaRPr lang="en-US" baseline="0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  <a:p>
            <a:pPr eaLnBrk="1" hangingPunct="1"/>
            <a:r>
              <a:rPr lang="en-US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Index – e.g. fisheries CPUE,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species that can’t be seen: e.g. vocalizations or footprints, nests, burrows.</a:t>
            </a:r>
            <a:endParaRPr lang="en-US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 eaLnBrk="0" hangingPunct="0"/>
            <a:fld id="{90BCC89D-F471-4432-A8AC-B5381F68B9DC}" type="slidenum">
              <a:rPr lang="en-US" sz="1200"/>
            </a:fld>
            <a:endParaRPr lang="en-US" sz="1200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COUNTS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work only for IMMOBILE SPEICES, in LTD. Area with all life stages readily visible. FOR MOST SPEICES CENSUSES are impossible or prohibitively expensive.</a:t>
            </a:r>
            <a:endParaRPr lang="en-US" baseline="0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  <a:p>
            <a:pPr eaLnBrk="1" hangingPunct="1"/>
            <a:r>
              <a:rPr lang="en-US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Index – e.g. fisheries CPUE,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species that can’t be seen: e.g. vocalizations or footprints, nests, burrows.</a:t>
            </a:r>
            <a:endParaRPr lang="en-US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DFA54-D39D-1D48-8493-93DD0796946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DFA54-D39D-1D48-8493-93DD0796946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DFA54-D39D-1D48-8493-93DD0796946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DFA54-D39D-1D48-8493-93DD0796946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 eaLnBrk="0" hangingPunct="0"/>
            <a:fld id="{FD593F4D-7CAB-49E8-912E-F9AF134D4097}" type="slidenum">
              <a:rPr lang="en-US" sz="1200"/>
            </a:fld>
            <a:endParaRPr lang="en-US" sz="1200"/>
          </a:p>
        </p:txBody>
      </p:sp>
      <p:sp>
        <p:nvSpPr>
          <p:cNvPr id="2560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3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 eaLnBrk="0" hangingPunct="0"/>
            <a:fld id="{FD593F4D-7CAB-49E8-912E-F9AF134D4097}" type="slidenum">
              <a:rPr lang="en-US" sz="1200"/>
            </a:fld>
            <a:endParaRPr lang="en-US" sz="1200"/>
          </a:p>
        </p:txBody>
      </p:sp>
      <p:sp>
        <p:nvSpPr>
          <p:cNvPr id="2560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3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 eaLnBrk="0" hangingPunct="0"/>
            <a:fld id="{FD593F4D-7CAB-49E8-912E-F9AF134D4097}" type="slidenum">
              <a:rPr lang="en-US" sz="1200"/>
            </a:fld>
            <a:endParaRPr lang="en-US" sz="1200"/>
          </a:p>
        </p:txBody>
      </p:sp>
      <p:sp>
        <p:nvSpPr>
          <p:cNvPr id="2560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3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 eaLnBrk="0" hangingPunct="0"/>
            <a:fld id="{FD593F4D-7CAB-49E8-912E-F9AF134D4097}" type="slidenum">
              <a:rPr lang="en-US" sz="1200"/>
            </a:fld>
            <a:endParaRPr lang="en-US" sz="1200"/>
          </a:p>
        </p:txBody>
      </p:sp>
      <p:sp>
        <p:nvSpPr>
          <p:cNvPr id="2560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3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 eaLnBrk="0" hangingPunct="0"/>
            <a:fld id="{41E2DA64-9062-46B8-A126-64FB848299CA}" type="slidenum">
              <a:rPr lang="en-US" sz="1200"/>
            </a:fld>
            <a:endParaRPr lang="en-US" sz="1200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SOME SIMPLE EXAMPLES OF HOW TO INC.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THESE NON-STANDARD FACTORS INTO MODELS…. </a:t>
            </a:r>
            <a:r>
              <a:rPr lang="en-US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e.g. if p = 0.5…</a:t>
            </a:r>
            <a:endParaRPr lang="en-US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  <a:p>
            <a:pPr eaLnBrk="1" hangingPunct="1"/>
            <a:endParaRPr lang="en-US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 eaLnBrk="0" hangingPunct="0"/>
            <a:fld id="{2E0B91FE-E9FF-4A59-88F4-751C59B36CF0}" type="slidenum">
              <a:rPr lang="en-US" sz="1200"/>
            </a:fld>
            <a:endParaRPr lang="en-US" sz="1200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1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 eaLnBrk="0" hangingPunct="0"/>
            <a:fld id="{7590167F-0845-4AF3-B2AF-EC8774CB4F68}" type="slidenum">
              <a:rPr lang="en-US" sz="1200"/>
            </a:fld>
            <a:endParaRPr lang="en-US" sz="1200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Important tools for estimating N for mobile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</a:t>
            </a:r>
            <a:r>
              <a:rPr lang="en-US" baseline="0" dirty="0" err="1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speices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….  1. Research CAPTURES, MARKS, and RELEASES as many individuals as </a:t>
            </a:r>
            <a:r>
              <a:rPr lang="en-US" baseline="0" dirty="0" err="1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possilbe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, # Marked = M</a:t>
            </a:r>
            <a:endParaRPr lang="en-US" baseline="0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  <a:p>
            <a:pPr eaLnBrk="1" hangingPunct="1"/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2. Allows enough time for the marked individuals to mix </a:t>
            </a:r>
            <a:r>
              <a:rPr lang="en-US" baseline="0" dirty="0" err="1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intot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the whole </a:t>
            </a:r>
            <a:r>
              <a:rPr lang="en-US" baseline="0" dirty="0" err="1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populaiton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, then </a:t>
            </a:r>
            <a:endParaRPr lang="en-US" baseline="0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  <a:p>
            <a:pPr eaLnBrk="1" hangingPunct="1"/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3. Resampled the </a:t>
            </a:r>
            <a:r>
              <a:rPr lang="en-US" baseline="0" dirty="0" err="1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poupplation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recording how many individuals are sampled (s) and how many of them </a:t>
            </a:r>
            <a:r>
              <a:rPr lang="en-US" baseline="0" dirty="0" err="1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possed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the mark from the 1</a:t>
            </a:r>
            <a:r>
              <a:rPr lang="en-US" baseline="3000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st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visit and are therefore recaptured (r)</a:t>
            </a:r>
            <a:endParaRPr lang="en-US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1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 eaLnBrk="0" hangingPunct="0"/>
            <a:fld id="{7590167F-0845-4AF3-B2AF-EC8774CB4F68}" type="slidenum">
              <a:rPr lang="en-US" sz="1200"/>
            </a:fld>
            <a:endParaRPr lang="en-US" sz="1200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Important tools for estimating N for mobile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</a:t>
            </a:r>
            <a:r>
              <a:rPr lang="en-US" baseline="0" dirty="0" err="1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speices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….  1. Research CAPTURES, MARKS, and RELEASES as many individuals as </a:t>
            </a:r>
            <a:r>
              <a:rPr lang="en-US" baseline="0" dirty="0" err="1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possilbe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, # Marked = M</a:t>
            </a:r>
            <a:endParaRPr lang="en-US" baseline="0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  <a:p>
            <a:pPr eaLnBrk="1" hangingPunct="1"/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2. Allows enough time for the marked individuals to mix </a:t>
            </a:r>
            <a:r>
              <a:rPr lang="en-US" baseline="0" dirty="0" err="1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intot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the whole </a:t>
            </a:r>
            <a:r>
              <a:rPr lang="en-US" baseline="0" dirty="0" err="1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populaiton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, then </a:t>
            </a:r>
            <a:endParaRPr lang="en-US" baseline="0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  <a:p>
            <a:pPr eaLnBrk="1" hangingPunct="1"/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3. Resampled the </a:t>
            </a:r>
            <a:r>
              <a:rPr lang="en-US" baseline="0" dirty="0" err="1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poupplation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recording how many individuals are sampled (s) and how many of them </a:t>
            </a:r>
            <a:r>
              <a:rPr lang="en-US" baseline="0" dirty="0" err="1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possed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the mark from the 1</a:t>
            </a:r>
            <a:r>
              <a:rPr lang="en-US" baseline="3000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st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visit and are therefore recaptured (r)</a:t>
            </a:r>
            <a:endParaRPr lang="en-US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 eaLnBrk="0" hangingPunct="0"/>
            <a:fld id="{49150649-D528-40CF-A5D3-E6E3A56EB8E1}" type="slidenum">
              <a:rPr lang="en-US" sz="1200"/>
            </a:fld>
            <a:endParaRPr lang="en-US" sz="1200"/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1. Research CAPTURES, MARKS, and RELEASES as many individuals as </a:t>
            </a:r>
            <a:r>
              <a:rPr lang="en-US" baseline="0" dirty="0" err="1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possilbe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, # Marked = M</a:t>
            </a:r>
            <a:endParaRPr lang="en-US" baseline="0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  <a:p>
            <a:pPr eaLnBrk="1" hangingPunct="1"/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2. Allows enough time for the marked individuals to MIX back into the POPULATION, </a:t>
            </a:r>
            <a:endParaRPr lang="en-US" baseline="0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3. RESAMPLES the POPULATIONS, recording how many individuals sampled (S) and how many of them </a:t>
            </a:r>
            <a:r>
              <a:rPr lang="en-US" baseline="0" dirty="0" err="1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possed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the mark from the 1</a:t>
            </a:r>
            <a:r>
              <a:rPr lang="en-US" baseline="3000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st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visit and are therefore recaptured (r)</a:t>
            </a:r>
            <a:endParaRPr lang="en-US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  <a:p>
            <a:pPr eaLnBrk="1" hangingPunct="1"/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Assuming that the proportion of the total population that was marked during the first sampling m/N is = to the proportion that individuals </a:t>
            </a:r>
            <a:r>
              <a:rPr lang="en-US" baseline="0" dirty="0" err="1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aptured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during 2</a:t>
            </a:r>
            <a:r>
              <a:rPr lang="en-US" baseline="3000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nd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period that were recaptured…… </a:t>
            </a:r>
            <a:endParaRPr lang="en-US" baseline="0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  <a:p>
            <a:pPr eaLnBrk="1" hangingPunct="1"/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IMPORTANCE of UNDERSTANDING THE DIRECTION OF BIASES – MEANS WE CAN MODEL THEM!!</a:t>
            </a:r>
            <a:endParaRPr lang="en-US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 eaLnBrk="0" hangingPunct="0"/>
            <a:fld id="{49150649-D528-40CF-A5D3-E6E3A56EB8E1}" type="slidenum">
              <a:rPr lang="en-US" sz="1200"/>
            </a:fld>
            <a:endParaRPr lang="en-US" sz="1200"/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1. Research CAPTURES, MARKS, and RELEASES as many individuals as </a:t>
            </a:r>
            <a:r>
              <a:rPr lang="en-US" baseline="0" dirty="0" err="1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possilbe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, # Marked = M</a:t>
            </a:r>
            <a:endParaRPr lang="en-US" baseline="0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  <a:p>
            <a:pPr eaLnBrk="1" hangingPunct="1"/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2. Allows enough time for the marked individuals to MIX back into the POPULATION, </a:t>
            </a:r>
            <a:endParaRPr lang="en-US" baseline="0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3. RESAMPLES the POPULATIONS, recording how many individuals sampled (S) and how many of them </a:t>
            </a:r>
            <a:r>
              <a:rPr lang="en-US" baseline="0" dirty="0" err="1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possed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the mark from the 1</a:t>
            </a:r>
            <a:r>
              <a:rPr lang="en-US" baseline="3000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st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visit and are therefore recaptured (r)</a:t>
            </a:r>
            <a:endParaRPr lang="en-US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  <a:p>
            <a:pPr eaLnBrk="1" hangingPunct="1"/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Assuming that the proportion of the total population that was marked during the first sampling m/N is = to the proportion that individuals </a:t>
            </a:r>
            <a:r>
              <a:rPr lang="en-US" baseline="0" dirty="0" err="1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aptured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during 2</a:t>
            </a:r>
            <a:r>
              <a:rPr lang="en-US" baseline="3000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nd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period that were recaptured…… </a:t>
            </a:r>
            <a:endParaRPr lang="en-US" baseline="0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  <a:p>
            <a:pPr eaLnBrk="1" hangingPunct="1"/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IMPORTANCE of UNDERSTANDING THE DIRECTION OF BIASES – MEANS WE CAN MODEL THEM!!</a:t>
            </a:r>
            <a:endParaRPr lang="en-US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 eaLnBrk="0" hangingPunct="0"/>
            <a:fld id="{49150649-D528-40CF-A5D3-E6E3A56EB8E1}" type="slidenum">
              <a:rPr lang="en-US" sz="1200"/>
            </a:fld>
            <a:endParaRPr lang="en-US" sz="1200"/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 eaLnBrk="0" hangingPunct="0"/>
            <a:fld id="{49150649-D528-40CF-A5D3-E6E3A56EB8E1}" type="slidenum">
              <a:rPr lang="en-US" sz="1200"/>
            </a:fld>
            <a:endParaRPr lang="en-US" sz="1200"/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 eaLnBrk="0" hangingPunct="0"/>
            <a:fld id="{49150649-D528-40CF-A5D3-E6E3A56EB8E1}" type="slidenum">
              <a:rPr lang="en-US" sz="1200"/>
            </a:fld>
            <a:endParaRPr lang="en-US" sz="1200"/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 eaLnBrk="0" hangingPunct="0"/>
            <a:fld id="{49150649-D528-40CF-A5D3-E6E3A56EB8E1}" type="slidenum">
              <a:rPr lang="en-US" sz="1200"/>
            </a:fld>
            <a:endParaRPr lang="en-US" sz="1200"/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 eaLnBrk="0" hangingPunct="0"/>
            <a:fld id="{49150649-D528-40CF-A5D3-E6E3A56EB8E1}" type="slidenum">
              <a:rPr lang="en-US" sz="1200"/>
            </a:fld>
            <a:endParaRPr lang="en-US" sz="1200"/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 eaLnBrk="0" hangingPunct="0"/>
            <a:fld id="{49C39F63-6CA7-4733-990E-17CC9FE65D6C}" type="slidenum">
              <a:rPr lang="en-US" sz="1200"/>
            </a:fld>
            <a:endParaRPr lang="en-US" sz="1200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Visual detection of tags,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slow individuals down…. </a:t>
            </a:r>
            <a:endParaRPr lang="en-US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 eaLnBrk="0" hangingPunct="0"/>
            <a:fld id="{49C39F63-6CA7-4733-990E-17CC9FE65D6C}" type="slidenum">
              <a:rPr lang="en-US" sz="1200"/>
            </a:fld>
            <a:endParaRPr lang="en-US" sz="1200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 eaLnBrk="0" hangingPunct="0"/>
            <a:fld id="{49C39F63-6CA7-4733-990E-17CC9FE65D6C}" type="slidenum">
              <a:rPr lang="en-US" sz="1200"/>
            </a:fld>
            <a:endParaRPr lang="en-US" sz="1200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 eaLnBrk="0" hangingPunct="0"/>
            <a:fld id="{49C39F63-6CA7-4733-990E-17CC9FE65D6C}" type="slidenum">
              <a:rPr lang="en-US" sz="1200"/>
            </a:fld>
            <a:endParaRPr lang="en-US" sz="1200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 eaLnBrk="0" hangingPunct="0"/>
            <a:fld id="{49C39F63-6CA7-4733-990E-17CC9FE65D6C}" type="slidenum">
              <a:rPr lang="en-US" sz="1200"/>
            </a:fld>
            <a:endParaRPr lang="en-US" sz="1200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 eaLnBrk="0" hangingPunct="0"/>
            <a:fld id="{49C39F63-6CA7-4733-990E-17CC9FE65D6C}" type="slidenum">
              <a:rPr lang="en-US" sz="1200"/>
            </a:fld>
            <a:endParaRPr lang="en-US" sz="1200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 eaLnBrk="0" hangingPunct="0"/>
            <a:fld id="{49C39F63-6CA7-4733-990E-17CC9FE65D6C}" type="slidenum">
              <a:rPr lang="en-US" sz="1200"/>
            </a:fld>
            <a:endParaRPr lang="en-US" sz="1200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 eaLnBrk="0" hangingPunct="0"/>
            <a:fld id="{49C39F63-6CA7-4733-990E-17CC9FE65D6C}" type="slidenum">
              <a:rPr lang="en-US" sz="1200"/>
            </a:fld>
            <a:endParaRPr lang="en-US" sz="1200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0C832-9B1D-8548-8ACB-A6308B643212}" type="datetime1">
              <a:rPr lang="en-CA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  <a:endParaRPr lang="en-CA"/>
          </a:p>
          <a:p>
            <a:pPr lvl="1"/>
            <a:r>
              <a:rPr lang="en-CA"/>
              <a:t>Second level</a:t>
            </a:r>
            <a:endParaRPr lang="en-CA"/>
          </a:p>
          <a:p>
            <a:pPr lvl="2"/>
            <a:r>
              <a:rPr lang="en-CA"/>
              <a:t>Third level</a:t>
            </a:r>
            <a:endParaRPr lang="en-CA"/>
          </a:p>
          <a:p>
            <a:pPr lvl="3"/>
            <a:r>
              <a:rPr lang="en-CA"/>
              <a:t>Fourth level</a:t>
            </a:r>
            <a:endParaRPr lang="en-CA"/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8B5F-3C67-8A4C-BF50-79DE455CDF57}" type="datetime1">
              <a:rPr lang="en-CA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3449B-0DCB-0241-99AA-69B77BB31269}" type="datetime1">
              <a:rPr lang="en-CA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  <a:p>
            <a:pPr lvl="1"/>
            <a:r>
              <a:rPr lang="en-CA"/>
              <a:t>Second level</a:t>
            </a:r>
            <a:endParaRPr lang="en-CA"/>
          </a:p>
          <a:p>
            <a:pPr lvl="2"/>
            <a:r>
              <a:rPr lang="en-CA"/>
              <a:t>Third level</a:t>
            </a:r>
            <a:endParaRPr lang="en-CA"/>
          </a:p>
          <a:p>
            <a:pPr lvl="3"/>
            <a:r>
              <a:rPr lang="en-CA"/>
              <a:t>Fourth level</a:t>
            </a:r>
            <a:endParaRPr lang="en-CA"/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  <a:p>
            <a:pPr lvl="1"/>
            <a:r>
              <a:rPr lang="en-CA"/>
              <a:t>Second level</a:t>
            </a:r>
            <a:endParaRPr lang="en-CA"/>
          </a:p>
          <a:p>
            <a:pPr lvl="2"/>
            <a:r>
              <a:rPr lang="en-CA"/>
              <a:t>Third level</a:t>
            </a:r>
            <a:endParaRPr lang="en-CA"/>
          </a:p>
          <a:p>
            <a:pPr lvl="3"/>
            <a:r>
              <a:rPr lang="en-CA"/>
              <a:t>Fourth level</a:t>
            </a:r>
            <a:endParaRPr lang="en-CA"/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FD7A0-0A8D-F642-B6E6-5FF49FA8FF5E}" type="datetime1">
              <a:rPr lang="en-CA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  <a:p>
            <a:pPr lvl="1"/>
            <a:r>
              <a:rPr lang="en-CA"/>
              <a:t>Second level</a:t>
            </a:r>
            <a:endParaRPr lang="en-CA"/>
          </a:p>
          <a:p>
            <a:pPr lvl="2"/>
            <a:r>
              <a:rPr lang="en-CA"/>
              <a:t>Third level</a:t>
            </a:r>
            <a:endParaRPr lang="en-CA"/>
          </a:p>
          <a:p>
            <a:pPr lvl="3"/>
            <a:r>
              <a:rPr lang="en-CA"/>
              <a:t>Fourth level</a:t>
            </a:r>
            <a:endParaRPr lang="en-CA"/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  <a:p>
            <a:pPr lvl="1"/>
            <a:r>
              <a:rPr lang="en-CA"/>
              <a:t>Second level</a:t>
            </a:r>
            <a:endParaRPr lang="en-CA"/>
          </a:p>
          <a:p>
            <a:pPr lvl="2"/>
            <a:r>
              <a:rPr lang="en-CA"/>
              <a:t>Third level</a:t>
            </a:r>
            <a:endParaRPr lang="en-CA"/>
          </a:p>
          <a:p>
            <a:pPr lvl="3"/>
            <a:r>
              <a:rPr lang="en-CA"/>
              <a:t>Fourth level</a:t>
            </a:r>
            <a:endParaRPr lang="en-CA"/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5CE85-4D42-B74A-A599-0999A3C2E1EF}" type="datetime1">
              <a:rPr lang="en-CA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AB76B-F511-B449-B5E0-132958B7DA32}" type="datetime1">
              <a:rPr lang="en-CA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1E674-8BE7-A64E-8247-D451412CD411}" type="datetime1">
              <a:rPr lang="en-CA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  <a:p>
            <a:pPr lvl="1"/>
            <a:r>
              <a:rPr lang="en-CA"/>
              <a:t>Second level</a:t>
            </a:r>
            <a:endParaRPr lang="en-CA"/>
          </a:p>
          <a:p>
            <a:pPr lvl="2"/>
            <a:r>
              <a:rPr lang="en-CA"/>
              <a:t>Third level</a:t>
            </a:r>
            <a:endParaRPr lang="en-CA"/>
          </a:p>
          <a:p>
            <a:pPr lvl="3"/>
            <a:r>
              <a:rPr lang="en-CA"/>
              <a:t>Fourth level</a:t>
            </a:r>
            <a:endParaRPr lang="en-CA"/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5049B-6296-634C-8D2E-A255FAD8510B}" type="datetime1">
              <a:rPr lang="en-CA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AEE1E-39B3-1A4F-852A-37B3222AD97D}" type="datetime1">
              <a:rPr lang="en-CA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  <a:endParaRPr lang="en-CA"/>
          </a:p>
          <a:p>
            <a:pPr lvl="1"/>
            <a:r>
              <a:rPr lang="en-CA"/>
              <a:t>Second level</a:t>
            </a:r>
            <a:endParaRPr lang="en-CA"/>
          </a:p>
          <a:p>
            <a:pPr lvl="2"/>
            <a:r>
              <a:rPr lang="en-CA"/>
              <a:t>Third level</a:t>
            </a:r>
            <a:endParaRPr lang="en-CA"/>
          </a:p>
          <a:p>
            <a:pPr lvl="3"/>
            <a:r>
              <a:rPr lang="en-CA"/>
              <a:t>Fourth level</a:t>
            </a:r>
            <a:endParaRPr lang="en-CA"/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138E-64CB-5643-AE7A-958A9FF58685}" type="datetime1">
              <a:rPr lang="en-CA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  <a:endParaRPr lang="en-CA"/>
          </a:p>
          <a:p>
            <a:pPr lvl="1"/>
            <a:r>
              <a:rPr lang="en-CA"/>
              <a:t>Second level</a:t>
            </a:r>
            <a:endParaRPr lang="en-CA"/>
          </a:p>
          <a:p>
            <a:pPr lvl="2"/>
            <a:r>
              <a:rPr lang="en-CA"/>
              <a:t>Third level</a:t>
            </a:r>
            <a:endParaRPr lang="en-CA"/>
          </a:p>
          <a:p>
            <a:pPr lvl="3"/>
            <a:r>
              <a:rPr lang="en-CA"/>
              <a:t>Fourth level</a:t>
            </a:r>
            <a:endParaRPr lang="en-CA"/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822FF-0604-2842-AB88-607F6BED00D1}" type="datetime1">
              <a:rPr lang="en-CA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dirty="0"/>
              <a:t>Click to edit Master text styles</a:t>
            </a:r>
            <a:endParaRPr lang="en-CA" dirty="0"/>
          </a:p>
          <a:p>
            <a:pPr lvl="1"/>
            <a:r>
              <a:rPr lang="en-CA" dirty="0"/>
              <a:t>Second level</a:t>
            </a:r>
            <a:endParaRPr lang="en-CA" dirty="0"/>
          </a:p>
          <a:p>
            <a:pPr lvl="2"/>
            <a:r>
              <a:rPr lang="en-CA" dirty="0"/>
              <a:t>Third level</a:t>
            </a:r>
            <a:endParaRPr lang="en-CA" dirty="0"/>
          </a:p>
          <a:p>
            <a:pPr lvl="3"/>
            <a:r>
              <a:rPr lang="en-CA" dirty="0"/>
              <a:t>Fourth level</a:t>
            </a:r>
            <a:endParaRPr lang="en-CA" dirty="0"/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99663-0B9C-0644-8577-F18A9081372D}" type="datetime1">
              <a:rPr lang="en-CA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6FFF3-8FBC-2144-A340-2B54F44226F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rgbClr val="000090"/>
          </a:solidFill>
          <a:latin typeface="Arial" panose="020B0604020202020204"/>
          <a:ea typeface="+mj-ea"/>
          <a:cs typeface="Arial" panose="020B0604020202020204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jpeg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0.jpeg"/><Relationship Id="rId4" Type="http://schemas.openxmlformats.org/officeDocument/2006/relationships/image" Target="../media/image19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8.wmf"/><Relationship Id="rId1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jpeg"/><Relationship Id="rId1" Type="http://schemas.openxmlformats.org/officeDocument/2006/relationships/image" Target="../media/image21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0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1.xml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1.jpeg"/><Relationship Id="rId1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://www.phidot.org/software/mark/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4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5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6.xml"/><Relationship Id="rId2" Type="http://schemas.openxmlformats.org/officeDocument/2006/relationships/image" Target="../media/image44.png"/><Relationship Id="rId1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7.xml"/><Relationship Id="rId2" Type="http://schemas.openxmlformats.org/officeDocument/2006/relationships/image" Target="../media/image44.png"/><Relationship Id="rId1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27137"/>
            <a:ext cx="91440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</a:rPr>
              <a:t>Estimation of population parameters</a:t>
            </a:r>
            <a:endParaRPr lang="en-US" sz="36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</a:rPr>
              <a:t>种群参数</a:t>
            </a:r>
            <a:r>
              <a:rPr lang="zh-CN" altLang="en-US" sz="3600" b="1" dirty="0">
                <a:solidFill>
                  <a:schemeClr val="bg1"/>
                </a:solidFill>
              </a:rPr>
              <a:t>的估计</a:t>
            </a:r>
            <a:endParaRPr lang="en-US" sz="36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3600" b="1" dirty="0">
              <a:solidFill>
                <a:srgbClr val="F2F2F2"/>
              </a:solidFill>
            </a:endParaRPr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00"/>
                </a:solidFill>
              </a:rPr>
              <a:t>Abundance丰度</a:t>
            </a:r>
            <a:endParaRPr lang="en-US" sz="3600" b="1" dirty="0">
              <a:solidFill>
                <a:srgbClr val="FFFF00"/>
              </a:solidFill>
            </a:endParaRPr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00"/>
                </a:solidFill>
              </a:rPr>
              <a:t>Fecundity繁殖</a:t>
            </a:r>
            <a:r>
              <a:rPr lang="zh-CN" altLang="en-US" sz="3600" b="1" dirty="0">
                <a:solidFill>
                  <a:srgbClr val="FFFF00"/>
                </a:solidFill>
              </a:rPr>
              <a:t>率</a:t>
            </a:r>
            <a:endParaRPr lang="en-US" sz="3600" b="1" dirty="0">
              <a:solidFill>
                <a:srgbClr val="FFFF00"/>
              </a:solidFill>
            </a:endParaRPr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00"/>
                </a:solidFill>
              </a:rPr>
              <a:t>Survival存活率</a:t>
            </a:r>
            <a:endParaRPr lang="en-US" sz="3600" b="1" dirty="0">
              <a:solidFill>
                <a:srgbClr val="FFFF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490" y="308610"/>
            <a:ext cx="8627745" cy="6100445"/>
          </a:xfrm>
        </p:spPr>
        <p:txBody>
          <a:bodyPr>
            <a:normAutofit fontScale="80000"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</a:rPr>
              <a:t>Scientists know how to count, right??</a:t>
            </a:r>
            <a:endParaRPr lang="en-US" sz="36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zh-CN" altLang="en-US" sz="3600" b="1" dirty="0">
                <a:solidFill>
                  <a:schemeClr val="bg1"/>
                </a:solidFill>
              </a:rPr>
              <a:t>科学家知道怎么数数，对吧？？</a:t>
            </a:r>
            <a:endParaRPr lang="en-US" sz="36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3600" b="1" dirty="0">
              <a:solidFill>
                <a:srgbClr val="F2F2F2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</a:rPr>
              <a:t>Yet in the U.S. &lt;50% of recovery plans for ESA listed species included an estimate of current population size, N.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</a:rPr>
              <a:t>75% lacked </a:t>
            </a:r>
            <a:r>
              <a:rPr lang="en-US" sz="2400">
                <a:solidFill>
                  <a:schemeClr val="bg1"/>
                </a:solidFill>
              </a:rPr>
              <a:t>a rigorous </a:t>
            </a:r>
            <a:r>
              <a:rPr lang="en-US" sz="2400" dirty="0">
                <a:solidFill>
                  <a:schemeClr val="bg1"/>
                </a:solidFill>
              </a:rPr>
              <a:t>estimate.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</a:rPr>
              <a:t>然而，在美国，</a:t>
            </a:r>
            <a:r>
              <a:rPr lang="zh-CN" altLang="en-US" sz="2400" dirty="0">
                <a:solidFill>
                  <a:schemeClr val="bg1"/>
                </a:solidFill>
              </a:rPr>
              <a:t>只有</a:t>
            </a:r>
            <a:r>
              <a:rPr lang="en-US" sz="2400" dirty="0">
                <a:solidFill>
                  <a:schemeClr val="bg1"/>
                </a:solidFill>
              </a:rPr>
              <a:t>不到50%的濒危物种恢复计划包含了对当前种群规模N的估</a:t>
            </a:r>
            <a:r>
              <a:rPr lang="zh-CN" altLang="en-US" sz="2400" dirty="0">
                <a:solidFill>
                  <a:schemeClr val="bg1"/>
                </a:solidFill>
              </a:rPr>
              <a:t>算</a:t>
            </a:r>
            <a:r>
              <a:rPr lang="en-US" sz="2400" dirty="0">
                <a:solidFill>
                  <a:schemeClr val="bg1"/>
                </a:solidFill>
              </a:rPr>
              <a:t>。而75%的计划缺乏严格的估</a:t>
            </a:r>
            <a:r>
              <a:rPr lang="zh-CN" altLang="en-US" sz="2400" dirty="0">
                <a:solidFill>
                  <a:schemeClr val="bg1"/>
                </a:solidFill>
              </a:rPr>
              <a:t>算</a:t>
            </a:r>
            <a:r>
              <a:rPr lang="en-US" sz="2400" dirty="0">
                <a:solidFill>
                  <a:schemeClr val="bg1"/>
                </a:solidFill>
              </a:rPr>
              <a:t>。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2400" dirty="0">
              <a:solidFill>
                <a:srgbClr val="000090"/>
              </a:solidFill>
            </a:endParaRPr>
          </a:p>
          <a:p>
            <a:pPr marL="0" indent="0" algn="ctr">
              <a:buNone/>
            </a:pPr>
            <a:r>
              <a:rPr lang="en-US" sz="2800" dirty="0">
                <a:solidFill>
                  <a:srgbClr val="FFFF00"/>
                </a:solidFill>
              </a:rPr>
              <a:t>Why do we know so little </a:t>
            </a:r>
            <a:endParaRPr lang="en-US" sz="2800" dirty="0">
              <a:solidFill>
                <a:srgbClr val="FFFF00"/>
              </a:solidFill>
            </a:endParaRPr>
          </a:p>
          <a:p>
            <a:pPr marL="0" indent="0" algn="ctr">
              <a:buNone/>
            </a:pPr>
            <a:r>
              <a:rPr lang="en-US" sz="2800" dirty="0">
                <a:solidFill>
                  <a:srgbClr val="FFFF00"/>
                </a:solidFill>
              </a:rPr>
              <a:t>about the size of wild populations, </a:t>
            </a:r>
            <a:endParaRPr lang="en-US" sz="2800" dirty="0">
              <a:solidFill>
                <a:srgbClr val="FFFF00"/>
              </a:solidFill>
            </a:endParaRPr>
          </a:p>
          <a:p>
            <a:pPr marL="0" indent="0" algn="ctr">
              <a:buNone/>
            </a:pPr>
            <a:r>
              <a:rPr lang="en-US" sz="2800" dirty="0">
                <a:solidFill>
                  <a:srgbClr val="FFFF00"/>
                </a:solidFill>
              </a:rPr>
              <a:t>even when they are of high conservation priority?</a:t>
            </a:r>
            <a:endParaRPr lang="en-US" sz="2800" dirty="0">
              <a:solidFill>
                <a:srgbClr val="FFFF00"/>
              </a:solidFill>
            </a:endParaRPr>
          </a:p>
          <a:p>
            <a:pPr marL="0" indent="0" algn="ctr">
              <a:buNone/>
            </a:pPr>
            <a:r>
              <a:rPr lang="en-US" sz="2800" dirty="0">
                <a:solidFill>
                  <a:srgbClr val="FFFF00"/>
                </a:solidFill>
              </a:rPr>
              <a:t>为什么</a:t>
            </a:r>
            <a:r>
              <a:rPr lang="en-US" sz="2800" dirty="0">
                <a:solidFill>
                  <a:srgbClr val="FFFF00"/>
                </a:solidFill>
                <a:sym typeface="+mn-ea"/>
              </a:rPr>
              <a:t>即使</a:t>
            </a:r>
            <a:r>
              <a:rPr lang="zh-CN" altLang="en-US" sz="2800" dirty="0">
                <a:solidFill>
                  <a:srgbClr val="FFFF00"/>
                </a:solidFill>
                <a:sym typeface="+mn-ea"/>
              </a:rPr>
              <a:t>野生动物</a:t>
            </a:r>
            <a:r>
              <a:rPr lang="en-US" sz="2800" dirty="0">
                <a:solidFill>
                  <a:srgbClr val="FFFF00"/>
                </a:solidFill>
                <a:sym typeface="+mn-ea"/>
              </a:rPr>
              <a:t>具有很高的保护优先级</a:t>
            </a:r>
            <a:r>
              <a:rPr lang="zh-CN" altLang="en-US" sz="2800" dirty="0">
                <a:solidFill>
                  <a:srgbClr val="FFFF00"/>
                </a:solidFill>
                <a:sym typeface="+mn-ea"/>
              </a:rPr>
              <a:t>，但</a:t>
            </a:r>
            <a:r>
              <a:rPr lang="en-US" sz="2800" dirty="0">
                <a:solidFill>
                  <a:srgbClr val="FFFF00"/>
                </a:solidFill>
              </a:rPr>
              <a:t>我们</a:t>
            </a:r>
            <a:r>
              <a:rPr lang="zh-CN" altLang="en-US" sz="2800" dirty="0">
                <a:solidFill>
                  <a:srgbClr val="FFFF00"/>
                </a:solidFill>
              </a:rPr>
              <a:t>却</a:t>
            </a:r>
            <a:r>
              <a:rPr lang="en-US" sz="2800" dirty="0">
                <a:solidFill>
                  <a:srgbClr val="FFFF00"/>
                </a:solidFill>
              </a:rPr>
              <a:t>对</a:t>
            </a:r>
            <a:r>
              <a:rPr lang="zh-CN" altLang="en-US" sz="2800" dirty="0">
                <a:solidFill>
                  <a:srgbClr val="FFFF00"/>
                </a:solidFill>
              </a:rPr>
              <a:t>它们</a:t>
            </a:r>
            <a:r>
              <a:rPr lang="en-US" sz="2800" dirty="0">
                <a:solidFill>
                  <a:srgbClr val="FFFF00"/>
                </a:solidFill>
              </a:rPr>
              <a:t>的数量知之甚少呢？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-26311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Why is estimating population size so challenging?</a:t>
            </a:r>
            <a:br>
              <a:rPr lang="en-US" dirty="0"/>
            </a:br>
            <a:r>
              <a:rPr lang="en-US" dirty="0"/>
              <a:t>估计种群大小为什么如此具有挑战性呢？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705" y="1497330"/>
            <a:ext cx="8286115" cy="5006975"/>
          </a:xfrm>
        </p:spPr>
        <p:txBody>
          <a:bodyPr>
            <a:normAutofit/>
          </a:bodyPr>
          <a:lstStyle/>
          <a:p>
            <a:r>
              <a:rPr lang="en-US" sz="2400" dirty="0"/>
              <a:t>Expensive </a:t>
            </a:r>
            <a:r>
              <a:rPr lang="zh-CN" altLang="en-US" sz="2400" dirty="0"/>
              <a:t>昂贵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Time consuming </a:t>
            </a:r>
            <a:r>
              <a:rPr lang="zh-CN" altLang="en-US" sz="2400" dirty="0"/>
              <a:t>耗时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Biological challenges </a:t>
            </a:r>
            <a:r>
              <a:rPr lang="zh-CN" altLang="en-US" sz="2400" dirty="0"/>
              <a:t>生物学挑战</a:t>
            </a:r>
            <a:r>
              <a:rPr lang="en-US" sz="2400" dirty="0"/>
              <a:t>:</a:t>
            </a:r>
            <a:endParaRPr lang="en-US" sz="2400" dirty="0"/>
          </a:p>
          <a:p>
            <a:pPr lvl="1"/>
            <a:r>
              <a:rPr lang="en-US" sz="2000" b="1" i="1" dirty="0">
                <a:solidFill>
                  <a:srgbClr val="FF0000"/>
                </a:solidFill>
              </a:rPr>
              <a:t>Detectability</a:t>
            </a:r>
            <a:r>
              <a:rPr lang="en-US" sz="2000" i="1" dirty="0"/>
              <a:t>: aquatic species, subterranean spp., elusive spp., cryptic species </a:t>
            </a:r>
            <a:r>
              <a:rPr lang="en-US" sz="2000" b="1" i="1" dirty="0">
                <a:solidFill>
                  <a:srgbClr val="FF0000"/>
                </a:solidFill>
              </a:rPr>
              <a:t>可</a:t>
            </a:r>
            <a:r>
              <a:rPr lang="zh-CN" altLang="en-US" sz="2000" b="1" i="1" dirty="0">
                <a:solidFill>
                  <a:srgbClr val="FF0000"/>
                </a:solidFill>
              </a:rPr>
              <a:t>检测</a:t>
            </a:r>
            <a:r>
              <a:rPr lang="en-US" sz="2000" b="1" i="1" dirty="0">
                <a:solidFill>
                  <a:srgbClr val="FF0000"/>
                </a:solidFill>
              </a:rPr>
              <a:t>性</a:t>
            </a:r>
            <a:r>
              <a:rPr lang="zh-CN" altLang="en-US" sz="2000" b="1" i="1" dirty="0">
                <a:solidFill>
                  <a:srgbClr val="FF0000"/>
                </a:solidFill>
              </a:rPr>
              <a:t>（难以检测到）：</a:t>
            </a:r>
            <a:r>
              <a:rPr lang="en-US" sz="2000" i="1" dirty="0"/>
              <a:t>水生</a:t>
            </a:r>
            <a:r>
              <a:rPr lang="zh-CN" altLang="en-US" sz="2000" i="1" dirty="0"/>
              <a:t>物种、</a:t>
            </a:r>
            <a:r>
              <a:rPr lang="en-US" sz="2000" i="1" dirty="0"/>
              <a:t>地下</a:t>
            </a:r>
            <a:r>
              <a:rPr lang="zh-CN" altLang="en-US" sz="2000" i="1" dirty="0"/>
              <a:t>物种、隐蔽物种、</a:t>
            </a:r>
            <a:r>
              <a:rPr lang="en-US" sz="2000" i="1" dirty="0"/>
              <a:t>隐种</a:t>
            </a:r>
            <a:endParaRPr lang="en-US" sz="2000" i="1" dirty="0"/>
          </a:p>
          <a:p>
            <a:pPr lvl="1"/>
            <a:r>
              <a:rPr lang="en-US" sz="2000" i="1" dirty="0"/>
              <a:t>Mobility </a:t>
            </a:r>
            <a:r>
              <a:rPr lang="zh-CN" altLang="en-US" sz="2000" i="1" dirty="0"/>
              <a:t>高度</a:t>
            </a:r>
            <a:r>
              <a:rPr lang="en-US" sz="2000" i="1" dirty="0"/>
              <a:t>移动性</a:t>
            </a:r>
            <a:endParaRPr lang="en-US" sz="2000" i="1" dirty="0"/>
          </a:p>
          <a:p>
            <a:pPr lvl="1"/>
            <a:r>
              <a:rPr lang="en-US" sz="2000" i="1" dirty="0"/>
              <a:t>Wide ranging species </a:t>
            </a:r>
            <a:endParaRPr lang="en-US" sz="2000" i="1" dirty="0"/>
          </a:p>
          <a:p>
            <a:pPr marL="457200" lvl="1" indent="0">
              <a:buNone/>
            </a:pPr>
            <a:r>
              <a:rPr lang="en-US" sz="2000" i="1" dirty="0"/>
              <a:t>   </a:t>
            </a:r>
            <a:r>
              <a:rPr lang="en-US" sz="2000" dirty="0"/>
              <a:t> </a:t>
            </a:r>
            <a:r>
              <a:rPr lang="en-US" sz="2000" i="1" dirty="0"/>
              <a:t>广泛分布的物种</a:t>
            </a:r>
            <a:endParaRPr lang="en-US" sz="2000" i="1" dirty="0"/>
          </a:p>
          <a:p>
            <a:pPr lvl="1"/>
            <a:r>
              <a:rPr lang="en-US" sz="2000" i="1" dirty="0"/>
              <a:t>Patchy distributions 分布不均匀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</a:fld>
            <a:endParaRPr lang="en-US"/>
          </a:p>
        </p:txBody>
      </p:sp>
      <p:pic>
        <p:nvPicPr>
          <p:cNvPr id="7" name="Picture 6" descr="KM2e_08.01_fmt.jpe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209" y="4367574"/>
            <a:ext cx="3743299" cy="2353901"/>
          </a:xfrm>
          <a:prstGeom prst="rect">
            <a:avLst/>
          </a:prstGeom>
        </p:spPr>
      </p:pic>
      <p:pic>
        <p:nvPicPr>
          <p:cNvPr id="6" name="Picture 4" descr="http://www.carnivoremari.ro/galerie-foto/17-mar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125" y="999490"/>
            <a:ext cx="3423920" cy="2277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969" y="1417638"/>
            <a:ext cx="24536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Definitions 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定义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1630" y="2379980"/>
            <a:ext cx="8672830" cy="3692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latin typeface="Arial" panose="020B0604020202020204"/>
                <a:cs typeface="Arial" panose="020B0604020202020204"/>
              </a:rPr>
              <a:t>Census</a:t>
            </a:r>
            <a:r>
              <a:rPr lang="en-US" b="1" dirty="0">
                <a:latin typeface="Arial" panose="020B0604020202020204"/>
                <a:cs typeface="Arial" panose="020B0604020202020204"/>
              </a:rPr>
              <a:t> – </a:t>
            </a:r>
            <a:r>
              <a:rPr lang="en-US" dirty="0">
                <a:latin typeface="Arial" panose="020B0604020202020204"/>
                <a:cs typeface="Arial" panose="020B0604020202020204"/>
              </a:rPr>
              <a:t>All individuals are counted (</a:t>
            </a:r>
            <a:r>
              <a:rPr lang="en-US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perfect detectability</a:t>
            </a:r>
            <a:r>
              <a:rPr lang="en-US" dirty="0">
                <a:latin typeface="Arial" panose="020B0604020202020204"/>
                <a:cs typeface="Arial" panose="020B0604020202020204"/>
              </a:rPr>
              <a:t>)</a:t>
            </a:r>
            <a:endParaRPr lang="en-US" dirty="0">
              <a:latin typeface="Arial" panose="020B0604020202020204"/>
              <a:cs typeface="Arial" panose="020B0604020202020204"/>
            </a:endParaRPr>
          </a:p>
          <a:p>
            <a:r>
              <a:rPr lang="en-US" b="1" u="sng" dirty="0">
                <a:latin typeface="Arial" panose="020B0604020202020204"/>
                <a:cs typeface="Arial" panose="020B0604020202020204"/>
              </a:rPr>
              <a:t>普查</a:t>
            </a:r>
            <a:r>
              <a:rPr lang="en-US" dirty="0">
                <a:latin typeface="Arial" panose="020B0604020202020204"/>
                <a:cs typeface="Arial" panose="020B0604020202020204"/>
              </a:rPr>
              <a:t>—对所有个体进行计数（</a:t>
            </a:r>
            <a:r>
              <a:rPr lang="en-US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完全可检测性</a:t>
            </a:r>
            <a:r>
              <a:rPr lang="en-US" dirty="0">
                <a:latin typeface="Arial" panose="020B0604020202020204"/>
                <a:cs typeface="Arial" panose="020B0604020202020204"/>
              </a:rPr>
              <a:t>）</a:t>
            </a:r>
            <a:endParaRPr lang="en-US" dirty="0">
              <a:latin typeface="Arial" panose="020B0604020202020204"/>
              <a:cs typeface="Arial" panose="020B0604020202020204"/>
            </a:endParaRPr>
          </a:p>
          <a:p>
            <a:endParaRPr lang="en-US" dirty="0">
              <a:latin typeface="Arial" panose="020B0604020202020204"/>
              <a:cs typeface="Arial" panose="020B0604020202020204"/>
            </a:endParaRPr>
          </a:p>
          <a:p>
            <a:pPr eaLnBrk="1" hangingPunct="1">
              <a:buNone/>
            </a:pPr>
            <a:r>
              <a:rPr lang="en-US" b="1" dirty="0">
                <a:latin typeface="Arial" panose="020B0604020202020204"/>
                <a:cs typeface="Arial" panose="020B0604020202020204"/>
              </a:rPr>
              <a:t>	Abundance</a:t>
            </a:r>
            <a:r>
              <a:rPr lang="en-US" dirty="0">
                <a:latin typeface="Arial" panose="020B0604020202020204"/>
                <a:cs typeface="Arial" panose="020B0604020202020204"/>
              </a:rPr>
              <a:t> = how many individuals (e.g., 100)</a:t>
            </a:r>
            <a:endParaRPr lang="en-US" dirty="0">
              <a:latin typeface="Arial" panose="020B0604020202020204"/>
              <a:cs typeface="Arial" panose="020B0604020202020204"/>
            </a:endParaRPr>
          </a:p>
          <a:p>
            <a:pPr eaLnBrk="1" hangingPunct="1">
              <a:buNone/>
            </a:pPr>
            <a:r>
              <a:rPr lang="en-US" dirty="0">
                <a:latin typeface="Arial" panose="020B0604020202020204"/>
                <a:cs typeface="Arial" panose="020B0604020202020204"/>
              </a:rPr>
              <a:t>       </a:t>
            </a:r>
            <a:r>
              <a:rPr lang="en-US" b="1" dirty="0">
                <a:latin typeface="Arial" panose="020B0604020202020204"/>
                <a:cs typeface="Arial" panose="020B0604020202020204"/>
              </a:rPr>
              <a:t>丰度</a:t>
            </a:r>
            <a:r>
              <a:rPr lang="en-US" dirty="0">
                <a:latin typeface="Arial" panose="020B0604020202020204"/>
                <a:cs typeface="Arial" panose="020B0604020202020204"/>
              </a:rPr>
              <a:t>=有多少个体（例如100个）</a:t>
            </a:r>
            <a:endParaRPr lang="en-US" dirty="0">
              <a:latin typeface="Arial" panose="020B0604020202020204"/>
              <a:cs typeface="Arial" panose="020B0604020202020204"/>
            </a:endParaRPr>
          </a:p>
          <a:p>
            <a:pPr eaLnBrk="1" hangingPunct="1"/>
            <a:endParaRPr lang="en-US" dirty="0">
              <a:latin typeface="Arial" panose="020B0604020202020204"/>
              <a:cs typeface="Arial" panose="020B0604020202020204"/>
            </a:endParaRPr>
          </a:p>
          <a:p>
            <a:pPr eaLnBrk="1" hangingPunct="1"/>
            <a:r>
              <a:rPr lang="en-US" b="1" dirty="0">
                <a:latin typeface="Arial" panose="020B0604020202020204"/>
                <a:cs typeface="Arial" panose="020B0604020202020204"/>
              </a:rPr>
              <a:t>	Density</a:t>
            </a:r>
            <a:r>
              <a:rPr lang="en-US" dirty="0">
                <a:latin typeface="Arial" panose="020B0604020202020204"/>
                <a:cs typeface="Arial" panose="020B0604020202020204"/>
              </a:rPr>
              <a:t> = abundance per unit area (e.g., 10/ha)</a:t>
            </a:r>
            <a:endParaRPr lang="en-US" dirty="0">
              <a:latin typeface="Arial" panose="020B0604020202020204"/>
              <a:cs typeface="Arial" panose="020B0604020202020204"/>
            </a:endParaRPr>
          </a:p>
          <a:p>
            <a:pPr eaLnBrk="1" hangingPunct="1"/>
            <a:r>
              <a:rPr lang="en-US" dirty="0">
                <a:latin typeface="Arial" panose="020B0604020202020204"/>
                <a:cs typeface="Arial" panose="020B0604020202020204"/>
              </a:rPr>
              <a:t>       </a:t>
            </a:r>
            <a:r>
              <a:rPr lang="en-US" b="1" dirty="0">
                <a:latin typeface="Arial" panose="020B0604020202020204"/>
                <a:cs typeface="Arial" panose="020B0604020202020204"/>
              </a:rPr>
              <a:t>密度</a:t>
            </a:r>
            <a:r>
              <a:rPr lang="en-US" dirty="0">
                <a:latin typeface="Arial" panose="020B0604020202020204"/>
                <a:cs typeface="Arial" panose="020B0604020202020204"/>
              </a:rPr>
              <a:t>=</a:t>
            </a:r>
            <a:r>
              <a:rPr lang="en-US" dirty="0">
                <a:latin typeface="Arial" panose="020B0604020202020204"/>
                <a:cs typeface="Arial" panose="020B0604020202020204"/>
              </a:rPr>
              <a:t>每单位面积的丰度（例如每公顷10个）</a:t>
            </a:r>
            <a:endParaRPr lang="en-US" dirty="0">
              <a:latin typeface="Arial" panose="020B0604020202020204"/>
              <a:cs typeface="Arial" panose="020B0604020202020204"/>
            </a:endParaRPr>
          </a:p>
          <a:p>
            <a:pPr eaLnBrk="1" hangingPunct="1"/>
            <a:endParaRPr lang="en-US" dirty="0">
              <a:latin typeface="Arial" panose="020B0604020202020204"/>
              <a:cs typeface="Arial" panose="020B0604020202020204"/>
            </a:endParaRPr>
          </a:p>
          <a:p>
            <a:r>
              <a:rPr lang="en-US" i="1" dirty="0">
                <a:latin typeface="Arial" panose="020B0604020202020204"/>
                <a:cs typeface="Arial" panose="020B0604020202020204"/>
              </a:rPr>
              <a:t>	Sample: usually standardized e.g. by time, space, effort:</a:t>
            </a:r>
            <a:endParaRPr lang="en-US" i="1" dirty="0">
              <a:latin typeface="Arial" panose="020B0604020202020204"/>
              <a:cs typeface="Arial" panose="020B0604020202020204"/>
            </a:endParaRPr>
          </a:p>
          <a:p>
            <a:r>
              <a:rPr lang="en-US" i="1" dirty="0">
                <a:latin typeface="Arial" panose="020B0604020202020204"/>
                <a:cs typeface="Arial" panose="020B0604020202020204"/>
              </a:rPr>
              <a:t>		e.g. catch per unit effort, individuals detected per time or area unit</a:t>
            </a:r>
            <a:endParaRPr lang="en-US" i="1" dirty="0">
              <a:latin typeface="Arial" panose="020B0604020202020204"/>
              <a:cs typeface="Arial" panose="020B0604020202020204"/>
            </a:endParaRPr>
          </a:p>
          <a:p>
            <a:r>
              <a:rPr lang="en-US" i="1" dirty="0">
                <a:latin typeface="Arial" panose="020B0604020202020204"/>
                <a:cs typeface="Arial" panose="020B0604020202020204"/>
              </a:rPr>
              <a:t>       </a:t>
            </a:r>
            <a:r>
              <a:rPr lang="en-US" dirty="0">
                <a:latin typeface="Arial" panose="020B0604020202020204"/>
                <a:cs typeface="Arial" panose="020B0604020202020204"/>
              </a:rPr>
              <a:t> 样本：通常</a:t>
            </a:r>
            <a:r>
              <a:rPr lang="zh-CN" altLang="en-US" dirty="0">
                <a:latin typeface="Arial" panose="020B0604020202020204"/>
                <a:cs typeface="Arial" panose="020B0604020202020204"/>
              </a:rPr>
              <a:t>按</a:t>
            </a:r>
            <a:r>
              <a:rPr lang="en-US" dirty="0">
                <a:latin typeface="Arial" panose="020B0604020202020204"/>
                <a:cs typeface="Arial" panose="020B0604020202020204"/>
              </a:rPr>
              <a:t>时间、空间、</a:t>
            </a:r>
            <a:r>
              <a:rPr lang="zh-CN" altLang="en-US" dirty="0">
                <a:latin typeface="Arial" panose="020B0604020202020204"/>
                <a:cs typeface="Arial" panose="020B0604020202020204"/>
              </a:rPr>
              <a:t>工作量</a:t>
            </a:r>
            <a:r>
              <a:rPr lang="en-US" dirty="0">
                <a:latin typeface="Arial" panose="020B0604020202020204"/>
                <a:cs typeface="Arial" panose="020B0604020202020204"/>
              </a:rPr>
              <a:t>等</a:t>
            </a:r>
            <a:r>
              <a:rPr lang="zh-CN" altLang="en-US" dirty="0">
                <a:latin typeface="Arial" panose="020B0604020202020204"/>
                <a:cs typeface="Arial" panose="020B0604020202020204"/>
              </a:rPr>
              <a:t>进行</a:t>
            </a:r>
            <a:r>
              <a:rPr lang="en-US" dirty="0">
                <a:latin typeface="Arial" panose="020B0604020202020204"/>
                <a:cs typeface="Arial" panose="020B0604020202020204"/>
              </a:rPr>
              <a:t>标准化</a:t>
            </a:r>
            <a:endParaRPr lang="en-US" dirty="0">
              <a:latin typeface="Arial" panose="020B0604020202020204"/>
              <a:cs typeface="Arial" panose="020B0604020202020204"/>
            </a:endParaRPr>
          </a:p>
          <a:p>
            <a:r>
              <a:rPr lang="en-US" dirty="0">
                <a:latin typeface="Arial" panose="020B0604020202020204"/>
                <a:cs typeface="Arial" panose="020B0604020202020204"/>
              </a:rPr>
              <a:t>              例如</a:t>
            </a:r>
            <a:r>
              <a:rPr lang="zh-CN" altLang="en-US" dirty="0">
                <a:latin typeface="Arial" panose="020B0604020202020204"/>
                <a:cs typeface="Arial" panose="020B0604020202020204"/>
              </a:rPr>
              <a:t>，每</a:t>
            </a:r>
            <a:r>
              <a:rPr lang="en-US" dirty="0">
                <a:latin typeface="Arial" panose="020B0604020202020204"/>
                <a:cs typeface="Arial" panose="020B0604020202020204"/>
              </a:rPr>
              <a:t>单位</a:t>
            </a:r>
            <a:r>
              <a:rPr lang="zh-CN" altLang="en-US" dirty="0">
                <a:latin typeface="Arial" panose="020B0604020202020204"/>
                <a:cs typeface="Arial" panose="020B0604020202020204"/>
              </a:rPr>
              <a:t>工作量</a:t>
            </a:r>
            <a:r>
              <a:rPr lang="zh-CN" altLang="en-US" dirty="0">
                <a:latin typeface="Arial" panose="020B0604020202020204"/>
                <a:cs typeface="Arial" panose="020B0604020202020204"/>
              </a:rPr>
              <a:t>下</a:t>
            </a:r>
            <a:r>
              <a:rPr lang="en-US" dirty="0">
                <a:latin typeface="Arial" panose="020B0604020202020204"/>
                <a:cs typeface="Arial" panose="020B0604020202020204"/>
              </a:rPr>
              <a:t>捕获的数量，单位时间或面积内检测到的个体数量</a:t>
            </a:r>
            <a:endParaRPr lang="en-US" dirty="0"/>
          </a:p>
        </p:txBody>
      </p:sp>
      <p:sp>
        <p:nvSpPr>
          <p:cNvPr id="6" name="Title 1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000090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r>
              <a:rPr lang="en-US"/>
              <a:t>Estimating population size</a:t>
            </a:r>
            <a:endParaRPr lang="en-US"/>
          </a:p>
          <a:p>
            <a:r>
              <a:rPr lang="zh-CN" altLang="en-US" dirty="0"/>
              <a:t>估算种群大小</a:t>
            </a:r>
            <a:endParaRPr lang="zh-CN" altLang="en-US" dirty="0"/>
          </a:p>
        </p:txBody>
      </p:sp>
      <p:pic>
        <p:nvPicPr>
          <p:cNvPr id="7" name="Picture 15" descr="shortfinmako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3399" y="928688"/>
            <a:ext cx="2130425" cy="2904329"/>
          </a:xfrm>
          <a:prstGeom prst="rect">
            <a:avLst/>
          </a:prstGeom>
          <a:noFill/>
        </p:spPr>
      </p:pic>
      <p:sp>
        <p:nvSpPr>
          <p:cNvPr id="8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5E36FFF3-8FBC-2144-A340-2B54F44226F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969" y="1417638"/>
            <a:ext cx="24536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Definitions 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定义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1630" y="2379980"/>
            <a:ext cx="6717030" cy="2030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latin typeface="Arial" panose="020B0604020202020204"/>
                <a:cs typeface="Arial" panose="020B0604020202020204"/>
              </a:rPr>
              <a:t>Abundance estimate </a:t>
            </a:r>
            <a:r>
              <a:rPr lang="en-US" b="1" dirty="0">
                <a:latin typeface="Arial" panose="020B0604020202020204"/>
                <a:cs typeface="Arial" panose="020B0604020202020204"/>
              </a:rPr>
              <a:t>– </a:t>
            </a:r>
            <a:r>
              <a:rPr lang="en-US" dirty="0">
                <a:latin typeface="Arial" panose="020B0604020202020204"/>
                <a:cs typeface="Arial" panose="020B0604020202020204"/>
              </a:rPr>
              <a:t>Actual estimate of abundance or density, often by </a:t>
            </a:r>
            <a:r>
              <a:rPr lang="en-US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accounting for detectability.</a:t>
            </a:r>
            <a:endParaRPr lang="en-US" b="1" dirty="0">
              <a:solidFill>
                <a:srgbClr val="FF0000"/>
              </a:solidFill>
              <a:latin typeface="Arial" panose="020B0604020202020204"/>
              <a:cs typeface="Arial" panose="020B0604020202020204"/>
            </a:endParaRPr>
          </a:p>
          <a:p>
            <a:r>
              <a:rPr lang="en-US" b="1" u="sng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丰度估计</a:t>
            </a:r>
            <a:r>
              <a:rPr lang="en-US" dirty="0">
                <a:solidFill>
                  <a:schemeClr val="tx1"/>
                </a:solidFill>
                <a:latin typeface="Arial" panose="020B0604020202020204"/>
                <a:cs typeface="Arial" panose="020B0604020202020204"/>
              </a:rPr>
              <a:t>—对丰度或密度的实际估算，通常</a:t>
            </a:r>
            <a:r>
              <a:rPr lang="en-US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考虑了可检测性</a:t>
            </a:r>
            <a:endParaRPr lang="en-US" b="1" dirty="0">
              <a:solidFill>
                <a:srgbClr val="FF0000"/>
              </a:solidFill>
              <a:latin typeface="Arial" panose="020B0604020202020204"/>
              <a:cs typeface="Arial" panose="020B0604020202020204"/>
            </a:endParaRPr>
          </a:p>
          <a:p>
            <a:pPr eaLnBrk="1" hangingPunct="1"/>
            <a:endParaRPr lang="en-US" dirty="0">
              <a:latin typeface="Arial" panose="020B0604020202020204"/>
              <a:cs typeface="Arial" panose="020B0604020202020204"/>
            </a:endParaRPr>
          </a:p>
          <a:p>
            <a:pPr eaLnBrk="0" hangingPunct="0"/>
            <a:r>
              <a:rPr lang="en-US" b="1" u="sng" dirty="0">
                <a:latin typeface="Arial" panose="020B0604020202020204"/>
                <a:cs typeface="Arial" panose="020B0604020202020204"/>
              </a:rPr>
              <a:t>Abundance Index</a:t>
            </a:r>
            <a:r>
              <a:rPr lang="en-US" b="1" dirty="0">
                <a:latin typeface="Arial" panose="020B0604020202020204"/>
                <a:cs typeface="Arial" panose="020B0604020202020204"/>
              </a:rPr>
              <a:t> – </a:t>
            </a:r>
            <a:r>
              <a:rPr lang="en-US" dirty="0">
                <a:latin typeface="Arial" panose="020B0604020202020204"/>
                <a:cs typeface="Arial" panose="020B0604020202020204"/>
              </a:rPr>
              <a:t>Some measure assumed to be proportional to abundance or density (</a:t>
            </a:r>
            <a:r>
              <a:rPr lang="en-US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relative abundance</a:t>
            </a:r>
            <a:r>
              <a:rPr lang="en-US" dirty="0">
                <a:latin typeface="Arial" panose="020B0604020202020204"/>
                <a:cs typeface="Arial" panose="020B0604020202020204"/>
              </a:rPr>
              <a:t>). </a:t>
            </a:r>
            <a:endParaRPr lang="en-US" dirty="0">
              <a:latin typeface="Arial" panose="020B0604020202020204"/>
              <a:cs typeface="Arial" panose="020B0604020202020204"/>
            </a:endParaRPr>
          </a:p>
          <a:p>
            <a:pPr eaLnBrk="0" hangingPunct="0"/>
            <a:r>
              <a:rPr lang="en-US" b="1" dirty="0"/>
              <a:t>丰度指数</a:t>
            </a:r>
            <a:r>
              <a:rPr lang="en-US" dirty="0">
                <a:latin typeface="Arial" panose="020B0604020202020204"/>
                <a:cs typeface="Arial" panose="020B0604020202020204"/>
                <a:sym typeface="+mn-ea"/>
              </a:rPr>
              <a:t>—某种假定与丰度或密度（</a:t>
            </a:r>
            <a:r>
              <a:rPr lang="en-US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  <a:sym typeface="+mn-ea"/>
              </a:rPr>
              <a:t>相对丰度</a:t>
            </a:r>
            <a:r>
              <a:rPr lang="en-US" dirty="0">
                <a:latin typeface="Arial" panose="020B0604020202020204"/>
                <a:cs typeface="Arial" panose="020B0604020202020204"/>
                <a:sym typeface="+mn-ea"/>
              </a:rPr>
              <a:t>）成比例的测量值</a:t>
            </a:r>
            <a:endParaRPr lang="en-US" dirty="0"/>
          </a:p>
        </p:txBody>
      </p:sp>
      <p:sp>
        <p:nvSpPr>
          <p:cNvPr id="6" name="Title 1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000090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r>
              <a:rPr lang="en-US"/>
              <a:t>Estimating population size</a:t>
            </a:r>
            <a:endParaRPr lang="en-US"/>
          </a:p>
          <a:p>
            <a:r>
              <a:rPr lang="zh-CN" altLang="en-US" dirty="0"/>
              <a:t>估算种群大小</a:t>
            </a:r>
            <a:endParaRPr lang="zh-CN" altLang="en-US" dirty="0"/>
          </a:p>
        </p:txBody>
      </p:sp>
      <p:pic>
        <p:nvPicPr>
          <p:cNvPr id="7" name="Picture 15" descr="shortfinmako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3399" y="928688"/>
            <a:ext cx="2130425" cy="2904329"/>
          </a:xfrm>
          <a:prstGeom prst="rect">
            <a:avLst/>
          </a:prstGeom>
          <a:noFill/>
        </p:spPr>
      </p:pic>
      <p:sp>
        <p:nvSpPr>
          <p:cNvPr id="8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5E36FFF3-8FBC-2144-A340-2B54F44226F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240" y="106045"/>
            <a:ext cx="8336915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Estimating survival and fecundity using census data</a:t>
            </a:r>
            <a:br>
              <a:rPr lang="en-US" dirty="0"/>
            </a:br>
            <a:r>
              <a:rPr lang="en-US" sz="2665" dirty="0">
                <a:sym typeface="+mn-ea"/>
              </a:rPr>
              <a:t>利用普查数据估算存活率和繁殖</a:t>
            </a:r>
            <a:r>
              <a:rPr lang="zh-CN" altLang="en-US" sz="2665" dirty="0">
                <a:sym typeface="+mn-ea"/>
              </a:rPr>
              <a:t>力</a:t>
            </a:r>
            <a:endParaRPr lang="zh-CN" altLang="en-US" sz="2665" dirty="0"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889250"/>
            <a:ext cx="3915410" cy="38468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1393" y="1392986"/>
            <a:ext cx="8368288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Assume we do several censuses in a 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closed population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(no emigration and immigration), assuming 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perfect detection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假设我们在一个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封闭的种群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中进行了多次普查（没有迁入和迁出），并假设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检测完美</a:t>
            </a:r>
            <a:r>
              <a:rPr lang="zh-CN" alt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zh-CN" altLang="en-US" sz="20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2392680"/>
            <a:ext cx="5953760" cy="446532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96240" y="106045"/>
            <a:ext cx="8336915" cy="1143000"/>
          </a:xfrm>
        </p:spPr>
        <p:txBody>
          <a:bodyPr>
            <a:normAutofit fontScale="90000"/>
          </a:bodyPr>
          <a:p>
            <a:r>
              <a:rPr lang="en-US" dirty="0"/>
              <a:t>Estimating survival and fecundity using census data</a:t>
            </a:r>
            <a:br>
              <a:rPr lang="en-US" dirty="0"/>
            </a:br>
            <a:r>
              <a:rPr lang="en-US" sz="2665" dirty="0">
                <a:sym typeface="+mn-ea"/>
              </a:rPr>
              <a:t>利用普查数据估算存活率和繁殖</a:t>
            </a:r>
            <a:r>
              <a:rPr lang="zh-CN" altLang="en-US" sz="2665" dirty="0">
                <a:sym typeface="+mn-ea"/>
              </a:rPr>
              <a:t>力</a:t>
            </a:r>
            <a:endParaRPr lang="zh-CN" altLang="en-US" sz="2665" dirty="0">
              <a:sym typeface="+mn-ea"/>
            </a:endParaRPr>
          </a:p>
        </p:txBody>
      </p:sp>
      <p:sp>
        <p:nvSpPr>
          <p:cNvPr id="6" name="TextBox 6"/>
          <p:cNvSpPr txBox="1"/>
          <p:nvPr>
            <p:custDataLst>
              <p:tags r:id="rId3"/>
            </p:custDataLst>
          </p:nvPr>
        </p:nvSpPr>
        <p:spPr>
          <a:xfrm>
            <a:off x="501393" y="1392986"/>
            <a:ext cx="8368288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Assume we do several censuses in a 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closed population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(no emigration and immigration), assuming 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perfect detection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假设我们在一个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封闭的种群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中进行了多次普查（没有迁入和迁出），并假设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检测完美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605780" y="2715260"/>
            <a:ext cx="3048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普查数据：存活率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495" y="2410460"/>
            <a:ext cx="5930265" cy="4447540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96240" y="106045"/>
            <a:ext cx="8336915" cy="1143000"/>
          </a:xfrm>
        </p:spPr>
        <p:txBody>
          <a:bodyPr>
            <a:normAutofit fontScale="90000"/>
          </a:bodyPr>
          <a:p>
            <a:r>
              <a:rPr lang="en-US" dirty="0"/>
              <a:t>Estimating survival and fecundity using census data</a:t>
            </a:r>
            <a:br>
              <a:rPr lang="en-US" dirty="0"/>
            </a:br>
            <a:r>
              <a:rPr lang="en-US" sz="2665" dirty="0">
                <a:sym typeface="+mn-ea"/>
              </a:rPr>
              <a:t>利用普查数据估算存活率和繁殖</a:t>
            </a:r>
            <a:r>
              <a:rPr lang="zh-CN" altLang="en-US" sz="2665" dirty="0">
                <a:sym typeface="+mn-ea"/>
              </a:rPr>
              <a:t>力</a:t>
            </a:r>
            <a:endParaRPr lang="zh-CN" altLang="en-US" sz="2665" dirty="0">
              <a:sym typeface="+mn-ea"/>
            </a:endParaRPr>
          </a:p>
        </p:txBody>
      </p:sp>
      <p:sp>
        <p:nvSpPr>
          <p:cNvPr id="6" name="TextBox 6"/>
          <p:cNvSpPr txBox="1"/>
          <p:nvPr>
            <p:custDataLst>
              <p:tags r:id="rId3"/>
            </p:custDataLst>
          </p:nvPr>
        </p:nvSpPr>
        <p:spPr>
          <a:xfrm>
            <a:off x="501393" y="1392986"/>
            <a:ext cx="8368288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Assume we do several censuses in a 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closed population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(no emigration and immigration), assuming 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perfect detection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假设我们在一个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封闭的种群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中进行了多次普查（没有迁入和迁出），并假设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检测完美</a:t>
            </a:r>
            <a:r>
              <a:rPr lang="zh-CN" alt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zh-CN" altLang="en-US" sz="20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5605780" y="2715260"/>
            <a:ext cx="3048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普查数据：繁殖力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61760" y="3333750"/>
            <a:ext cx="2428875" cy="58356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6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9个年龄段的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charset="-122"/>
              </a:rPr>
              <a:t>5年种群普查数据</a:t>
            </a:r>
            <a:endParaRPr lang="zh-CN" altLang="en-US" sz="16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03365" y="5560060"/>
            <a:ext cx="2073910" cy="82994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600">
                <a:latin typeface="Arial" panose="020B0604020202020204" pitchFamily="34" charset="0"/>
                <a:ea typeface="微软雅黑" panose="020B0503020204020204" charset="-122"/>
              </a:rPr>
              <a:t>假设：2岁以后的所有年龄段的繁殖力都是相同的</a:t>
            </a:r>
            <a:endParaRPr lang="zh-CN" altLang="en-US" sz="16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552" y="126119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Designing successful sampling to evaluate abundance and density</a:t>
            </a:r>
            <a:br>
              <a:rPr lang="en-US" dirty="0"/>
            </a:br>
            <a:r>
              <a:rPr lang="en-US" dirty="0"/>
              <a:t>设计成功的</a:t>
            </a:r>
            <a:r>
              <a:rPr lang="zh-CN" altLang="en-US" dirty="0"/>
              <a:t>采样</a:t>
            </a:r>
            <a:r>
              <a:rPr lang="en-US" dirty="0"/>
              <a:t>方法</a:t>
            </a:r>
            <a:r>
              <a:rPr lang="zh-CN" altLang="en-US" dirty="0"/>
              <a:t>来</a:t>
            </a:r>
            <a:r>
              <a:rPr lang="en-US" dirty="0"/>
              <a:t>评估丰度和密度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94733" y="5872835"/>
            <a:ext cx="859726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Trade-offs between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 / precision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of estimates and </a:t>
            </a:r>
            <a:r>
              <a:rPr lang="en-US" sz="20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effort / cost </a:t>
            </a:r>
            <a:endParaRPr lang="en-US" sz="2000" b="1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在估算的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准确性/精确性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和</a:t>
            </a:r>
            <a:r>
              <a:rPr lang="en-US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工作量/成本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之间进行权衡</a:t>
            </a:r>
            <a:endPara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60482" name="Picture 2" descr="http://cdn.antarcticglaciers.org/wp-content/uploads/2013/11/precision_accuracy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665" y="1482690"/>
            <a:ext cx="6022974" cy="402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94733" y="2016035"/>
            <a:ext cx="1328931" cy="15995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Low effort, design could be good or bad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zh-CN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工作量小，采样设计或好或坏的情况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46639" y="2123756"/>
            <a:ext cx="1454426" cy="1383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Likely high effort, but bad design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工作量可能很大，但采样设计不好的情况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4734" y="4052156"/>
            <a:ext cx="1328932" cy="1383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Not high enough effort, good design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zh-CN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工作量不那么大，采样设计好的情况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46639" y="4109077"/>
            <a:ext cx="1454426" cy="1383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High enough effort, good design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工作量很大，且采样设计好的情况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27425" y="2016125"/>
            <a:ext cx="861695" cy="46037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200">
                <a:latin typeface="Arial" panose="020B0604020202020204" pitchFamily="34" charset="0"/>
                <a:ea typeface="微软雅黑" panose="020B0503020204020204" charset="-122"/>
              </a:rPr>
              <a:t>低准确性</a:t>
            </a:r>
            <a:endParaRPr lang="en-US" altLang="zh-CN" sz="12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200">
                <a:latin typeface="Arial" panose="020B0604020202020204" pitchFamily="34" charset="0"/>
                <a:ea typeface="微软雅黑" panose="020B0503020204020204" charset="-122"/>
              </a:rPr>
              <a:t>低精确性</a:t>
            </a:r>
            <a:endParaRPr lang="zh-CN" altLang="en-US" sz="12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393180" y="2016125"/>
            <a:ext cx="861695" cy="46037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200">
                <a:latin typeface="Arial" panose="020B0604020202020204" pitchFamily="34" charset="0"/>
                <a:ea typeface="微软雅黑" panose="020B0503020204020204" charset="-122"/>
              </a:rPr>
              <a:t>低准确性</a:t>
            </a:r>
            <a:endParaRPr lang="en-US" altLang="zh-CN" sz="12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200">
                <a:latin typeface="Arial" panose="020B0604020202020204" pitchFamily="34" charset="0"/>
                <a:ea typeface="微软雅黑" panose="020B0503020204020204" charset="-122"/>
              </a:rPr>
              <a:t>高精确性</a:t>
            </a:r>
            <a:endParaRPr lang="zh-CN" altLang="en-US" sz="12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3527425" y="4109085"/>
            <a:ext cx="861695" cy="46037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200">
                <a:latin typeface="Arial" panose="020B0604020202020204" pitchFamily="34" charset="0"/>
                <a:ea typeface="微软雅黑" panose="020B0503020204020204" charset="-122"/>
              </a:rPr>
              <a:t>高准确性</a:t>
            </a:r>
            <a:endParaRPr lang="en-US" altLang="zh-CN" sz="12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200">
                <a:latin typeface="Arial" panose="020B0604020202020204" pitchFamily="34" charset="0"/>
                <a:ea typeface="微软雅黑" panose="020B0503020204020204" charset="-122"/>
              </a:rPr>
              <a:t>低精确性</a:t>
            </a:r>
            <a:endParaRPr lang="zh-CN" altLang="en-US" sz="12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6393180" y="4109085"/>
            <a:ext cx="861695" cy="46037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200">
                <a:latin typeface="Arial" panose="020B0604020202020204" pitchFamily="34" charset="0"/>
                <a:ea typeface="微软雅黑" panose="020B0503020204020204" charset="-122"/>
              </a:rPr>
              <a:t>高准确性</a:t>
            </a:r>
            <a:endParaRPr lang="en-US" altLang="zh-CN" sz="12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200">
                <a:latin typeface="Arial" panose="020B0604020202020204" pitchFamily="34" charset="0"/>
                <a:ea typeface="微软雅黑" panose="020B0503020204020204" charset="-122"/>
              </a:rPr>
              <a:t>高精确性</a:t>
            </a:r>
            <a:endParaRPr lang="zh-CN" altLang="en-US" sz="12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206673"/>
            <a:ext cx="9144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Two main types of data: </a:t>
            </a:r>
            <a:r>
              <a:rPr lang="en-US"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1) Unmarked individuals</a:t>
            </a:r>
            <a:endParaRPr lang="en-US" sz="28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zh-CN" altLang="en-US"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主要有两类数据：</a:t>
            </a:r>
            <a:r>
              <a:rPr lang="en-US" altLang="zh-CN"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lang="zh-CN" altLang="en-US"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）未标记的个体</a:t>
            </a:r>
            <a:endParaRPr lang="zh-CN" altLang="en-US" sz="28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68863" y="6394429"/>
            <a:ext cx="2133600" cy="365125"/>
          </a:xfrm>
        </p:spPr>
        <p:txBody>
          <a:bodyPr/>
          <a:lstStyle/>
          <a:p>
            <a:fld id="{5E36FFF3-8FBC-2144-A340-2B54F44226F0}" type="slidenum">
              <a:rPr lang="en-US" smtClean="0"/>
            </a:fld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934598" y="1349501"/>
            <a:ext cx="3276600" cy="2079381"/>
            <a:chOff x="3733800" y="1904999"/>
            <a:chExt cx="3213588" cy="2079382"/>
          </a:xfrm>
        </p:grpSpPr>
        <p:pic>
          <p:nvPicPr>
            <p:cNvPr id="18" name="Picture 2" descr="http://www.bio.davidson.edu/people/midorcas/research/herpstaff/Gooch/frog%20surveys05%207-2-04%20compressed.jpg"/>
            <p:cNvPicPr>
              <a:picLocks noChangeAspect="1" noChangeArrowheads="1"/>
            </p:cNvPicPr>
            <p:nvPr/>
          </p:nvPicPr>
          <p:blipFill>
            <a:blip r:embed="rId1" cstate="print"/>
            <a:srcRect b="22006"/>
            <a:stretch>
              <a:fillRect/>
            </a:stretch>
          </p:blipFill>
          <p:spPr bwMode="auto">
            <a:xfrm>
              <a:off x="3733800" y="1904999"/>
              <a:ext cx="3213588" cy="2079382"/>
            </a:xfrm>
            <a:prstGeom prst="rect">
              <a:avLst/>
            </a:prstGeom>
            <a:noFill/>
          </p:spPr>
        </p:pic>
        <p:sp>
          <p:nvSpPr>
            <p:cNvPr id="19" name="TextBox 18"/>
            <p:cNvSpPr txBox="1"/>
            <p:nvPr/>
          </p:nvSpPr>
          <p:spPr>
            <a:xfrm>
              <a:off x="3733800" y="1905000"/>
              <a:ext cx="1162746" cy="583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600" b="1" dirty="0">
                  <a:solidFill>
                    <a:schemeClr val="bg1"/>
                  </a:solidFill>
                </a:rPr>
                <a:t>Call Surveys</a:t>
              </a:r>
              <a:endParaRPr lang="en-CA" sz="1600" b="1" dirty="0">
                <a:solidFill>
                  <a:schemeClr val="bg1"/>
                </a:solidFill>
              </a:endParaRPr>
            </a:p>
            <a:p>
              <a:r>
                <a:rPr lang="zh-CN" altLang="en-US" sz="1600" b="1" dirty="0">
                  <a:solidFill>
                    <a:schemeClr val="bg1"/>
                  </a:solidFill>
                </a:rPr>
                <a:t>声音调查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120265" y="3618865"/>
            <a:ext cx="2090420" cy="3043555"/>
            <a:chOff x="10210800" y="2286000"/>
            <a:chExt cx="2459753" cy="3581400"/>
          </a:xfrm>
        </p:grpSpPr>
        <p:pic>
          <p:nvPicPr>
            <p:cNvPr id="21" name="Picture 4" descr="http://3.bp.blogspot.com/_6D6p_C3d8jY/TS8TPSQiJuI/AAAAAAAAAB0/Zgr579Z7Qmk/s1600/bear_tracks_in_mud_web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0210800" y="2286000"/>
              <a:ext cx="2459753" cy="3581400"/>
            </a:xfrm>
            <a:prstGeom prst="rect">
              <a:avLst/>
            </a:prstGeom>
            <a:noFill/>
          </p:spPr>
        </p:pic>
        <p:sp>
          <p:nvSpPr>
            <p:cNvPr id="22" name="TextBox 21"/>
            <p:cNvSpPr txBox="1"/>
            <p:nvPr/>
          </p:nvSpPr>
          <p:spPr>
            <a:xfrm>
              <a:off x="10210800" y="2286000"/>
              <a:ext cx="1716298" cy="686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b="1" dirty="0">
                  <a:solidFill>
                    <a:schemeClr val="bg1"/>
                  </a:solidFill>
                </a:rPr>
                <a:t>Track Surveys</a:t>
              </a:r>
              <a:endParaRPr lang="en-CA" sz="1600" b="1" dirty="0">
                <a:solidFill>
                  <a:schemeClr val="bg1"/>
                </a:solidFill>
              </a:endParaRPr>
            </a:p>
            <a:p>
              <a:r>
                <a:rPr lang="zh-CN" altLang="en-US" sz="1600" b="1" dirty="0">
                  <a:solidFill>
                    <a:schemeClr val="bg1"/>
                  </a:solidFill>
                </a:rPr>
                <a:t>踪迹调查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516120" y="1249045"/>
            <a:ext cx="2901950" cy="2618740"/>
            <a:chOff x="4343400" y="4190999"/>
            <a:chExt cx="2603926" cy="2413163"/>
          </a:xfrm>
        </p:grpSpPr>
        <p:pic>
          <p:nvPicPr>
            <p:cNvPr id="24" name="Picture 23" descr="Clipboard01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3400" y="4191000"/>
              <a:ext cx="2603926" cy="2413162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4361063" y="4190999"/>
              <a:ext cx="1433014" cy="5377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b="1" dirty="0">
                  <a:solidFill>
                    <a:schemeClr val="bg1"/>
                  </a:solidFill>
                </a:rPr>
                <a:t>Visual Surveys</a:t>
              </a:r>
              <a:endParaRPr lang="en-CA" sz="1600" b="1" dirty="0">
                <a:solidFill>
                  <a:schemeClr val="bg1"/>
                </a:solidFill>
              </a:endParaRPr>
            </a:p>
            <a:p>
              <a:r>
                <a:rPr lang="zh-CN" altLang="en-US" sz="1600" b="1" dirty="0">
                  <a:solidFill>
                    <a:schemeClr val="bg1"/>
                  </a:solidFill>
                </a:rPr>
                <a:t>视觉调查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659458" name="Picture 2" descr="http://mongabay-images.s3.amazonaws.com/13/1218bear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067" y="3957240"/>
            <a:ext cx="3623172" cy="2717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921" name="Text Box 9"/>
          <p:cNvSpPr txBox="1">
            <a:spLocks noChangeArrowheads="1"/>
          </p:cNvSpPr>
          <p:nvPr/>
        </p:nvSpPr>
        <p:spPr bwMode="auto">
          <a:xfrm>
            <a:off x="6579235" y="4022165"/>
            <a:ext cx="1560004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bg1"/>
                </a:solidFill>
              </a:rPr>
              <a:t>Photo captures</a:t>
            </a:r>
            <a:endParaRPr lang="en-US" sz="1600" b="1" dirty="0">
              <a:solidFill>
                <a:schemeClr val="bg1"/>
              </a:solidFill>
            </a:endParaRPr>
          </a:p>
          <a:p>
            <a:pPr algn="r"/>
            <a:r>
              <a:rPr lang="zh-CN" altLang="en-US" sz="1600" b="1" dirty="0">
                <a:solidFill>
                  <a:schemeClr val="bg1"/>
                </a:solidFill>
              </a:rPr>
              <a:t>照片拍摄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endParaRPr lang="en-US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484" name="Picture 4" descr="http://assets.worldwildlife.org/photos/1056/images/story_carousel/Amur_Leopard_08_7.30.2012_Camera_Traps.jpg?134553652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992" y="4114800"/>
            <a:ext cx="3490089" cy="2621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0" y="206673"/>
            <a:ext cx="914400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Two main types of data: </a:t>
            </a:r>
            <a:r>
              <a:rPr lang="en-US"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2) Marked individuals</a:t>
            </a:r>
            <a:endParaRPr lang="en-US" sz="28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zh-CN" altLang="en-US"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  <a:sym typeface="+mn-ea"/>
              </a:rPr>
              <a:t>主要有两类数据：</a:t>
            </a:r>
            <a:r>
              <a:rPr lang="en-US" altLang="zh-CN"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  <a:sym typeface="+mn-ea"/>
              </a:rPr>
              <a:t>2</a:t>
            </a:r>
            <a:r>
              <a:rPr lang="zh-CN" altLang="en-US"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  <a:sym typeface="+mn-ea"/>
              </a:rPr>
              <a:t>）标记的个体</a:t>
            </a:r>
            <a:endParaRPr lang="zh-CN" altLang="en-US" sz="28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endParaRPr lang="en-US" sz="28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68863" y="6394429"/>
            <a:ext cx="2133600" cy="365125"/>
          </a:xfrm>
        </p:spPr>
        <p:txBody>
          <a:bodyPr/>
          <a:lstStyle/>
          <a:p>
            <a:fld id="{5E36FFF3-8FBC-2144-A340-2B54F44226F0}" type="slidenum">
              <a:rPr lang="en-US" smtClean="0"/>
            </a:fld>
            <a:endParaRPr lang="en-US" dirty="0"/>
          </a:p>
        </p:txBody>
      </p:sp>
      <p:sp>
        <p:nvSpPr>
          <p:cNvPr id="38921" name="Text Box 9"/>
          <p:cNvSpPr txBox="1">
            <a:spLocks noChangeArrowheads="1"/>
          </p:cNvSpPr>
          <p:nvPr/>
        </p:nvSpPr>
        <p:spPr bwMode="auto">
          <a:xfrm>
            <a:off x="5177790" y="6175890"/>
            <a:ext cx="3881291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bg1"/>
                </a:solidFill>
              </a:rPr>
              <a:t>Photo captures (pattern recognition)</a:t>
            </a:r>
            <a:endParaRPr lang="en-US" sz="1600" b="1" dirty="0">
              <a:solidFill>
                <a:schemeClr val="bg1"/>
              </a:solidFill>
            </a:endParaRPr>
          </a:p>
          <a:p>
            <a:pPr algn="r"/>
            <a:r>
              <a:rPr lang="en-US" sz="1600" b="1" dirty="0">
                <a:solidFill>
                  <a:schemeClr val="bg1"/>
                </a:solidFill>
              </a:rPr>
              <a:t>照片捕捉</a:t>
            </a:r>
            <a:r>
              <a:rPr lang="zh-CN" altLang="en-US" sz="1600" b="1" dirty="0">
                <a:solidFill>
                  <a:schemeClr val="bg1"/>
                </a:solidFill>
              </a:rPr>
              <a:t>（</a:t>
            </a:r>
            <a:r>
              <a:rPr lang="en-US" sz="1600" b="1" dirty="0">
                <a:solidFill>
                  <a:schemeClr val="bg1"/>
                </a:solidFill>
              </a:rPr>
              <a:t>模式识别</a:t>
            </a:r>
            <a:r>
              <a:rPr lang="zh-CN" altLang="en-US" sz="1600" b="1" dirty="0">
                <a:solidFill>
                  <a:schemeClr val="bg1"/>
                </a:solidFill>
              </a:rPr>
              <a:t>）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pic>
        <p:nvPicPr>
          <p:cNvPr id="660482" name="Picture 2" descr="http://courses.washington.edu/vseminar/SOSP_legs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27" y="3574758"/>
            <a:ext cx="2314575" cy="322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 Box 9"/>
          <p:cNvSpPr txBox="1">
            <a:spLocks noChangeArrowheads="1"/>
          </p:cNvSpPr>
          <p:nvPr/>
        </p:nvSpPr>
        <p:spPr bwMode="auto">
          <a:xfrm>
            <a:off x="836105" y="6248694"/>
            <a:ext cx="1629097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bg1"/>
                </a:solidFill>
              </a:rPr>
              <a:t>Bird bands</a:t>
            </a:r>
            <a:endParaRPr lang="en-US" sz="1600" b="1" dirty="0">
              <a:solidFill>
                <a:schemeClr val="bg1"/>
              </a:solidFill>
            </a:endParaRPr>
          </a:p>
          <a:p>
            <a:pPr algn="r"/>
            <a:r>
              <a:rPr lang="zh-CN" altLang="en-US" sz="1600" b="1" dirty="0">
                <a:solidFill>
                  <a:schemeClr val="bg1"/>
                </a:solidFill>
              </a:rPr>
              <a:t>鸟足识别环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pic>
        <p:nvPicPr>
          <p:cNvPr id="660486" name="Picture 6" descr="http://www.innovationalberta.com/albums/album15/aa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698" y="1662086"/>
            <a:ext cx="2541043" cy="1638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0488" name="Picture 8" descr="http://www.140mileseastofcool.com/wp-content/uploads/2009/05/WolfKill002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325" y="1278533"/>
            <a:ext cx="2346325" cy="1563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 Box 9"/>
          <p:cNvSpPr txBox="1">
            <a:spLocks noChangeArrowheads="1"/>
          </p:cNvSpPr>
          <p:nvPr/>
        </p:nvSpPr>
        <p:spPr bwMode="auto">
          <a:xfrm>
            <a:off x="164247" y="2861383"/>
            <a:ext cx="1417320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Genotyping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r"/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基因分型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60490" name="Picture 10" descr="https://caseagrant.ucsd.edu/sites/default/files/PIT-tag_0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88"/>
          <a:stretch>
            <a:fillRect/>
          </a:stretch>
        </p:blipFill>
        <p:spPr bwMode="auto">
          <a:xfrm>
            <a:off x="6061455" y="1292383"/>
            <a:ext cx="2758059" cy="2068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 Box 9"/>
          <p:cNvSpPr txBox="1">
            <a:spLocks noChangeArrowheads="1"/>
          </p:cNvSpPr>
          <p:nvPr/>
        </p:nvSpPr>
        <p:spPr bwMode="auto">
          <a:xfrm>
            <a:off x="7314036" y="3334582"/>
            <a:ext cx="1417320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PIT tags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r"/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活体植入标签</a:t>
            </a:r>
            <a:endParaRPr lang="zh-CN" alt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9" name="Picture 14" descr="IMG_2078"/>
          <p:cNvPicPr>
            <a:picLocks noChangeAspect="1" noChangeArrowheads="1"/>
          </p:cNvPicPr>
          <p:nvPr/>
        </p:nvPicPr>
        <p:blipFill>
          <a:blip r:embed="rId6" cstate="print"/>
          <a:srcRect l="26813" t="33704" r="34564" b="38551"/>
          <a:stretch>
            <a:fillRect/>
          </a:stretch>
        </p:blipFill>
        <p:spPr bwMode="auto">
          <a:xfrm>
            <a:off x="3027680" y="3892485"/>
            <a:ext cx="2247318" cy="2152639"/>
          </a:xfrm>
          <a:prstGeom prst="rect">
            <a:avLst/>
          </a:prstGeom>
          <a:ln w="38100">
            <a:solidFill>
              <a:schemeClr val="bg1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0" name="Text Box 9"/>
          <p:cNvSpPr txBox="1">
            <a:spLocks noChangeArrowheads="1"/>
          </p:cNvSpPr>
          <p:nvPr/>
        </p:nvSpPr>
        <p:spPr bwMode="auto">
          <a:xfrm>
            <a:off x="3027680" y="6035040"/>
            <a:ext cx="2229485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Elastomer tags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r"/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嵌入性荧光标签</a:t>
            </a:r>
            <a:endParaRPr lang="zh-CN" alt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85850"/>
            <a:ext cx="9144000" cy="52006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883693" y="1085925"/>
            <a:ext cx="1560004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PROS</a:t>
            </a:r>
            <a:endParaRPr lang="en-US" sz="28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605790" y="1609145"/>
            <a:ext cx="3977640" cy="4123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Relatively cheap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Less time intensive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Rapid assessment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Does not involve handling animals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Can be done for multiple species simultaneously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indent="0">
              <a:buFontTx/>
              <a:buNone/>
            </a:pPr>
            <a:r>
              <a:rPr lang="en-US" sz="2800" b="1" dirty="0"/>
              <a:t>       优势</a:t>
            </a:r>
            <a:endParaRPr lang="en-US" sz="2800" b="1" dirty="0"/>
          </a:p>
          <a:p>
            <a:pPr marL="285750" indent="-285750">
              <a:buFontTx/>
              <a:buChar char="-"/>
            </a:pPr>
            <a:r>
              <a:rPr lang="zh-CN" altLang="en-US" dirty="0"/>
              <a:t>相对便宜</a:t>
            </a:r>
            <a:endParaRPr lang="zh-CN" altLang="en-US" dirty="0"/>
          </a:p>
          <a:p>
            <a:pPr marL="285750" indent="-285750">
              <a:buFontTx/>
              <a:buChar char="-"/>
            </a:pPr>
            <a:r>
              <a:rPr lang="zh-CN" altLang="en-US" dirty="0"/>
              <a:t>时间投入较少</a:t>
            </a:r>
            <a:endParaRPr lang="zh-CN" altLang="en-US" dirty="0"/>
          </a:p>
          <a:p>
            <a:pPr marL="285750" indent="-285750">
              <a:buFontTx/>
              <a:buChar char="-"/>
            </a:pPr>
            <a:r>
              <a:rPr lang="zh-CN" altLang="en-US" dirty="0"/>
              <a:t>快速评估</a:t>
            </a:r>
            <a:endParaRPr lang="zh-CN" altLang="en-US" dirty="0"/>
          </a:p>
          <a:p>
            <a:pPr marL="285750" indent="-285750">
              <a:buFontTx/>
              <a:buChar char="-"/>
            </a:pPr>
            <a:r>
              <a:rPr lang="zh-CN" altLang="en-US" dirty="0"/>
              <a:t>无需处理动物</a:t>
            </a:r>
            <a:endParaRPr lang="zh-CN" altLang="en-US" dirty="0"/>
          </a:p>
          <a:p>
            <a:pPr marL="285750" indent="-285750">
              <a:buFontTx/>
              <a:buChar char="-"/>
            </a:pPr>
            <a:r>
              <a:rPr lang="zh-CN" altLang="en-US" dirty="0"/>
              <a:t>可同时适用于多个物种</a:t>
            </a:r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0" y="148078"/>
            <a:ext cx="914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1) Unmarked individuals </a:t>
            </a:r>
            <a:r>
              <a:rPr lang="zh-CN" altLang="en-US"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未标记的个体</a:t>
            </a:r>
            <a:endParaRPr lang="zh-CN" altLang="en-US" sz="28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583430" y="1084580"/>
            <a:ext cx="4560570" cy="51993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732020" y="1609145"/>
            <a:ext cx="4411980" cy="4123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Can only provide </a:t>
            </a:r>
            <a:r>
              <a:rPr lang="en-US" b="1" dirty="0">
                <a:solidFill>
                  <a:srgbClr val="FF0000"/>
                </a:solidFill>
              </a:rPr>
              <a:t>relative abundances</a:t>
            </a:r>
            <a:endParaRPr lang="en-US" b="1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b="1" dirty="0"/>
              <a:t>Unreliable for estimating population trends </a:t>
            </a:r>
            <a:r>
              <a:rPr lang="en-US" dirty="0"/>
              <a:t>(usually large confidence intervals)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/>
              <a:t>Of limited use </a:t>
            </a:r>
            <a:r>
              <a:rPr lang="en-US" dirty="0"/>
              <a:t>for some management and conservation applications (e.g., hunting, setting population increase targets)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algn="l">
              <a:buClrTx/>
              <a:buSzTx/>
              <a:buFontTx/>
            </a:pPr>
            <a:r>
              <a:rPr lang="en-US" sz="2800" b="1" dirty="0"/>
              <a:t>                缺点</a:t>
            </a:r>
            <a:endParaRPr lang="en-US" sz="2800" b="1" dirty="0"/>
          </a:p>
          <a:p>
            <a:pPr marL="285750" indent="-285750">
              <a:buFontTx/>
              <a:buChar char="-"/>
            </a:pPr>
            <a:r>
              <a:rPr lang="zh-CN" altLang="en-US" dirty="0"/>
              <a:t>仅能提供</a:t>
            </a:r>
            <a:r>
              <a:rPr lang="zh-CN" altLang="en-US" dirty="0">
                <a:solidFill>
                  <a:srgbClr val="FF0000"/>
                </a:solidFill>
              </a:rPr>
              <a:t>相对丰度</a:t>
            </a:r>
            <a:endParaRPr lang="zh-CN" altLang="en-US" dirty="0"/>
          </a:p>
          <a:p>
            <a:pPr marL="285750" indent="-285750">
              <a:buFontTx/>
              <a:buChar char="-"/>
            </a:pPr>
            <a:r>
              <a:rPr lang="zh-CN" altLang="en-US" b="1" dirty="0">
                <a:sym typeface="+mn-ea"/>
              </a:rPr>
              <a:t>在估计种群趋势方面不够可靠</a:t>
            </a:r>
            <a:r>
              <a:rPr lang="zh-CN" altLang="en-US" dirty="0"/>
              <a:t>（通常存在较大的置信区间）</a:t>
            </a:r>
            <a:endParaRPr lang="zh-CN" altLang="en-US" dirty="0"/>
          </a:p>
          <a:p>
            <a:pPr marL="285750" indent="-285750">
              <a:buFontTx/>
              <a:buChar char="-"/>
            </a:pPr>
            <a:r>
              <a:rPr lang="zh-CN" altLang="en-US" dirty="0"/>
              <a:t>在某些管理和保护应用中</a:t>
            </a:r>
            <a:r>
              <a:rPr lang="zh-CN" altLang="en-US" b="1" dirty="0"/>
              <a:t>受限</a:t>
            </a:r>
            <a:r>
              <a:rPr lang="zh-CN" altLang="en-US" dirty="0"/>
              <a:t>（（例如狩猎、设定种群增长目标）</a:t>
            </a:r>
            <a:endParaRPr lang="zh-CN" altLang="en-US" dirty="0"/>
          </a:p>
        </p:txBody>
      </p:sp>
      <p:sp>
        <p:nvSpPr>
          <p:cNvPr id="16" name="Text Box 9"/>
          <p:cNvSpPr txBox="1">
            <a:spLocks noChangeArrowheads="1"/>
          </p:cNvSpPr>
          <p:nvPr/>
        </p:nvSpPr>
        <p:spPr bwMode="auto">
          <a:xfrm>
            <a:off x="5718810" y="1085925"/>
            <a:ext cx="1560004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CONS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  <p:bldP spid="18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1367790"/>
            <a:ext cx="9144000" cy="421830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583430" y="1367790"/>
            <a:ext cx="4560570" cy="42214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226682"/>
            <a:ext cx="914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2) Marked individuals </a:t>
            </a:r>
            <a:r>
              <a:rPr lang="zh-CN" altLang="en-US"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标记的个体</a:t>
            </a:r>
            <a:endParaRPr lang="zh-CN" altLang="en-US" sz="28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32020" y="1554229"/>
            <a:ext cx="3675814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More expensive (e.g., genotyping) and time consuming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May involve handling animals (except camera trapping and genotyping)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Usually focuses on a single species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>
                <a:sym typeface="+mn-ea"/>
              </a:rPr>
              <a:t>更昂贵（如基因分型）、更耗时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>
                <a:sym typeface="+mn-ea"/>
              </a:rPr>
              <a:t>可能</a:t>
            </a:r>
            <a:r>
              <a:rPr lang="zh-CN" altLang="en-US" dirty="0">
                <a:sym typeface="+mn-ea"/>
              </a:rPr>
              <a:t>涉及</a:t>
            </a:r>
            <a:r>
              <a:rPr lang="en-US" dirty="0">
                <a:sym typeface="+mn-ea"/>
              </a:rPr>
              <a:t>处理动物（</a:t>
            </a:r>
            <a:r>
              <a:rPr lang="zh-CN" altLang="en-US" dirty="0">
                <a:sym typeface="+mn-ea"/>
              </a:rPr>
              <a:t>除了</a:t>
            </a:r>
            <a:r>
              <a:rPr lang="en-US" dirty="0">
                <a:sym typeface="+mn-ea"/>
              </a:rPr>
              <a:t>相机</a:t>
            </a:r>
            <a:r>
              <a:rPr lang="zh-CN" altLang="en-US" dirty="0">
                <a:sym typeface="+mn-ea"/>
              </a:rPr>
              <a:t>陷阱</a:t>
            </a:r>
            <a:r>
              <a:rPr lang="en-US" dirty="0">
                <a:sym typeface="+mn-ea"/>
              </a:rPr>
              <a:t>和</a:t>
            </a:r>
            <a:r>
              <a:rPr lang="en-US" dirty="0">
                <a:sym typeface="+mn-ea"/>
              </a:rPr>
              <a:t>基因分型</a:t>
            </a:r>
            <a:r>
              <a:rPr lang="en-US" dirty="0">
                <a:sym typeface="+mn-ea"/>
              </a:rPr>
              <a:t>）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>
                <a:sym typeface="+mn-ea"/>
              </a:rPr>
              <a:t>通常侧重于单一物种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05790" y="1497584"/>
            <a:ext cx="3804369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Can provide </a:t>
            </a:r>
            <a:r>
              <a:rPr lang="en-US" b="1" dirty="0">
                <a:solidFill>
                  <a:srgbClr val="FF0000"/>
                </a:solidFill>
              </a:rPr>
              <a:t>absolute abundances</a:t>
            </a:r>
            <a:endParaRPr lang="en-US" b="1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b="1" dirty="0"/>
              <a:t>Best for estimating population trends </a:t>
            </a:r>
            <a:r>
              <a:rPr lang="en-US" dirty="0"/>
              <a:t>(usually tight confidence intervals)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/>
              <a:t>Best for conservation and management</a:t>
            </a:r>
            <a:r>
              <a:rPr lang="en-US" dirty="0"/>
              <a:t>, but not always attainable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>
                <a:sym typeface="+mn-ea"/>
              </a:rPr>
              <a:t>可提供</a:t>
            </a:r>
            <a:r>
              <a:rPr lang="en-US" b="1" dirty="0">
                <a:solidFill>
                  <a:srgbClr val="FF0000"/>
                </a:solidFill>
                <a:sym typeface="+mn-ea"/>
              </a:rPr>
              <a:t>绝对丰度</a:t>
            </a:r>
            <a:endParaRPr lang="en-US" b="1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b="1" dirty="0">
                <a:sym typeface="+mn-ea"/>
              </a:rPr>
              <a:t>最适合估计</a:t>
            </a:r>
            <a:r>
              <a:rPr lang="zh-CN" altLang="en-US" b="1" dirty="0">
                <a:sym typeface="+mn-ea"/>
              </a:rPr>
              <a:t>种群</a:t>
            </a:r>
            <a:r>
              <a:rPr lang="en-US" b="1" dirty="0">
                <a:sym typeface="+mn-ea"/>
              </a:rPr>
              <a:t>趋势</a:t>
            </a:r>
            <a:r>
              <a:rPr lang="en-US" dirty="0">
                <a:sym typeface="+mn-ea"/>
              </a:rPr>
              <a:t>（通常置信区间较小）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>
                <a:sym typeface="+mn-ea"/>
              </a:rPr>
              <a:t>最适合</a:t>
            </a:r>
            <a:r>
              <a:rPr lang="zh-CN" altLang="en-US" b="1" dirty="0">
                <a:sym typeface="+mn-ea"/>
              </a:rPr>
              <a:t>于</a:t>
            </a:r>
            <a:r>
              <a:rPr lang="en-US" b="1" dirty="0">
                <a:sym typeface="+mn-ea"/>
              </a:rPr>
              <a:t>保护和管理，</a:t>
            </a:r>
            <a:r>
              <a:rPr lang="en-US" dirty="0">
                <a:sym typeface="+mn-ea"/>
              </a:rPr>
              <a:t>但并非总</a:t>
            </a:r>
            <a:r>
              <a:rPr lang="zh-CN" altLang="en-US" dirty="0">
                <a:sym typeface="+mn-ea"/>
              </a:rPr>
              <a:t>是可行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ldLvl="0" animBg="1"/>
      <p:bldP spid="25" grpId="0" bldLvl="0" animBg="1"/>
      <p:bldP spid="9" grpId="0"/>
      <p:bldP spid="20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7" name="Rectangle 6"/>
          <p:cNvSpPr>
            <a:spLocks noChangeArrowheads="1"/>
          </p:cNvSpPr>
          <p:nvPr/>
        </p:nvSpPr>
        <p:spPr bwMode="auto">
          <a:xfrm>
            <a:off x="0" y="3939441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778" name="Rectangle 8"/>
          <p:cNvSpPr>
            <a:spLocks noChangeArrowheads="1"/>
          </p:cNvSpPr>
          <p:nvPr/>
        </p:nvSpPr>
        <p:spPr bwMode="auto">
          <a:xfrm>
            <a:off x="0" y="3942616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4" name="Group 13"/>
          <p:cNvGrpSpPr/>
          <p:nvPr/>
        </p:nvGrpSpPr>
        <p:grpSpPr bwMode="auto">
          <a:xfrm>
            <a:off x="5357295" y="3471260"/>
            <a:ext cx="1690064" cy="1178602"/>
            <a:chOff x="1036" y="1440"/>
            <a:chExt cx="1566" cy="1200"/>
          </a:xfrm>
        </p:grpSpPr>
        <p:graphicFrame>
          <p:nvGraphicFramePr>
            <p:cNvPr id="32773" name="Object 5"/>
            <p:cNvGraphicFramePr>
              <a:graphicFrameLocks noChangeAspect="1"/>
            </p:cNvGraphicFramePr>
            <p:nvPr/>
          </p:nvGraphicFramePr>
          <p:xfrm>
            <a:off x="1036" y="1730"/>
            <a:ext cx="552" cy="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1" imgW="177800" imgH="215265" progId="Equation.3">
                    <p:embed/>
                  </p:oleObj>
                </mc:Choice>
                <mc:Fallback>
                  <p:oleObj name="Equation" r:id="rId1" imgW="177800" imgH="215265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6" y="1730"/>
                          <a:ext cx="552" cy="67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75" name="Object 7"/>
            <p:cNvGraphicFramePr>
              <a:graphicFrameLocks noChangeAspect="1"/>
            </p:cNvGraphicFramePr>
            <p:nvPr/>
          </p:nvGraphicFramePr>
          <p:xfrm>
            <a:off x="2064" y="2016"/>
            <a:ext cx="461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3" imgW="151765" imgH="203200" progId="Equation.3">
                    <p:embed/>
                  </p:oleObj>
                </mc:Choice>
                <mc:Fallback>
                  <p:oleObj name="Equation" r:id="rId3" imgW="151765" imgH="2032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2016"/>
                          <a:ext cx="461" cy="62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Text Box 10"/>
            <p:cNvSpPr txBox="1">
              <a:spLocks noChangeArrowheads="1"/>
            </p:cNvSpPr>
            <p:nvPr/>
          </p:nvSpPr>
          <p:spPr bwMode="auto">
            <a:xfrm>
              <a:off x="2112" y="1440"/>
              <a:ext cx="490" cy="59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sz="3200" dirty="0"/>
                <a:t>C</a:t>
              </a:r>
              <a:endParaRPr lang="en-US" sz="3200" dirty="0"/>
            </a:p>
          </p:txBody>
        </p:sp>
        <p:sp>
          <p:nvSpPr>
            <p:cNvPr id="6" name="Line 11"/>
            <p:cNvSpPr>
              <a:spLocks noChangeShapeType="1"/>
            </p:cNvSpPr>
            <p:nvPr/>
          </p:nvSpPr>
          <p:spPr bwMode="auto">
            <a:xfrm>
              <a:off x="2031" y="2021"/>
              <a:ext cx="5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85" name="Text Box 12"/>
            <p:cNvSpPr txBox="1">
              <a:spLocks noChangeArrowheads="1"/>
            </p:cNvSpPr>
            <p:nvPr/>
          </p:nvSpPr>
          <p:spPr bwMode="auto">
            <a:xfrm>
              <a:off x="1550" y="1680"/>
              <a:ext cx="322" cy="48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4400"/>
                <a:t>=</a:t>
              </a:r>
              <a:endParaRPr lang="en-US" sz="4400"/>
            </a:p>
          </p:txBody>
        </p:sp>
      </p:grpSp>
      <p:sp>
        <p:nvSpPr>
          <p:cNvPr id="32782" name="Text Box 14"/>
          <p:cNvSpPr txBox="1">
            <a:spLocks noChangeArrowheads="1"/>
          </p:cNvSpPr>
          <p:nvPr/>
        </p:nvSpPr>
        <p:spPr bwMode="auto">
          <a:xfrm>
            <a:off x="4222658" y="3799732"/>
            <a:ext cx="1211580" cy="922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Estimated </a:t>
            </a:r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abundance</a:t>
            </a:r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zh-CN" altLang="en-US" dirty="0">
                <a:solidFill>
                  <a:srgbClr val="FF0000"/>
                </a:solidFill>
              </a:rPr>
              <a:t>丰度估计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2783" name="Text Box 15"/>
          <p:cNvSpPr txBox="1">
            <a:spLocks noChangeArrowheads="1"/>
          </p:cNvSpPr>
          <p:nvPr/>
        </p:nvSpPr>
        <p:spPr bwMode="auto">
          <a:xfrm>
            <a:off x="6892877" y="3055577"/>
            <a:ext cx="2011680" cy="922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Count of animals</a:t>
            </a:r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observed</a:t>
            </a:r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观察到的动物数</a:t>
            </a:r>
            <a:r>
              <a:rPr lang="zh-CN" altLang="en-US" dirty="0">
                <a:solidFill>
                  <a:srgbClr val="FF0000"/>
                </a:solidFill>
              </a:rPr>
              <a:t>量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2784" name="Text Box 16"/>
          <p:cNvSpPr txBox="1">
            <a:spLocks noChangeArrowheads="1"/>
          </p:cNvSpPr>
          <p:nvPr/>
        </p:nvSpPr>
        <p:spPr bwMode="auto">
          <a:xfrm>
            <a:off x="6802440" y="4147211"/>
            <a:ext cx="2011680" cy="922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Estimated </a:t>
            </a:r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detectability</a:t>
            </a:r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zh-CN" altLang="en-US" dirty="0">
                <a:solidFill>
                  <a:srgbClr val="FF0000"/>
                </a:solidFill>
              </a:rPr>
              <a:t>估计值的可检测性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64770" y="5150485"/>
            <a:ext cx="9162415" cy="1430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Common abundance estimation techniques include常见的物种丰度估计方法包括 :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Distance sampling (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unmarked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individuals) 距离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采样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未标记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个体）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Occupancy methods (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unmarked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individuals) 占用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率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方法（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未标记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个体）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Capture-recapture methods (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marked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individuals) 捕获—再捕获方法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已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标记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的个体）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0" y="133524"/>
            <a:ext cx="914400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Detectability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– key quantity in monitoring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可检测性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—监测</a:t>
            </a:r>
            <a:r>
              <a:rPr lang="zh-CN" altLang="en-US" sz="28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中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的关键</a:t>
            </a:r>
            <a:r>
              <a:rPr lang="zh-CN" altLang="en-US" sz="28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量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240395" y="6266180"/>
            <a:ext cx="446405" cy="353695"/>
          </a:xfrm>
        </p:spPr>
        <p:txBody>
          <a:bodyPr/>
          <a:lstStyle/>
          <a:p>
            <a:fld id="{5E36FFF3-8FBC-2144-A340-2B54F44226F0}" type="slidenum">
              <a:rPr lang="en-US" smtClean="0"/>
            </a:fld>
            <a:endParaRPr lang="en-US" dirty="0"/>
          </a:p>
        </p:txBody>
      </p:sp>
      <p:pic>
        <p:nvPicPr>
          <p:cNvPr id="653149" name="Picture 861" descr="http://www.seppo.net/cartoons/albums/cartoons/nature/birds/normal_birds_staijaus_en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" y="1153160"/>
            <a:ext cx="4196080" cy="2419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916805" y="1236980"/>
            <a:ext cx="389763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Not accounting for detection underestimates abundance because the observer cannot see REALITY (cannot count ALL individuals present at a site)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若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不考虑检测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因素则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会低估物种丰度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因为观察者无法看到真实情况（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无法统计某个地点的所有个体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2" grpId="0"/>
      <p:bldP spid="32783" grpId="0"/>
      <p:bldP spid="32784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97815" y="942975"/>
            <a:ext cx="3822700" cy="2251710"/>
          </a:xfrm>
        </p:spPr>
        <p:txBody>
          <a:bodyPr>
            <a:normAutofit fontScale="90000"/>
          </a:bodyPr>
          <a:lstStyle/>
          <a:p>
            <a:pPr eaLnBrk="1" hangingPunct="1">
              <a:buNone/>
            </a:pPr>
            <a:r>
              <a:rPr lang="en-US" sz="2000" dirty="0"/>
              <a:t>Assumes that detection probability decreases with distance from the observer, but that actual density stays constant</a:t>
            </a:r>
            <a:endParaRPr lang="en-US" sz="2000" dirty="0"/>
          </a:p>
          <a:p>
            <a:pPr eaLnBrk="1" hangingPunct="1">
              <a:buNone/>
            </a:pPr>
            <a:r>
              <a:rPr lang="zh-CN" altLang="en-US" sz="2000" dirty="0"/>
              <a:t>假</a:t>
            </a:r>
            <a:r>
              <a:rPr lang="en-US" sz="2000" dirty="0">
                <a:sym typeface="+mn-ea"/>
              </a:rPr>
              <a:t>设</a:t>
            </a:r>
            <a:r>
              <a:rPr lang="zh-CN" altLang="en-US" sz="2000" dirty="0">
                <a:sym typeface="+mn-ea"/>
              </a:rPr>
              <a:t>检</a:t>
            </a:r>
            <a:r>
              <a:rPr lang="en-US" sz="2000" dirty="0">
                <a:sym typeface="+mn-ea"/>
              </a:rPr>
              <a:t>测概率随观察者距离的增加而降低，但实际</a:t>
            </a:r>
            <a:r>
              <a:rPr lang="zh-CN" altLang="en-US" sz="2000" dirty="0">
                <a:sym typeface="+mn-ea"/>
              </a:rPr>
              <a:t>种群</a:t>
            </a:r>
            <a:r>
              <a:rPr lang="en-US" sz="2000" dirty="0">
                <a:sym typeface="+mn-ea"/>
              </a:rPr>
              <a:t>密度保持不变</a:t>
            </a:r>
            <a:endParaRPr lang="en-US" sz="2000" dirty="0"/>
          </a:p>
        </p:txBody>
      </p:sp>
      <p:sp>
        <p:nvSpPr>
          <p:cNvPr id="45082" name="Line 17"/>
          <p:cNvSpPr>
            <a:spLocks noChangeShapeType="1"/>
          </p:cNvSpPr>
          <p:nvPr/>
        </p:nvSpPr>
        <p:spPr bwMode="auto">
          <a:xfrm>
            <a:off x="1773238" y="4374832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83" name="Text Box 22"/>
          <p:cNvSpPr txBox="1">
            <a:spLocks noChangeArrowheads="1"/>
          </p:cNvSpPr>
          <p:nvPr/>
        </p:nvSpPr>
        <p:spPr bwMode="auto">
          <a:xfrm>
            <a:off x="1925638" y="4070032"/>
            <a:ext cx="120015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/>
              <a:t>10 meters</a:t>
            </a:r>
            <a:endParaRPr lang="en-US"/>
          </a:p>
        </p:txBody>
      </p:sp>
      <p:sp>
        <p:nvSpPr>
          <p:cNvPr id="45076" name="Line 19"/>
          <p:cNvSpPr>
            <a:spLocks noChangeShapeType="1"/>
          </p:cNvSpPr>
          <p:nvPr/>
        </p:nvSpPr>
        <p:spPr bwMode="auto">
          <a:xfrm>
            <a:off x="1752600" y="4070032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77" name="Text Box 23"/>
          <p:cNvSpPr txBox="1">
            <a:spLocks noChangeArrowheads="1"/>
          </p:cNvSpPr>
          <p:nvPr/>
        </p:nvSpPr>
        <p:spPr bwMode="auto">
          <a:xfrm>
            <a:off x="4133850" y="3765232"/>
            <a:ext cx="120015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/>
              <a:t>25 meters</a:t>
            </a:r>
            <a:endParaRPr lang="en-US"/>
          </a:p>
        </p:txBody>
      </p:sp>
      <p:sp>
        <p:nvSpPr>
          <p:cNvPr id="45070" name="Oval 24"/>
          <p:cNvSpPr>
            <a:spLocks noChangeArrowheads="1"/>
          </p:cNvSpPr>
          <p:nvPr/>
        </p:nvSpPr>
        <p:spPr bwMode="auto">
          <a:xfrm>
            <a:off x="2286000" y="4527232"/>
            <a:ext cx="1905000" cy="1905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 wrap="none" anchor="ctr"/>
          <a:lstStyle/>
          <a:p>
            <a:pPr eaLnBrk="0" hangingPunct="0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5071" name="Text Box 30"/>
          <p:cNvSpPr txBox="1">
            <a:spLocks noChangeArrowheads="1"/>
          </p:cNvSpPr>
          <p:nvPr/>
        </p:nvSpPr>
        <p:spPr bwMode="auto">
          <a:xfrm>
            <a:off x="3733800" y="6294120"/>
            <a:ext cx="96372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solidFill>
                  <a:srgbClr val="FF0000"/>
                </a:solidFill>
              </a:rPr>
              <a:t>p=1.0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5068" name="Oval 25"/>
          <p:cNvSpPr>
            <a:spLocks noChangeArrowheads="1"/>
          </p:cNvSpPr>
          <p:nvPr/>
        </p:nvSpPr>
        <p:spPr bwMode="auto">
          <a:xfrm>
            <a:off x="4800600" y="4389120"/>
            <a:ext cx="2133600" cy="1295400"/>
          </a:xfrm>
          <a:prstGeom prst="ellipse">
            <a:avLst/>
          </a:prstGeom>
          <a:noFill/>
          <a:ln w="38100">
            <a:solidFill>
              <a:srgbClr val="92D050"/>
            </a:solidFill>
            <a:rou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45069" name="Text Box 31"/>
          <p:cNvSpPr txBox="1">
            <a:spLocks noChangeArrowheads="1"/>
          </p:cNvSpPr>
          <p:nvPr/>
        </p:nvSpPr>
        <p:spPr bwMode="auto">
          <a:xfrm>
            <a:off x="6172200" y="4008120"/>
            <a:ext cx="96372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solidFill>
                  <a:srgbClr val="92D050"/>
                </a:solidFill>
              </a:rPr>
              <a:t>p=0.5</a:t>
            </a:r>
            <a:endParaRPr lang="en-US" dirty="0">
              <a:solidFill>
                <a:srgbClr val="92D050"/>
              </a:solidFill>
            </a:endParaRPr>
          </a:p>
        </p:txBody>
      </p:sp>
      <p:sp>
        <p:nvSpPr>
          <p:cNvPr id="45066" name="Oval 26"/>
          <p:cNvSpPr>
            <a:spLocks noChangeArrowheads="1"/>
          </p:cNvSpPr>
          <p:nvPr/>
        </p:nvSpPr>
        <p:spPr bwMode="auto">
          <a:xfrm>
            <a:off x="7924800" y="5289232"/>
            <a:ext cx="1143000" cy="1143000"/>
          </a:xfrm>
          <a:prstGeom prst="ellipse">
            <a:avLst/>
          </a:prstGeom>
          <a:solidFill>
            <a:srgbClr val="FFFFFF"/>
          </a:solidFill>
          <a:ln w="38100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45067" name="Text Box 32"/>
          <p:cNvSpPr txBox="1">
            <a:spLocks noChangeArrowheads="1"/>
          </p:cNvSpPr>
          <p:nvPr/>
        </p:nvSpPr>
        <p:spPr bwMode="auto">
          <a:xfrm>
            <a:off x="7543800" y="6446520"/>
            <a:ext cx="1135247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dirty="0"/>
              <a:t>p=0.25</a:t>
            </a:r>
            <a:endParaRPr lang="en-US" dirty="0"/>
          </a:p>
        </p:txBody>
      </p:sp>
      <p:sp>
        <p:nvSpPr>
          <p:cNvPr id="45102" name="Line 19"/>
          <p:cNvSpPr>
            <a:spLocks noChangeShapeType="1"/>
          </p:cNvSpPr>
          <p:nvPr/>
        </p:nvSpPr>
        <p:spPr bwMode="auto">
          <a:xfrm>
            <a:off x="1752600" y="3765232"/>
            <a:ext cx="647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103" name="Text Box 23"/>
          <p:cNvSpPr txBox="1">
            <a:spLocks noChangeArrowheads="1"/>
          </p:cNvSpPr>
          <p:nvPr/>
        </p:nvSpPr>
        <p:spPr bwMode="auto">
          <a:xfrm>
            <a:off x="6648450" y="3398520"/>
            <a:ext cx="120015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/>
              <a:t>50 meters</a:t>
            </a:r>
            <a:endParaRPr lang="en-US"/>
          </a:p>
        </p:txBody>
      </p:sp>
      <p:pic>
        <p:nvPicPr>
          <p:cNvPr id="36880" name="Picture 49" descr="MC900139575[1]"/>
          <p:cNvPicPr>
            <a:picLocks noChangeAspect="1" noChangeArrowheads="1"/>
          </p:cNvPicPr>
          <p:nvPr/>
        </p:nvPicPr>
        <p:blipFill>
          <a:blip r:embed="rId1" cstate="screen"/>
          <a:srcRect/>
          <a:stretch>
            <a:fillRect/>
          </a:stretch>
        </p:blipFill>
        <p:spPr bwMode="auto">
          <a:xfrm>
            <a:off x="5257800" y="5532120"/>
            <a:ext cx="5603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81" name="Picture 50" descr="MC900139575[1]"/>
          <p:cNvPicPr>
            <a:picLocks noChangeAspect="1" noChangeArrowheads="1"/>
          </p:cNvPicPr>
          <p:nvPr/>
        </p:nvPicPr>
        <p:blipFill>
          <a:blip r:embed="rId1" cstate="screen"/>
          <a:srcRect/>
          <a:stretch>
            <a:fillRect/>
          </a:stretch>
        </p:blipFill>
        <p:spPr bwMode="auto">
          <a:xfrm>
            <a:off x="5181600" y="4679632"/>
            <a:ext cx="5603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82" name="Picture 51" descr="MC900139575[1]"/>
          <p:cNvPicPr>
            <a:picLocks noChangeAspect="1" noChangeArrowheads="1"/>
          </p:cNvPicPr>
          <p:nvPr/>
        </p:nvPicPr>
        <p:blipFill>
          <a:blip r:embed="rId1" cstate="screen"/>
          <a:srcRect/>
          <a:stretch>
            <a:fillRect/>
          </a:stretch>
        </p:blipFill>
        <p:spPr bwMode="auto">
          <a:xfrm>
            <a:off x="6019800" y="5594032"/>
            <a:ext cx="5603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83" name="Picture 52" descr="MC900139575[1]"/>
          <p:cNvPicPr>
            <a:picLocks noChangeAspect="1" noChangeArrowheads="1"/>
          </p:cNvPicPr>
          <p:nvPr/>
        </p:nvPicPr>
        <p:blipFill>
          <a:blip r:embed="rId1" cstate="screen"/>
          <a:srcRect/>
          <a:stretch>
            <a:fillRect/>
          </a:stretch>
        </p:blipFill>
        <p:spPr bwMode="auto">
          <a:xfrm>
            <a:off x="6096000" y="4603432"/>
            <a:ext cx="5603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84" name="Picture 53" descr="MC900139575[1]"/>
          <p:cNvPicPr>
            <a:picLocks noChangeAspect="1" noChangeArrowheads="1"/>
          </p:cNvPicPr>
          <p:nvPr/>
        </p:nvPicPr>
        <p:blipFill>
          <a:blip r:embed="rId1" cstate="screen"/>
          <a:srcRect/>
          <a:stretch>
            <a:fillRect/>
          </a:stretch>
        </p:blipFill>
        <p:spPr bwMode="auto">
          <a:xfrm>
            <a:off x="7315200" y="4451032"/>
            <a:ext cx="5603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85" name="Picture 54" descr="MC900139575[1]"/>
          <p:cNvPicPr>
            <a:picLocks noChangeAspect="1" noChangeArrowheads="1"/>
          </p:cNvPicPr>
          <p:nvPr/>
        </p:nvPicPr>
        <p:blipFill>
          <a:blip r:embed="rId1" cstate="screen"/>
          <a:srcRect/>
          <a:stretch>
            <a:fillRect/>
          </a:stretch>
        </p:blipFill>
        <p:spPr bwMode="auto">
          <a:xfrm>
            <a:off x="7391400" y="5379720"/>
            <a:ext cx="5603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86" name="Picture 55" descr="MC900139575[1]"/>
          <p:cNvPicPr>
            <a:picLocks noChangeAspect="1" noChangeArrowheads="1"/>
          </p:cNvPicPr>
          <p:nvPr/>
        </p:nvPicPr>
        <p:blipFill>
          <a:blip r:embed="rId1" cstate="screen"/>
          <a:srcRect/>
          <a:stretch>
            <a:fillRect/>
          </a:stretch>
        </p:blipFill>
        <p:spPr bwMode="auto">
          <a:xfrm>
            <a:off x="8001000" y="4451032"/>
            <a:ext cx="5603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87" name="Picture 56" descr="MC900139575[1]"/>
          <p:cNvPicPr>
            <a:picLocks noChangeAspect="1" noChangeArrowheads="1"/>
          </p:cNvPicPr>
          <p:nvPr/>
        </p:nvPicPr>
        <p:blipFill>
          <a:blip r:embed="rId1" cstate="screen"/>
          <a:srcRect/>
          <a:stretch>
            <a:fillRect/>
          </a:stretch>
        </p:blipFill>
        <p:spPr bwMode="auto">
          <a:xfrm>
            <a:off x="8229600" y="5441632"/>
            <a:ext cx="5603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88" name="Picture 57" descr="MC900139575[1]"/>
          <p:cNvPicPr>
            <a:picLocks noChangeAspect="1" noChangeArrowheads="1"/>
          </p:cNvPicPr>
          <p:nvPr/>
        </p:nvPicPr>
        <p:blipFill>
          <a:blip r:embed="rId1" cstate="screen"/>
          <a:srcRect/>
          <a:stretch>
            <a:fillRect/>
          </a:stretch>
        </p:blipFill>
        <p:spPr bwMode="auto">
          <a:xfrm>
            <a:off x="2438400" y="4603432"/>
            <a:ext cx="5603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89" name="Picture 58" descr="MC900139575[1]"/>
          <p:cNvPicPr>
            <a:picLocks noChangeAspect="1" noChangeArrowheads="1"/>
          </p:cNvPicPr>
          <p:nvPr/>
        </p:nvPicPr>
        <p:blipFill>
          <a:blip r:embed="rId1" cstate="screen"/>
          <a:srcRect/>
          <a:stretch>
            <a:fillRect/>
          </a:stretch>
        </p:blipFill>
        <p:spPr bwMode="auto">
          <a:xfrm>
            <a:off x="2667000" y="5594032"/>
            <a:ext cx="5603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90" name="Picture 59" descr="MC900139575[1]"/>
          <p:cNvPicPr>
            <a:picLocks noChangeAspect="1" noChangeArrowheads="1"/>
          </p:cNvPicPr>
          <p:nvPr/>
        </p:nvPicPr>
        <p:blipFill>
          <a:blip r:embed="rId1" cstate="screen"/>
          <a:srcRect/>
          <a:stretch>
            <a:fillRect/>
          </a:stretch>
        </p:blipFill>
        <p:spPr bwMode="auto">
          <a:xfrm>
            <a:off x="3429000" y="5517832"/>
            <a:ext cx="5603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91" name="Picture 60" descr="MC900139575[1]"/>
          <p:cNvPicPr>
            <a:picLocks noChangeAspect="1" noChangeArrowheads="1"/>
          </p:cNvPicPr>
          <p:nvPr/>
        </p:nvPicPr>
        <p:blipFill>
          <a:blip r:embed="rId1" cstate="screen"/>
          <a:srcRect/>
          <a:stretch>
            <a:fillRect/>
          </a:stretch>
        </p:blipFill>
        <p:spPr bwMode="auto">
          <a:xfrm>
            <a:off x="3352800" y="4679632"/>
            <a:ext cx="5603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TextBox 28"/>
          <p:cNvSpPr txBox="1"/>
          <p:nvPr/>
        </p:nvSpPr>
        <p:spPr>
          <a:xfrm>
            <a:off x="1804289" y="292934"/>
            <a:ext cx="48526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Distance sampling 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距离采样</a:t>
            </a:r>
            <a:endParaRPr lang="zh-CN" altLang="en-US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4866" name="Picture 2" descr="https://encrypted-tbn3.google.com/images?q=tbn:ANd9GcTxx6TpbCL-irWRM9w6UWdtR5miQMwXC34mQM902NtgvZCnEmgq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178926" y="3322320"/>
            <a:ext cx="1459373" cy="2486025"/>
          </a:xfrm>
          <a:prstGeom prst="rect">
            <a:avLst/>
          </a:prstGeom>
          <a:noFill/>
        </p:spPr>
      </p:pic>
      <p:sp>
        <p:nvSpPr>
          <p:cNvPr id="30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200" y="6630670"/>
            <a:ext cx="2133600" cy="365125"/>
          </a:xfrm>
        </p:spPr>
        <p:txBody>
          <a:bodyPr/>
          <a:lstStyle/>
          <a:p>
            <a:fld id="{5E36FFF3-8FBC-2144-A340-2B54F44226F0}" type="slidenum">
              <a:rPr lang="en-US" smtClean="0"/>
            </a:fld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5266690" y="376555"/>
            <a:ext cx="4347210" cy="3331210"/>
            <a:chOff x="1747157" y="530320"/>
            <a:chExt cx="4451695" cy="3411285"/>
          </a:xfrm>
        </p:grpSpPr>
        <p:cxnSp>
          <p:nvCxnSpPr>
            <p:cNvPr id="3" name="Straight Arrow Connector 2"/>
            <p:cNvCxnSpPr/>
            <p:nvPr/>
          </p:nvCxnSpPr>
          <p:spPr>
            <a:xfrm flipV="1">
              <a:off x="3125788" y="2983230"/>
              <a:ext cx="2208212" cy="114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V="1">
              <a:off x="3125788" y="1437640"/>
              <a:ext cx="0" cy="15622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3375994" y="2998725"/>
              <a:ext cx="2380829" cy="3771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Distance </a:t>
              </a:r>
              <a:r>
                <a:rPr lang="zh-CN" altLang="en-US" dirty="0"/>
                <a:t>距离</a:t>
              </a:r>
              <a:endParaRPr lang="zh-CN" altLang="en-US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747157" y="1885470"/>
              <a:ext cx="1275814" cy="944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Detection</a:t>
              </a:r>
              <a:endParaRPr lang="en-US" dirty="0"/>
            </a:p>
            <a:p>
              <a:r>
                <a:rPr lang="en-US" dirty="0"/>
                <a:t>probability</a:t>
              </a:r>
              <a:endParaRPr lang="en-US" dirty="0"/>
            </a:p>
            <a:p>
              <a:r>
                <a:rPr lang="zh-CN" altLang="en-US" dirty="0"/>
                <a:t>检测概率</a:t>
              </a:r>
              <a:endParaRPr lang="zh-CN" altLang="en-US" dirty="0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3375979" y="1710049"/>
              <a:ext cx="1573212" cy="10755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Arc 7"/>
            <p:cNvSpPr/>
            <p:nvPr/>
          </p:nvSpPr>
          <p:spPr>
            <a:xfrm>
              <a:off x="2017374" y="1522892"/>
              <a:ext cx="3002654" cy="2418713"/>
            </a:xfrm>
            <a:prstGeom prst="arc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3280048" y="1598706"/>
              <a:ext cx="1669143" cy="1291771"/>
            </a:xfrm>
            <a:custGeom>
              <a:avLst/>
              <a:gdLst>
                <a:gd name="connsiteX0" fmla="*/ 0 w 1669143"/>
                <a:gd name="connsiteY0" fmla="*/ 0 h 1291771"/>
                <a:gd name="connsiteX1" fmla="*/ 420915 w 1669143"/>
                <a:gd name="connsiteY1" fmla="*/ 101600 h 1291771"/>
                <a:gd name="connsiteX2" fmla="*/ 638629 w 1669143"/>
                <a:gd name="connsiteY2" fmla="*/ 377371 h 1291771"/>
                <a:gd name="connsiteX3" fmla="*/ 798286 w 1669143"/>
                <a:gd name="connsiteY3" fmla="*/ 870857 h 1291771"/>
                <a:gd name="connsiteX4" fmla="*/ 1146629 w 1669143"/>
                <a:gd name="connsiteY4" fmla="*/ 1161142 h 1291771"/>
                <a:gd name="connsiteX5" fmla="*/ 1669143 w 1669143"/>
                <a:gd name="connsiteY5" fmla="*/ 1291771 h 129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69143" h="1291771">
                  <a:moveTo>
                    <a:pt x="0" y="0"/>
                  </a:moveTo>
                  <a:cubicBezTo>
                    <a:pt x="157238" y="19352"/>
                    <a:pt x="314477" y="38705"/>
                    <a:pt x="420915" y="101600"/>
                  </a:cubicBezTo>
                  <a:cubicBezTo>
                    <a:pt x="527353" y="164495"/>
                    <a:pt x="575734" y="249162"/>
                    <a:pt x="638629" y="377371"/>
                  </a:cubicBezTo>
                  <a:cubicBezTo>
                    <a:pt x="701524" y="505580"/>
                    <a:pt x="713619" y="740229"/>
                    <a:pt x="798286" y="870857"/>
                  </a:cubicBezTo>
                  <a:cubicBezTo>
                    <a:pt x="882953" y="1001485"/>
                    <a:pt x="1001486" y="1090990"/>
                    <a:pt x="1146629" y="1161142"/>
                  </a:cubicBezTo>
                  <a:cubicBezTo>
                    <a:pt x="1291772" y="1231294"/>
                    <a:pt x="1480457" y="1261532"/>
                    <a:pt x="1669143" y="1291771"/>
                  </a:cubicBezTo>
                </a:path>
              </a:pathLst>
            </a:custGeom>
            <a:noFill/>
            <a:ln w="28575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Arc 41"/>
            <p:cNvSpPr/>
            <p:nvPr/>
          </p:nvSpPr>
          <p:spPr>
            <a:xfrm rot="10800000">
              <a:off x="3196198" y="530320"/>
              <a:ext cx="3002654" cy="2418713"/>
            </a:xfrm>
            <a:prstGeom prst="arc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82" grpId="0" bldLvl="0" animBg="1"/>
      <p:bldP spid="45083" grpId="0"/>
      <p:bldP spid="45076" grpId="0" bldLvl="0" animBg="1"/>
      <p:bldP spid="45077" grpId="0"/>
      <p:bldP spid="45070" grpId="0" bldLvl="0" animBg="1"/>
      <p:bldP spid="45071" grpId="0"/>
      <p:bldP spid="45068" grpId="0" bldLvl="0" animBg="1"/>
      <p:bldP spid="45069" grpId="0"/>
      <p:bldP spid="45066" grpId="0" bldLvl="0" animBg="1"/>
      <p:bldP spid="45067" grpId="0"/>
      <p:bldP spid="45102" grpId="0" bldLvl="0" animBg="1"/>
      <p:bldP spid="4510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524000"/>
            <a:ext cx="7772400" cy="4114800"/>
          </a:xfrm>
        </p:spPr>
        <p:txBody>
          <a:bodyPr>
            <a:normAutofit lnSpcReduction="20000"/>
          </a:bodyPr>
          <a:lstStyle/>
          <a:p>
            <a:pPr fontAlgn="auto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0000"/>
                </a:solidFill>
              </a:rPr>
              <a:t>Capture </a:t>
            </a:r>
            <a:r>
              <a:rPr lang="zh-CN" altLang="en-US" sz="2000" b="1" dirty="0">
                <a:solidFill>
                  <a:srgbClr val="FF0000"/>
                </a:solidFill>
              </a:rPr>
              <a:t>捕获</a:t>
            </a:r>
            <a:endParaRPr lang="en-US" sz="2000" b="1" dirty="0">
              <a:solidFill>
                <a:srgbClr val="FF0000"/>
              </a:solidFill>
            </a:endParaRPr>
          </a:p>
          <a:p>
            <a:pPr lvl="1" fontAlgn="auto">
              <a:lnSpc>
                <a:spcPct val="100000"/>
              </a:lnSpc>
            </a:pPr>
            <a:r>
              <a:rPr lang="en-US" sz="2000" b="1" dirty="0"/>
              <a:t>physical capture</a:t>
            </a:r>
            <a:r>
              <a:rPr lang="en-US" sz="2000" dirty="0"/>
              <a:t> </a:t>
            </a:r>
            <a:r>
              <a:rPr lang="zh-CN" altLang="en-US" sz="2000" dirty="0"/>
              <a:t>实际捕获</a:t>
            </a:r>
            <a:endParaRPr lang="en-US" sz="2000" dirty="0"/>
          </a:p>
          <a:p>
            <a:pPr lvl="1" fontAlgn="auto">
              <a:lnSpc>
                <a:spcPct val="100000"/>
              </a:lnSpc>
            </a:pPr>
            <a:r>
              <a:rPr lang="en-US" sz="2000" b="1" dirty="0"/>
              <a:t>non-invasive techniques: </a:t>
            </a:r>
            <a:r>
              <a:rPr lang="en-US" sz="2000" dirty="0"/>
              <a:t>genetics (from hair snares, scat, etc.), ID unique patterns remotely </a:t>
            </a:r>
            <a:r>
              <a:rPr lang="zh-CN" altLang="en-US" sz="2000" dirty="0"/>
              <a:t>非入侵性技术：遗传学（毛发采集、粪便等）、远程身份识别</a:t>
            </a:r>
            <a:endParaRPr lang="en-US" sz="2000" dirty="0"/>
          </a:p>
          <a:p>
            <a:pPr marL="457200" lvl="1" indent="0" fontAlgn="auto">
              <a:lnSpc>
                <a:spcPct val="100000"/>
              </a:lnSpc>
              <a:buNone/>
            </a:pPr>
            <a:endParaRPr lang="en-US" sz="2000" dirty="0"/>
          </a:p>
          <a:p>
            <a:pPr fontAlgn="auto">
              <a:lnSpc>
                <a:spcPct val="100000"/>
              </a:lnSpc>
              <a:buNone/>
            </a:pPr>
            <a:endParaRPr lang="en-US" sz="2000" dirty="0"/>
          </a:p>
          <a:p>
            <a:pPr fontAlgn="auto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0000"/>
                </a:solidFill>
              </a:rPr>
              <a:t>	Mark </a:t>
            </a:r>
            <a:r>
              <a:rPr lang="zh-CN" altLang="en-US" sz="2000" b="1" dirty="0">
                <a:solidFill>
                  <a:srgbClr val="FF0000"/>
                </a:solidFill>
              </a:rPr>
              <a:t>标记</a:t>
            </a:r>
            <a:endParaRPr lang="en-US" sz="2000" b="1" dirty="0">
              <a:solidFill>
                <a:srgbClr val="FF0000"/>
              </a:solidFill>
            </a:endParaRPr>
          </a:p>
          <a:p>
            <a:pPr lvl="2" fontAlgn="auto">
              <a:lnSpc>
                <a:spcPct val="100000"/>
              </a:lnSpc>
            </a:pPr>
            <a:r>
              <a:rPr lang="en-US" sz="2000" dirty="0"/>
              <a:t>Radiotelemetry, PIT tags, banding, </a:t>
            </a:r>
            <a:r>
              <a:rPr lang="en-US" sz="2000" dirty="0" err="1"/>
              <a:t>elastomer</a:t>
            </a:r>
            <a:r>
              <a:rPr lang="en-US" sz="2000" dirty="0"/>
              <a:t>, photography, genotyping </a:t>
            </a:r>
            <a:endParaRPr lang="en-US" sz="2000" dirty="0"/>
          </a:p>
          <a:p>
            <a:pPr marL="914400" lvl="2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   使用不同的方法对个体进行标记，例如无线电遥测、PIT标签、环标、</a:t>
            </a:r>
            <a:r>
              <a:rPr lang="zh-CN" altLang="en-US" sz="2000" dirty="0"/>
              <a:t>嵌入式荧光标签</a:t>
            </a:r>
            <a:r>
              <a:rPr lang="en-US" sz="2000" dirty="0"/>
              <a:t>、</a:t>
            </a:r>
            <a:r>
              <a:rPr lang="zh-CN" altLang="en-US" sz="2000" dirty="0"/>
              <a:t>拍摄</a:t>
            </a:r>
            <a:r>
              <a:rPr lang="en-US" sz="2000" dirty="0"/>
              <a:t>和基因分型</a:t>
            </a:r>
            <a:endParaRPr lang="en-US" sz="2000" dirty="0"/>
          </a:p>
          <a:p>
            <a:pPr fontAlgn="auto">
              <a:lnSpc>
                <a:spcPct val="100000"/>
              </a:lnSpc>
              <a:buNone/>
            </a:pPr>
            <a:endParaRPr lang="en-US" sz="2000" dirty="0"/>
          </a:p>
          <a:p>
            <a:pPr fontAlgn="auto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0000"/>
                </a:solidFill>
              </a:rPr>
              <a:t>Recapture</a:t>
            </a:r>
            <a:r>
              <a:rPr lang="en-US" sz="2000" b="1" dirty="0"/>
              <a:t> </a:t>
            </a:r>
            <a:r>
              <a:rPr lang="en-US" sz="2000" dirty="0"/>
              <a:t>(or </a:t>
            </a:r>
            <a:r>
              <a:rPr lang="en-US" sz="2000" dirty="0" err="1"/>
              <a:t>resight</a:t>
            </a:r>
            <a:r>
              <a:rPr lang="en-US" sz="2000" dirty="0"/>
              <a:t>) </a:t>
            </a:r>
            <a:r>
              <a:rPr lang="en-US" sz="2000" b="1" dirty="0">
                <a:solidFill>
                  <a:srgbClr val="FF0000"/>
                </a:solidFill>
              </a:rPr>
              <a:t>再捕获</a:t>
            </a:r>
            <a:r>
              <a:rPr lang="en-US" sz="2000" dirty="0"/>
              <a:t>（或重新观察）</a:t>
            </a:r>
            <a:endParaRPr lang="en-US" sz="2000" dirty="0"/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5E36FFF3-8FBC-2144-A340-2B54F44226F0}" type="slidenum">
              <a:rPr lang="en-US" smtClean="0"/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0" y="40839"/>
            <a:ext cx="9144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Capture-recapture methods</a:t>
            </a:r>
            <a:endParaRPr lang="en-US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捕获—再捕获方法</a:t>
            </a:r>
            <a:endParaRPr lang="en-US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48310" y="1391920"/>
            <a:ext cx="8238490" cy="5197475"/>
          </a:xfrm>
        </p:spPr>
        <p:txBody>
          <a:bodyPr>
            <a:normAutofit fontScale="65000" lnSpcReduction="10000"/>
          </a:bodyPr>
          <a:lstStyle/>
          <a:p>
            <a:pPr marL="0" indent="0">
              <a:buNone/>
            </a:pPr>
            <a:r>
              <a:rPr lang="en-US" dirty="0"/>
              <a:t>Open versus closed populations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Closed population</a:t>
            </a:r>
            <a:r>
              <a:rPr lang="en-US" dirty="0"/>
              <a:t> – a population in which there is no recruitment (birth or immigration) or losses (death or emigration) </a:t>
            </a:r>
            <a:r>
              <a:rPr lang="en-US" u="sng" dirty="0"/>
              <a:t>during the period of study</a:t>
            </a:r>
            <a:r>
              <a:rPr lang="en-US" dirty="0"/>
              <a:t>. Geographic and demographic closure.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Open population</a:t>
            </a:r>
            <a:r>
              <a:rPr lang="en-US" dirty="0"/>
              <a:t> – a population that changes in size and composition due to births, deaths, and permanent movements (immigration and emigration)</a:t>
            </a:r>
            <a:endParaRPr 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开放和封闭种群</a:t>
            </a:r>
            <a:endParaRPr lang="zh-CN" altLang="en-US" dirty="0"/>
          </a:p>
          <a:p>
            <a:r>
              <a:rPr lang="en-US" b="1" dirty="0">
                <a:sym typeface="+mn-ea"/>
              </a:rPr>
              <a:t>封闭</a:t>
            </a:r>
            <a:r>
              <a:rPr lang="zh-CN" altLang="en-US" b="1" dirty="0">
                <a:sym typeface="+mn-ea"/>
              </a:rPr>
              <a:t>种群</a:t>
            </a:r>
            <a:r>
              <a:rPr lang="en-US" dirty="0">
                <a:sym typeface="+mn-ea"/>
              </a:rPr>
              <a:t>—在</a:t>
            </a:r>
            <a:r>
              <a:rPr lang="en-US" u="sng" dirty="0">
                <a:sym typeface="+mn-ea"/>
              </a:rPr>
              <a:t>研究期间</a:t>
            </a:r>
            <a:r>
              <a:rPr lang="en-US" dirty="0">
                <a:sym typeface="+mn-ea"/>
              </a:rPr>
              <a:t>没有新增（出生或</a:t>
            </a:r>
            <a:r>
              <a:rPr lang="zh-CN" altLang="en-US" dirty="0">
                <a:sym typeface="+mn-ea"/>
              </a:rPr>
              <a:t>迁入</a:t>
            </a:r>
            <a:r>
              <a:rPr lang="en-US" dirty="0">
                <a:sym typeface="+mn-ea"/>
              </a:rPr>
              <a:t>）或减少（死亡或迁出）的</a:t>
            </a:r>
            <a:r>
              <a:rPr lang="zh-CN" altLang="en-US" dirty="0">
                <a:sym typeface="+mn-ea"/>
              </a:rPr>
              <a:t>成员</a:t>
            </a:r>
            <a:r>
              <a:rPr lang="en-US" dirty="0">
                <a:sym typeface="+mn-ea"/>
              </a:rPr>
              <a:t>。地理和</a:t>
            </a:r>
            <a:r>
              <a:rPr lang="zh-CN" altLang="en-US" dirty="0">
                <a:sym typeface="+mn-ea"/>
              </a:rPr>
              <a:t>群体</a:t>
            </a:r>
            <a:r>
              <a:rPr lang="en-US" dirty="0">
                <a:sym typeface="+mn-ea"/>
              </a:rPr>
              <a:t>封闭</a:t>
            </a:r>
            <a:r>
              <a:rPr lang="zh-CN" altLang="en-US" dirty="0">
                <a:sym typeface="+mn-ea"/>
              </a:rPr>
              <a:t>性</a:t>
            </a:r>
            <a:r>
              <a:rPr lang="en-US" dirty="0">
                <a:sym typeface="+mn-ea"/>
              </a:rPr>
              <a:t>。</a:t>
            </a:r>
            <a:endParaRPr lang="en-US" dirty="0">
              <a:sym typeface="+mn-ea"/>
            </a:endParaRPr>
          </a:p>
          <a:p>
            <a:r>
              <a:rPr lang="en-US" b="1" dirty="0">
                <a:sym typeface="+mn-ea"/>
              </a:rPr>
              <a:t>开放</a:t>
            </a:r>
            <a:r>
              <a:rPr lang="zh-CN" altLang="en-US" b="1" dirty="0">
                <a:sym typeface="+mn-ea"/>
              </a:rPr>
              <a:t>种群</a:t>
            </a:r>
            <a:r>
              <a:rPr lang="en-US" dirty="0">
                <a:sym typeface="+mn-ea"/>
              </a:rPr>
              <a:t>—由于出生、死亡和永久性迁移（</a:t>
            </a:r>
            <a:r>
              <a:rPr lang="zh-CN" altLang="en-US" dirty="0">
                <a:sym typeface="+mn-ea"/>
              </a:rPr>
              <a:t>迁入和迁出</a:t>
            </a:r>
            <a:r>
              <a:rPr lang="en-US" dirty="0">
                <a:sym typeface="+mn-ea"/>
              </a:rPr>
              <a:t>）而在规模和组成上发生变化的</a:t>
            </a:r>
            <a:r>
              <a:rPr lang="zh-CN" altLang="en-US" dirty="0">
                <a:sym typeface="+mn-ea"/>
              </a:rPr>
              <a:t>种群。</a:t>
            </a:r>
            <a:endParaRPr lang="en-US" sz="2400" dirty="0"/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5E36FFF3-8FBC-2144-A340-2B54F44226F0}" type="slidenum">
              <a:rPr lang="en-US" smtClean="0"/>
            </a:fld>
            <a:endParaRPr lang="en-US" dirty="0"/>
          </a:p>
        </p:txBody>
      </p:sp>
      <p:sp>
        <p:nvSpPr>
          <p:cNvPr id="2" name="TextBox 5"/>
          <p:cNvSpPr txBox="1"/>
          <p:nvPr>
            <p:custDataLst>
              <p:tags r:id="rId1"/>
            </p:custDataLst>
          </p:nvPr>
        </p:nvSpPr>
        <p:spPr>
          <a:xfrm>
            <a:off x="0" y="40839"/>
            <a:ext cx="9144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Capture-recapture methods</a:t>
            </a:r>
            <a:endParaRPr lang="en-US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捕获—再捕获方法</a:t>
            </a:r>
            <a:endParaRPr lang="en-US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0" name="Text Box 10"/>
          <p:cNvSpPr txBox="1">
            <a:spLocks noChangeArrowheads="1"/>
          </p:cNvSpPr>
          <p:nvPr/>
        </p:nvSpPr>
        <p:spPr bwMode="auto">
          <a:xfrm>
            <a:off x="171450" y="1852295"/>
            <a:ext cx="5462270" cy="50158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Design: visit site TWICE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first visit: count and mark all animals found (marks not unique)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second visit: count all marked and unmarked animals caught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Number marked the first visit </a:t>
            </a:r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Total number captured on 2</a:t>
            </a:r>
            <a:r>
              <a:rPr lang="en-US" sz="16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sampling occasion</a:t>
            </a:r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Number captured on 2</a:t>
            </a:r>
            <a:r>
              <a:rPr lang="en-US" sz="16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sampling occasion which have been marked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(recaptures)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采样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设计：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在样地进行</a:t>
            </a:r>
            <a:r>
              <a:rPr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两次采样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第一次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采样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：计数并标记所有发现的动物（标记不唯一）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第二次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采样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计数第一次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已标记和未标记的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所有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捕获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到的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动物。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M=第一次</a:t>
            </a: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采样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时</a:t>
            </a: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捕获并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标记的动物数量</a:t>
            </a:r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C=第二次</a:t>
            </a: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采样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时</a:t>
            </a: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捕获到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</a:t>
            </a: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所有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动物数量</a:t>
            </a:r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R=第二次</a:t>
            </a: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采样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时</a:t>
            </a: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捕获到的第一次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标记的动物数量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（再捕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获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1" y="182880"/>
            <a:ext cx="8961121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Abundance estimation in CLOSED POPULATIONS </a:t>
            </a:r>
            <a:endParaRPr lang="en-US" sz="20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Mark-recapture at its simplest:</a:t>
            </a:r>
            <a:endParaRPr lang="en-US" sz="20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lang="en-US" sz="2000" b="1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Lincoln-Peterson</a:t>
            </a:r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 estimator</a:t>
            </a:r>
            <a:endParaRPr lang="en-US" sz="20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000" b="1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封闭种群</a:t>
            </a:r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的丰度估计——“标记-</a:t>
            </a:r>
            <a:r>
              <a:rPr lang="zh-CN" alt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重新捕获</a:t>
            </a:r>
            <a:r>
              <a:rPr lang="en-US" altLang="zh-CN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”</a:t>
            </a:r>
            <a:r>
              <a:rPr lang="zh-CN" alt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的</a:t>
            </a:r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最简单</a:t>
            </a:r>
            <a:r>
              <a:rPr lang="zh-CN" alt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估算</a:t>
            </a:r>
            <a:r>
              <a:rPr lang="zh-CN" alt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：</a:t>
            </a:r>
            <a:endParaRPr lang="en-US" sz="20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000" b="1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林肯-彼得森</a:t>
            </a:r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估算</a:t>
            </a:r>
            <a:r>
              <a:rPr lang="zh-CN" alt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法</a:t>
            </a:r>
            <a:endParaRPr lang="en-US" sz="20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endParaRPr lang="en-US" sz="20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490480" y="2497491"/>
                <a:ext cx="1316990" cy="6858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0480" y="2497491"/>
                <a:ext cx="1316990" cy="685800"/>
              </a:xfrm>
              <a:prstGeom prst="rect">
                <a:avLst/>
              </a:prstGeom>
              <a:blipFill rotWithShape="1">
                <a:blip r:embed="rId1"/>
                <a:stretch>
                  <a:fillRect l="-11" t="-5" r="-2689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5594983" y="3680878"/>
                <a:ext cx="3688079" cy="6845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𝑝𝑟𝑜𝑏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𝑟𝑒𝑐𝑎𝑝𝑡𝑢𝑟𝑒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983" y="3680878"/>
                <a:ext cx="3688079" cy="684530"/>
              </a:xfrm>
              <a:prstGeom prst="rect">
                <a:avLst/>
              </a:prstGeom>
              <a:blipFill rotWithShape="1">
                <a:blip r:embed="rId2"/>
                <a:stretch>
                  <a:fillRect l="-17" t="-61" r="17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0" name="Text Box 10"/>
          <p:cNvSpPr txBox="1">
            <a:spLocks noChangeArrowheads="1"/>
          </p:cNvSpPr>
          <p:nvPr/>
        </p:nvSpPr>
        <p:spPr bwMode="auto">
          <a:xfrm>
            <a:off x="171453" y="1852513"/>
            <a:ext cx="4400547" cy="30460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Number marked the first visit </a:t>
            </a:r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Total number captured on 2</a:t>
            </a:r>
            <a:r>
              <a:rPr lang="en-US" sz="16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sampling occasion</a:t>
            </a:r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Number captured on 2</a:t>
            </a:r>
            <a:r>
              <a:rPr lang="en-US" sz="16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sampling occasion which have been marked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(recaptures)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M=第一次</a:t>
            </a: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采样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时</a:t>
            </a: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捕获并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标记的动物数量</a:t>
            </a:r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C=第二次</a:t>
            </a: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采样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时</a:t>
            </a: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捕获到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的</a:t>
            </a: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所有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动物数量</a:t>
            </a:r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R=第二次</a:t>
            </a: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采样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时</a:t>
            </a: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捕获到的第一次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标记的动物数量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（再捕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获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）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292870" y="2433991"/>
                <a:ext cx="1523301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870" y="2433991"/>
                <a:ext cx="1523301" cy="806631"/>
              </a:xfrm>
              <a:prstGeom prst="rect">
                <a:avLst/>
              </a:prstGeom>
              <a:blipFill rotWithShape="1">
                <a:blip r:embed="rId1"/>
                <a:stretch>
                  <a:fillRect l="-10" t="-4" r="-3121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5304788" y="3617378"/>
                <a:ext cx="3688079" cy="8066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𝑝𝑟𝑜𝑏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𝑟𝑒𝑐𝑎𝑝𝑡𝑢𝑟𝑒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4788" y="3617378"/>
                <a:ext cx="3688079" cy="806631"/>
              </a:xfrm>
              <a:prstGeom prst="rect">
                <a:avLst/>
              </a:prstGeom>
              <a:blipFill rotWithShape="1">
                <a:blip r:embed="rId2"/>
                <a:stretch>
                  <a:fillRect l="-17" t="-52" r="17" b="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675035" y="4890768"/>
            <a:ext cx="4619625" cy="1938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Let’s assume we sample a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popn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of fish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假设我们对鱼群进行采样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 = 110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 = 95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 = 35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Arrow: Right 2"/>
          <p:cNvSpPr/>
          <p:nvPr/>
        </p:nvSpPr>
        <p:spPr>
          <a:xfrm>
            <a:off x="2895600" y="5734764"/>
            <a:ext cx="1076960" cy="42370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480559" y="5537497"/>
                <a:ext cx="4127412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95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∗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110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35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299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𝑓𝑖𝑠ℎ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559" y="5537497"/>
                <a:ext cx="4127412" cy="818237"/>
              </a:xfrm>
              <a:prstGeom prst="rect">
                <a:avLst/>
              </a:prstGeom>
              <a:blipFill rotWithShape="1">
                <a:blip r:embed="rId3"/>
                <a:stretch>
                  <a:fillRect l="-15" t="-36" r="-1125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6"/>
          <p:cNvSpPr txBox="1"/>
          <p:nvPr>
            <p:custDataLst>
              <p:tags r:id="rId4"/>
            </p:custDataLst>
          </p:nvPr>
        </p:nvSpPr>
        <p:spPr>
          <a:xfrm>
            <a:off x="-1" y="182880"/>
            <a:ext cx="8961121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Abundance estimation in CLOSED POPULATIONS </a:t>
            </a:r>
            <a:endParaRPr lang="en-US" sz="20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Mark-recapture at its simplest:</a:t>
            </a:r>
            <a:endParaRPr lang="en-US" sz="20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lang="en-US" sz="2000" b="1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Lincoln-Peterson</a:t>
            </a:r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 estimator</a:t>
            </a:r>
            <a:endParaRPr lang="en-US" sz="20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000" b="1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封闭种群</a:t>
            </a:r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的丰度估计——“标记-</a:t>
            </a:r>
            <a:r>
              <a:rPr lang="zh-CN" alt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重新捕获</a:t>
            </a:r>
            <a:r>
              <a:rPr lang="en-US" altLang="zh-CN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”</a:t>
            </a:r>
            <a:r>
              <a:rPr lang="zh-CN" alt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的</a:t>
            </a:r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最简单</a:t>
            </a:r>
            <a:r>
              <a:rPr lang="zh-CN" alt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估算</a:t>
            </a:r>
            <a:r>
              <a:rPr lang="zh-CN" alt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：</a:t>
            </a:r>
            <a:endParaRPr lang="en-US" sz="20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000" b="1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林肯-彼得森</a:t>
            </a:r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估算</a:t>
            </a:r>
            <a:r>
              <a:rPr lang="zh-CN" alt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法</a:t>
            </a:r>
            <a:endParaRPr lang="en-US" sz="20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endParaRPr lang="en-US" sz="20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0" name="Text Box 10"/>
          <p:cNvSpPr txBox="1">
            <a:spLocks noChangeArrowheads="1"/>
          </p:cNvSpPr>
          <p:nvPr/>
        </p:nvSpPr>
        <p:spPr bwMode="auto">
          <a:xfrm>
            <a:off x="313693" y="1482667"/>
            <a:ext cx="8830307" cy="18148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SAME design as L-P 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与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L-P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相同的采样设计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BUT, we need to account for </a:t>
            </a: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sampling uncertainty 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(i.e., do we get the same numbers of C, M, R if we repeated the sampling 100 times in the same population?)</a:t>
            </a:r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但是我们需要考虑</a:t>
            </a:r>
            <a:r>
              <a: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采样</a:t>
            </a: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的不确定性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（即如果我们在同一</a:t>
            </a: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种群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中重复</a:t>
            </a: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采样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100 次，是否会得到相同数量的 C、M、R？）</a:t>
            </a:r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93980"/>
            <a:ext cx="8961120" cy="14154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Abundance estimation in CLOSED POPULATIONS </a:t>
            </a:r>
            <a:endParaRPr lang="en-US" sz="20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Modified L-P estimator (</a:t>
            </a:r>
            <a:r>
              <a:rPr lang="en-US" sz="2000" b="1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Chapman estimator</a:t>
            </a:r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)</a:t>
            </a:r>
            <a:endParaRPr lang="en-US" sz="20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封闭种群的丰度估计 </a:t>
            </a:r>
            <a:endParaRPr lang="en-US" sz="20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修正的 L-P 估算</a:t>
            </a:r>
            <a:r>
              <a:rPr lang="zh-CN" alt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法</a:t>
            </a:r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（</a:t>
            </a:r>
            <a:r>
              <a:rPr lang="en-US" sz="2000" b="1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查普曼估算</a:t>
            </a:r>
            <a:r>
              <a:rPr lang="zh-CN" altLang="en-US" sz="2000" b="1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法</a:t>
            </a:r>
            <a:r>
              <a:rPr lang="en-US" sz="2000" b="1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）</a:t>
            </a:r>
            <a:endParaRPr lang="en-US" sz="2000" b="1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endParaRPr lang="en-US" sz="20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161293" y="3029863"/>
                <a:ext cx="4114800" cy="7096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293" y="3029863"/>
                <a:ext cx="4114800" cy="709681"/>
              </a:xfrm>
              <a:prstGeom prst="rect">
                <a:avLst/>
              </a:prstGeom>
              <a:blipFill rotWithShape="1">
                <a:blip r:embed="rId1"/>
                <a:stretch>
                  <a:fillRect t="-39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61293" y="4314559"/>
                <a:ext cx="7026194" cy="7689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 = 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293" y="4314559"/>
                <a:ext cx="7026194" cy="768993"/>
              </a:xfrm>
              <a:prstGeom prst="rect">
                <a:avLst/>
              </a:prstGeom>
              <a:blipFill rotWithShape="1">
                <a:blip r:embed="rId2"/>
                <a:stretch>
                  <a:fillRect t="-48" r="8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13693" y="3762347"/>
            <a:ext cx="4572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Compute Sampling Variance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计算采样方差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97840" y="5076467"/>
                <a:ext cx="3288401" cy="7515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𝑆𝑡𝑑𝐷𝑒𝑣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ac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40" y="5076467"/>
                <a:ext cx="3288401" cy="751552"/>
              </a:xfrm>
              <a:prstGeom prst="rect">
                <a:avLst/>
              </a:prstGeom>
              <a:blipFill rotWithShape="1">
                <a:blip r:embed="rId3"/>
                <a:stretch>
                  <a:fillRect t="-37" r="-124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97839" y="6173994"/>
                <a:ext cx="5558188" cy="3792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𝟗𝟓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%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𝑪𝑰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𝒐𝒇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</m:acc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acc>
                        <m:acc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</m:acc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𝟗𝟔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∗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𝑺𝒕𝒅𝑫𝒆𝒗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acc>
                        <m:acc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</m:e>
                      </m:acc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9" y="6173994"/>
                <a:ext cx="5558188" cy="379206"/>
              </a:xfrm>
              <a:prstGeom prst="rect">
                <a:avLst/>
              </a:prstGeom>
              <a:blipFill rotWithShape="1">
                <a:blip r:embed="rId4"/>
                <a:stretch>
                  <a:fillRect l="-11" t="-138" r="-2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7143750" y="3308985"/>
            <a:ext cx="180848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Let’s assume we sample a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popn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of fish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假设我们对鱼群进行采样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 = 110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 = 95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 = 35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50" grpId="0"/>
      <p:bldP spid="6" grpId="0"/>
      <p:bldP spid="9" grpId="0"/>
      <p:bldP spid="10" grpId="0"/>
      <p:bldP spid="11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2514600" y="2077050"/>
                <a:ext cx="6101080" cy="8278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95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110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295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2077050"/>
                <a:ext cx="6101080" cy="827855"/>
              </a:xfrm>
              <a:prstGeom prst="rect">
                <a:avLst/>
              </a:prstGeom>
              <a:blipFill rotWithShape="1">
                <a:blip r:embed="rId1"/>
                <a:stretch>
                  <a:fillRect t="-72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10875" y="3841471"/>
                <a:ext cx="7487921" cy="7689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999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875" y="3841471"/>
                <a:ext cx="7487921" cy="768993"/>
              </a:xfrm>
              <a:prstGeom prst="rect">
                <a:avLst/>
              </a:prstGeom>
              <a:blipFill rotWithShape="1">
                <a:blip r:embed="rId2"/>
                <a:stretch>
                  <a:fillRect t="-46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97840" y="5029223"/>
                <a:ext cx="4260846" cy="7515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𝑆𝑡𝑑𝐷𝑒𝑣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ac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31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40" y="5029223"/>
                <a:ext cx="4260846" cy="751552"/>
              </a:xfrm>
              <a:prstGeom prst="rect">
                <a:avLst/>
              </a:prstGeom>
              <a:blipFill rotWithShape="1">
                <a:blip r:embed="rId3"/>
                <a:stretch>
                  <a:fillRect t="-3" r="-30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97839" y="6173994"/>
                <a:ext cx="7333482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𝟗𝟓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%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𝑪𝑰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𝒐𝒇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</m:acc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acc>
                        <m:acc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</m:acc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𝟗𝟔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∗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𝑺𝒕𝒅𝑫𝒆𝒗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𝑵</m:t>
                              </m:r>
                            </m:e>
                          </m:acc>
                        </m:e>
                      </m:d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𝟐𝟗𝟓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±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𝟔𝟐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9" y="6173994"/>
                <a:ext cx="7333482" cy="416845"/>
              </a:xfrm>
              <a:prstGeom prst="rect">
                <a:avLst/>
              </a:prstGeom>
              <a:blipFill rotWithShape="1">
                <a:blip r:embed="rId4"/>
                <a:stretch>
                  <a:fillRect l="-9" t="-126" r="-140" b="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410875" y="1415720"/>
            <a:ext cx="7484110" cy="1630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Let’s assume we sample a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popn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of fish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假设我们对鱼群进行采样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 = 110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 = 95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 = 35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6"/>
          <p:cNvSpPr txBox="1"/>
          <p:nvPr>
            <p:custDataLst>
              <p:tags r:id="rId5"/>
            </p:custDataLst>
          </p:nvPr>
        </p:nvSpPr>
        <p:spPr>
          <a:xfrm>
            <a:off x="0" y="93980"/>
            <a:ext cx="8961120" cy="1415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Abundance estimation in CLOSED POPULATIONS </a:t>
            </a:r>
            <a:endParaRPr lang="en-US" sz="20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Modified L-P estimator (</a:t>
            </a:r>
            <a:r>
              <a:rPr lang="en-US" sz="2000" b="1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Chapman estimator</a:t>
            </a:r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)</a:t>
            </a:r>
            <a:endParaRPr lang="en-US" sz="20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封闭种群的丰度估计 </a:t>
            </a:r>
            <a:endParaRPr lang="en-US" sz="20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修正的 L-P 估算</a:t>
            </a:r>
            <a:r>
              <a:rPr lang="zh-CN" alt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法</a:t>
            </a:r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（</a:t>
            </a:r>
            <a:r>
              <a:rPr lang="en-US" sz="2000" b="1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查普曼估算</a:t>
            </a:r>
            <a:r>
              <a:rPr lang="zh-CN" altLang="en-US" sz="2000" b="1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法</a:t>
            </a:r>
            <a:r>
              <a:rPr lang="en-US" sz="2000" b="1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）</a:t>
            </a:r>
            <a:endParaRPr lang="en-US" sz="2000" b="1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endParaRPr lang="en-US" sz="20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10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0" name="Text Box 10"/>
          <p:cNvSpPr txBox="1">
            <a:spLocks noChangeArrowheads="1"/>
          </p:cNvSpPr>
          <p:nvPr/>
        </p:nvSpPr>
        <p:spPr bwMode="auto">
          <a:xfrm>
            <a:off x="405765" y="1750060"/>
            <a:ext cx="8525510" cy="33172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Design: visit site multiple times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mark all animals during first visit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subsequent visits – mark all the unmarked animals (no unique marks needed)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采样设计：在样地进行多次采样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第一次采样时标记所有动物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后继采样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—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标记所有之前未标记的动物（不需要唯一标记）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1" y="304800"/>
            <a:ext cx="8961121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Abundance estimation in CLOSED POPULATIONS </a:t>
            </a:r>
            <a:endParaRPr lang="en-US" sz="20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000" b="1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Schnabel Estimator</a:t>
            </a:r>
            <a:endParaRPr lang="en-US" sz="2000" b="1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封闭种群的丰度估计 </a:t>
            </a:r>
            <a:endParaRPr lang="en-US" sz="20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000" b="1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施纳贝尔估算</a:t>
            </a:r>
            <a:r>
              <a:rPr lang="zh-CN" altLang="en-US" sz="2000" b="1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法</a:t>
            </a:r>
            <a:endParaRPr lang="en-US" sz="2000" b="1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1" y="304800"/>
            <a:ext cx="8961121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Abundance estimation in CLOSED POPULATIONS </a:t>
            </a:r>
            <a:endParaRPr lang="en-US" sz="20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000" b="1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Schnabel Estimator</a:t>
            </a:r>
            <a:endParaRPr lang="en-US" sz="2000" b="1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封闭种群的丰度估计 </a:t>
            </a:r>
            <a:endParaRPr lang="en-US" sz="20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000" b="1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施纳贝尔估算</a:t>
            </a:r>
            <a:r>
              <a:rPr lang="zh-CN" altLang="en-US" sz="2000" b="1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法</a:t>
            </a:r>
            <a:endParaRPr lang="en-US" sz="2000" b="1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9246" y="1672890"/>
            <a:ext cx="8525507" cy="230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C</a:t>
            </a:r>
            <a:r>
              <a:rPr kumimoji="0" lang="en-US" altLang="en-US" b="1" i="0" u="none" strike="noStrike" cap="none" normalizeH="0" baseline="-2500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 = Total number of individuals captured during visit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 t</a:t>
            </a:r>
            <a:endParaRPr kumimoji="0" lang="en-US" altLang="en-US" b="0" i="1" u="none" strike="noStrike" cap="none" normalizeH="0" baseline="0" dirty="0">
              <a:ln>
                <a:noFill/>
              </a:ln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R</a:t>
            </a:r>
            <a:r>
              <a:rPr kumimoji="0" lang="en-US" altLang="en-US" b="1" i="0" u="none" strike="noStrike" cap="none" normalizeH="0" baseline="-2500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 = Number of previously-marked individuals (Recaptures) captured in visit 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 (the remainder of individuals captured in visit 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 must be given a new mark)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M</a:t>
            </a:r>
            <a:r>
              <a:rPr lang="en-US" altLang="en-US" b="1" baseline="-25000" dirty="0">
                <a:solidFill>
                  <a:srgbClr val="FF0000"/>
                </a:solidFill>
                <a:cs typeface="Arial" panose="020B0604020202020204" pitchFamily="34" charset="0"/>
              </a:rPr>
              <a:t>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= Total number of marked animals in the population just before the 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effectLst/>
                <a:cs typeface="Arial" panose="020B0604020202020204" pitchFamily="34" charset="0"/>
              </a:rPr>
              <a:t>t</a:t>
            </a:r>
            <a:r>
              <a:rPr kumimoji="0" lang="en-US" altLang="en-US" b="0" i="1" u="none" strike="noStrike" cap="none" normalizeH="0" baseline="30000" dirty="0" err="1">
                <a:ln>
                  <a:noFill/>
                </a:ln>
                <a:effectLst/>
                <a:cs typeface="Arial" panose="020B0604020202020204" pitchFamily="34" charset="0"/>
              </a:rPr>
              <a:t>th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 site visit.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  <a:sym typeface="+mn-ea"/>
              </a:rPr>
              <a:t>C</a:t>
            </a:r>
            <a:r>
              <a:rPr lang="en-US" altLang="en-US" b="1" baseline="-2500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  <a:sym typeface="+mn-ea"/>
              </a:rPr>
              <a:t>t</a:t>
            </a:r>
            <a:r>
              <a:rPr lang="en-US" altLang="en-US" dirty="0">
                <a:ln>
                  <a:noFill/>
                </a:ln>
                <a:effectLst/>
                <a:cs typeface="Arial" panose="020B0604020202020204" pitchFamily="34" charset="0"/>
                <a:sym typeface="+mn-ea"/>
              </a:rPr>
              <a:t>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= 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采样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期间捕获的个体总数 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  <a:sym typeface="+mn-ea"/>
              </a:rPr>
              <a:t>R</a:t>
            </a:r>
            <a:r>
              <a:rPr lang="en-US" altLang="en-US" b="1" baseline="-2500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  <a:sym typeface="+mn-ea"/>
              </a:rPr>
              <a:t>t</a:t>
            </a:r>
            <a:r>
              <a:rPr lang="en-US" altLang="en-US" dirty="0">
                <a:ln>
                  <a:noFill/>
                </a:ln>
                <a:effectLst/>
                <a:cs typeface="Arial" panose="020B0604020202020204" pitchFamily="34" charset="0"/>
                <a:sym typeface="+mn-ea"/>
              </a:rPr>
              <a:t>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= 在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采样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期间捕获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到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的先前标记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的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个体</a:t>
            </a:r>
            <a:r>
              <a:rPr lang="en-US" altLang="en-US" dirty="0">
                <a:ln>
                  <a:noFill/>
                </a:ln>
                <a:effectLst/>
                <a:cs typeface="Arial" panose="020B0604020202020204" pitchFamily="34" charset="0"/>
                <a:sym typeface="+mn-ea"/>
              </a:rPr>
              <a:t>（再</a:t>
            </a:r>
            <a:r>
              <a:rPr lang="zh-CN" altLang="en-US" dirty="0">
                <a:ln>
                  <a:noFill/>
                </a:ln>
                <a:effectLst/>
                <a:cs typeface="Arial" panose="020B0604020202020204" pitchFamily="34" charset="0"/>
                <a:sym typeface="+mn-ea"/>
              </a:rPr>
              <a:t>捕获</a:t>
            </a:r>
            <a:r>
              <a:rPr lang="en-US" altLang="en-US" dirty="0">
                <a:ln>
                  <a:noFill/>
                </a:ln>
                <a:effectLst/>
                <a:cs typeface="Arial" panose="020B0604020202020204" pitchFamily="34" charset="0"/>
                <a:sym typeface="+mn-ea"/>
              </a:rPr>
              <a:t>）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数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量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（在第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 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次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采样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中捕获的其余个体必须重新标记）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  <a:sym typeface="+mn-ea"/>
              </a:rPr>
              <a:t>M</a:t>
            </a:r>
            <a:r>
              <a:rPr lang="en-US" altLang="en-US" b="1" baseline="-25000" dirty="0">
                <a:solidFill>
                  <a:srgbClr val="FF0000"/>
                </a:solidFill>
                <a:cs typeface="Arial" panose="020B0604020202020204" pitchFamily="34" charset="0"/>
                <a:sym typeface="+mn-ea"/>
              </a:rPr>
              <a:t>t</a:t>
            </a:r>
            <a:r>
              <a:rPr lang="en-US" altLang="en-US" b="1" dirty="0">
                <a:ln>
                  <a:noFill/>
                </a:ln>
                <a:effectLst/>
                <a:cs typeface="Arial" panose="020B0604020202020204" pitchFamily="34" charset="0"/>
                <a:sym typeface="+mn-ea"/>
              </a:rPr>
              <a:t>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= 在第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 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次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采样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之前，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该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种群中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已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标记的动物总数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05910" y="4119404"/>
                <a:ext cx="2045625" cy="9058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910" y="4119404"/>
                <a:ext cx="2045625" cy="905825"/>
              </a:xfrm>
              <a:prstGeom prst="rect">
                <a:avLst/>
              </a:prstGeom>
              <a:blipFill rotWithShape="1">
                <a:blip r:embed="rId1"/>
                <a:stretch>
                  <a:fillRect l="-7" t="-18" r="-3300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05909" y="5226310"/>
                <a:ext cx="3903889" cy="968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acc>
                                <m:acc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acc>
                            </m:den>
                          </m:f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))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909" y="5226310"/>
                <a:ext cx="3903889" cy="968150"/>
              </a:xfrm>
              <a:prstGeom prst="rect">
                <a:avLst/>
              </a:prstGeom>
              <a:blipFill rotWithShape="1">
                <a:blip r:embed="rId2"/>
                <a:stretch>
                  <a:fillRect l="-4" t="-27" r="-3658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rrow: Right 8"/>
          <p:cNvSpPr/>
          <p:nvPr/>
        </p:nvSpPr>
        <p:spPr>
          <a:xfrm>
            <a:off x="2834640" y="4360967"/>
            <a:ext cx="822960" cy="42269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145280" y="4163152"/>
            <a:ext cx="4617720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 varies by sampling occasion, so N is basically a weighted average of L-P estimates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 因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不同采样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而异，因此 N 基本上是 L-P 估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算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的加权平均值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576320" y="5704661"/>
                <a:ext cx="5381538" cy="10911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𝟗𝟓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%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𝑪𝑰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𝒐𝒇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𝟗𝟔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∗ </m:t>
                      </m:r>
                      <m:rad>
                        <m:radPr>
                          <m:degHide m:val="on"/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𝑽𝒂𝒓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𝑵</m:t>
                              </m:r>
                            </m:den>
                          </m:f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rad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6320" y="5704661"/>
                <a:ext cx="5381538" cy="1091196"/>
              </a:xfrm>
              <a:prstGeom prst="rect">
                <a:avLst/>
              </a:prstGeom>
              <a:blipFill rotWithShape="1">
                <a:blip r:embed="rId3"/>
                <a:stretch>
                  <a:fillRect t="-42" r="-3140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4" grpId="0"/>
      <p:bldP spid="5" grpId="0"/>
      <p:bldP spid="9" grpId="0" bldLvl="0" animBg="1"/>
      <p:bldP spid="11" grpId="0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307563" y="5777588"/>
                <a:ext cx="8528873" cy="9089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110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95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110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105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180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587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63" y="5777588"/>
                <a:ext cx="8528873" cy="908967"/>
              </a:xfrm>
              <a:prstGeom prst="rect">
                <a:avLst/>
              </a:prstGeom>
              <a:blipFill rotWithShape="1">
                <a:blip r:embed="rId1"/>
                <a:stretch>
                  <a:fillRect l="-3" t="-39" r="-814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757678" y="3933825"/>
          <a:ext cx="544576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91"/>
                <a:gridCol w="1034694"/>
                <a:gridCol w="936671"/>
                <a:gridCol w="1089152"/>
                <a:gridCol w="108915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Sampling occasion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Rt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marked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Mt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105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6"/>
          <p:cNvSpPr txBox="1"/>
          <p:nvPr>
            <p:custDataLst>
              <p:tags r:id="rId2"/>
            </p:custDataLst>
          </p:nvPr>
        </p:nvSpPr>
        <p:spPr>
          <a:xfrm>
            <a:off x="-1" y="304800"/>
            <a:ext cx="8961121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Abundance estimation in CLOSED POPULATIONS </a:t>
            </a:r>
            <a:endParaRPr lang="en-US" sz="20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000" b="1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Schnabel Estimator</a:t>
            </a:r>
            <a:endParaRPr lang="en-US" sz="2000" b="1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封闭种群的丰度估计 </a:t>
            </a:r>
            <a:endParaRPr lang="en-US" sz="20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000" b="1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施纳贝尔估算</a:t>
            </a:r>
            <a:r>
              <a:rPr lang="zh-CN" altLang="en-US" sz="2000" b="1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法</a:t>
            </a:r>
            <a:endParaRPr lang="en-US" sz="2000" b="1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Rectangle 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9246" y="1672890"/>
            <a:ext cx="8525507" cy="230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C</a:t>
            </a:r>
            <a:r>
              <a:rPr kumimoji="0" lang="en-US" altLang="en-US" b="1" i="0" u="none" strike="noStrike" cap="none" normalizeH="0" baseline="-2500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 = Total number of individuals captured during visit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 t</a:t>
            </a:r>
            <a:endParaRPr kumimoji="0" lang="en-US" altLang="en-US" b="0" i="1" u="none" strike="noStrike" cap="none" normalizeH="0" baseline="0" dirty="0">
              <a:ln>
                <a:noFill/>
              </a:ln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R</a:t>
            </a:r>
            <a:r>
              <a:rPr kumimoji="0" lang="en-US" altLang="en-US" b="1" i="0" u="none" strike="noStrike" cap="none" normalizeH="0" baseline="-2500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 = Number of previously-marked individuals (Recaptures) captured in visit 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 (the remainder of individuals captured in visit 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 must be given a new mark)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M</a:t>
            </a:r>
            <a:r>
              <a:rPr lang="en-US" altLang="en-US" b="1" baseline="-25000" dirty="0">
                <a:solidFill>
                  <a:srgbClr val="FF0000"/>
                </a:solidFill>
                <a:cs typeface="Arial" panose="020B0604020202020204" pitchFamily="34" charset="0"/>
              </a:rPr>
              <a:t>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= Total number of marked animals in the population just before the 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effectLst/>
                <a:cs typeface="Arial" panose="020B0604020202020204" pitchFamily="34" charset="0"/>
              </a:rPr>
              <a:t>t</a:t>
            </a:r>
            <a:r>
              <a:rPr kumimoji="0" lang="en-US" altLang="en-US" b="0" i="1" u="none" strike="noStrike" cap="none" normalizeH="0" baseline="30000" dirty="0" err="1">
                <a:ln>
                  <a:noFill/>
                </a:ln>
                <a:effectLst/>
                <a:cs typeface="Arial" panose="020B0604020202020204" pitchFamily="34" charset="0"/>
              </a:rPr>
              <a:t>th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 site visit.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  <a:sym typeface="+mn-ea"/>
              </a:rPr>
              <a:t>C</a:t>
            </a:r>
            <a:r>
              <a:rPr lang="en-US" altLang="en-US" b="1" baseline="-2500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  <a:sym typeface="+mn-ea"/>
              </a:rPr>
              <a:t>t</a:t>
            </a:r>
            <a:r>
              <a:rPr lang="en-US" altLang="en-US" dirty="0">
                <a:ln>
                  <a:noFill/>
                </a:ln>
                <a:effectLst/>
                <a:cs typeface="Arial" panose="020B0604020202020204" pitchFamily="34" charset="0"/>
                <a:sym typeface="+mn-ea"/>
              </a:rPr>
              <a:t>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= 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采样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期间捕获的个体总数 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  <a:sym typeface="+mn-ea"/>
              </a:rPr>
              <a:t>R</a:t>
            </a:r>
            <a:r>
              <a:rPr lang="en-US" altLang="en-US" b="1" baseline="-25000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  <a:sym typeface="+mn-ea"/>
              </a:rPr>
              <a:t>t</a:t>
            </a:r>
            <a:r>
              <a:rPr lang="en-US" altLang="en-US" dirty="0">
                <a:ln>
                  <a:noFill/>
                </a:ln>
                <a:effectLst/>
                <a:cs typeface="Arial" panose="020B0604020202020204" pitchFamily="34" charset="0"/>
                <a:sym typeface="+mn-ea"/>
              </a:rPr>
              <a:t>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= 在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采样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期间捕获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到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的先前标记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的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个体</a:t>
            </a:r>
            <a:r>
              <a:rPr lang="en-US" altLang="en-US" dirty="0">
                <a:ln>
                  <a:noFill/>
                </a:ln>
                <a:effectLst/>
                <a:cs typeface="Arial" panose="020B0604020202020204" pitchFamily="34" charset="0"/>
                <a:sym typeface="+mn-ea"/>
              </a:rPr>
              <a:t>（再</a:t>
            </a:r>
            <a:r>
              <a:rPr lang="zh-CN" altLang="en-US" dirty="0">
                <a:ln>
                  <a:noFill/>
                </a:ln>
                <a:effectLst/>
                <a:cs typeface="Arial" panose="020B0604020202020204" pitchFamily="34" charset="0"/>
                <a:sym typeface="+mn-ea"/>
              </a:rPr>
              <a:t>捕获</a:t>
            </a:r>
            <a:r>
              <a:rPr lang="en-US" altLang="en-US" dirty="0">
                <a:ln>
                  <a:noFill/>
                </a:ln>
                <a:effectLst/>
                <a:cs typeface="Arial" panose="020B0604020202020204" pitchFamily="34" charset="0"/>
                <a:sym typeface="+mn-ea"/>
              </a:rPr>
              <a:t>）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数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量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（在第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 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次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采样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中捕获的其余个体必须重新标记）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  <a:sym typeface="+mn-ea"/>
              </a:rPr>
              <a:t>M</a:t>
            </a:r>
            <a:r>
              <a:rPr lang="en-US" altLang="en-US" b="1" baseline="-25000" dirty="0">
                <a:solidFill>
                  <a:srgbClr val="FF0000"/>
                </a:solidFill>
                <a:cs typeface="Arial" panose="020B0604020202020204" pitchFamily="34" charset="0"/>
                <a:sym typeface="+mn-ea"/>
              </a:rPr>
              <a:t>t</a:t>
            </a:r>
            <a:r>
              <a:rPr lang="en-US" altLang="en-US" b="1" dirty="0">
                <a:ln>
                  <a:noFill/>
                </a:ln>
                <a:effectLst/>
                <a:cs typeface="Arial" panose="020B0604020202020204" pitchFamily="34" charset="0"/>
                <a:sym typeface="+mn-ea"/>
              </a:rPr>
              <a:t>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= 在第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 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次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采样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之前，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该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种群中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已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标记的动物总数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812800"/>
            <a:ext cx="8353425" cy="49149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1800" dirty="0"/>
              <a:t>Population is “closed”: between sessions, no animals leave or enter study area, are born, or die </a:t>
            </a:r>
            <a:endParaRPr lang="en-US" sz="1800" dirty="0"/>
          </a:p>
          <a:p>
            <a:pPr eaLnBrk="1" hangingPunct="1">
              <a:lnSpc>
                <a:spcPct val="90000"/>
              </a:lnSpc>
            </a:pPr>
            <a:r>
              <a:rPr lang="en-US" sz="1800" dirty="0"/>
              <a:t>All individuals have equal probability of being captured</a:t>
            </a:r>
            <a:endParaRPr lang="en-US" sz="1800" dirty="0"/>
          </a:p>
          <a:p>
            <a:pPr eaLnBrk="1" hangingPunct="1">
              <a:lnSpc>
                <a:spcPct val="90000"/>
              </a:lnSpc>
            </a:pPr>
            <a:r>
              <a:rPr lang="en-US" sz="1800" dirty="0"/>
              <a:t>No effect of marking on probability of recapture or survival</a:t>
            </a:r>
            <a:endParaRPr lang="en-US" sz="1800" dirty="0"/>
          </a:p>
          <a:p>
            <a:pPr eaLnBrk="1" hangingPunct="1">
              <a:lnSpc>
                <a:spcPct val="90000"/>
              </a:lnSpc>
            </a:pPr>
            <a:r>
              <a:rPr lang="en-US" sz="1800" dirty="0"/>
              <a:t>Mixing of marked and unmarked individuals</a:t>
            </a:r>
            <a:endParaRPr lang="en-US" sz="1800" dirty="0"/>
          </a:p>
          <a:p>
            <a:pPr eaLnBrk="1" hangingPunct="1">
              <a:lnSpc>
                <a:spcPct val="90000"/>
              </a:lnSpc>
            </a:pPr>
            <a:r>
              <a:rPr lang="en-US" sz="1800" dirty="0"/>
              <a:t>Marks are not lost</a:t>
            </a:r>
            <a:endParaRPr lang="en-US" sz="1800" dirty="0"/>
          </a:p>
          <a:p>
            <a:pPr eaLnBrk="1" hangingPunct="1">
              <a:lnSpc>
                <a:spcPct val="90000"/>
              </a:lnSpc>
            </a:pPr>
            <a:r>
              <a:rPr lang="en-US" sz="1800" dirty="0"/>
              <a:t>种群是“封闭”的</a:t>
            </a:r>
            <a:r>
              <a:rPr lang="zh-CN" altLang="en-US" sz="1800" dirty="0"/>
              <a:t>：</a:t>
            </a:r>
            <a:r>
              <a:rPr lang="en-US" sz="1800" dirty="0"/>
              <a:t>在不同采样期间，没有动物离开或进入研究区域，也没有</a:t>
            </a:r>
            <a:r>
              <a:rPr lang="zh-CN" altLang="en-US" sz="1800" dirty="0"/>
              <a:t>动物</a:t>
            </a:r>
            <a:r>
              <a:rPr lang="en-US" sz="1800" dirty="0"/>
              <a:t>出生或死亡</a:t>
            </a:r>
            <a:endParaRPr lang="en-US" sz="1800" dirty="0"/>
          </a:p>
          <a:p>
            <a:pPr eaLnBrk="1" hangingPunct="1">
              <a:lnSpc>
                <a:spcPct val="90000"/>
              </a:lnSpc>
            </a:pPr>
            <a:r>
              <a:rPr lang="en-US" sz="1800" dirty="0"/>
              <a:t>所有个体被捕获的概率相同</a:t>
            </a:r>
            <a:endParaRPr lang="en-US" sz="1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1800" dirty="0"/>
              <a:t>做</a:t>
            </a:r>
            <a:r>
              <a:rPr lang="en-US" sz="1800" dirty="0"/>
              <a:t>标记对重新捕获或存活的概率没有影响</a:t>
            </a:r>
            <a:endParaRPr lang="en-US" sz="1800" dirty="0"/>
          </a:p>
          <a:p>
            <a:pPr eaLnBrk="1" hangingPunct="1">
              <a:lnSpc>
                <a:spcPct val="90000"/>
              </a:lnSpc>
            </a:pPr>
            <a:r>
              <a:rPr lang="en-US" sz="1800" dirty="0"/>
              <a:t>在种群中，</a:t>
            </a:r>
            <a:r>
              <a:rPr lang="zh-CN" altLang="en-US" sz="1800" dirty="0"/>
              <a:t>已</a:t>
            </a:r>
            <a:r>
              <a:rPr lang="en-US" sz="1800" dirty="0"/>
              <a:t>标记和未标记的个体混合在一起</a:t>
            </a:r>
            <a:endParaRPr lang="en-US" sz="1800" dirty="0"/>
          </a:p>
          <a:p>
            <a:pPr eaLnBrk="1" hangingPunct="1">
              <a:lnSpc>
                <a:spcPct val="90000"/>
              </a:lnSpc>
            </a:pPr>
            <a:r>
              <a:rPr lang="en-US" sz="1800" dirty="0"/>
              <a:t>标记不会丢失</a:t>
            </a:r>
            <a:endParaRPr lang="en-US" sz="1800" dirty="0"/>
          </a:p>
        </p:txBody>
      </p:sp>
      <p:pic>
        <p:nvPicPr>
          <p:cNvPr id="164866" name="Picture 4"/>
          <p:cNvPicPr>
            <a:picLocks noChangeAspect="1" noChangeArrowheads="1"/>
          </p:cNvPicPr>
          <p:nvPr/>
        </p:nvPicPr>
        <p:blipFill>
          <a:blip r:embed="rId1" cstate="screen"/>
          <a:srcRect/>
          <a:stretch>
            <a:fillRect/>
          </a:stretch>
        </p:blipFill>
        <p:spPr bwMode="auto">
          <a:xfrm>
            <a:off x="1661795" y="4402455"/>
            <a:ext cx="2834005" cy="2125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4867" name="Picture 5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876800" y="4399280"/>
            <a:ext cx="2844165" cy="2132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0" y="100648"/>
            <a:ext cx="914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Assumptions for the L-P estimator and friends</a:t>
            </a:r>
            <a:endParaRPr lang="en-US" sz="20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林肯-彼得森估计法的假设</a:t>
            </a:r>
            <a:r>
              <a:rPr lang="zh-CN" altLang="en-US" sz="20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条件</a:t>
            </a:r>
            <a:endParaRPr lang="zh-CN" altLang="en-US" sz="20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5E36FFF3-8FBC-2144-A340-2B54F44226F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971550"/>
            <a:ext cx="8353425" cy="5530850"/>
          </a:xfrm>
        </p:spPr>
        <p:txBody>
          <a:bodyPr>
            <a:normAutofit fontScale="55000" lnSpcReduction="10000"/>
          </a:bodyPr>
          <a:lstStyle/>
          <a:p>
            <a:pPr marL="0" indent="0">
              <a:buNone/>
            </a:pPr>
            <a:r>
              <a:rPr lang="en-US" dirty="0"/>
              <a:t>Population is open to one or more of the BIDE processes </a:t>
            </a:r>
            <a:endParaRPr lang="en-US" dirty="0"/>
          </a:p>
          <a:p>
            <a:pPr marL="400050" lvl="1" indent="0">
              <a:buNone/>
            </a:pPr>
            <a:r>
              <a:rPr lang="en-US" i="1" dirty="0"/>
              <a:t>abundance CAN change and attempt to estimate the processes driving abundance change (often, survival rates; emigration and immigration are trickier)</a:t>
            </a:r>
            <a:endParaRPr lang="en-US" i="1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Enables estimation of the drivers of population dynamics over extended time periods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PROGRAM MARK (to date &gt;100 different variations of capture-recapture models have been developed): </a:t>
            </a:r>
            <a:r>
              <a:rPr lang="en-US" dirty="0">
                <a:hlinkClick r:id="rId1"/>
              </a:rPr>
              <a:t>http://www.phidot.org/software/mark/</a:t>
            </a:r>
            <a:r>
              <a:rPr lang="en-US" dirty="0"/>
              <a:t>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种群对于BIDE过程中的一个或多个过程是开放的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i="1" dirty="0"/>
              <a:t>即其丰度</a:t>
            </a:r>
            <a:r>
              <a:rPr lang="en-US" b="1" i="1" dirty="0"/>
              <a:t>可以</a:t>
            </a:r>
            <a:r>
              <a:rPr lang="en-US" i="1" dirty="0"/>
              <a:t>发生变化，并尝试估计驱动丰度变化的过程（通常是存活率；</a:t>
            </a:r>
            <a:r>
              <a:rPr lang="zh-CN" altLang="en-US" i="1" dirty="0"/>
              <a:t>而迁入和迁出</a:t>
            </a:r>
            <a:r>
              <a:rPr lang="en-US" i="1" dirty="0"/>
              <a:t>较为棘手）。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可估算较长时期内种群动态的驱动因素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PROGRAM MARK（迄今已开发了100多种不同的“捕获—再捕获”模型的</a:t>
            </a:r>
            <a:r>
              <a:rPr lang="zh-CN" altLang="en-US" dirty="0"/>
              <a:t>程序</a:t>
            </a:r>
            <a:r>
              <a:rPr lang="en-US" dirty="0"/>
              <a:t>）</a:t>
            </a:r>
            <a:r>
              <a:rPr lang="zh-CN" altLang="en-US" dirty="0"/>
              <a:t>：http://www.phidot.org/software/mark/ </a:t>
            </a:r>
            <a:endParaRPr lang="zh-CN" altLang="en-US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2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100648"/>
            <a:ext cx="9144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Open Populations</a:t>
            </a:r>
            <a:endParaRPr lang="en-US" sz="28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zh-CN" altLang="en-US" sz="28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开放种群</a:t>
            </a:r>
            <a:endParaRPr lang="zh-CN" altLang="en-US" sz="28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5E36FFF3-8FBC-2144-A340-2B54F44226F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65760" y="1946275"/>
            <a:ext cx="8444865" cy="4410075"/>
          </a:xfrm>
        </p:spPr>
        <p:txBody>
          <a:bodyPr>
            <a:normAutofit fontScale="70000"/>
          </a:bodyPr>
          <a:lstStyle/>
          <a:p>
            <a:r>
              <a:rPr lang="en-US" dirty="0"/>
              <a:t>All individuals in population are equally detectable at each sampling occasion (each capture session represents a totally random sample from the population)</a:t>
            </a:r>
            <a:endParaRPr lang="en-US" dirty="0"/>
          </a:p>
          <a:p>
            <a:r>
              <a:rPr lang="en-US" dirty="0"/>
              <a:t>Marks are not lost or missed by surveyors</a:t>
            </a:r>
            <a:endParaRPr lang="en-US" dirty="0"/>
          </a:p>
          <a:p>
            <a:r>
              <a:rPr lang="en-US" dirty="0"/>
              <a:t>All emigration is permanent (equivalent to a mortality)</a:t>
            </a:r>
            <a:endParaRPr lang="en-US" dirty="0"/>
          </a:p>
          <a:p>
            <a:endParaRPr lang="en-US" dirty="0"/>
          </a:p>
          <a:p>
            <a:r>
              <a:rPr lang="en-US" dirty="0"/>
              <a:t>种群中的所有个体在每次采样时都能被</a:t>
            </a:r>
            <a:r>
              <a:rPr lang="zh-CN" altLang="en-US" dirty="0"/>
              <a:t>相</a:t>
            </a:r>
            <a:r>
              <a:rPr lang="en-US" dirty="0"/>
              <a:t>等概率地检测到（每次捕</a:t>
            </a:r>
            <a:r>
              <a:rPr lang="zh-CN" altLang="en-US" dirty="0"/>
              <a:t>获</a:t>
            </a:r>
            <a:r>
              <a:rPr lang="en-US" dirty="0"/>
              <a:t>都是从种群中完全随机</a:t>
            </a:r>
            <a:r>
              <a:rPr lang="zh-CN" altLang="en-US" dirty="0"/>
              <a:t>采集</a:t>
            </a:r>
            <a:r>
              <a:rPr lang="en-US" dirty="0"/>
              <a:t>的样本）</a:t>
            </a:r>
            <a:endParaRPr lang="en-US" dirty="0"/>
          </a:p>
          <a:p>
            <a:r>
              <a:rPr lang="en-US" dirty="0"/>
              <a:t>标记不会</a:t>
            </a:r>
            <a:r>
              <a:rPr lang="zh-CN" altLang="en-US" dirty="0"/>
              <a:t>被</a:t>
            </a:r>
            <a:r>
              <a:rPr lang="en-US" dirty="0"/>
              <a:t>丢失或被调查员遗漏</a:t>
            </a:r>
            <a:endParaRPr lang="en-US" dirty="0"/>
          </a:p>
          <a:p>
            <a:r>
              <a:rPr lang="en-US" dirty="0"/>
              <a:t>所有</a:t>
            </a:r>
            <a:r>
              <a:rPr lang="zh-CN" altLang="en-US" dirty="0"/>
              <a:t>迁出</a:t>
            </a:r>
            <a:r>
              <a:rPr lang="en-US" dirty="0"/>
              <a:t>都是永久性的（相当于死亡）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0" y="100648"/>
            <a:ext cx="9144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Cormack-Jolly-</a:t>
            </a:r>
            <a:r>
              <a:rPr lang="en-US" sz="2400" dirty="0" err="1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Seber</a:t>
            </a:r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 </a:t>
            </a:r>
            <a:endParaRPr lang="en-US" sz="24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Open Population Model</a:t>
            </a:r>
            <a:endParaRPr lang="en-US" sz="24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科马克-乔利-塞伯 </a:t>
            </a:r>
            <a:endParaRPr lang="en-US" sz="24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开放式</a:t>
            </a:r>
            <a:r>
              <a:rPr lang="zh-CN" alt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群落</a:t>
            </a:r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模型</a:t>
            </a:r>
            <a:endParaRPr lang="en-US" sz="24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5E36FFF3-8FBC-2144-A340-2B54F44226F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1441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365760" y="1727200"/>
                <a:ext cx="8444865" cy="5030152"/>
              </a:xfrm>
            </p:spPr>
            <p:txBody>
              <a:bodyPr>
                <a:normAutofit fontScale="60000"/>
              </a:bodyPr>
              <a:lstStyle/>
              <a:p>
                <a:pPr marL="0" indent="0">
                  <a:buNone/>
                </a:pPr>
                <a:r>
                  <a:rPr lang="en-US" dirty="0"/>
                  <a:t>Parameters to be estimated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- </a:t>
                </a:r>
                <a:r>
                  <a:rPr lang="en-US" b="1" u="sng" dirty="0">
                    <a:solidFill>
                      <a:srgbClr val="FF0000"/>
                    </a:solidFill>
                  </a:rPr>
                  <a:t>apparent</a:t>
                </a:r>
                <a:r>
                  <a:rPr lang="en-US" b="1" dirty="0">
                    <a:solidFill>
                      <a:srgbClr val="FF0000"/>
                    </a:solidFill>
                  </a:rPr>
                  <a:t> survival 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𝜱</m:t>
                    </m:r>
                    <m:r>
                      <a:rPr lang="en-US" b="1" i="1" baseline="-25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) </a:t>
                </a:r>
                <a:r>
                  <a:rPr lang="en-US" dirty="0"/>
                  <a:t>– the probability of an animal surviving and remaining in the study area between time </a:t>
                </a:r>
                <a:r>
                  <a:rPr lang="en-US" i="1" dirty="0"/>
                  <a:t>t</a:t>
                </a:r>
                <a:r>
                  <a:rPr lang="en-US" dirty="0"/>
                  <a:t> and </a:t>
                </a:r>
                <a:r>
                  <a:rPr lang="en-US" i="1" dirty="0"/>
                  <a:t>t + 1 </a:t>
                </a:r>
                <a:r>
                  <a:rPr lang="en-US" dirty="0"/>
                  <a:t>(apparent because it cannot distinguish between true mortality and emigration)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- </a:t>
                </a:r>
                <a:r>
                  <a:rPr lang="en-US" b="1" dirty="0">
                    <a:solidFill>
                      <a:srgbClr val="0070C0"/>
                    </a:solidFill>
                  </a:rPr>
                  <a:t>recapture probability (</a:t>
                </a:r>
                <a:r>
                  <a:rPr lang="en-US" b="1" i="1" dirty="0">
                    <a:solidFill>
                      <a:srgbClr val="0070C0"/>
                    </a:solidFill>
                  </a:rPr>
                  <a:t>p</a:t>
                </a:r>
                <a:r>
                  <a:rPr lang="en-US" b="1" i="1" baseline="-25000" dirty="0">
                    <a:solidFill>
                      <a:srgbClr val="0070C0"/>
                    </a:solidFill>
                  </a:rPr>
                  <a:t>t</a:t>
                </a:r>
                <a:r>
                  <a:rPr lang="en-US" b="1" dirty="0">
                    <a:solidFill>
                      <a:srgbClr val="0070C0"/>
                    </a:solidFill>
                  </a:rPr>
                  <a:t>) </a:t>
                </a:r>
                <a:r>
                  <a:rPr lang="en-US" dirty="0"/>
                  <a:t>– the probability of encountering a live animal at time </a:t>
                </a:r>
                <a:r>
                  <a:rPr lang="en-US" i="1" dirty="0"/>
                  <a:t>t</a:t>
                </a:r>
                <a:r>
                  <a:rPr lang="en-US" dirty="0"/>
                  <a:t> (similar to detection probability in occupancy modeling)</a:t>
                </a:r>
                <a:endParaRPr lang="en-US" dirty="0"/>
              </a:p>
              <a:p>
                <a:pPr marL="0" indent="0">
                  <a:buNone/>
                </a:pPr>
                <a:endParaRPr lang="en-US" dirty="0">
                  <a:sym typeface="+mn-ea"/>
                </a:endParaRPr>
              </a:p>
              <a:p>
                <a:pPr marL="0" indent="0">
                  <a:buNone/>
                </a:pPr>
                <a:r>
                  <a:rPr lang="en-US" dirty="0">
                    <a:sym typeface="+mn-ea"/>
                  </a:rPr>
                  <a:t>需要估计的参数：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  <a:sym typeface="+mn-ea"/>
                  </a:rPr>
                  <a:t>—</a:t>
                </a:r>
                <a:r>
                  <a:rPr lang="en-US" b="1" dirty="0">
                    <a:solidFill>
                      <a:srgbClr val="FF0000"/>
                    </a:solidFill>
                    <a:sym typeface="+mn-ea"/>
                  </a:rPr>
                  <a:t>表观</a:t>
                </a:r>
                <a:r>
                  <a:rPr lang="en-US" dirty="0">
                    <a:sym typeface="+mn-ea"/>
                  </a:rPr>
                  <a:t>存活率</a:t>
                </a:r>
                <a:r>
                  <a:rPr lang="zh-CN" altLang="en-US" dirty="0">
                    <a:sym typeface="+mn-ea"/>
                  </a:rPr>
                  <a:t>（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𝜱</m:t>
                    </m:r>
                    <m:r>
                      <a:rPr lang="en-US" b="1" i="1" baseline="-25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zh-CN" altLang="en-US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宋体" panose="02010600030101010101" pitchFamily="2" charset="-122"/>
                  </a:rPr>
                  <a:t>）：</a:t>
                </a:r>
                <a:r>
                  <a:rPr lang="en-US" dirty="0">
                    <a:sym typeface="+mn-ea"/>
                  </a:rPr>
                  <a:t>动物在时间t 和 t + 1 之间在研究</a:t>
                </a:r>
                <a:r>
                  <a:rPr lang="zh-CN" altLang="en-US" dirty="0">
                    <a:sym typeface="+mn-ea"/>
                  </a:rPr>
                  <a:t>区域</a:t>
                </a:r>
                <a:r>
                  <a:rPr lang="en-US" dirty="0">
                    <a:sym typeface="+mn-ea"/>
                  </a:rPr>
                  <a:t>内存活并</a:t>
                </a:r>
                <a:r>
                  <a:rPr lang="zh-CN" altLang="en-US" dirty="0">
                    <a:sym typeface="+mn-ea"/>
                  </a:rPr>
                  <a:t>停留</a:t>
                </a:r>
                <a:r>
                  <a:rPr lang="en-US" dirty="0">
                    <a:sym typeface="+mn-ea"/>
                  </a:rPr>
                  <a:t>的概率（表观存活率无法区分</a:t>
                </a:r>
                <a:r>
                  <a:rPr lang="zh-CN" altLang="en-US" dirty="0">
                    <a:sym typeface="+mn-ea"/>
                  </a:rPr>
                  <a:t>真正的</a:t>
                </a:r>
                <a:r>
                  <a:rPr lang="en-US" dirty="0">
                    <a:sym typeface="+mn-ea"/>
                  </a:rPr>
                  <a:t>死亡和</a:t>
                </a:r>
                <a:r>
                  <a:rPr lang="zh-CN" altLang="en-US" dirty="0">
                    <a:sym typeface="+mn-ea"/>
                  </a:rPr>
                  <a:t>迁出</a:t>
                </a:r>
                <a:r>
                  <a:rPr lang="en-US" dirty="0">
                    <a:sym typeface="+mn-ea"/>
                  </a:rPr>
                  <a:t>）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ym typeface="+mn-ea"/>
                  </a:rPr>
                  <a:t>—</a:t>
                </a:r>
                <a:r>
                  <a:rPr lang="en-US" b="1" dirty="0">
                    <a:solidFill>
                      <a:schemeClr val="accent1"/>
                    </a:solidFill>
                    <a:sym typeface="+mn-ea"/>
                  </a:rPr>
                  <a:t>再捕获概率</a:t>
                </a:r>
                <a:r>
                  <a:rPr lang="zh-CN" altLang="en-US" dirty="0">
                    <a:sym typeface="+mn-ea"/>
                  </a:rPr>
                  <a:t>（</a:t>
                </a:r>
                <a:r>
                  <a:rPr lang="en-US" b="1" i="1" dirty="0">
                    <a:solidFill>
                      <a:srgbClr val="0070C0"/>
                    </a:solidFill>
                    <a:sym typeface="+mn-ea"/>
                  </a:rPr>
                  <a:t>p</a:t>
                </a:r>
                <a:r>
                  <a:rPr lang="en-US" b="1" i="1" baseline="-25000" dirty="0">
                    <a:solidFill>
                      <a:srgbClr val="0070C0"/>
                    </a:solidFill>
                    <a:sym typeface="+mn-ea"/>
                  </a:rPr>
                  <a:t>t</a:t>
                </a:r>
                <a:r>
                  <a:rPr lang="zh-CN" altLang="en-US" dirty="0">
                    <a:sym typeface="+mn-ea"/>
                  </a:rPr>
                  <a:t>）：</a:t>
                </a:r>
                <a:r>
                  <a:rPr lang="en-US" dirty="0">
                    <a:sym typeface="+mn-ea"/>
                  </a:rPr>
                  <a:t>在时间 t 遇到活体动物的概率（类似于</a:t>
                </a:r>
                <a:r>
                  <a:rPr lang="zh-CN" altLang="en-US" dirty="0">
                    <a:sym typeface="+mn-ea"/>
                  </a:rPr>
                  <a:t>占用</a:t>
                </a:r>
                <a:r>
                  <a:rPr lang="en-US" dirty="0">
                    <a:sym typeface="+mn-ea"/>
                  </a:rPr>
                  <a:t>模型中的检测概率） 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61441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365760" y="1727200"/>
                <a:ext cx="8444865" cy="5030152"/>
              </a:xfrm>
              <a:blipFill rotWithShape="1">
                <a:blip r:embed="rId1"/>
                <a:stretch>
                  <a:fillRect b="-114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0" y="100648"/>
            <a:ext cx="9144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Cormack-Jolly-</a:t>
            </a:r>
            <a:r>
              <a:rPr lang="en-US" sz="2400" dirty="0" err="1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Seber</a:t>
            </a:r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 </a:t>
            </a:r>
            <a:endParaRPr lang="en-US" sz="24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Open Population Model</a:t>
            </a:r>
            <a:endParaRPr lang="en-US" sz="24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科马克-乔利-塞伯 </a:t>
            </a:r>
            <a:endParaRPr lang="en-US" sz="24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开放式</a:t>
            </a:r>
            <a:r>
              <a:rPr lang="zh-CN" alt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群落</a:t>
            </a:r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模型</a:t>
            </a:r>
            <a:endParaRPr lang="en-US" sz="24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5E36FFF3-8FBC-2144-A340-2B54F44226F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5E36FFF3-8FBC-2144-A340-2B54F44226F0}" type="slidenum">
              <a:rPr lang="en-US" smtClean="0"/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753829" y="1762873"/>
                <a:ext cx="121148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𝛷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829" y="1762873"/>
                <a:ext cx="1211485" cy="430887"/>
              </a:xfrm>
              <a:prstGeom prst="rect">
                <a:avLst/>
              </a:prstGeom>
              <a:blipFill rotWithShape="1">
                <a:blip r:embed="rId1"/>
                <a:stretch>
                  <a:fillRect l="-28" t="-26" r="-6060" b="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33927" y="1793650"/>
            <a:ext cx="344043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Consider the following model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请看下面的模型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76203" y="1793650"/>
            <a:ext cx="4116705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survival and recapture vary by time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存活率和再捕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获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率因时间而异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2"/>
          <a:srcRect b="82724"/>
          <a:stretch>
            <a:fillRect/>
          </a:stretch>
        </p:blipFill>
        <p:spPr>
          <a:xfrm>
            <a:off x="367644" y="2567548"/>
            <a:ext cx="6690402" cy="8614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21521" y="2567140"/>
            <a:ext cx="2089344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cohort is released and survives and is recaptured with different prob’s each time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一个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特定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群体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被释放后存活下来，并被重新捕获，每次的概率都不同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6"/>
          <p:cNvSpPr txBox="1"/>
          <p:nvPr>
            <p:custDataLst>
              <p:tags r:id="rId3"/>
            </p:custDataLst>
          </p:nvPr>
        </p:nvSpPr>
        <p:spPr>
          <a:xfrm>
            <a:off x="0" y="100648"/>
            <a:ext cx="9144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Cormack-Jolly-</a:t>
            </a:r>
            <a:r>
              <a:rPr lang="en-US" sz="2400" dirty="0" err="1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Seber</a:t>
            </a:r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 </a:t>
            </a:r>
            <a:endParaRPr lang="en-US" sz="24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Open Population Model</a:t>
            </a:r>
            <a:endParaRPr lang="en-US" sz="24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科马克-乔利-塞伯 </a:t>
            </a:r>
            <a:endParaRPr lang="en-US" sz="24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开放式</a:t>
            </a:r>
            <a:r>
              <a:rPr lang="zh-CN" alt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群落</a:t>
            </a:r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模型</a:t>
            </a:r>
            <a:endParaRPr lang="en-US" sz="24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753829" y="1620633"/>
                <a:ext cx="121148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𝛷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829" y="1620633"/>
                <a:ext cx="1211485" cy="430887"/>
              </a:xfrm>
              <a:prstGeom prst="rect">
                <a:avLst/>
              </a:prstGeom>
              <a:blipFill rotWithShape="1">
                <a:blip r:embed="rId1"/>
                <a:stretch>
                  <a:fillRect l="-28" t="-26" r="-6060" b="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33927" y="1651410"/>
            <a:ext cx="344043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Consider the following model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请看下面的模型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76203" y="1651410"/>
            <a:ext cx="411670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survival and recapture vary by time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存活率和再捕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获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率因时间而异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85" y="2392680"/>
            <a:ext cx="5969000" cy="444881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72835" y="2537460"/>
            <a:ext cx="292417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animals are marked and released into the population each subsequent survey, aka new ‘cohorts’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每次调查都会有更多的动物被标记并放归种群，也就是新的“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特定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群体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”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have 6 estimates for survival and 6 for recapture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我们有 6 个存活率估计数和 6 个重新捕获率估计数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6"/>
          <p:cNvSpPr txBox="1"/>
          <p:nvPr>
            <p:custDataLst>
              <p:tags r:id="rId3"/>
            </p:custDataLst>
          </p:nvPr>
        </p:nvSpPr>
        <p:spPr>
          <a:xfrm>
            <a:off x="0" y="100648"/>
            <a:ext cx="9144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Cormack-Jolly-</a:t>
            </a:r>
            <a:r>
              <a:rPr lang="en-US" sz="2400" dirty="0" err="1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Seber</a:t>
            </a:r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 </a:t>
            </a:r>
            <a:endParaRPr lang="en-US" sz="24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Open Population Model</a:t>
            </a:r>
            <a:endParaRPr lang="en-US" sz="24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科马克-乔利-塞伯 </a:t>
            </a:r>
            <a:endParaRPr lang="en-US" sz="24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开放式</a:t>
            </a:r>
            <a:r>
              <a:rPr lang="zh-CN" alt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群落</a:t>
            </a:r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模型</a:t>
            </a:r>
            <a:endParaRPr lang="en-US" sz="24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753829" y="1640953"/>
                <a:ext cx="108991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𝛷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829" y="1640953"/>
                <a:ext cx="1089914" cy="430887"/>
              </a:xfrm>
              <a:prstGeom prst="rect">
                <a:avLst/>
              </a:prstGeom>
              <a:blipFill rotWithShape="1">
                <a:blip r:embed="rId1"/>
                <a:stretch>
                  <a:fillRect l="-32" t="-26" r="-6587" b="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33927" y="1671730"/>
            <a:ext cx="344043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Consider the following model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请看下面的模型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76203" y="1671730"/>
            <a:ext cx="408432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recapture DOES NOT vary by time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再捕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获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率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不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因时间而异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356235" y="2378710"/>
            <a:ext cx="5972810" cy="4451985"/>
            <a:chOff x="261599" y="1871588"/>
            <a:chExt cx="6690402" cy="4986412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1599" y="1871588"/>
              <a:ext cx="6690402" cy="4986412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2413907" y="2574471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230336" y="2566306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046765" y="2574471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4893129" y="2566305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709558" y="2574471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525987" y="2566304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230336" y="3348717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046765" y="3357636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893129" y="3357636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709558" y="3357636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525987" y="3357636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046765" y="4164088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893129" y="4164088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709558" y="4164088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525987" y="4155923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871358" y="4945138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709558" y="4945137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524002" y="4954210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709558" y="5741003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525987" y="5729208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524002" y="6527495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673850" y="2446020"/>
            <a:ext cx="233426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many survival and recapture estimates?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存活率和重新捕获率的估计值有多少个呢？</a:t>
            </a:r>
            <a:endParaRPr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endParaRPr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Still 6 estimates for survival, but only 1 for recapture (constant recapture prob through time)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存活率仍有 6 个估计值，但重捕率只有 1 个估计值（因为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重捕率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在时间上保持不变）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6"/>
          <p:cNvSpPr txBox="1"/>
          <p:nvPr>
            <p:custDataLst>
              <p:tags r:id="rId3"/>
            </p:custDataLst>
          </p:nvPr>
        </p:nvSpPr>
        <p:spPr>
          <a:xfrm>
            <a:off x="0" y="100648"/>
            <a:ext cx="9144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Cormack-Jolly-</a:t>
            </a:r>
            <a:r>
              <a:rPr lang="en-US" sz="2400" dirty="0" err="1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Seber</a:t>
            </a:r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 </a:t>
            </a:r>
            <a:endParaRPr lang="en-US" sz="24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Open Population Model</a:t>
            </a:r>
            <a:endParaRPr lang="en-US" sz="24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科马克-乔利-塞伯 </a:t>
            </a:r>
            <a:endParaRPr lang="en-US" sz="24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开放式</a:t>
            </a:r>
            <a:r>
              <a:rPr lang="zh-CN" alt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群落</a:t>
            </a:r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模型</a:t>
            </a:r>
            <a:endParaRPr lang="en-US" sz="24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753829" y="1579993"/>
                <a:ext cx="98020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𝛷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829" y="1579993"/>
                <a:ext cx="980205" cy="430887"/>
              </a:xfrm>
              <a:prstGeom prst="rect">
                <a:avLst/>
              </a:prstGeom>
              <a:blipFill rotWithShape="1">
                <a:blip r:embed="rId1"/>
                <a:stretch>
                  <a:fillRect l="-35" t="-26" r="-6467" b="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33927" y="1610770"/>
            <a:ext cx="344043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Consider the following model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请看下面的模型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76203" y="1610770"/>
            <a:ext cx="382016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neither parameter varies by time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两个参数都不随时间变化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3" name="Group 52"/>
          <p:cNvGrpSpPr/>
          <p:nvPr/>
        </p:nvGrpSpPr>
        <p:grpSpPr>
          <a:xfrm>
            <a:off x="419735" y="2230120"/>
            <a:ext cx="7092674" cy="4531139"/>
            <a:chOff x="-1171157" y="1684361"/>
            <a:chExt cx="7833216" cy="5003699"/>
          </a:xfrm>
        </p:grpSpPr>
        <p:grpSp>
          <p:nvGrpSpPr>
            <p:cNvPr id="29" name="Group 28"/>
            <p:cNvGrpSpPr/>
            <p:nvPr/>
          </p:nvGrpSpPr>
          <p:grpSpPr>
            <a:xfrm>
              <a:off x="-1171157" y="1684361"/>
              <a:ext cx="7833216" cy="5003699"/>
              <a:chOff x="-1171157" y="1684361"/>
              <a:chExt cx="7833216" cy="5003699"/>
            </a:xfrm>
          </p:grpSpPr>
          <p:pic>
            <p:nvPicPr>
              <p:cNvPr id="16" name="Picture 1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171157" y="1684361"/>
                <a:ext cx="6690402" cy="4986412"/>
              </a:xfrm>
              <a:prstGeom prst="rect">
                <a:avLst/>
              </a:prstGeom>
            </p:spPr>
          </p:pic>
          <p:sp>
            <p:nvSpPr>
              <p:cNvPr id="3" name="Rectangle 2"/>
              <p:cNvSpPr/>
              <p:nvPr/>
            </p:nvSpPr>
            <p:spPr>
              <a:xfrm>
                <a:off x="2413907" y="2574471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 3"/>
              <p:cNvSpPr/>
              <p:nvPr/>
            </p:nvSpPr>
            <p:spPr>
              <a:xfrm>
                <a:off x="3230336" y="2566306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/>
              <p:cNvSpPr/>
              <p:nvPr/>
            </p:nvSpPr>
            <p:spPr>
              <a:xfrm>
                <a:off x="4046765" y="2574471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4893129" y="2566305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5709558" y="2574471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6525987" y="2566304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3230336" y="3348717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4046765" y="3357636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4893129" y="3357636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5709558" y="3357636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6525987" y="3357636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4046765" y="4164088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4893129" y="4164088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5709558" y="4164088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6525987" y="4155923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4871358" y="4945138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5709558" y="4945137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6524002" y="4954210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5709558" y="5741003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6525987" y="5729208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6524002" y="6527495"/>
                <a:ext cx="136072" cy="160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" name="Rectangle 1"/>
            <p:cNvSpPr/>
            <p:nvPr/>
          </p:nvSpPr>
          <p:spPr>
            <a:xfrm>
              <a:off x="2007507" y="2086428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829379" y="2086427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651251" y="2054678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479754" y="2054678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288643" y="2054678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120322" y="2054678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651251" y="2880178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479754" y="2857499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5288643" y="2857499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120322" y="2857499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837543" y="2857499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651251" y="3656693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479754" y="3679372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5288643" y="3656692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120322" y="3679371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479754" y="4446813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288643" y="4446813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120322" y="4446813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283839" y="5236934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120322" y="5236934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120322" y="6047467"/>
              <a:ext cx="136072" cy="16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477635" y="2487295"/>
            <a:ext cx="265747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many survival and recapture estimates?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存活率和重新捕获率的估计值有多少个呢？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Only 1 estimate for survival and only 1 for recapture (constant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surv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recapture prob through time)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只有 1 个存活率估计值和 1 个重捕率估计值（存活率和重捕率在不同时期保持不变）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6"/>
          <p:cNvSpPr txBox="1"/>
          <p:nvPr>
            <p:custDataLst>
              <p:tags r:id="rId3"/>
            </p:custDataLst>
          </p:nvPr>
        </p:nvSpPr>
        <p:spPr>
          <a:xfrm>
            <a:off x="0" y="100648"/>
            <a:ext cx="9144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Cormack-Jolly-</a:t>
            </a:r>
            <a:r>
              <a:rPr lang="en-US" sz="2400" dirty="0" err="1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Seber</a:t>
            </a:r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 </a:t>
            </a:r>
            <a:endParaRPr lang="en-US" sz="24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</a:rPr>
              <a:t>Open Population Model</a:t>
            </a:r>
            <a:endParaRPr lang="en-US" sz="24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科马克-乔利-塞伯 </a:t>
            </a:r>
            <a:endParaRPr lang="en-US" sz="24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开放式</a:t>
            </a:r>
            <a:r>
              <a:rPr lang="zh-CN" alt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群落</a:t>
            </a:r>
            <a:r>
              <a:rPr lang="en-US" sz="2400" dirty="0">
                <a:solidFill>
                  <a:srgbClr val="000090"/>
                </a:solidFill>
                <a:latin typeface="Arial" panose="020B0604020202020204"/>
                <a:cs typeface="Arial" panose="020B0604020202020204"/>
                <a:sym typeface="+mn-ea"/>
              </a:rPr>
              <a:t>模型</a:t>
            </a:r>
            <a:endParaRPr lang="en-US" sz="2400" dirty="0">
              <a:solidFill>
                <a:srgbClr val="000090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commondata" val="eyJoZGlkIjoiM2MwZTM1NDgyZTEzMGYwNDQyOTIwZWQ0YmNlZDc4ZDA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12716</Words>
  <Application>WPS 演示</Application>
  <PresentationFormat>On-screen Show (4:3)</PresentationFormat>
  <Paragraphs>651</Paragraphs>
  <Slides>32</Slides>
  <Notes>28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4" baseType="lpstr">
      <vt:lpstr>Arial</vt:lpstr>
      <vt:lpstr>宋体</vt:lpstr>
      <vt:lpstr>Wingdings</vt:lpstr>
      <vt:lpstr>Arial</vt:lpstr>
      <vt:lpstr>MS PGothic</vt:lpstr>
      <vt:lpstr>微软雅黑</vt:lpstr>
      <vt:lpstr>Calibri</vt:lpstr>
      <vt:lpstr>Arial Unicode MS</vt:lpstr>
      <vt:lpstr>Cambria Math</vt:lpstr>
      <vt:lpstr>Office Theme</vt:lpstr>
      <vt:lpstr>Equation.3</vt:lpstr>
      <vt:lpstr>Equation.3</vt:lpstr>
      <vt:lpstr>PowerPoint 演示文稿</vt:lpstr>
      <vt:lpstr>PowerPoint 演示文稿</vt:lpstr>
      <vt:lpstr>Why is estimating population size so challenging? 估计种群大小为什么如此具有挑战性呢？</vt:lpstr>
      <vt:lpstr>PowerPoint 演示文稿</vt:lpstr>
      <vt:lpstr>PowerPoint 演示文稿</vt:lpstr>
      <vt:lpstr>Estimating survival and fecundity using census data 利用普查数据估算存活率和繁殖力</vt:lpstr>
      <vt:lpstr>Estimating survival and fecundity using census data 利用普查数据估算存活率和繁殖力</vt:lpstr>
      <vt:lpstr>Estimating survival and fecundity using census data 利用普查数据估算存活率和繁殖力</vt:lpstr>
      <vt:lpstr>Designing successful sampling to evaluate abundance and density 设计成功的采样方法来评估丰度和密度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University of Victoria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 Baum</dc:creator>
  <cp:lastModifiedBy>WCY</cp:lastModifiedBy>
  <cp:revision>803</cp:revision>
  <dcterms:created xsi:type="dcterms:W3CDTF">2001-01-01T00:04:00Z</dcterms:created>
  <dcterms:modified xsi:type="dcterms:W3CDTF">2024-03-28T07:12:45Z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6BABFFA0A3A345AFBE83409147D7E3D0_13</vt:lpwstr>
  </property>
  <property fmtid="{D5CDD505-2E9C-101B-9397-08002B2CF9AE}" pid="3" name="KSOProductBuildVer">
    <vt:lpwstr>2052-12.1.0.16250</vt:lpwstr>
  </property>
</Properties>
</file>