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1027" r:id="rId2"/>
    <p:sldId id="1115" r:id="rId3"/>
    <p:sldId id="1028" r:id="rId4"/>
    <p:sldId id="1030" r:id="rId5"/>
    <p:sldId id="1077" r:id="rId6"/>
    <p:sldId id="1104" r:id="rId7"/>
    <p:sldId id="1105" r:id="rId8"/>
    <p:sldId id="1103" r:id="rId9"/>
    <p:sldId id="1033" r:id="rId10"/>
    <p:sldId id="1061" r:id="rId11"/>
    <p:sldId id="1066" r:id="rId12"/>
    <p:sldId id="1035" r:id="rId13"/>
    <p:sldId id="1036" r:id="rId14"/>
    <p:sldId id="1069" r:id="rId15"/>
    <p:sldId id="1106" r:id="rId16"/>
    <p:sldId id="1040" r:id="rId17"/>
    <p:sldId id="1116" r:id="rId18"/>
    <p:sldId id="1108" r:id="rId19"/>
    <p:sldId id="1117" r:id="rId20"/>
    <p:sldId id="1107" r:id="rId21"/>
    <p:sldId id="1118" r:id="rId22"/>
    <p:sldId id="1041" r:id="rId23"/>
    <p:sldId id="1109" r:id="rId24"/>
    <p:sldId id="1110" r:id="rId25"/>
    <p:sldId id="1111" r:id="rId26"/>
    <p:sldId id="1112" r:id="rId27"/>
    <p:sldId id="1113" r:id="rId28"/>
    <p:sldId id="111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2" autoAdjust="0"/>
    <p:restoredTop sz="87846" autoAdjust="0"/>
  </p:normalViewPr>
  <p:slideViewPr>
    <p:cSldViewPr snapToGrid="0" snapToObjects="1">
      <p:cViewPr varScale="1">
        <p:scale>
          <a:sx n="97" d="100"/>
          <a:sy n="97" d="100"/>
        </p:scale>
        <p:origin x="228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012AB-719A-D047-945A-B744512AD8F0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4CDD0-CF87-D544-AD12-A932CFF7C1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53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  <a:pPr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272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1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4% had a trend. For more than 95% of ENDANGERED SPECIES in richest country with data/scientists,</a:t>
            </a:r>
            <a:r>
              <a:rPr lang="en-US" baseline="0" dirty="0"/>
              <a:t> no one knew whether the population was growing, shrinking or stable?</a:t>
            </a:r>
          </a:p>
          <a:p>
            <a:r>
              <a:rPr lang="en-US" dirty="0"/>
              <a:t>ACTIVITY:</a:t>
            </a:r>
            <a:r>
              <a:rPr lang="en-US" baseline="0" dirty="0"/>
              <a:t> 2 minutes – to list why – focus on biological reasons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57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OHLONE tiger</a:t>
            </a:r>
            <a:r>
              <a:rPr lang="en-US" baseline="0" dirty="0"/>
              <a:t> beetle – usually blended in grass, even experts have trouble spotting them, let along making an accurate / comprehensive count.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33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90BCC89D-F471-4432-A8AC-B5381F68B9DC}" type="slidenum">
              <a:rPr lang="en-US" sz="1200"/>
              <a:pPr algn="r" eaLnBrk="0" hangingPunct="0"/>
              <a:t>4</a:t>
            </a:fld>
            <a:endParaRPr 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COUNTS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work only for IMMOBILE SPEICES, in LTD. Area with all life stages readily visible. FOR MOST SPEICES CENSUSES are impossible or prohibitively expensive.</a:t>
            </a:r>
          </a:p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Index – e.g. fisheries CPUE,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species that can’t be seen: e.g. vocalizations or footprints, nests, burrows.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2406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91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9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3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23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  <a:pPr algn="r" eaLnBrk="0" hangingPunct="0"/>
              <a:t>9</a:t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75617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  <a:pPr algn="r" eaLnBrk="0" hangingPunct="0"/>
              <a:t>10</a:t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13547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  <a:pPr algn="r" eaLnBrk="0" hangingPunct="0"/>
              <a:t>11</a:t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9572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1E2DA64-9062-46B8-A126-64FB848299CA}" type="slidenum">
              <a:rPr lang="en-US" sz="1200"/>
              <a:pPr algn="r" eaLnBrk="0" hangingPunct="0"/>
              <a:t>12</a:t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  <a:ea typeface="ＭＳ Ｐゴシック"/>
                <a:cs typeface="ＭＳ Ｐゴシック"/>
              </a:rPr>
              <a:t>SOME SIMPLE EXAMPLES OF HOW TO INC.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THESE NON-STANDARD FACTORS INTO MODELS…. </a:t>
            </a:r>
            <a:r>
              <a:rPr lang="en-US" dirty="0">
                <a:latin typeface="Arial" charset="0"/>
                <a:ea typeface="ＭＳ Ｐゴシック"/>
                <a:cs typeface="ＭＳ Ｐゴシック"/>
              </a:rPr>
              <a:t>e.g. if p = 0.5…</a:t>
            </a:r>
          </a:p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30194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2E0B91FE-E9FF-4A59-88F4-751C59B36CF0}" type="slidenum">
              <a:rPr lang="en-US" sz="1200"/>
              <a:pPr algn="r" eaLnBrk="0" hangingPunct="0"/>
              <a:t>13</a:t>
            </a:fld>
            <a:endParaRPr 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0298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  <a:pPr algn="r" eaLnBrk="0" hangingPunct="0"/>
              <a:t>14</a:t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Important tools for estimating N for mobile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speices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….  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intot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whole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populaiton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then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Resampled the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poupplation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recording how many individuals are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579762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  <a:pPr algn="r" eaLnBrk="0" hangingPunct="0"/>
              <a:t>15</a:t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Important tools for estimating N for mobile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speices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….  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intot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whole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populaiton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then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Resampled the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poupplation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recording how many individuals are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658319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16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back into the POPULATION,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RESAMPLES the POPULATIONS, recording how many individuals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Assuming that the proportion of the total population that was marked during the first sampling m/N is = to the proportion that individuals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aptured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during 2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nd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period that were recaptured……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IMPORTANCE of UNDERSTANDING THE DIRECTION OF BIASES – MEANS WE CAN MODEL THEM!!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144678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17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back into the POPULATION,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RESAMPLES the POPULATIONS, recording how many individuals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Assuming that the proportion of the total population that was marked during the first sampling m/N is = to the proportion that individuals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aptured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during 2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nd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period that were recaptured……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IMPORTANCE of UNDERSTANDING THE DIRECTION OF BIASES – MEANS WE CAN MODEL THEM!!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462866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18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15240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19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034813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20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13856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  <a:pPr algn="r" eaLnBrk="0" hangingPunct="0"/>
              <a:t>21</a:t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302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22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Visual detection of tags,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slow individuals down…. 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35735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23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763987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24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20728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25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26913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26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77735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27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8905498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  <a:pPr algn="r" eaLnBrk="0" hangingPunct="0"/>
              <a:t>28</a:t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43524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C832-9B1D-8548-8ACB-A6308B643212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8B5F-3C67-8A4C-BF50-79DE455CDF57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449B-0DCB-0241-99AA-69B77BB31269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9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D7A0-0A8D-F642-B6E6-5FF49FA8FF5E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7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5CE85-4D42-B74A-A599-0999A3C2E1EF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3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B76B-F511-B449-B5E0-132958B7DA32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8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E674-8BE7-A64E-8247-D451412CD411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049B-6296-634C-8D2E-A255FAD8510B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EE1E-39B3-1A4F-852A-37B3222AD97D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7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138E-64CB-5643-AE7A-958A9FF58685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9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22FF-0604-2842-AB88-607F6BED00D1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6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99663-0B9C-0644-8577-F18A9081372D}" type="datetime1">
              <a:rPr lang="en-CA" smtClean="0"/>
              <a:pPr/>
              <a:t>2024-03-22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8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7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idot.org/software/mark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7137"/>
            <a:ext cx="91440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Estimation of population parameters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2F2F2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Abundance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Fecundity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Survival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4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7137"/>
            <a:ext cx="91440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Scientists know how to count, right??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2F2F2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Yet in the U.S. &lt;50% of recovery plans for ESA listed species included an estimate of current population size, N.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75% lacked </a:t>
            </a:r>
            <a:r>
              <a:rPr lang="en-US" sz="2400">
                <a:solidFill>
                  <a:schemeClr val="bg1"/>
                </a:solidFill>
              </a:rPr>
              <a:t>a rigorous </a:t>
            </a:r>
            <a:r>
              <a:rPr lang="en-US" sz="2400" dirty="0">
                <a:solidFill>
                  <a:schemeClr val="bg1"/>
                </a:solidFill>
              </a:rPr>
              <a:t>estimate.</a:t>
            </a:r>
          </a:p>
          <a:p>
            <a:pPr marL="0" indent="0" algn="ctr">
              <a:buNone/>
            </a:pPr>
            <a:endParaRPr lang="en-US" sz="2400" dirty="0">
              <a:solidFill>
                <a:srgbClr val="000090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Why do we know so little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about the size of wild populations,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even when they are of high conservation priority?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1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26311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estimating population size so challenging?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511" y="1497331"/>
            <a:ext cx="8229600" cy="5006974"/>
          </a:xfrm>
        </p:spPr>
        <p:txBody>
          <a:bodyPr>
            <a:normAutofit/>
          </a:bodyPr>
          <a:lstStyle/>
          <a:p>
            <a:r>
              <a:rPr lang="en-US" sz="2400" dirty="0"/>
              <a:t>Expensive</a:t>
            </a:r>
          </a:p>
          <a:p>
            <a:endParaRPr lang="en-US" sz="2400" dirty="0"/>
          </a:p>
          <a:p>
            <a:r>
              <a:rPr lang="en-US" sz="2400" dirty="0"/>
              <a:t>Time consuming</a:t>
            </a:r>
          </a:p>
          <a:p>
            <a:endParaRPr lang="en-US" sz="2400" dirty="0"/>
          </a:p>
          <a:p>
            <a:r>
              <a:rPr lang="en-US" sz="2400" dirty="0"/>
              <a:t>Biological challenges:</a:t>
            </a:r>
          </a:p>
          <a:p>
            <a:pPr lvl="1"/>
            <a:r>
              <a:rPr lang="en-US" sz="2000" b="1" i="1" dirty="0">
                <a:solidFill>
                  <a:srgbClr val="FF0000"/>
                </a:solidFill>
              </a:rPr>
              <a:t>Detectability</a:t>
            </a:r>
            <a:r>
              <a:rPr lang="en-US" sz="2000" i="1" dirty="0"/>
              <a:t>: aquatic species, subterranean spp., elusive spp., cryptic species</a:t>
            </a:r>
          </a:p>
          <a:p>
            <a:pPr lvl="1"/>
            <a:r>
              <a:rPr lang="en-US" sz="2000" i="1" dirty="0"/>
              <a:t>Mobility</a:t>
            </a:r>
          </a:p>
          <a:p>
            <a:pPr lvl="1"/>
            <a:r>
              <a:rPr lang="en-US" sz="2000" i="1" dirty="0"/>
              <a:t>Wide ranging species</a:t>
            </a:r>
          </a:p>
          <a:p>
            <a:pPr lvl="1"/>
            <a:r>
              <a:rPr lang="en-US" sz="2000" i="1" dirty="0"/>
              <a:t>Patchy distributions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KM2e_08.01_fmt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209" y="4367574"/>
            <a:ext cx="3743299" cy="2353901"/>
          </a:xfrm>
          <a:prstGeom prst="rect">
            <a:avLst/>
          </a:prstGeom>
        </p:spPr>
      </p:pic>
      <p:pic>
        <p:nvPicPr>
          <p:cNvPr id="6" name="Picture 4" descr="http://www.carnivoremari.ro/galerie-foto/17-ma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210" y="953054"/>
            <a:ext cx="3743299" cy="248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86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969" y="1417638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768" y="2380177"/>
            <a:ext cx="83450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Arial"/>
                <a:cs typeface="Arial"/>
              </a:rPr>
              <a:t>Census</a:t>
            </a:r>
            <a:r>
              <a:rPr lang="en-US" b="1" dirty="0">
                <a:latin typeface="Arial"/>
                <a:cs typeface="Arial"/>
              </a:rPr>
              <a:t> – </a:t>
            </a:r>
            <a:r>
              <a:rPr lang="en-US" dirty="0">
                <a:latin typeface="Arial"/>
                <a:cs typeface="Arial"/>
              </a:rPr>
              <a:t>All individuals are counted (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perfect detectability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endParaRPr lang="en-US" dirty="0">
              <a:latin typeface="Arial"/>
              <a:cs typeface="Arial"/>
            </a:endParaRPr>
          </a:p>
          <a:p>
            <a:pPr eaLnBrk="1" hangingPunct="1">
              <a:buNone/>
            </a:pPr>
            <a:r>
              <a:rPr lang="en-US" b="1" dirty="0">
                <a:latin typeface="Arial"/>
                <a:cs typeface="Arial"/>
              </a:rPr>
              <a:t>	Abundance</a:t>
            </a:r>
            <a:r>
              <a:rPr lang="en-US" dirty="0">
                <a:latin typeface="Arial"/>
                <a:cs typeface="Arial"/>
              </a:rPr>
              <a:t> = how many individuals (e.g., 100)</a:t>
            </a:r>
          </a:p>
          <a:p>
            <a:pPr eaLnBrk="1" hangingPunct="1"/>
            <a:endParaRPr lang="en-US" dirty="0">
              <a:latin typeface="Arial"/>
              <a:cs typeface="Arial"/>
            </a:endParaRPr>
          </a:p>
          <a:p>
            <a:pPr eaLnBrk="1" hangingPunct="1"/>
            <a:r>
              <a:rPr lang="en-US" b="1" dirty="0">
                <a:latin typeface="Arial"/>
                <a:cs typeface="Arial"/>
              </a:rPr>
              <a:t>	Density</a:t>
            </a:r>
            <a:r>
              <a:rPr lang="en-US" dirty="0">
                <a:latin typeface="Arial"/>
                <a:cs typeface="Arial"/>
              </a:rPr>
              <a:t> = abundance per unit area (e.g., 10/ha)</a:t>
            </a:r>
          </a:p>
          <a:p>
            <a:pPr eaLnBrk="1" hangingPunct="1"/>
            <a:endParaRPr lang="en-US" dirty="0">
              <a:latin typeface="Arial"/>
              <a:cs typeface="Arial"/>
            </a:endParaRPr>
          </a:p>
          <a:p>
            <a:r>
              <a:rPr lang="en-US" i="1" dirty="0">
                <a:latin typeface="Arial"/>
                <a:cs typeface="Arial"/>
              </a:rPr>
              <a:t>	Sample: usually standardized e.g. by time, space, effort:</a:t>
            </a:r>
          </a:p>
          <a:p>
            <a:r>
              <a:rPr lang="en-US" i="1" dirty="0">
                <a:latin typeface="Arial"/>
                <a:cs typeface="Arial"/>
              </a:rPr>
              <a:t>		e.g. catch per unit effort, individuals detected per time or area unit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b="1" u="sng" dirty="0">
                <a:latin typeface="Arial"/>
                <a:cs typeface="Arial"/>
              </a:rPr>
              <a:t>Abundance estimate </a:t>
            </a:r>
            <a:r>
              <a:rPr lang="en-US" b="1" dirty="0">
                <a:latin typeface="Arial"/>
                <a:cs typeface="Arial"/>
              </a:rPr>
              <a:t>– </a:t>
            </a:r>
            <a:r>
              <a:rPr lang="en-US" dirty="0">
                <a:latin typeface="Arial"/>
                <a:cs typeface="Arial"/>
              </a:rPr>
              <a:t>Actual estimate of abundance or density, often by 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accounting for detectability</a:t>
            </a:r>
          </a:p>
          <a:p>
            <a:pPr eaLnBrk="1" hangingPunct="1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b="1" u="sng" dirty="0">
                <a:latin typeface="Arial"/>
                <a:cs typeface="Arial"/>
              </a:rPr>
              <a:t>Abundance Index</a:t>
            </a:r>
            <a:r>
              <a:rPr lang="en-US" b="1" dirty="0">
                <a:latin typeface="Arial"/>
                <a:cs typeface="Arial"/>
              </a:rPr>
              <a:t> – </a:t>
            </a:r>
            <a:r>
              <a:rPr lang="en-US" dirty="0">
                <a:latin typeface="Arial"/>
                <a:cs typeface="Arial"/>
              </a:rPr>
              <a:t>Some measure assumed to be proportional to abundance or density (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relative abundance</a:t>
            </a:r>
            <a:r>
              <a:rPr lang="en-US" dirty="0">
                <a:latin typeface="Arial"/>
                <a:cs typeface="Arial"/>
              </a:rPr>
              <a:t>). 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009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Estimating population size</a:t>
            </a:r>
            <a:endParaRPr lang="en-US" dirty="0"/>
          </a:p>
        </p:txBody>
      </p:sp>
      <p:pic>
        <p:nvPicPr>
          <p:cNvPr id="7" name="Picture 15" descr="shortfinmak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399" y="928688"/>
            <a:ext cx="2130425" cy="29043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4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92" y="-2628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survival and fecundity using census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40C60-028C-78CA-C18F-27D74E1D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92" y="2103120"/>
            <a:ext cx="4488381" cy="4409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7D1F28-F86F-20BA-6092-8BD8995B470D}"/>
              </a:ext>
            </a:extLst>
          </p:cNvPr>
          <p:cNvSpPr txBox="1"/>
          <p:nvPr/>
        </p:nvSpPr>
        <p:spPr>
          <a:xfrm>
            <a:off x="501393" y="1240586"/>
            <a:ext cx="8368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541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92" y="-2628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survival and fecundity using census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D1F28-F86F-20BA-6092-8BD8995B470D}"/>
              </a:ext>
            </a:extLst>
          </p:cNvPr>
          <p:cNvSpPr txBox="1"/>
          <p:nvPr/>
        </p:nvSpPr>
        <p:spPr>
          <a:xfrm>
            <a:off x="501393" y="1240586"/>
            <a:ext cx="8368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400C3-42DC-BCEE-994C-996B831D1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1680"/>
            <a:ext cx="646176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4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92" y="-2628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survival and fecundity using census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D1F28-F86F-20BA-6092-8BD8995B470D}"/>
              </a:ext>
            </a:extLst>
          </p:cNvPr>
          <p:cNvSpPr txBox="1"/>
          <p:nvPr/>
        </p:nvSpPr>
        <p:spPr>
          <a:xfrm>
            <a:off x="501393" y="1240586"/>
            <a:ext cx="8368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44D10-A26A-5675-27C9-03AC1A40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1680"/>
            <a:ext cx="646176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3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92" y="-2628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Designing successful sampling to evaluate abundance and density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4733" y="5872835"/>
            <a:ext cx="8680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Trade-offs between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/ precision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of estimates and </a:t>
            </a:r>
            <a:r>
              <a:rPr lang="en-US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 / cost </a:t>
            </a:r>
          </a:p>
        </p:txBody>
      </p:sp>
      <p:pic>
        <p:nvPicPr>
          <p:cNvPr id="660482" name="Picture 2" descr="http://cdn.antarcticglaciers.org/wp-content/uploads/2013/11/precision_accurac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65" y="1482690"/>
            <a:ext cx="6022974" cy="402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94733" y="2016035"/>
            <a:ext cx="1328931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effort, design could be good or 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6639" y="2123756"/>
            <a:ext cx="1454426" cy="7386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Likely high effort, but bad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34" y="4052156"/>
            <a:ext cx="1328932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Not high enough effort, good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6639" y="4159877"/>
            <a:ext cx="1454426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enough effort, good design</a:t>
            </a:r>
          </a:p>
        </p:txBody>
      </p:sp>
    </p:spTree>
    <p:extLst>
      <p:ext uri="{BB962C8B-B14F-4D97-AF65-F5344CB8AC3E}">
        <p14:creationId xmlns:p14="http://schemas.microsoft.com/office/powerpoint/2010/main" val="259378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2066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9"/>
                </a:solidFill>
                <a:latin typeface="Arial"/>
                <a:cs typeface="Arial"/>
              </a:rPr>
              <a:t>Two main types of data: </a:t>
            </a:r>
            <a:r>
              <a:rPr lang="en-US" sz="2800" b="1" dirty="0">
                <a:solidFill>
                  <a:srgbClr val="000099"/>
                </a:solidFill>
                <a:latin typeface="Arial"/>
                <a:cs typeface="Arial"/>
              </a:rPr>
              <a:t>1) Unmarked individuals</a:t>
            </a: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68863" y="6394429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626623" y="921511"/>
            <a:ext cx="3276600" cy="2079381"/>
            <a:chOff x="3733800" y="1904999"/>
            <a:chExt cx="3213588" cy="2079382"/>
          </a:xfrm>
        </p:grpSpPr>
        <p:pic>
          <p:nvPicPr>
            <p:cNvPr id="18" name="Picture 2" descr="http://www.bio.davidson.edu/people/midorcas/research/herpstaff/Gooch/frog%20surveys05%207-2-04%20compressed.jpg"/>
            <p:cNvPicPr>
              <a:picLocks noChangeAspect="1" noChangeArrowheads="1"/>
            </p:cNvPicPr>
            <p:nvPr/>
          </p:nvPicPr>
          <p:blipFill>
            <a:blip r:embed="rId3" cstate="print"/>
            <a:srcRect b="22006"/>
            <a:stretch>
              <a:fillRect/>
            </a:stretch>
          </p:blipFill>
          <p:spPr bwMode="auto">
            <a:xfrm>
              <a:off x="3733800" y="1904999"/>
              <a:ext cx="3213588" cy="2079382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3733800" y="1905000"/>
              <a:ext cx="11761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Call Surveys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6623" y="3192510"/>
            <a:ext cx="2459753" cy="3581400"/>
            <a:chOff x="10210800" y="2286000"/>
            <a:chExt cx="2459753" cy="3581400"/>
          </a:xfrm>
        </p:grpSpPr>
        <p:pic>
          <p:nvPicPr>
            <p:cNvPr id="21" name="Picture 4" descr="http://3.bp.blogspot.com/_6D6p_C3d8jY/TS8TPSQiJuI/AAAAAAAAAB0/Zgr579Z7Qmk/s1600/bear_tracks_in_mud_web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210800" y="2286000"/>
              <a:ext cx="2459753" cy="3581400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0210800" y="2286000"/>
              <a:ext cx="13349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Track Surveys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53874" y="921511"/>
            <a:ext cx="3124200" cy="2819401"/>
            <a:chOff x="4343400" y="4190999"/>
            <a:chExt cx="2603926" cy="2413163"/>
          </a:xfrm>
        </p:grpSpPr>
        <p:pic>
          <p:nvPicPr>
            <p:cNvPr id="24" name="Picture 23" descr="Clipboard01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3400" y="4191000"/>
              <a:ext cx="2603926" cy="241316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4361197" y="4190999"/>
              <a:ext cx="1170544" cy="289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Visual Surveys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659458" name="Picture 2" descr="http://mongabay-images.s3.amazonaws.com/13/1218bear2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902" y="4032170"/>
            <a:ext cx="3623172" cy="27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7418070" y="4022165"/>
            <a:ext cx="156000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Photo captures </a:t>
            </a:r>
          </a:p>
        </p:txBody>
      </p:sp>
    </p:spTree>
    <p:extLst>
      <p:ext uri="{BB962C8B-B14F-4D97-AF65-F5344CB8AC3E}">
        <p14:creationId xmlns:p14="http://schemas.microsoft.com/office/powerpoint/2010/main" val="191449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484" name="Picture 4" descr="http://assets.worldwildlife.org/photos/1056/images/story_carousel/Amur_Leopard_08_7.30.2012_Camera_Traps.jpg?13455365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92" y="4114800"/>
            <a:ext cx="3490089" cy="262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0" y="2066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9"/>
                </a:solidFill>
                <a:latin typeface="Arial"/>
                <a:cs typeface="Arial"/>
              </a:rPr>
              <a:t>Two main types of data: </a:t>
            </a:r>
            <a:r>
              <a:rPr lang="en-US" sz="2800" b="1" dirty="0">
                <a:solidFill>
                  <a:srgbClr val="000099"/>
                </a:solidFill>
                <a:latin typeface="Arial"/>
                <a:cs typeface="Arial"/>
              </a:rPr>
              <a:t>2) Marked individuals</a:t>
            </a: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68863" y="6394429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5177790" y="6421000"/>
            <a:ext cx="38812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Photo captures (pattern recognition) </a:t>
            </a:r>
          </a:p>
        </p:txBody>
      </p:sp>
      <p:pic>
        <p:nvPicPr>
          <p:cNvPr id="660482" name="Picture 2" descr="http://courses.washington.edu/vseminar/SOSP_legs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27" y="3574758"/>
            <a:ext cx="23145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836105" y="6451894"/>
            <a:ext cx="162909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Bird bands</a:t>
            </a:r>
          </a:p>
        </p:txBody>
      </p:sp>
      <p:pic>
        <p:nvPicPr>
          <p:cNvPr id="660486" name="Picture 6" descr="http://www.innovationalberta.com/albums/album15/aaa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698" y="1113446"/>
            <a:ext cx="2541043" cy="163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0488" name="Picture 8" descr="http://www.140mileseastofcool.com/wp-content/uploads/2009/05/WolfKill002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729893"/>
            <a:ext cx="2346325" cy="156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164247" y="2312743"/>
            <a:ext cx="14173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Genotyping</a:t>
            </a:r>
          </a:p>
        </p:txBody>
      </p:sp>
      <p:pic>
        <p:nvPicPr>
          <p:cNvPr id="660490" name="Picture 10" descr="https://caseagrant.ucsd.edu/sites/default/files/PIT-tag_0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8"/>
          <a:stretch/>
        </p:blipFill>
        <p:spPr bwMode="auto">
          <a:xfrm>
            <a:off x="6061455" y="967263"/>
            <a:ext cx="2758059" cy="206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7314036" y="3009462"/>
            <a:ext cx="14173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PIT tags</a:t>
            </a:r>
          </a:p>
        </p:txBody>
      </p:sp>
      <p:pic>
        <p:nvPicPr>
          <p:cNvPr id="29" name="Picture 14" descr="IMG_2078"/>
          <p:cNvPicPr>
            <a:picLocks noChangeAspect="1" noChangeArrowheads="1"/>
          </p:cNvPicPr>
          <p:nvPr/>
        </p:nvPicPr>
        <p:blipFill>
          <a:blip r:embed="rId8" cstate="print"/>
          <a:srcRect l="26813" t="33704" r="34564" b="38551"/>
          <a:stretch>
            <a:fillRect/>
          </a:stretch>
        </p:blipFill>
        <p:spPr bwMode="auto">
          <a:xfrm>
            <a:off x="3027680" y="3272725"/>
            <a:ext cx="2247318" cy="2152639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550860" y="5415351"/>
            <a:ext cx="17061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Elastomer tags</a:t>
            </a:r>
          </a:p>
        </p:txBody>
      </p:sp>
    </p:spTree>
    <p:extLst>
      <p:ext uri="{BB962C8B-B14F-4D97-AF65-F5344CB8AC3E}">
        <p14:creationId xmlns:p14="http://schemas.microsoft.com/office/powerpoint/2010/main" val="226554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4456384"/>
            <a:ext cx="9144000" cy="2127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583430" y="4456385"/>
            <a:ext cx="4560570" cy="21272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730325"/>
            <a:ext cx="9144000" cy="26529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384681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  <a:latin typeface="Arial"/>
                <a:cs typeface="Arial"/>
              </a:rPr>
              <a:t>2) Marked individuals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883693" y="730325"/>
            <a:ext cx="15600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790" y="1253545"/>
            <a:ext cx="3977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Relatively cheap</a:t>
            </a:r>
          </a:p>
          <a:p>
            <a:pPr marL="285750" indent="-285750">
              <a:buFontTx/>
              <a:buChar char="-"/>
            </a:pPr>
            <a:r>
              <a:rPr lang="en-US" dirty="0"/>
              <a:t>Less time intensive</a:t>
            </a:r>
          </a:p>
          <a:p>
            <a:pPr marL="285750" indent="-285750">
              <a:buFontTx/>
              <a:buChar char="-"/>
            </a:pPr>
            <a:r>
              <a:rPr lang="en-US" dirty="0"/>
              <a:t>Rapid assessment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Does not involve handling animals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be done for multiple species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14807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  <a:latin typeface="Arial"/>
                <a:cs typeface="Arial"/>
              </a:rPr>
              <a:t>1) Unmarked individuals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2020" y="4642869"/>
            <a:ext cx="36758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More expensive (e.g., genotyping) and time consuming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involve handling animals (except camera trapping and genotyping)</a:t>
            </a:r>
          </a:p>
          <a:p>
            <a:pPr marL="285750" indent="-285750">
              <a:buFontTx/>
              <a:buChar char="-"/>
            </a:pPr>
            <a:r>
              <a:rPr lang="en-US" dirty="0"/>
              <a:t>Usually focuses on a single species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790" y="4586224"/>
            <a:ext cx="38043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Can provide </a:t>
            </a:r>
            <a:r>
              <a:rPr lang="en-US" b="1" dirty="0">
                <a:solidFill>
                  <a:srgbClr val="FF0000"/>
                </a:solidFill>
              </a:rPr>
              <a:t>absolute abundances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Best for estimating population trends </a:t>
            </a:r>
            <a:r>
              <a:rPr lang="en-US" dirty="0"/>
              <a:t>(usually tight confidence intervals)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Best for conservation and management</a:t>
            </a:r>
            <a:r>
              <a:rPr lang="en-US" dirty="0"/>
              <a:t>, but not always attainable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83430" y="728748"/>
            <a:ext cx="4560570" cy="26529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732020" y="1253545"/>
            <a:ext cx="44119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Can only provide </a:t>
            </a:r>
            <a:r>
              <a:rPr lang="en-US" b="1" dirty="0">
                <a:solidFill>
                  <a:srgbClr val="FF0000"/>
                </a:solidFill>
              </a:rPr>
              <a:t>relative abundances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Unreliable for estimating population trends </a:t>
            </a:r>
            <a:r>
              <a:rPr lang="en-US" dirty="0"/>
              <a:t>(usually large confidence intervals)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Of limited use </a:t>
            </a:r>
            <a:r>
              <a:rPr lang="en-US" dirty="0"/>
              <a:t>for some management and conservation applications (e.g., hunting, setting population increase targets)</a:t>
            </a: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5718810" y="730325"/>
            <a:ext cx="15600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CONS</a:t>
            </a:r>
          </a:p>
        </p:txBody>
      </p:sp>
    </p:spTree>
    <p:extLst>
      <p:ext uri="{BB962C8B-B14F-4D97-AF65-F5344CB8AC3E}">
        <p14:creationId xmlns:p14="http://schemas.microsoft.com/office/powerpoint/2010/main" val="200182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9" grpId="0"/>
      <p:bldP spid="20" grpId="0"/>
      <p:bldP spid="21" grpId="0"/>
      <p:bldP spid="23" grpId="0" animBg="1"/>
      <p:bldP spid="18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6"/>
          <p:cNvSpPr>
            <a:spLocks noChangeArrowheads="1"/>
          </p:cNvSpPr>
          <p:nvPr/>
        </p:nvSpPr>
        <p:spPr bwMode="auto">
          <a:xfrm>
            <a:off x="0" y="3939441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8" name="Rectangle 8"/>
          <p:cNvSpPr>
            <a:spLocks noChangeArrowheads="1"/>
          </p:cNvSpPr>
          <p:nvPr/>
        </p:nvSpPr>
        <p:spPr bwMode="auto">
          <a:xfrm>
            <a:off x="0" y="394261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357295" y="3572860"/>
            <a:ext cx="1690064" cy="1178602"/>
            <a:chOff x="1036" y="1440"/>
            <a:chExt cx="1566" cy="1200"/>
          </a:xfrm>
        </p:grpSpPr>
        <p:graphicFrame>
          <p:nvGraphicFramePr>
            <p:cNvPr id="327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2791743"/>
                </p:ext>
              </p:extLst>
            </p:nvPr>
          </p:nvGraphicFramePr>
          <p:xfrm>
            <a:off x="1036" y="1730"/>
            <a:ext cx="55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569" imgH="215619" progId="Equation.3">
                    <p:embed/>
                  </p:oleObj>
                </mc:Choice>
                <mc:Fallback>
                  <p:oleObj name="Equation" r:id="rId3" imgW="177569" imgH="215619" progId="Equation.3">
                    <p:embed/>
                    <p:pic>
                      <p:nvPicPr>
                        <p:cNvPr id="327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" y="1730"/>
                          <a:ext cx="552" cy="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Object 7"/>
            <p:cNvGraphicFramePr>
              <a:graphicFrameLocks noChangeAspect="1"/>
            </p:cNvGraphicFramePr>
            <p:nvPr/>
          </p:nvGraphicFramePr>
          <p:xfrm>
            <a:off x="2064" y="2016"/>
            <a:ext cx="461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68" imgH="203024" progId="Equation.3">
                    <p:embed/>
                  </p:oleObj>
                </mc:Choice>
                <mc:Fallback>
                  <p:oleObj name="Equation" r:id="rId5" imgW="152268" imgH="203024" progId="Equation.3">
                    <p:embed/>
                    <p:pic>
                      <p:nvPicPr>
                        <p:cNvPr id="3277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016"/>
                          <a:ext cx="461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Text Box 10"/>
            <p:cNvSpPr txBox="1">
              <a:spLocks noChangeArrowheads="1"/>
            </p:cNvSpPr>
            <p:nvPr/>
          </p:nvSpPr>
          <p:spPr bwMode="auto">
            <a:xfrm>
              <a:off x="2112" y="1440"/>
              <a:ext cx="490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dirty="0"/>
                <a:t>C</a:t>
              </a:r>
            </a:p>
          </p:txBody>
        </p:sp>
        <p:sp>
          <p:nvSpPr>
            <p:cNvPr id="3" name="Line 11"/>
            <p:cNvSpPr>
              <a:spLocks noChangeShapeType="1"/>
            </p:cNvSpPr>
            <p:nvPr/>
          </p:nvSpPr>
          <p:spPr bwMode="auto">
            <a:xfrm>
              <a:off x="2031" y="2021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Text Box 12"/>
            <p:cNvSpPr txBox="1">
              <a:spLocks noChangeArrowheads="1"/>
            </p:cNvSpPr>
            <p:nvPr/>
          </p:nvSpPr>
          <p:spPr bwMode="auto">
            <a:xfrm>
              <a:off x="1550" y="1680"/>
              <a:ext cx="322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400"/>
                <a:t>=</a:t>
              </a:r>
            </a:p>
          </p:txBody>
        </p:sp>
      </p:grp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973085" y="3901332"/>
            <a:ext cx="17107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Estimated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abundance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6518539" y="3431497"/>
            <a:ext cx="24961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Count of animals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observed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6636993" y="4248811"/>
            <a:ext cx="18117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Estimated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detectability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066800" y="4999632"/>
            <a:ext cx="7239000" cy="143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abundance estimation techniques include: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Distance sampling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Occupancy methods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Capture-recapture methods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13352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Detectability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– key quantity in monitoring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53149" name="Picture 861" descr="http://www.seppo.net/cartoons/albums/cartoons/nature/birds/normal_birds_staijaus_en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05" y="737123"/>
            <a:ext cx="5192486" cy="299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65191" y="1305820"/>
            <a:ext cx="35788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accounting for detection underestimates abundance because the observer cannot see REALITY (cannot count ALL individuals present at a site)</a:t>
            </a:r>
          </a:p>
        </p:txBody>
      </p:sp>
    </p:spTree>
    <p:extLst>
      <p:ext uri="{BB962C8B-B14F-4D97-AF65-F5344CB8AC3E}">
        <p14:creationId xmlns:p14="http://schemas.microsoft.com/office/powerpoint/2010/main" val="2915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2" grpId="0"/>
      <p:bldP spid="32783" grpId="0"/>
      <p:bldP spid="32784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7336" y="594042"/>
            <a:ext cx="8534400" cy="4114800"/>
          </a:xfrm>
        </p:spPr>
        <p:txBody>
          <a:bodyPr/>
          <a:lstStyle/>
          <a:p>
            <a:pPr eaLnBrk="1" hangingPunct="1">
              <a:buNone/>
            </a:pPr>
            <a:r>
              <a:rPr lang="en-US" sz="2400" dirty="0"/>
              <a:t>Assumes that detection probability decreases with distance from the observer, but that actual density stays constant</a:t>
            </a:r>
          </a:p>
        </p:txBody>
      </p:sp>
      <p:sp>
        <p:nvSpPr>
          <p:cNvPr id="45082" name="Line 17"/>
          <p:cNvSpPr>
            <a:spLocks noChangeShapeType="1"/>
          </p:cNvSpPr>
          <p:nvPr/>
        </p:nvSpPr>
        <p:spPr bwMode="auto">
          <a:xfrm>
            <a:off x="1773238" y="4283392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83" name="Text Box 22"/>
          <p:cNvSpPr txBox="1">
            <a:spLocks noChangeArrowheads="1"/>
          </p:cNvSpPr>
          <p:nvPr/>
        </p:nvSpPr>
        <p:spPr bwMode="auto">
          <a:xfrm>
            <a:off x="1925638" y="3978592"/>
            <a:ext cx="1200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10 meters</a:t>
            </a:r>
            <a:endParaRPr lang="en-US"/>
          </a:p>
        </p:txBody>
      </p:sp>
      <p:sp>
        <p:nvSpPr>
          <p:cNvPr id="45076" name="Line 19"/>
          <p:cNvSpPr>
            <a:spLocks noChangeShapeType="1"/>
          </p:cNvSpPr>
          <p:nvPr/>
        </p:nvSpPr>
        <p:spPr bwMode="auto">
          <a:xfrm>
            <a:off x="1752600" y="397859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Text Box 23"/>
          <p:cNvSpPr txBox="1">
            <a:spLocks noChangeArrowheads="1"/>
          </p:cNvSpPr>
          <p:nvPr/>
        </p:nvSpPr>
        <p:spPr bwMode="auto">
          <a:xfrm>
            <a:off x="4133850" y="3673792"/>
            <a:ext cx="1200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25 meters</a:t>
            </a:r>
            <a:endParaRPr lang="en-US"/>
          </a:p>
        </p:txBody>
      </p:sp>
      <p:sp>
        <p:nvSpPr>
          <p:cNvPr id="45070" name="Oval 24"/>
          <p:cNvSpPr>
            <a:spLocks noChangeArrowheads="1"/>
          </p:cNvSpPr>
          <p:nvPr/>
        </p:nvSpPr>
        <p:spPr bwMode="auto">
          <a:xfrm>
            <a:off x="2286000" y="4435792"/>
            <a:ext cx="1905000" cy="1905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71" name="Text Box 30"/>
          <p:cNvSpPr txBox="1">
            <a:spLocks noChangeArrowheads="1"/>
          </p:cNvSpPr>
          <p:nvPr/>
        </p:nvSpPr>
        <p:spPr bwMode="auto">
          <a:xfrm>
            <a:off x="3733800" y="6202680"/>
            <a:ext cx="9637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rgbClr val="FF0000"/>
                </a:solidFill>
              </a:rPr>
              <a:t>p=1.0</a:t>
            </a:r>
          </a:p>
        </p:txBody>
      </p:sp>
      <p:sp>
        <p:nvSpPr>
          <p:cNvPr id="45068" name="Oval 25"/>
          <p:cNvSpPr>
            <a:spLocks noChangeArrowheads="1"/>
          </p:cNvSpPr>
          <p:nvPr/>
        </p:nvSpPr>
        <p:spPr bwMode="auto">
          <a:xfrm>
            <a:off x="4800600" y="4297680"/>
            <a:ext cx="2133600" cy="1295400"/>
          </a:xfrm>
          <a:prstGeom prst="ellipse">
            <a:avLst/>
          </a:prstGeom>
          <a:noFill/>
          <a:ln w="38100">
            <a:solidFill>
              <a:srgbClr val="92D05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5069" name="Text Box 31"/>
          <p:cNvSpPr txBox="1">
            <a:spLocks noChangeArrowheads="1"/>
          </p:cNvSpPr>
          <p:nvPr/>
        </p:nvSpPr>
        <p:spPr bwMode="auto">
          <a:xfrm>
            <a:off x="6172200" y="3916680"/>
            <a:ext cx="9637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rgbClr val="92D050"/>
                </a:solidFill>
              </a:rPr>
              <a:t>p=0.5</a:t>
            </a:r>
          </a:p>
        </p:txBody>
      </p:sp>
      <p:sp>
        <p:nvSpPr>
          <p:cNvPr id="45066" name="Oval 26"/>
          <p:cNvSpPr>
            <a:spLocks noChangeArrowheads="1"/>
          </p:cNvSpPr>
          <p:nvPr/>
        </p:nvSpPr>
        <p:spPr bwMode="auto">
          <a:xfrm>
            <a:off x="7924800" y="5197792"/>
            <a:ext cx="1143000" cy="11430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5067" name="Text Box 32"/>
          <p:cNvSpPr txBox="1">
            <a:spLocks noChangeArrowheads="1"/>
          </p:cNvSpPr>
          <p:nvPr/>
        </p:nvSpPr>
        <p:spPr bwMode="auto">
          <a:xfrm>
            <a:off x="7543800" y="6355080"/>
            <a:ext cx="11352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/>
              <a:t>p=0.25</a:t>
            </a:r>
          </a:p>
        </p:txBody>
      </p:sp>
      <p:sp>
        <p:nvSpPr>
          <p:cNvPr id="45102" name="Line 19"/>
          <p:cNvSpPr>
            <a:spLocks noChangeShapeType="1"/>
          </p:cNvSpPr>
          <p:nvPr/>
        </p:nvSpPr>
        <p:spPr bwMode="auto">
          <a:xfrm>
            <a:off x="1752600" y="3673792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103" name="Text Box 23"/>
          <p:cNvSpPr txBox="1">
            <a:spLocks noChangeArrowheads="1"/>
          </p:cNvSpPr>
          <p:nvPr/>
        </p:nvSpPr>
        <p:spPr bwMode="auto">
          <a:xfrm>
            <a:off x="6648450" y="3307080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50 meters</a:t>
            </a:r>
            <a:endParaRPr lang="en-US"/>
          </a:p>
        </p:txBody>
      </p:sp>
      <p:pic>
        <p:nvPicPr>
          <p:cNvPr id="36880" name="Picture 49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257800" y="5440680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1" name="Picture 50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181600" y="45881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2" name="Picture 51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019800" y="55025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3" name="Picture 52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096000" y="45119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4" name="Picture 53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315200" y="43595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5" name="Picture 54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391400" y="5288280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6" name="Picture 55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001000" y="43595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7" name="Picture 56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229600" y="53501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8" name="Picture 57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438400" y="45119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9" name="Picture 58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667000" y="55025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90" name="Picture 59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429000" y="54263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91" name="Picture 60" descr="MC900139575[1]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352800" y="458819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2841879" y="40839"/>
            <a:ext cx="3361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 sampling</a:t>
            </a:r>
          </a:p>
        </p:txBody>
      </p:sp>
      <p:pic>
        <p:nvPicPr>
          <p:cNvPr id="164866" name="Picture 2" descr="https://encrypted-tbn3.google.com/images?q=tbn:ANd9GcTxx6TpbCL-irWRM9w6UWdtR5miQMwXC34mQM902NtgvZCnEmgq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78926" y="3230880"/>
            <a:ext cx="1459373" cy="2486025"/>
          </a:xfrm>
          <a:prstGeom prst="rect">
            <a:avLst/>
          </a:prstGeom>
          <a:noFill/>
        </p:spPr>
      </p:pic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53923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1773511" y="530320"/>
            <a:ext cx="4425341" cy="3411285"/>
            <a:chOff x="1773511" y="530320"/>
            <a:chExt cx="4425341" cy="3411285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3125788" y="2983230"/>
              <a:ext cx="2208212" cy="11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3125788" y="1437640"/>
              <a:ext cx="0" cy="15622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3722065" y="3027645"/>
              <a:ext cx="987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Distance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773511" y="1995288"/>
              <a:ext cx="11988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Detection</a:t>
              </a:r>
            </a:p>
            <a:p>
              <a:r>
                <a:rPr lang="en-US" dirty="0"/>
                <a:t>probability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3375979" y="1710049"/>
              <a:ext cx="1573212" cy="10755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/>
            <p:cNvSpPr/>
            <p:nvPr/>
          </p:nvSpPr>
          <p:spPr>
            <a:xfrm>
              <a:off x="2017374" y="1522892"/>
              <a:ext cx="3002654" cy="241871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3280048" y="1598706"/>
              <a:ext cx="1669143" cy="1291771"/>
            </a:xfrm>
            <a:custGeom>
              <a:avLst/>
              <a:gdLst>
                <a:gd name="connsiteX0" fmla="*/ 0 w 1669143"/>
                <a:gd name="connsiteY0" fmla="*/ 0 h 1291771"/>
                <a:gd name="connsiteX1" fmla="*/ 420915 w 1669143"/>
                <a:gd name="connsiteY1" fmla="*/ 101600 h 1291771"/>
                <a:gd name="connsiteX2" fmla="*/ 638629 w 1669143"/>
                <a:gd name="connsiteY2" fmla="*/ 377371 h 1291771"/>
                <a:gd name="connsiteX3" fmla="*/ 798286 w 1669143"/>
                <a:gd name="connsiteY3" fmla="*/ 870857 h 1291771"/>
                <a:gd name="connsiteX4" fmla="*/ 1146629 w 1669143"/>
                <a:gd name="connsiteY4" fmla="*/ 1161142 h 1291771"/>
                <a:gd name="connsiteX5" fmla="*/ 1669143 w 1669143"/>
                <a:gd name="connsiteY5" fmla="*/ 1291771 h 12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9143" h="1291771">
                  <a:moveTo>
                    <a:pt x="0" y="0"/>
                  </a:moveTo>
                  <a:cubicBezTo>
                    <a:pt x="157238" y="19352"/>
                    <a:pt x="314477" y="38705"/>
                    <a:pt x="420915" y="101600"/>
                  </a:cubicBezTo>
                  <a:cubicBezTo>
                    <a:pt x="527353" y="164495"/>
                    <a:pt x="575734" y="249162"/>
                    <a:pt x="638629" y="377371"/>
                  </a:cubicBezTo>
                  <a:cubicBezTo>
                    <a:pt x="701524" y="505580"/>
                    <a:pt x="713619" y="740229"/>
                    <a:pt x="798286" y="870857"/>
                  </a:cubicBezTo>
                  <a:cubicBezTo>
                    <a:pt x="882953" y="1001485"/>
                    <a:pt x="1001486" y="1090990"/>
                    <a:pt x="1146629" y="1161142"/>
                  </a:cubicBezTo>
                  <a:cubicBezTo>
                    <a:pt x="1291772" y="1231294"/>
                    <a:pt x="1480457" y="1261532"/>
                    <a:pt x="1669143" y="1291771"/>
                  </a:cubicBezTo>
                </a:path>
              </a:pathLst>
            </a:custGeom>
            <a:noFill/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/>
            <p:cNvSpPr/>
            <p:nvPr/>
          </p:nvSpPr>
          <p:spPr>
            <a:xfrm rot="10800000">
              <a:off x="3196198" y="530320"/>
              <a:ext cx="3002654" cy="241871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645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2" grpId="0" animBg="1"/>
      <p:bldP spid="45083" grpId="0"/>
      <p:bldP spid="45076" grpId="0" animBg="1"/>
      <p:bldP spid="45077" grpId="0"/>
      <p:bldP spid="45070" grpId="0" animBg="1"/>
      <p:bldP spid="45071" grpId="0"/>
      <p:bldP spid="45068" grpId="0" animBg="1"/>
      <p:bldP spid="45069" grpId="0"/>
      <p:bldP spid="45066" grpId="0" animBg="1"/>
      <p:bldP spid="45067" grpId="0"/>
      <p:bldP spid="45102" grpId="0" animBg="1"/>
      <p:bldP spid="4510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Capture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/>
              <a:t>physical capture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/>
              <a:t>non-invasive techniques: </a:t>
            </a:r>
            <a:r>
              <a:rPr lang="en-US" sz="2400" dirty="0"/>
              <a:t>genetics (from hair snares, scat, etc.), ID unique patterns remotely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	Mark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Radiotelemetry, PIT tags, banding, </a:t>
            </a:r>
            <a:r>
              <a:rPr lang="en-US" sz="2000" dirty="0" err="1"/>
              <a:t>elastomer</a:t>
            </a:r>
            <a:r>
              <a:rPr lang="en-US" sz="2000" dirty="0"/>
              <a:t>, photography, genotyping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Recapture</a:t>
            </a:r>
            <a:r>
              <a:rPr lang="en-US" sz="2400" b="1" dirty="0"/>
              <a:t> </a:t>
            </a:r>
            <a:r>
              <a:rPr lang="en-US" sz="2400" dirty="0"/>
              <a:t>(or </a:t>
            </a:r>
            <a:r>
              <a:rPr lang="en-US" sz="2400" dirty="0" err="1"/>
              <a:t>resight</a:t>
            </a:r>
            <a:r>
              <a:rPr lang="en-US" sz="2400" dirty="0"/>
              <a:t>)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08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Capture-recapture methods</a:t>
            </a:r>
          </a:p>
        </p:txBody>
      </p:sp>
    </p:spTree>
    <p:extLst>
      <p:ext uri="{BB962C8B-B14F-4D97-AF65-F5344CB8AC3E}">
        <p14:creationId xmlns:p14="http://schemas.microsoft.com/office/powerpoint/2010/main" val="342606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7772400" cy="47040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Open versus closed populations</a:t>
            </a:r>
          </a:p>
          <a:p>
            <a:endParaRPr lang="en-US" b="1" dirty="0"/>
          </a:p>
          <a:p>
            <a:r>
              <a:rPr lang="en-US" b="1" dirty="0"/>
              <a:t>Closed population</a:t>
            </a:r>
            <a:r>
              <a:rPr lang="en-US" dirty="0"/>
              <a:t> – a population in which there is no recruitment (birth or immigration) or losses (death or emigration) </a:t>
            </a:r>
            <a:r>
              <a:rPr lang="en-US" u="sng" dirty="0"/>
              <a:t>during the period of study</a:t>
            </a:r>
            <a:r>
              <a:rPr lang="en-US" dirty="0"/>
              <a:t>. Geographic and demographic closure.</a:t>
            </a:r>
          </a:p>
          <a:p>
            <a:endParaRPr lang="en-US" b="1" dirty="0"/>
          </a:p>
          <a:p>
            <a:r>
              <a:rPr lang="en-US" b="1" dirty="0"/>
              <a:t>Open population</a:t>
            </a:r>
            <a:r>
              <a:rPr lang="en-US" dirty="0"/>
              <a:t> – a population that changes in size and composition due to births, deaths, and permanent movements (immigration and emigration)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08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Capture-recapture methods</a:t>
            </a:r>
          </a:p>
        </p:txBody>
      </p:sp>
    </p:spTree>
    <p:extLst>
      <p:ext uri="{BB962C8B-B14F-4D97-AF65-F5344CB8AC3E}">
        <p14:creationId xmlns:p14="http://schemas.microsoft.com/office/powerpoint/2010/main" val="3157469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71453" y="1852513"/>
            <a:ext cx="4400547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Design: visit site TWICE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visit: count and mark all animals found (marks not unique)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second visit: count all marked and unmarked animals caught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Number marked the first visit 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Total number captured on 2</a:t>
            </a:r>
            <a:r>
              <a:rPr lang="en-US" sz="2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Number captured on 2</a:t>
            </a:r>
            <a:r>
              <a:rPr lang="en-US" sz="2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 which have been marked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(recaptures)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304800"/>
            <a:ext cx="89611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Mark-recapture at its simplest: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the </a:t>
            </a:r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Lincoln-Peterson</a:t>
            </a:r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06B64A-CD0D-E3BD-FAF2-A3C48F608335}"/>
                  </a:ext>
                </a:extLst>
              </p:cNvPr>
              <p:cNvSpPr txBox="1"/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06B64A-CD0D-E3BD-FAF2-A3C48F608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7E1B45-1F27-425D-244F-8E345D95FF8D}"/>
                  </a:ext>
                </a:extLst>
              </p:cNvPr>
              <p:cNvSpPr txBox="1"/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𝑟𝑒𝑐𝑎𝑝𝑡𝑢𝑟𝑒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7E1B45-1F27-425D-244F-8E345D95F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86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71453" y="1852513"/>
            <a:ext cx="440054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Number marked the first visit 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Total number captured on 2</a:t>
            </a:r>
            <a:r>
              <a:rPr lang="en-US" sz="2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Number captured on 2</a:t>
            </a:r>
            <a:r>
              <a:rPr lang="en-US" sz="2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 which have been marked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(recaptures)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304800"/>
            <a:ext cx="89611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Mark-recapture at its simplest: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the </a:t>
            </a:r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Lincoln-Peterson</a:t>
            </a:r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06B64A-CD0D-E3BD-FAF2-A3C48F608335}"/>
                  </a:ext>
                </a:extLst>
              </p:cNvPr>
              <p:cNvSpPr txBox="1"/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06B64A-CD0D-E3BD-FAF2-A3C48F608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7E1B45-1F27-425D-244F-8E345D95FF8D}"/>
                  </a:ext>
                </a:extLst>
              </p:cNvPr>
              <p:cNvSpPr txBox="1"/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𝑟𝑒𝑐𝑎𝑝𝑡𝑢𝑟𝑒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7E1B45-1F27-425D-244F-8E345D95F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BF60805-18FC-C54B-8402-7EBA52CD88F7}"/>
              </a:ext>
            </a:extLst>
          </p:cNvPr>
          <p:cNvSpPr txBox="1"/>
          <p:nvPr/>
        </p:nvSpPr>
        <p:spPr>
          <a:xfrm>
            <a:off x="675035" y="5012688"/>
            <a:ext cx="46652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61C6E0B-C6A6-E848-A14D-4B67ABB750F9}"/>
              </a:ext>
            </a:extLst>
          </p:cNvPr>
          <p:cNvSpPr/>
          <p:nvPr/>
        </p:nvSpPr>
        <p:spPr>
          <a:xfrm>
            <a:off x="2895600" y="5856684"/>
            <a:ext cx="1076960" cy="42370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FA5A1-C54E-EB03-2AD8-919165471D40}"/>
                  </a:ext>
                </a:extLst>
              </p:cNvPr>
              <p:cNvSpPr txBox="1"/>
              <p:nvPr/>
            </p:nvSpPr>
            <p:spPr>
              <a:xfrm>
                <a:off x="4480559" y="5659417"/>
                <a:ext cx="4127412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95 ∗110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=299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𝑓𝑖𝑠h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FA5A1-C54E-EB03-2AD8-919165471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59" y="5659417"/>
                <a:ext cx="4127412" cy="8182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57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313693" y="1482667"/>
            <a:ext cx="883030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SAME design as L-P</a:t>
            </a:r>
          </a:p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BUT, we need to account for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uncertainty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(i.e., do we get the same numbers of C, M, R if we repeated the sampling 100 times in the same population?)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304800"/>
            <a:ext cx="8961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Modified L-P estimator (</a:t>
            </a:r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Chapman estimator</a:t>
            </a:r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CF7F2B-5B48-BF21-E62A-B0869549C43A}"/>
                  </a:ext>
                </a:extLst>
              </p:cNvPr>
              <p:cNvSpPr txBox="1"/>
              <p:nvPr/>
            </p:nvSpPr>
            <p:spPr>
              <a:xfrm>
                <a:off x="161293" y="2918103"/>
                <a:ext cx="4114800" cy="7096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CF7F2B-5B48-BF21-E62A-B0869549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3" y="2918103"/>
                <a:ext cx="4114800" cy="709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2419FC-692E-FE8B-04E8-B5FB742F8507}"/>
                  </a:ext>
                </a:extLst>
              </p:cNvPr>
              <p:cNvSpPr txBox="1"/>
              <p:nvPr/>
            </p:nvSpPr>
            <p:spPr>
              <a:xfrm>
                <a:off x="161293" y="4314559"/>
                <a:ext cx="7026194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2419FC-692E-FE8B-04E8-B5FB742F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3" y="4314559"/>
                <a:ext cx="7026194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A0E2E8-17CC-09AE-B506-E43663F26CA2}"/>
              </a:ext>
            </a:extLst>
          </p:cNvPr>
          <p:cNvSpPr txBox="1"/>
          <p:nvPr/>
        </p:nvSpPr>
        <p:spPr>
          <a:xfrm>
            <a:off x="313693" y="376234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 Sampling Variance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34B38-B261-E959-1155-4CD59098AECE}"/>
                  </a:ext>
                </a:extLst>
              </p:cNvPr>
              <p:cNvSpPr txBox="1"/>
              <p:nvPr/>
            </p:nvSpPr>
            <p:spPr>
              <a:xfrm>
                <a:off x="497840" y="5076467"/>
                <a:ext cx="3288401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𝑆𝑡𝑑𝐷𝑒𝑣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34B38-B261-E959-1155-4CD59098A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5076467"/>
                <a:ext cx="3288401" cy="751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B4150C-CB86-AA6D-6FBC-067B8677C3B3}"/>
                  </a:ext>
                </a:extLst>
              </p:cNvPr>
              <p:cNvSpPr txBox="1"/>
              <p:nvPr/>
            </p:nvSpPr>
            <p:spPr>
              <a:xfrm>
                <a:off x="497839" y="6173994"/>
                <a:ext cx="5558188" cy="379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𝑺𝒕𝒅𝑫𝒆𝒗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B4150C-CB86-AA6D-6FBC-067B8677C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9" y="6173994"/>
                <a:ext cx="5558188" cy="379206"/>
              </a:xfrm>
              <a:prstGeom prst="rect">
                <a:avLst/>
              </a:prstGeom>
              <a:blipFill>
                <a:blip r:embed="rId6"/>
                <a:stretch>
                  <a:fillRect l="-1098" t="-19355" r="-6915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4E69558-865E-6B59-2F58-C8CC0182E3E1}"/>
              </a:ext>
            </a:extLst>
          </p:cNvPr>
          <p:cNvSpPr txBox="1"/>
          <p:nvPr/>
        </p:nvSpPr>
        <p:spPr>
          <a:xfrm>
            <a:off x="7524034" y="3308772"/>
            <a:ext cx="14280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</a:p>
        </p:txBody>
      </p:sp>
    </p:spTree>
    <p:extLst>
      <p:ext uri="{BB962C8B-B14F-4D97-AF65-F5344CB8AC3E}">
        <p14:creationId xmlns:p14="http://schemas.microsoft.com/office/powerpoint/2010/main" val="205248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0" grpId="0"/>
      <p:bldP spid="6" grpId="0"/>
      <p:bldP spid="9" grpId="0"/>
      <p:bldP spid="10" grpId="0"/>
      <p:bldP spid="11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1" y="304800"/>
            <a:ext cx="8961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Modified L-P estimator (</a:t>
            </a:r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Chapman estimator</a:t>
            </a:r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CF7F2B-5B48-BF21-E62A-B0869549C43A}"/>
                  </a:ext>
                </a:extLst>
              </p:cNvPr>
              <p:cNvSpPr txBox="1"/>
              <p:nvPr/>
            </p:nvSpPr>
            <p:spPr>
              <a:xfrm>
                <a:off x="2514600" y="2077050"/>
                <a:ext cx="6101080" cy="8278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(95+1)(110+1)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35+1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295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CF7F2B-5B48-BF21-E62A-B0869549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077050"/>
                <a:ext cx="6101080" cy="8278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2419FC-692E-FE8B-04E8-B5FB742F8507}"/>
                  </a:ext>
                </a:extLst>
              </p:cNvPr>
              <p:cNvSpPr txBox="1"/>
              <p:nvPr/>
            </p:nvSpPr>
            <p:spPr>
              <a:xfrm>
                <a:off x="410875" y="3841471"/>
                <a:ext cx="7487921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999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2419FC-692E-FE8B-04E8-B5FB742F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75" y="3841471"/>
                <a:ext cx="7487921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34B38-B261-E959-1155-4CD59098AECE}"/>
                  </a:ext>
                </a:extLst>
              </p:cNvPr>
              <p:cNvSpPr txBox="1"/>
              <p:nvPr/>
            </p:nvSpPr>
            <p:spPr>
              <a:xfrm>
                <a:off x="497840" y="5029223"/>
                <a:ext cx="4260846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𝑆𝑡𝑑𝐷𝑒𝑣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31.6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34B38-B261-E959-1155-4CD59098A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5029223"/>
                <a:ext cx="4260846" cy="751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B4150C-CB86-AA6D-6FBC-067B8677C3B3}"/>
                  </a:ext>
                </a:extLst>
              </p:cNvPr>
              <p:cNvSpPr txBox="1"/>
              <p:nvPr/>
            </p:nvSpPr>
            <p:spPr>
              <a:xfrm>
                <a:off x="497839" y="6173994"/>
                <a:ext cx="7333482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𝑺𝒕𝒅𝑫𝒆𝒗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</m:acc>
                        </m:e>
                      </m:d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𝟐𝟗𝟓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B4150C-CB86-AA6D-6FBC-067B8677C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9" y="6173994"/>
                <a:ext cx="7333482" cy="4168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1BDC222-0329-DD2D-67EF-A85BED39C925}"/>
              </a:ext>
            </a:extLst>
          </p:cNvPr>
          <p:cNvSpPr txBox="1"/>
          <p:nvPr/>
        </p:nvSpPr>
        <p:spPr>
          <a:xfrm>
            <a:off x="410875" y="1415720"/>
            <a:ext cx="46652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</a:p>
        </p:txBody>
      </p:sp>
    </p:spTree>
    <p:extLst>
      <p:ext uri="{BB962C8B-B14F-4D97-AF65-F5344CB8AC3E}">
        <p14:creationId xmlns:p14="http://schemas.microsoft.com/office/powerpoint/2010/main" val="88996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05909" y="1159465"/>
            <a:ext cx="852550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Design: visit site multiple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 all animals during first visit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subsequent visits – mark all the unmarked animals (no unique marks needed)</a:t>
            </a:r>
          </a:p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304800"/>
            <a:ext cx="8961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Schnabel Estimator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6F0E8-3A45-E9C2-7537-96C967066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6" y="2174133"/>
            <a:ext cx="85255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Total number of individuals captured during visit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R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Number of previously-marked individuals (Recaptures)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(the remainder of individuals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must be given a new mark)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Total number of marked animals in the population just before the 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1" u="none" strike="noStrike" cap="none" normalizeH="0" baseline="30000" dirty="0" err="1">
                <a:ln>
                  <a:noFill/>
                </a:ln>
                <a:effectLst/>
                <a:cs typeface="Arial" panose="020B0604020202020204" pitchFamily="34" charset="0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site visit.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36CB6-CA9E-9A6F-09A2-C432A8268A20}"/>
                  </a:ext>
                </a:extLst>
              </p:cNvPr>
              <p:cNvSpPr txBox="1"/>
              <p:nvPr/>
            </p:nvSpPr>
            <p:spPr>
              <a:xfrm>
                <a:off x="405910" y="3428524"/>
                <a:ext cx="2045625" cy="90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36CB6-CA9E-9A6F-09A2-C432A826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10" y="3428524"/>
                <a:ext cx="2045625" cy="905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9B0F74-A778-FA0C-304A-A7FA7AB3E1D6}"/>
                  </a:ext>
                </a:extLst>
              </p:cNvPr>
              <p:cNvSpPr txBox="1"/>
              <p:nvPr/>
            </p:nvSpPr>
            <p:spPr>
              <a:xfrm>
                <a:off x="405909" y="4535430"/>
                <a:ext cx="390388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9B0F74-A778-FA0C-304A-A7FA7AB3E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9" y="4535430"/>
                <a:ext cx="3903889" cy="96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C4DB6DC5-40FF-C99F-6C43-DD6329EED581}"/>
              </a:ext>
            </a:extLst>
          </p:cNvPr>
          <p:cNvSpPr/>
          <p:nvPr/>
        </p:nvSpPr>
        <p:spPr>
          <a:xfrm>
            <a:off x="2834640" y="3670087"/>
            <a:ext cx="822960" cy="4226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53EE9-5F7B-9C4C-5DF2-AAFCFBB5D7B6}"/>
              </a:ext>
            </a:extLst>
          </p:cNvPr>
          <p:cNvSpPr txBox="1"/>
          <p:nvPr/>
        </p:nvSpPr>
        <p:spPr>
          <a:xfrm>
            <a:off x="4145280" y="3533232"/>
            <a:ext cx="4617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 varies by sampling occasion, so N is basically a weighted average of L-P estimates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71419-9EF9-821F-FB37-CC350D730867}"/>
                  </a:ext>
                </a:extLst>
              </p:cNvPr>
              <p:cNvSpPr txBox="1"/>
              <p:nvPr/>
            </p:nvSpPr>
            <p:spPr>
              <a:xfrm>
                <a:off x="3657600" y="5704661"/>
                <a:ext cx="5381538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𝑽𝒂𝒓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den>
                          </m:f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71419-9EF9-821F-FB37-CC350D73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704661"/>
                <a:ext cx="5381538" cy="10911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08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9" grpId="0" animBg="1"/>
      <p:bldP spid="11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1" y="304800"/>
            <a:ext cx="8961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Abundance estimation in CLOSED POPULATIONS </a:t>
            </a:r>
          </a:p>
          <a:p>
            <a:pPr algn="ctr"/>
            <a:r>
              <a:rPr lang="en-US" sz="2800" b="1" dirty="0">
                <a:solidFill>
                  <a:srgbClr val="000090"/>
                </a:solidFill>
                <a:latin typeface="Arial"/>
                <a:cs typeface="Arial"/>
              </a:rPr>
              <a:t>Schnabel Estimator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6F0E8-3A45-E9C2-7537-96C967066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" y="1325038"/>
            <a:ext cx="85255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Total number of individuals captured during visit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R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Number of previously-marked individuals (Recaptures)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(the remainder of individuals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must be given a new mark)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Total number of marked animals in the population just before the 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1" u="none" strike="noStrike" cap="none" normalizeH="0" baseline="30000" dirty="0" err="1">
                <a:ln>
                  <a:noFill/>
                </a:ln>
                <a:effectLst/>
                <a:cs typeface="Arial" panose="020B0604020202020204" pitchFamily="34" charset="0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site visit.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36CB6-CA9E-9A6F-09A2-C432A8268A20}"/>
                  </a:ext>
                </a:extLst>
              </p:cNvPr>
              <p:cNvSpPr txBox="1"/>
              <p:nvPr/>
            </p:nvSpPr>
            <p:spPr>
              <a:xfrm>
                <a:off x="307563" y="5371188"/>
                <a:ext cx="8528873" cy="908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110∗0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(95∗110)(105∗180)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0+25+25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=587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36CB6-CA9E-9A6F-09A2-C432A826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3" y="5371188"/>
                <a:ext cx="8528873" cy="908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96E4C8-7F85-8C57-085D-DFB6D7A3C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68071"/>
              </p:ext>
            </p:extLst>
          </p:nvPr>
        </p:nvGraphicFramePr>
        <p:xfrm>
          <a:off x="1757678" y="2814320"/>
          <a:ext cx="54457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91">
                  <a:extLst>
                    <a:ext uri="{9D8B030D-6E8A-4147-A177-3AD203B41FA5}">
                      <a16:colId xmlns:a16="http://schemas.microsoft.com/office/drawing/2014/main" val="1017814267"/>
                    </a:ext>
                  </a:extLst>
                </a:gridCol>
                <a:gridCol w="1034694">
                  <a:extLst>
                    <a:ext uri="{9D8B030D-6E8A-4147-A177-3AD203B41FA5}">
                      <a16:colId xmlns:a16="http://schemas.microsoft.com/office/drawing/2014/main" val="1963158433"/>
                    </a:ext>
                  </a:extLst>
                </a:gridCol>
                <a:gridCol w="936671">
                  <a:extLst>
                    <a:ext uri="{9D8B030D-6E8A-4147-A177-3AD203B41FA5}">
                      <a16:colId xmlns:a16="http://schemas.microsoft.com/office/drawing/2014/main" val="134421408"/>
                    </a:ext>
                  </a:extLst>
                </a:gridCol>
                <a:gridCol w="1089152">
                  <a:extLst>
                    <a:ext uri="{9D8B030D-6E8A-4147-A177-3AD203B41FA5}">
                      <a16:colId xmlns:a16="http://schemas.microsoft.com/office/drawing/2014/main" val="3461417045"/>
                    </a:ext>
                  </a:extLst>
                </a:gridCol>
                <a:gridCol w="1089152">
                  <a:extLst>
                    <a:ext uri="{9D8B030D-6E8A-4147-A177-3AD203B41FA5}">
                      <a16:colId xmlns:a16="http://schemas.microsoft.com/office/drawing/2014/main" val="425837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occasion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marked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874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2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91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141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67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812800"/>
            <a:ext cx="8353425" cy="49149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dirty="0"/>
              <a:t>Population is “closed”: between sessions, no animals leave or enter study area, are born, or die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All individuals have equal probability of being captured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No effect of marking on probability of recapture or survival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Mixing of marked and unmarked individuals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Marks are not lost</a:t>
            </a:r>
          </a:p>
        </p:txBody>
      </p:sp>
      <p:pic>
        <p:nvPicPr>
          <p:cNvPr id="164866" name="Picture 4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33400" y="3505200"/>
            <a:ext cx="3962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867" name="Picture 5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4876800" y="3509962"/>
            <a:ext cx="3962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0" y="10064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/>
                <a:cs typeface="Arial"/>
              </a:rPr>
              <a:t>Assumptions for the L-P estimator and friends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07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71550"/>
            <a:ext cx="8353425" cy="553085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Population is open to one or more of the BIDE processes </a:t>
            </a:r>
          </a:p>
          <a:p>
            <a:pPr marL="400050" lvl="1" indent="0">
              <a:buNone/>
            </a:pPr>
            <a:r>
              <a:rPr lang="en-US" i="1" dirty="0"/>
              <a:t>abundance CAN change and attempt to estimate the processes driving abundance change (often, survival rates; emigration and immigration are trickier)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Enables estimation of the drivers of population dynamics over extended time periods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PROGRAM MARK (to date &gt;100 different variations of capture-recapture models have been developed): </a:t>
            </a:r>
            <a:r>
              <a:rPr lang="en-US" dirty="0">
                <a:hlinkClick r:id="rId3"/>
              </a:rPr>
              <a:t>http://www.phidot.org/software/mark/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64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5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41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65760" y="1727200"/>
                <a:ext cx="8444865" cy="503015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All individuals in population are equally detectable at each sampling occasion (each capture session represents a totally random sample from the population)</a:t>
                </a:r>
              </a:p>
              <a:p>
                <a:r>
                  <a:rPr lang="en-US" dirty="0"/>
                  <a:t>Marks are not lost or missed by surveyors</a:t>
                </a:r>
              </a:p>
              <a:p>
                <a:r>
                  <a:rPr lang="en-US" dirty="0"/>
                  <a:t>All emigration is permanent (equivalent to a mortality)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 to be estimated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apparent</a:t>
                </a:r>
                <a:r>
                  <a:rPr lang="en-US" b="1" dirty="0">
                    <a:solidFill>
                      <a:srgbClr val="FF0000"/>
                    </a:solidFill>
                  </a:rPr>
                  <a:t> survival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r>
                      <a:rPr lang="en-US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) </a:t>
                </a:r>
                <a:r>
                  <a:rPr lang="en-US" dirty="0"/>
                  <a:t>– the probability of an animal surviving and remaining in the study area between time </a:t>
                </a:r>
                <a:r>
                  <a:rPr lang="en-US" i="1" dirty="0"/>
                  <a:t>t</a:t>
                </a:r>
                <a:r>
                  <a:rPr lang="en-US" dirty="0"/>
                  <a:t> and </a:t>
                </a:r>
                <a:r>
                  <a:rPr lang="en-US" i="1" dirty="0"/>
                  <a:t>t + 1 </a:t>
                </a:r>
                <a:r>
                  <a:rPr lang="en-US" dirty="0"/>
                  <a:t>(apparent because it cannot distinguish between true mortality and emigration)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b="1" dirty="0">
                    <a:solidFill>
                      <a:srgbClr val="0070C0"/>
                    </a:solidFill>
                  </a:rPr>
                  <a:t>recapture probability (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p</a:t>
                </a:r>
                <a:r>
                  <a:rPr lang="en-US" b="1" i="1" baseline="-25000" dirty="0">
                    <a:solidFill>
                      <a:srgbClr val="0070C0"/>
                    </a:solidFill>
                  </a:rPr>
                  <a:t>t</a:t>
                </a:r>
                <a:r>
                  <a:rPr lang="en-US" b="1" dirty="0">
                    <a:solidFill>
                      <a:srgbClr val="0070C0"/>
                    </a:solidFill>
                  </a:rPr>
                  <a:t>) </a:t>
                </a:r>
                <a:r>
                  <a:rPr lang="en-US" dirty="0"/>
                  <a:t>– the probability of encountering a live animal at time </a:t>
                </a:r>
                <a:r>
                  <a:rPr lang="en-US" i="1" dirty="0"/>
                  <a:t>t</a:t>
                </a:r>
                <a:r>
                  <a:rPr lang="en-US" dirty="0"/>
                  <a:t> (similar to detection probability in occupancy modeling)</a:t>
                </a:r>
              </a:p>
            </p:txBody>
          </p:sp>
        </mc:Choice>
        <mc:Fallback xmlns="">
          <p:sp>
            <p:nvSpPr>
              <p:cNvPr id="6144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65760" y="1727200"/>
                <a:ext cx="8444865" cy="5030152"/>
              </a:xfrm>
              <a:blipFill>
                <a:blip r:embed="rId3"/>
                <a:stretch>
                  <a:fillRect l="-939" t="-1939" r="-1661" b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0" y="10064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Cormack-Jolly-</a:t>
            </a:r>
            <a:r>
              <a:rPr lang="en-US" sz="4000" dirty="0" err="1">
                <a:solidFill>
                  <a:srgbClr val="000090"/>
                </a:solidFill>
                <a:latin typeface="Arial"/>
                <a:cs typeface="Arial"/>
              </a:rPr>
              <a:t>Seber</a:t>
            </a:r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</a:p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 Model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47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0064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Cormack-Jolly-</a:t>
            </a:r>
            <a:r>
              <a:rPr lang="en-US" sz="4000" dirty="0" err="1">
                <a:solidFill>
                  <a:srgbClr val="000090"/>
                </a:solidFill>
                <a:latin typeface="Arial"/>
                <a:cs typeface="Arial"/>
              </a:rPr>
              <a:t>Seber</a:t>
            </a:r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 (CJS) </a:t>
            </a:r>
          </a:p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 Model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/>
              <p:nvPr/>
            </p:nvSpPr>
            <p:spPr>
              <a:xfrm>
                <a:off x="3753829" y="1427593"/>
                <a:ext cx="1211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427593"/>
                <a:ext cx="121148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CAA33E5-3E6D-8A25-EBD0-7960F2E8731F}"/>
              </a:ext>
            </a:extLst>
          </p:cNvPr>
          <p:cNvSpPr txBox="1"/>
          <p:nvPr/>
        </p:nvSpPr>
        <p:spPr>
          <a:xfrm>
            <a:off x="133927" y="1458370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09A01-332B-81D6-4349-593C2DCD5F0C}"/>
              </a:ext>
            </a:extLst>
          </p:cNvPr>
          <p:cNvSpPr txBox="1"/>
          <p:nvPr/>
        </p:nvSpPr>
        <p:spPr>
          <a:xfrm>
            <a:off x="4976203" y="1458370"/>
            <a:ext cx="4156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survival and recapture vary by time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AA87EF-5DCC-6670-5350-38E428E948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2724"/>
          <a:stretch/>
        </p:blipFill>
        <p:spPr>
          <a:xfrm>
            <a:off x="261599" y="1871588"/>
            <a:ext cx="6690402" cy="8614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C81B31-ED3E-9663-BE36-180E36BBB8D8}"/>
              </a:ext>
            </a:extLst>
          </p:cNvPr>
          <p:cNvSpPr txBox="1"/>
          <p:nvPr/>
        </p:nvSpPr>
        <p:spPr>
          <a:xfrm>
            <a:off x="6921521" y="2051520"/>
            <a:ext cx="2089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cohort is released and survives and is recaptured with different prob’s each time</a:t>
            </a:r>
          </a:p>
        </p:txBody>
      </p:sp>
    </p:spTree>
    <p:extLst>
      <p:ext uri="{BB962C8B-B14F-4D97-AF65-F5344CB8AC3E}">
        <p14:creationId xmlns:p14="http://schemas.microsoft.com/office/powerpoint/2010/main" val="2535732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0064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Cormack-Jolly-</a:t>
            </a:r>
            <a:r>
              <a:rPr lang="en-US" sz="4000" dirty="0" err="1">
                <a:solidFill>
                  <a:srgbClr val="000090"/>
                </a:solidFill>
                <a:latin typeface="Arial"/>
                <a:cs typeface="Arial"/>
              </a:rPr>
              <a:t>Seber</a:t>
            </a:r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 (CJS) </a:t>
            </a:r>
          </a:p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/>
              <p:nvPr/>
            </p:nvSpPr>
            <p:spPr>
              <a:xfrm>
                <a:off x="3753829" y="1427593"/>
                <a:ext cx="1211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427593"/>
                <a:ext cx="121148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CAA33E5-3E6D-8A25-EBD0-7960F2E8731F}"/>
              </a:ext>
            </a:extLst>
          </p:cNvPr>
          <p:cNvSpPr txBox="1"/>
          <p:nvPr/>
        </p:nvSpPr>
        <p:spPr>
          <a:xfrm>
            <a:off x="133927" y="1458370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09A01-332B-81D6-4349-593C2DCD5F0C}"/>
              </a:ext>
            </a:extLst>
          </p:cNvPr>
          <p:cNvSpPr txBox="1"/>
          <p:nvPr/>
        </p:nvSpPr>
        <p:spPr>
          <a:xfrm>
            <a:off x="4976203" y="1458370"/>
            <a:ext cx="4156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survival and recapture vary by time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AA87EF-5DCC-6670-5350-38E428E94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99" y="1871588"/>
            <a:ext cx="6690402" cy="4986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3D9F8D-CB64-5AAA-9953-23A690B963C5}"/>
              </a:ext>
            </a:extLst>
          </p:cNvPr>
          <p:cNvSpPr txBox="1"/>
          <p:nvPr/>
        </p:nvSpPr>
        <p:spPr>
          <a:xfrm>
            <a:off x="6793057" y="2566909"/>
            <a:ext cx="20893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animals are marked and released into the population each subsequent survey, aka new ‘cohorts’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6 estimates for survival and 6 for recapture</a:t>
            </a:r>
          </a:p>
        </p:txBody>
      </p:sp>
    </p:spTree>
    <p:extLst>
      <p:ext uri="{BB962C8B-B14F-4D97-AF65-F5344CB8AC3E}">
        <p14:creationId xmlns:p14="http://schemas.microsoft.com/office/powerpoint/2010/main" val="1528480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0064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Cormack-Jolly-</a:t>
            </a:r>
            <a:r>
              <a:rPr lang="en-US" sz="4000" dirty="0" err="1">
                <a:solidFill>
                  <a:srgbClr val="000090"/>
                </a:solidFill>
                <a:latin typeface="Arial"/>
                <a:cs typeface="Arial"/>
              </a:rPr>
              <a:t>Seber</a:t>
            </a:r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 (CJS) </a:t>
            </a:r>
          </a:p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/>
              <p:nvPr/>
            </p:nvSpPr>
            <p:spPr>
              <a:xfrm>
                <a:off x="3753829" y="1427593"/>
                <a:ext cx="10899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427593"/>
                <a:ext cx="108991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CAA33E5-3E6D-8A25-EBD0-7960F2E8731F}"/>
              </a:ext>
            </a:extLst>
          </p:cNvPr>
          <p:cNvSpPr txBox="1"/>
          <p:nvPr/>
        </p:nvSpPr>
        <p:spPr>
          <a:xfrm>
            <a:off x="133927" y="1458370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09A01-332B-81D6-4349-593C2DCD5F0C}"/>
              </a:ext>
            </a:extLst>
          </p:cNvPr>
          <p:cNvSpPr txBox="1"/>
          <p:nvPr/>
        </p:nvSpPr>
        <p:spPr>
          <a:xfrm>
            <a:off x="4976203" y="1458370"/>
            <a:ext cx="4123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recapture DOES NOT vary by time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D8B451-E31D-A04D-1862-E1B74C51D4C0}"/>
              </a:ext>
            </a:extLst>
          </p:cNvPr>
          <p:cNvGrpSpPr/>
          <p:nvPr/>
        </p:nvGrpSpPr>
        <p:grpSpPr>
          <a:xfrm>
            <a:off x="261599" y="1871588"/>
            <a:ext cx="6690402" cy="4986412"/>
            <a:chOff x="261599" y="1871588"/>
            <a:chExt cx="6690402" cy="498641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AAA87EF-5DCC-6670-5350-38E428E94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599" y="1871588"/>
              <a:ext cx="6690402" cy="4986412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7F8B0B-DDF2-D5C2-E93C-C85B2D715389}"/>
                </a:ext>
              </a:extLst>
            </p:cNvPr>
            <p:cNvSpPr/>
            <p:nvPr/>
          </p:nvSpPr>
          <p:spPr>
            <a:xfrm>
              <a:off x="2413907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B54888D-781B-B70B-603E-95C0BCCCB5E2}"/>
                </a:ext>
              </a:extLst>
            </p:cNvPr>
            <p:cNvSpPr/>
            <p:nvPr/>
          </p:nvSpPr>
          <p:spPr>
            <a:xfrm>
              <a:off x="3230336" y="256630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76D20A-9183-3387-D01A-0BEE22DFB90C}"/>
                </a:ext>
              </a:extLst>
            </p:cNvPr>
            <p:cNvSpPr/>
            <p:nvPr/>
          </p:nvSpPr>
          <p:spPr>
            <a:xfrm>
              <a:off x="4046765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8B86B8-88BE-742A-4968-29AF052BEDF7}"/>
                </a:ext>
              </a:extLst>
            </p:cNvPr>
            <p:cNvSpPr/>
            <p:nvPr/>
          </p:nvSpPr>
          <p:spPr>
            <a:xfrm>
              <a:off x="4893129" y="2566305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68FA03-D4B6-4CBA-92C5-89500FE5A5E3}"/>
                </a:ext>
              </a:extLst>
            </p:cNvPr>
            <p:cNvSpPr/>
            <p:nvPr/>
          </p:nvSpPr>
          <p:spPr>
            <a:xfrm>
              <a:off x="5709558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C061C6-A228-3266-DFE7-04682C33453F}"/>
                </a:ext>
              </a:extLst>
            </p:cNvPr>
            <p:cNvSpPr/>
            <p:nvPr/>
          </p:nvSpPr>
          <p:spPr>
            <a:xfrm>
              <a:off x="6525987" y="256630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8DBA64-7F72-CDFE-263D-FF209ECB2CD9}"/>
                </a:ext>
              </a:extLst>
            </p:cNvPr>
            <p:cNvSpPr/>
            <p:nvPr/>
          </p:nvSpPr>
          <p:spPr>
            <a:xfrm>
              <a:off x="3230336" y="334871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6BA20-8115-3B22-5C80-8ABB4D1A51DC}"/>
                </a:ext>
              </a:extLst>
            </p:cNvPr>
            <p:cNvSpPr/>
            <p:nvPr/>
          </p:nvSpPr>
          <p:spPr>
            <a:xfrm>
              <a:off x="4046765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8F27DB-0019-A91D-482C-440D7C662F6C}"/>
                </a:ext>
              </a:extLst>
            </p:cNvPr>
            <p:cNvSpPr/>
            <p:nvPr/>
          </p:nvSpPr>
          <p:spPr>
            <a:xfrm>
              <a:off x="4893129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16F5C2-32E4-C93F-1F53-E4E30F42EBBC}"/>
                </a:ext>
              </a:extLst>
            </p:cNvPr>
            <p:cNvSpPr/>
            <p:nvPr/>
          </p:nvSpPr>
          <p:spPr>
            <a:xfrm>
              <a:off x="5709558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B2D21F-B285-16DA-5887-E0C5BEBE0661}"/>
                </a:ext>
              </a:extLst>
            </p:cNvPr>
            <p:cNvSpPr/>
            <p:nvPr/>
          </p:nvSpPr>
          <p:spPr>
            <a:xfrm>
              <a:off x="6525987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EC89E5D-A64F-DCA1-3947-389A4AF40F11}"/>
                </a:ext>
              </a:extLst>
            </p:cNvPr>
            <p:cNvSpPr/>
            <p:nvPr/>
          </p:nvSpPr>
          <p:spPr>
            <a:xfrm>
              <a:off x="4046765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CFB913E-4C17-C45C-6D1B-88EC72CC444B}"/>
                </a:ext>
              </a:extLst>
            </p:cNvPr>
            <p:cNvSpPr/>
            <p:nvPr/>
          </p:nvSpPr>
          <p:spPr>
            <a:xfrm>
              <a:off x="4893129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39F8CCD-6B2C-54DE-4A4D-FAA364666166}"/>
                </a:ext>
              </a:extLst>
            </p:cNvPr>
            <p:cNvSpPr/>
            <p:nvPr/>
          </p:nvSpPr>
          <p:spPr>
            <a:xfrm>
              <a:off x="5709558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66314F-AD8D-F029-CACC-4B7AC7A27B83}"/>
                </a:ext>
              </a:extLst>
            </p:cNvPr>
            <p:cNvSpPr/>
            <p:nvPr/>
          </p:nvSpPr>
          <p:spPr>
            <a:xfrm>
              <a:off x="6525987" y="415592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AFE88C-6E5C-240A-19D4-8D468095F1A6}"/>
                </a:ext>
              </a:extLst>
            </p:cNvPr>
            <p:cNvSpPr/>
            <p:nvPr/>
          </p:nvSpPr>
          <p:spPr>
            <a:xfrm>
              <a:off x="4871358" y="494513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E855555-37C3-9073-6136-CABD9D311CBD}"/>
                </a:ext>
              </a:extLst>
            </p:cNvPr>
            <p:cNvSpPr/>
            <p:nvPr/>
          </p:nvSpPr>
          <p:spPr>
            <a:xfrm>
              <a:off x="5709558" y="494513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80225F-CD86-27FC-C3AC-50A02F4CDBA3}"/>
                </a:ext>
              </a:extLst>
            </p:cNvPr>
            <p:cNvSpPr/>
            <p:nvPr/>
          </p:nvSpPr>
          <p:spPr>
            <a:xfrm>
              <a:off x="6524002" y="4954210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B33175-8394-1A3E-0710-BA3CD809CC51}"/>
                </a:ext>
              </a:extLst>
            </p:cNvPr>
            <p:cNvSpPr/>
            <p:nvPr/>
          </p:nvSpPr>
          <p:spPr>
            <a:xfrm>
              <a:off x="5709558" y="574100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96D744-4926-2B5F-8A9C-7469879D2DC5}"/>
                </a:ext>
              </a:extLst>
            </p:cNvPr>
            <p:cNvSpPr/>
            <p:nvPr/>
          </p:nvSpPr>
          <p:spPr>
            <a:xfrm>
              <a:off x="6525987" y="572920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48E557-7670-6D33-0543-B839E1090A11}"/>
                </a:ext>
              </a:extLst>
            </p:cNvPr>
            <p:cNvSpPr/>
            <p:nvPr/>
          </p:nvSpPr>
          <p:spPr>
            <a:xfrm>
              <a:off x="6524002" y="6527495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C2F906F-E429-23DA-18C0-1F3CE2E6133C}"/>
              </a:ext>
            </a:extLst>
          </p:cNvPr>
          <p:cNvSpPr txBox="1"/>
          <p:nvPr/>
        </p:nvSpPr>
        <p:spPr>
          <a:xfrm>
            <a:off x="6793057" y="3182049"/>
            <a:ext cx="20893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survival and recapture estimates?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Still 6 estimates for survival, but only 1 for recapture (constant recapture prob through time)</a:t>
            </a:r>
          </a:p>
        </p:txBody>
      </p:sp>
    </p:spTree>
    <p:extLst>
      <p:ext uri="{BB962C8B-B14F-4D97-AF65-F5344CB8AC3E}">
        <p14:creationId xmlns:p14="http://schemas.microsoft.com/office/powerpoint/2010/main" val="1900465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0064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Cormack-Jolly-</a:t>
            </a:r>
            <a:r>
              <a:rPr lang="en-US" sz="4000" dirty="0" err="1">
                <a:solidFill>
                  <a:srgbClr val="000090"/>
                </a:solidFill>
                <a:latin typeface="Arial"/>
                <a:cs typeface="Arial"/>
              </a:rPr>
              <a:t>Seber</a:t>
            </a:r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 (CJS) </a:t>
            </a:r>
          </a:p>
          <a:p>
            <a:pPr algn="ctr"/>
            <a:r>
              <a:rPr lang="en-US" sz="4000" dirty="0">
                <a:solidFill>
                  <a:srgbClr val="000090"/>
                </a:solidFill>
                <a:latin typeface="Arial"/>
                <a:cs typeface="Arial"/>
              </a:rPr>
              <a:t>Open Population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/>
              <p:nvPr/>
            </p:nvSpPr>
            <p:spPr>
              <a:xfrm>
                <a:off x="3753829" y="1427593"/>
                <a:ext cx="9802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889F2-7B49-F683-99DD-78C0EF1F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427593"/>
                <a:ext cx="98020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CAA33E5-3E6D-8A25-EBD0-7960F2E8731F}"/>
              </a:ext>
            </a:extLst>
          </p:cNvPr>
          <p:cNvSpPr txBox="1"/>
          <p:nvPr/>
        </p:nvSpPr>
        <p:spPr>
          <a:xfrm>
            <a:off x="133927" y="1458370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09A01-332B-81D6-4349-593C2DCD5F0C}"/>
              </a:ext>
            </a:extLst>
          </p:cNvPr>
          <p:cNvSpPr txBox="1"/>
          <p:nvPr/>
        </p:nvSpPr>
        <p:spPr>
          <a:xfrm>
            <a:off x="4976203" y="1458370"/>
            <a:ext cx="3857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parameter varies by time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E3FD75B-3DD6-47A6-BB70-00BD55B33CEF}"/>
              </a:ext>
            </a:extLst>
          </p:cNvPr>
          <p:cNvGrpSpPr/>
          <p:nvPr/>
        </p:nvGrpSpPr>
        <p:grpSpPr>
          <a:xfrm>
            <a:off x="261599" y="1871588"/>
            <a:ext cx="6690402" cy="4986412"/>
            <a:chOff x="261599" y="1871588"/>
            <a:chExt cx="6690402" cy="49864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FD8B451-E31D-A04D-1862-E1B74C51D4C0}"/>
                </a:ext>
              </a:extLst>
            </p:cNvPr>
            <p:cNvGrpSpPr/>
            <p:nvPr/>
          </p:nvGrpSpPr>
          <p:grpSpPr>
            <a:xfrm>
              <a:off x="261599" y="1871588"/>
              <a:ext cx="6690402" cy="4986412"/>
              <a:chOff x="261599" y="1871588"/>
              <a:chExt cx="6690402" cy="498641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AAA87EF-5DCC-6670-5350-38E428E948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599" y="1871588"/>
                <a:ext cx="6690402" cy="4986412"/>
              </a:xfrm>
              <a:prstGeom prst="rect">
                <a:avLst/>
              </a:prstGeom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97F8B0B-DDF2-D5C2-E93C-C85B2D715389}"/>
                  </a:ext>
                </a:extLst>
              </p:cNvPr>
              <p:cNvSpPr/>
              <p:nvPr/>
            </p:nvSpPr>
            <p:spPr>
              <a:xfrm>
                <a:off x="2413907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B54888D-781B-B70B-603E-95C0BCCCB5E2}"/>
                  </a:ext>
                </a:extLst>
              </p:cNvPr>
              <p:cNvSpPr/>
              <p:nvPr/>
            </p:nvSpPr>
            <p:spPr>
              <a:xfrm>
                <a:off x="3230336" y="256630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E76D20A-9183-3387-D01A-0BEE22DFB90C}"/>
                  </a:ext>
                </a:extLst>
              </p:cNvPr>
              <p:cNvSpPr/>
              <p:nvPr/>
            </p:nvSpPr>
            <p:spPr>
              <a:xfrm>
                <a:off x="4046765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88B86B8-88BE-742A-4968-29AF052BEDF7}"/>
                  </a:ext>
                </a:extLst>
              </p:cNvPr>
              <p:cNvSpPr/>
              <p:nvPr/>
            </p:nvSpPr>
            <p:spPr>
              <a:xfrm>
                <a:off x="4893129" y="2566305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968FA03-D4B6-4CBA-92C5-89500FE5A5E3}"/>
                  </a:ext>
                </a:extLst>
              </p:cNvPr>
              <p:cNvSpPr/>
              <p:nvPr/>
            </p:nvSpPr>
            <p:spPr>
              <a:xfrm>
                <a:off x="5709558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3C061C6-A228-3266-DFE7-04682C33453F}"/>
                  </a:ext>
                </a:extLst>
              </p:cNvPr>
              <p:cNvSpPr/>
              <p:nvPr/>
            </p:nvSpPr>
            <p:spPr>
              <a:xfrm>
                <a:off x="6525987" y="2566304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08DBA64-7F72-CDFE-263D-FF209ECB2CD9}"/>
                  </a:ext>
                </a:extLst>
              </p:cNvPr>
              <p:cNvSpPr/>
              <p:nvPr/>
            </p:nvSpPr>
            <p:spPr>
              <a:xfrm>
                <a:off x="3230336" y="3348717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36BA20-8115-3B22-5C80-8ABB4D1A51DC}"/>
                  </a:ext>
                </a:extLst>
              </p:cNvPr>
              <p:cNvSpPr/>
              <p:nvPr/>
            </p:nvSpPr>
            <p:spPr>
              <a:xfrm>
                <a:off x="4046765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B8F27DB-0019-A91D-482C-440D7C662F6C}"/>
                  </a:ext>
                </a:extLst>
              </p:cNvPr>
              <p:cNvSpPr/>
              <p:nvPr/>
            </p:nvSpPr>
            <p:spPr>
              <a:xfrm>
                <a:off x="4893129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D16F5C2-32E4-C93F-1F53-E4E30F42EBBC}"/>
                  </a:ext>
                </a:extLst>
              </p:cNvPr>
              <p:cNvSpPr/>
              <p:nvPr/>
            </p:nvSpPr>
            <p:spPr>
              <a:xfrm>
                <a:off x="5709558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FB2D21F-B285-16DA-5887-E0C5BEBE0661}"/>
                  </a:ext>
                </a:extLst>
              </p:cNvPr>
              <p:cNvSpPr/>
              <p:nvPr/>
            </p:nvSpPr>
            <p:spPr>
              <a:xfrm>
                <a:off x="6525987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C89E5D-A64F-DCA1-3947-389A4AF40F11}"/>
                  </a:ext>
                </a:extLst>
              </p:cNvPr>
              <p:cNvSpPr/>
              <p:nvPr/>
            </p:nvSpPr>
            <p:spPr>
              <a:xfrm>
                <a:off x="4046765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CFB913E-4C17-C45C-6D1B-88EC72CC444B}"/>
                  </a:ext>
                </a:extLst>
              </p:cNvPr>
              <p:cNvSpPr/>
              <p:nvPr/>
            </p:nvSpPr>
            <p:spPr>
              <a:xfrm>
                <a:off x="4893129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39F8CCD-6B2C-54DE-4A4D-FAA364666166}"/>
                  </a:ext>
                </a:extLst>
              </p:cNvPr>
              <p:cNvSpPr/>
              <p:nvPr/>
            </p:nvSpPr>
            <p:spPr>
              <a:xfrm>
                <a:off x="5709558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66314F-AD8D-F029-CACC-4B7AC7A27B83}"/>
                  </a:ext>
                </a:extLst>
              </p:cNvPr>
              <p:cNvSpPr/>
              <p:nvPr/>
            </p:nvSpPr>
            <p:spPr>
              <a:xfrm>
                <a:off x="6525987" y="4155923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0AFE88C-6E5C-240A-19D4-8D468095F1A6}"/>
                  </a:ext>
                </a:extLst>
              </p:cNvPr>
              <p:cNvSpPr/>
              <p:nvPr/>
            </p:nvSpPr>
            <p:spPr>
              <a:xfrm>
                <a:off x="4871358" y="494513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E855555-37C3-9073-6136-CABD9D311CBD}"/>
                  </a:ext>
                </a:extLst>
              </p:cNvPr>
              <p:cNvSpPr/>
              <p:nvPr/>
            </p:nvSpPr>
            <p:spPr>
              <a:xfrm>
                <a:off x="5709558" y="4945137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080225F-CD86-27FC-C3AC-50A02F4CDBA3}"/>
                  </a:ext>
                </a:extLst>
              </p:cNvPr>
              <p:cNvSpPr/>
              <p:nvPr/>
            </p:nvSpPr>
            <p:spPr>
              <a:xfrm>
                <a:off x="6524002" y="4954210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1B33175-8394-1A3E-0710-BA3CD809CC51}"/>
                  </a:ext>
                </a:extLst>
              </p:cNvPr>
              <p:cNvSpPr/>
              <p:nvPr/>
            </p:nvSpPr>
            <p:spPr>
              <a:xfrm>
                <a:off x="5709558" y="5741003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196D744-4926-2B5F-8A9C-7469879D2DC5}"/>
                  </a:ext>
                </a:extLst>
              </p:cNvPr>
              <p:cNvSpPr/>
              <p:nvPr/>
            </p:nvSpPr>
            <p:spPr>
              <a:xfrm>
                <a:off x="6525987" y="572920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B48E557-7670-6D33-0543-B839E1090A11}"/>
                  </a:ext>
                </a:extLst>
              </p:cNvPr>
              <p:cNvSpPr/>
              <p:nvPr/>
            </p:nvSpPr>
            <p:spPr>
              <a:xfrm>
                <a:off x="6524002" y="6527495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55BACCF-985E-0E78-47D6-2C29FFE56ABC}"/>
                </a:ext>
              </a:extLst>
            </p:cNvPr>
            <p:cNvSpPr/>
            <p:nvPr/>
          </p:nvSpPr>
          <p:spPr>
            <a:xfrm>
              <a:off x="2007507" y="208642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2499E3-FBED-1E16-20E8-07A91036FA23}"/>
                </a:ext>
              </a:extLst>
            </p:cNvPr>
            <p:cNvSpPr/>
            <p:nvPr/>
          </p:nvSpPr>
          <p:spPr>
            <a:xfrm>
              <a:off x="2829379" y="208642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FA0E96-BC54-6FD3-FDA8-1391BD52283F}"/>
                </a:ext>
              </a:extLst>
            </p:cNvPr>
            <p:cNvSpPr/>
            <p:nvPr/>
          </p:nvSpPr>
          <p:spPr>
            <a:xfrm>
              <a:off x="3651251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56168C1-E25E-3343-FF35-9EF6AF409C87}"/>
                </a:ext>
              </a:extLst>
            </p:cNvPr>
            <p:cNvSpPr/>
            <p:nvPr/>
          </p:nvSpPr>
          <p:spPr>
            <a:xfrm>
              <a:off x="4479754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826288-D3EB-DD5F-1632-E21C0EF1827C}"/>
                </a:ext>
              </a:extLst>
            </p:cNvPr>
            <p:cNvSpPr/>
            <p:nvPr/>
          </p:nvSpPr>
          <p:spPr>
            <a:xfrm>
              <a:off x="5288643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8FC4B5-FD3B-09FD-372A-3BFF0128EF8C}"/>
                </a:ext>
              </a:extLst>
            </p:cNvPr>
            <p:cNvSpPr/>
            <p:nvPr/>
          </p:nvSpPr>
          <p:spPr>
            <a:xfrm>
              <a:off x="6120322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00137F-E2E6-A725-6316-91D3561CEBE3}"/>
                </a:ext>
              </a:extLst>
            </p:cNvPr>
            <p:cNvSpPr/>
            <p:nvPr/>
          </p:nvSpPr>
          <p:spPr>
            <a:xfrm>
              <a:off x="3651251" y="28801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5AD427C-4481-9ECD-9FBF-9F3ECF66944A}"/>
                </a:ext>
              </a:extLst>
            </p:cNvPr>
            <p:cNvSpPr/>
            <p:nvPr/>
          </p:nvSpPr>
          <p:spPr>
            <a:xfrm>
              <a:off x="4479754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400FA7D-283E-8531-3E76-C5D1DC435F4A}"/>
                </a:ext>
              </a:extLst>
            </p:cNvPr>
            <p:cNvSpPr/>
            <p:nvPr/>
          </p:nvSpPr>
          <p:spPr>
            <a:xfrm>
              <a:off x="5288643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CD7C7D6-4D54-F87A-FDA8-B19D2E43C5D4}"/>
                </a:ext>
              </a:extLst>
            </p:cNvPr>
            <p:cNvSpPr/>
            <p:nvPr/>
          </p:nvSpPr>
          <p:spPr>
            <a:xfrm>
              <a:off x="6120322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21B9AFA-6914-E547-F3CC-E936C061CE39}"/>
                </a:ext>
              </a:extLst>
            </p:cNvPr>
            <p:cNvSpPr/>
            <p:nvPr/>
          </p:nvSpPr>
          <p:spPr>
            <a:xfrm>
              <a:off x="2837543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D6D244C-6337-149F-FC5D-C2BDA721F009}"/>
                </a:ext>
              </a:extLst>
            </p:cNvPr>
            <p:cNvSpPr/>
            <p:nvPr/>
          </p:nvSpPr>
          <p:spPr>
            <a:xfrm>
              <a:off x="3651251" y="365669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D8D3CF-7F85-780B-D747-80832B6616C3}"/>
                </a:ext>
              </a:extLst>
            </p:cNvPr>
            <p:cNvSpPr/>
            <p:nvPr/>
          </p:nvSpPr>
          <p:spPr>
            <a:xfrm>
              <a:off x="4479754" y="3679372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8FD3E01-5863-481A-5694-4F01A4F08ABE}"/>
                </a:ext>
              </a:extLst>
            </p:cNvPr>
            <p:cNvSpPr/>
            <p:nvPr/>
          </p:nvSpPr>
          <p:spPr>
            <a:xfrm>
              <a:off x="5288643" y="3656692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BAEB37-DB49-763F-2A50-322D5D8B662C}"/>
                </a:ext>
              </a:extLst>
            </p:cNvPr>
            <p:cNvSpPr/>
            <p:nvPr/>
          </p:nvSpPr>
          <p:spPr>
            <a:xfrm>
              <a:off x="6120322" y="36793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B3E4B3C-7AF7-01C5-1BD3-6366CBC0686D}"/>
                </a:ext>
              </a:extLst>
            </p:cNvPr>
            <p:cNvSpPr/>
            <p:nvPr/>
          </p:nvSpPr>
          <p:spPr>
            <a:xfrm>
              <a:off x="4479754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4D323EB-CFB6-4DFD-3DA6-B518CCF146D0}"/>
                </a:ext>
              </a:extLst>
            </p:cNvPr>
            <p:cNvSpPr/>
            <p:nvPr/>
          </p:nvSpPr>
          <p:spPr>
            <a:xfrm>
              <a:off x="5288643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5BB6419-CAD0-87F9-C3CD-D67A84741B13}"/>
                </a:ext>
              </a:extLst>
            </p:cNvPr>
            <p:cNvSpPr/>
            <p:nvPr/>
          </p:nvSpPr>
          <p:spPr>
            <a:xfrm>
              <a:off x="6120322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0BD51CD-C60A-5BAD-9805-032725707471}"/>
                </a:ext>
              </a:extLst>
            </p:cNvPr>
            <p:cNvSpPr/>
            <p:nvPr/>
          </p:nvSpPr>
          <p:spPr>
            <a:xfrm>
              <a:off x="5283839" y="523693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315FCE7-9901-B339-B709-0839F9EAB4ED}"/>
                </a:ext>
              </a:extLst>
            </p:cNvPr>
            <p:cNvSpPr/>
            <p:nvPr/>
          </p:nvSpPr>
          <p:spPr>
            <a:xfrm>
              <a:off x="6120322" y="523693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9ED391-AB4E-F5DF-1EDE-F9E22B671C4E}"/>
                </a:ext>
              </a:extLst>
            </p:cNvPr>
            <p:cNvSpPr/>
            <p:nvPr/>
          </p:nvSpPr>
          <p:spPr>
            <a:xfrm>
              <a:off x="6120322" y="604746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C2F906F-E429-23DA-18C0-1F3CE2E6133C}"/>
              </a:ext>
            </a:extLst>
          </p:cNvPr>
          <p:cNvSpPr txBox="1"/>
          <p:nvPr/>
        </p:nvSpPr>
        <p:spPr>
          <a:xfrm>
            <a:off x="6793057" y="3182049"/>
            <a:ext cx="20893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survival and recapture estimates?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1 estimate for survival and only 1 for recapture (constant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surv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recapture prob through time)</a:t>
            </a:r>
          </a:p>
        </p:txBody>
      </p:sp>
    </p:spTree>
    <p:extLst>
      <p:ext uri="{BB962C8B-B14F-4D97-AF65-F5344CB8AC3E}">
        <p14:creationId xmlns:p14="http://schemas.microsoft.com/office/powerpoint/2010/main" val="1806056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17311</TotalTime>
  <Words>2260</Words>
  <Application>Microsoft Office PowerPoint</Application>
  <PresentationFormat>On-screen Show (4:3)</PresentationFormat>
  <Paragraphs>337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Office Theme</vt:lpstr>
      <vt:lpstr>Equation</vt:lpstr>
      <vt:lpstr>PowerPoint Presentation</vt:lpstr>
      <vt:lpstr>PowerPoint Presentation</vt:lpstr>
      <vt:lpstr>Why is estimating population size so challenging?</vt:lpstr>
      <vt:lpstr>PowerPoint Presentation</vt:lpstr>
      <vt:lpstr>Estimating survival and fecundity using census data</vt:lpstr>
      <vt:lpstr>Estimating survival and fecundity using census data</vt:lpstr>
      <vt:lpstr>Estimating survival and fecundity using census data</vt:lpstr>
      <vt:lpstr>Designing successful sampling to evaluate abundance and density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Victoria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</dc:creator>
  <cp:lastModifiedBy>Viorel Popescu</cp:lastModifiedBy>
  <cp:revision>758</cp:revision>
  <dcterms:created xsi:type="dcterms:W3CDTF">2001-01-01T00:04:48Z</dcterms:created>
  <dcterms:modified xsi:type="dcterms:W3CDTF">2024-03-22T15:45:41Z</dcterms:modified>
</cp:coreProperties>
</file>