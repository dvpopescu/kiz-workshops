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5.xml" ContentType="application/vnd.openxmlformats-officedocument.presentationml.slideLayou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1.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3004800" cy="9753600"/>
  <p:notesSz cx="6858000" cy="9144000"/>
  <p:embeddedFontLst>
    <p:embeddedFont>
      <p:font typeface="Helvetica Neue" panose="02000503000000020004" pitchFamily="2" charset="0"/>
      <p:regular r:id="rId19"/>
      <p:bold r:id="rId20"/>
      <p:italic r:id="rId21"/>
      <p:boldItalic r:id="rId22"/>
    </p:embeddedFont>
    <p:embeddedFont>
      <p:font typeface="Helvetica Neue Light" panose="02000403000000020004"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gCmDegFnFQ16IURWStTd9Zidd+R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77"/>
    <p:restoredTop sz="66692"/>
  </p:normalViewPr>
  <p:slideViewPr>
    <p:cSldViewPr snapToGrid="0">
      <p:cViewPr varScale="1">
        <p:scale>
          <a:sx n="51" d="100"/>
          <a:sy n="51" d="100"/>
        </p:scale>
        <p:origin x="496" y="192"/>
      </p:cViewPr>
      <p:guideLst>
        <p:guide orient="horz" pos="3072"/>
        <p:guide pos="40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30" Type="http://customschemas.google.com/relationships/presentationmetadata" Target="metadata"/><Relationship Id="rId35" Type="http://schemas.openxmlformats.org/officeDocument/2006/relationships/customXml" Target="../customXml/item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1pPr>
            <a:lvl2pPr marL="914400" marR="0" lvl="1"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2pPr>
            <a:lvl3pPr marL="1371600" marR="0" lvl="2"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3pPr>
            <a:lvl4pPr marL="1828800" marR="0" lvl="3"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4pPr>
            <a:lvl5pPr marL="2286000" marR="0" lvl="4"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sz="1600" dirty="0"/>
          </a:p>
        </p:txBody>
      </p:sp>
      <p:sp>
        <p:nvSpPr>
          <p:cNvPr id="57" name="Google Shape;5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en-US" sz="1500" dirty="0"/>
              <a:t>Image credit: A. Paz.</a:t>
            </a:r>
            <a:endParaRPr sz="1500" dirty="0"/>
          </a:p>
        </p:txBody>
      </p:sp>
      <p:sp>
        <p:nvSpPr>
          <p:cNvPr id="64" name="Google Shape;6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73" name="Google Shape;7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en-US" sz="1600" dirty="0"/>
              <a:t>Image credit: Adapted by A. Paz from Paz, A., A. Gonzalez, and A.J. Crawford. 2019. Testing effects of Pleistocene climate change on the altitudinal and horizontal distributions of frogs from the Colombian Andes: a species distribution modeling approach. Frontiers of biogeography 11:e37055.</a:t>
            </a:r>
            <a:endParaRPr sz="1600" dirty="0"/>
          </a:p>
          <a:p>
            <a:pPr marL="0" lvl="0" indent="0" algn="l" rtl="0">
              <a:lnSpc>
                <a:spcPct val="117999"/>
              </a:lnSpc>
              <a:spcBef>
                <a:spcPts val="0"/>
              </a:spcBef>
              <a:spcAft>
                <a:spcPts val="0"/>
              </a:spcAft>
              <a:buSzPts val="1400"/>
              <a:buNone/>
            </a:pPr>
            <a:endParaRPr sz="1600" dirty="0"/>
          </a:p>
        </p:txBody>
      </p:sp>
      <p:sp>
        <p:nvSpPr>
          <p:cNvPr id="79" name="Google Shape;7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a:spcBef>
                <a:spcPts val="0"/>
              </a:spcBef>
              <a:spcAft>
                <a:spcPts val="0"/>
              </a:spcAft>
            </a:pPr>
            <a:r>
              <a:rPr lang="en-US" sz="1800">
                <a:effectLst/>
                <a:latin typeface="Arial" panose="020B0604020202020204" pitchFamily="34" charset="0"/>
                <a:ea typeface="Calibri" panose="020F0502020204030204" pitchFamily="34" charset="0"/>
                <a:cs typeface="Times New Roman" panose="02020603050405020304" pitchFamily="18" charset="0"/>
              </a:rPr>
              <a:t>Paz</a:t>
            </a:r>
            <a:r>
              <a:rPr lang="en-US" sz="1800" dirty="0">
                <a:effectLst/>
                <a:latin typeface="Arial" panose="020B0604020202020204" pitchFamily="34" charset="0"/>
                <a:ea typeface="Calibri" panose="020F0502020204030204" pitchFamily="34" charset="0"/>
                <a:cs typeface="Times New Roman" panose="02020603050405020304" pitchFamily="18" charset="0"/>
              </a:rPr>
              <a:t>, A., A. Gonzalez, and A.J. Crawford. 2019. Testing effects of Pleistocene climate change on the altitudinal and horizontal distributions of frogs from the Colombian Andes: a species distribution modeling approach. Frontiers of biogeography 11:e37055.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sz="1700" dirty="0"/>
          </a:p>
        </p:txBody>
      </p:sp>
      <p:sp>
        <p:nvSpPr>
          <p:cNvPr id="89" name="Google Shape;8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17999"/>
              </a:lnSpc>
              <a:spcBef>
                <a:spcPts val="0"/>
              </a:spcBef>
              <a:spcAft>
                <a:spcPts val="0"/>
              </a:spcAft>
              <a:buClr>
                <a:srgbClr val="000000"/>
              </a:buClr>
              <a:buSzPts val="1400"/>
              <a:buFont typeface="Arial"/>
              <a:buNone/>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Adapted by A. Paz from Paz, A., A. Gonzalez, and A.J. Crawford. 2019. Testing effects of Pleistocene climate change on the altitudinal and horizontal distributions of frogs from the Colombian Andes: a species distribution modeling approach. Frontiers of biogeography 11:e37055.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dirty="0"/>
          </a:p>
        </p:txBody>
      </p:sp>
      <p:sp>
        <p:nvSpPr>
          <p:cNvPr id="101" name="Google Shape;10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en-US"/>
              <a:t>Image credit: Muscarella, R., P.J. Galante, M. Soley-Guardia, R.A. Boria, J.M. Kass, M. Uriarte, and R.A. Anderson. 2014. ENMeval: An R package for conducting spatially independent evaluations and estimating optimal model complexity for Maxent ecological niche models, Methods in Ecology and Evolution 5(11):1198-1205.</a:t>
            </a:r>
            <a:endParaRPr lang="en-US" dirty="0"/>
          </a:p>
        </p:txBody>
      </p:sp>
      <p:sp>
        <p:nvSpPr>
          <p:cNvPr id="110" name="Google Shape;11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US" sz="1600" dirty="0">
                <a:solidFill>
                  <a:schemeClr val="dk1"/>
                </a:solidFill>
              </a:rPr>
              <a:t>Image credits: Adapted by A. Paz from </a:t>
            </a:r>
            <a:r>
              <a:rPr lang="en-US" sz="1800" dirty="0">
                <a:effectLst/>
                <a:latin typeface="Arial" panose="020B0604020202020204" pitchFamily="34" charset="0"/>
                <a:ea typeface="Calibri" panose="020F0502020204030204" pitchFamily="34" charset="0"/>
              </a:rPr>
              <a:t>Paz, A., A. Gonzalez, and A.J. Crawford. 2019. Testing effects of Pleistocene climate change on the altitudinal and horizontal distributions of frogs from the Colombian Andes: a species distribution modeling approach. Frontiers of biogeography 11:e37055.</a:t>
            </a:r>
            <a:r>
              <a:rPr lang="en-US" sz="1200" dirty="0">
                <a:effectLst/>
              </a:rPr>
              <a:t> </a:t>
            </a:r>
            <a:endParaRPr lang="en-US" dirty="0"/>
          </a:p>
        </p:txBody>
      </p:sp>
      <p:sp>
        <p:nvSpPr>
          <p:cNvPr id="118" name="Google Shape;11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17999"/>
              </a:lnSpc>
              <a:spcBef>
                <a:spcPts val="0"/>
              </a:spcBef>
              <a:spcAft>
                <a:spcPts val="0"/>
              </a:spcAft>
              <a:buClr>
                <a:srgbClr val="000000"/>
              </a:buClr>
              <a:buSzPts val="1400"/>
              <a:buFont typeface="Arial"/>
              <a:buNone/>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Adapted by A. Paz from Paz, A., A. Gonzalez, and A.J. Crawford. 2019. Testing effects of Pleistocene climate change on the altitudinal and horizontal distributions of frogs from the Colombian Andes: a species distribution modeling approach. Frontiers of biogeography 11:e37055.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lang="en-US" dirty="0"/>
          </a:p>
        </p:txBody>
      </p:sp>
      <p:sp>
        <p:nvSpPr>
          <p:cNvPr id="131" name="Google Shape;13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Adapted by A. Paz from Paz, A., A. Gonzalez, and A.J. Crawford. 2019. Testing effects of Pleistocene climate change on the altitudinal and horizontal distributions of frogs from the Colombian Andes: a species distribution modeling approach. Frontiers of biogeography 11:e37055.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dirty="0"/>
          </a:p>
        </p:txBody>
      </p:sp>
      <p:sp>
        <p:nvSpPr>
          <p:cNvPr id="142" name="Google Shape;14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en-US" dirty="0"/>
              <a:t>Image credit: A. Paz.</a:t>
            </a:r>
          </a:p>
        </p:txBody>
      </p:sp>
      <p:sp>
        <p:nvSpPr>
          <p:cNvPr id="158" name="Google Shape;15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en-US" dirty="0"/>
              <a:t>Image credit: </a:t>
            </a:r>
            <a:r>
              <a:rPr lang="en-US" dirty="0" err="1"/>
              <a:t>Hirzel</a:t>
            </a:r>
            <a:r>
              <a:rPr lang="en-US" dirty="0"/>
              <a:t> et al. 2006</a:t>
            </a:r>
            <a:endParaRPr dirty="0"/>
          </a:p>
        </p:txBody>
      </p:sp>
      <p:sp>
        <p:nvSpPr>
          <p:cNvPr id="165" name="Google Shape;16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Adapted by A. Paz from Paz, A., A. Gonzalez, and A.J. Crawford. 2019. Testing effects of Pleistocene climate change on the altitudinal and horizontal distributions of frogs from the Colombian Andes: a species distribution modeling approach. Frontiers of biogeography 11:e37055.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dirty="0"/>
          </a:p>
        </p:txBody>
      </p:sp>
      <p:sp>
        <p:nvSpPr>
          <p:cNvPr id="176" name="Google Shape;17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17999"/>
              </a:lnSpc>
              <a:spcBef>
                <a:spcPts val="0"/>
              </a:spcBef>
              <a:spcAft>
                <a:spcPts val="0"/>
              </a:spcAft>
              <a:buClr>
                <a:srgbClr val="000000"/>
              </a:buClr>
              <a:buSzPts val="1400"/>
              <a:buFont typeface="Arial"/>
              <a:buNone/>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credits: Adapted by A. Paz from Paz, A., A. Gonzalez, and A.J. Crawford. 2019. Testing effects of Pleistocene climate change on the altitudinal and horizontal distributions of frogs from the Colombian Andes: a species distribution modeling approach. Frontiers of biogeography 11:e37055.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dirty="0"/>
          </a:p>
        </p:txBody>
      </p:sp>
      <p:sp>
        <p:nvSpPr>
          <p:cNvPr id="185" name="Google Shape;18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17999"/>
              </a:lnSpc>
              <a:spcBef>
                <a:spcPts val="0"/>
              </a:spcBef>
              <a:spcAft>
                <a:spcPts val="0"/>
              </a:spcAft>
              <a:buClr>
                <a:srgbClr val="000000"/>
              </a:buClr>
              <a:buSzPts val="1400"/>
              <a:buFont typeface="Arial"/>
              <a:buNone/>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Adapted by A. Paz from Paz, A., A. Gonzalez, and A.J. Crawford. 2019. Testing effects of Pleistocene climate change on the altitudinal and horizontal distributions of frogs from the Colombian Andes: a species distribution modeling approach. Frontiers of biogeography 11:e37055.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dirty="0"/>
          </a:p>
        </p:txBody>
      </p:sp>
      <p:sp>
        <p:nvSpPr>
          <p:cNvPr id="194" name="Google Shape;19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203" name="Google Shape;20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1270000" y="1638300"/>
            <a:ext cx="10464800" cy="33020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11" name="Google Shape;11;p18"/>
          <p:cNvSpPr txBox="1">
            <a:spLocks noGrp="1"/>
          </p:cNvSpPr>
          <p:nvPr>
            <p:ph type="body" idx="1"/>
          </p:nvPr>
        </p:nvSpPr>
        <p:spPr>
          <a:xfrm>
            <a:off x="1270000" y="50292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FFFFFF"/>
              </a:buClr>
              <a:buSzPts val="3700"/>
              <a:buFont typeface="Helvetica Neue"/>
              <a:buNone/>
              <a:defRPr sz="3700"/>
            </a:lvl1pPr>
            <a:lvl2pPr marL="914400" lvl="1" indent="-228600" algn="ctr">
              <a:lnSpc>
                <a:spcPct val="100000"/>
              </a:lnSpc>
              <a:spcBef>
                <a:spcPts val="0"/>
              </a:spcBef>
              <a:spcAft>
                <a:spcPts val="0"/>
              </a:spcAft>
              <a:buClr>
                <a:srgbClr val="FFFFFF"/>
              </a:buClr>
              <a:buSzPts val="3700"/>
              <a:buFont typeface="Helvetica Neue"/>
              <a:buNone/>
              <a:defRPr sz="3700"/>
            </a:lvl2pPr>
            <a:lvl3pPr marL="1371600" lvl="2" indent="-228600" algn="ctr">
              <a:lnSpc>
                <a:spcPct val="100000"/>
              </a:lnSpc>
              <a:spcBef>
                <a:spcPts val="0"/>
              </a:spcBef>
              <a:spcAft>
                <a:spcPts val="0"/>
              </a:spcAft>
              <a:buClr>
                <a:srgbClr val="FFFFFF"/>
              </a:buClr>
              <a:buSzPts val="3700"/>
              <a:buFont typeface="Helvetica Neue"/>
              <a:buNone/>
              <a:defRPr sz="3700"/>
            </a:lvl3pPr>
            <a:lvl4pPr marL="1828800" lvl="3" indent="-228600" algn="ctr">
              <a:lnSpc>
                <a:spcPct val="100000"/>
              </a:lnSpc>
              <a:spcBef>
                <a:spcPts val="0"/>
              </a:spcBef>
              <a:spcAft>
                <a:spcPts val="0"/>
              </a:spcAft>
              <a:buClr>
                <a:srgbClr val="FFFFFF"/>
              </a:buClr>
              <a:buSzPts val="3700"/>
              <a:buFont typeface="Helvetica Neue"/>
              <a:buNone/>
              <a:defRPr sz="3700"/>
            </a:lvl4pPr>
            <a:lvl5pPr marL="2286000" lvl="4" indent="-228600" algn="ctr">
              <a:lnSpc>
                <a:spcPct val="100000"/>
              </a:lnSpc>
              <a:spcBef>
                <a:spcPts val="0"/>
              </a:spcBef>
              <a:spcAft>
                <a:spcPts val="0"/>
              </a:spcAft>
              <a:buClr>
                <a:srgbClr val="FFFFFF"/>
              </a:buClr>
              <a:buSzPts val="3700"/>
              <a:buFont typeface="Helvetica Neue"/>
              <a:buNone/>
              <a:defRPr sz="3700"/>
            </a:lvl5pPr>
            <a:lvl6pPr marL="2743200" lvl="5" indent="-394335" algn="l">
              <a:lnSpc>
                <a:spcPct val="100000"/>
              </a:lnSpc>
              <a:spcBef>
                <a:spcPts val="4200"/>
              </a:spcBef>
              <a:spcAft>
                <a:spcPts val="0"/>
              </a:spcAft>
              <a:buSzPts val="2610"/>
              <a:buChar char="•"/>
              <a:defRPr/>
            </a:lvl6pPr>
            <a:lvl7pPr marL="3200400" lvl="6" indent="-394335" algn="l">
              <a:lnSpc>
                <a:spcPct val="100000"/>
              </a:lnSpc>
              <a:spcBef>
                <a:spcPts val="4200"/>
              </a:spcBef>
              <a:spcAft>
                <a:spcPts val="0"/>
              </a:spcAft>
              <a:buSzPts val="2610"/>
              <a:buChar char="•"/>
              <a:defRPr/>
            </a:lvl7pPr>
            <a:lvl8pPr marL="3657600" lvl="7" indent="-394334" algn="l">
              <a:lnSpc>
                <a:spcPct val="100000"/>
              </a:lnSpc>
              <a:spcBef>
                <a:spcPts val="4200"/>
              </a:spcBef>
              <a:spcAft>
                <a:spcPts val="0"/>
              </a:spcAft>
              <a:buSzPts val="2610"/>
              <a:buChar char="•"/>
              <a:defRPr/>
            </a:lvl8pPr>
            <a:lvl9pPr marL="4114800" lvl="8" indent="-394334" algn="l">
              <a:lnSpc>
                <a:spcPct val="100000"/>
              </a:lnSpc>
              <a:spcBef>
                <a:spcPts val="4200"/>
              </a:spcBef>
              <a:spcAft>
                <a:spcPts val="0"/>
              </a:spcAft>
              <a:buSzPts val="2610"/>
              <a:buChar char="•"/>
              <a:defRPr/>
            </a:lvl9pPr>
          </a:lstStyle>
          <a:p>
            <a:endParaRPr/>
          </a:p>
        </p:txBody>
      </p:sp>
      <p:sp>
        <p:nvSpPr>
          <p:cNvPr id="12" name="Google Shape;12;p18"/>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Bullets" type="tx">
  <p:cSld name="TITLE_AND_BODY">
    <p:spTree>
      <p:nvGrpSpPr>
        <p:cNvPr id="1" name="Shape 13"/>
        <p:cNvGrpSpPr/>
        <p:nvPr/>
      </p:nvGrpSpPr>
      <p:grpSpPr>
        <a:xfrm>
          <a:off x="0" y="0"/>
          <a:ext cx="0" cy="0"/>
          <a:chOff x="0" y="0"/>
          <a:chExt cx="0" cy="0"/>
        </a:xfrm>
      </p:grpSpPr>
      <p:sp>
        <p:nvSpPr>
          <p:cNvPr id="14" name="Google Shape;14;p19"/>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15" name="Google Shape;15;p19"/>
          <p:cNvSpPr txBox="1">
            <a:spLocks noGrp="1"/>
          </p:cNvSpPr>
          <p:nvPr>
            <p:ph type="body" idx="1"/>
          </p:nvPr>
        </p:nvSpPr>
        <p:spPr>
          <a:xfrm>
            <a:off x="952500" y="2590800"/>
            <a:ext cx="11099800" cy="6286500"/>
          </a:xfrm>
          <a:prstGeom prst="rect">
            <a:avLst/>
          </a:prstGeom>
          <a:noFill/>
          <a:ln>
            <a:noFill/>
          </a:ln>
        </p:spPr>
        <p:txBody>
          <a:bodyPr spcFirstLastPara="1" wrap="square" lIns="50800" tIns="50800" rIns="50800" bIns="50800" anchor="ctr" anchorCtr="0">
            <a:normAutofit/>
          </a:bodyPr>
          <a:lstStyle>
            <a:lvl1pPr marL="457200" lvl="0" indent="-394335" algn="l">
              <a:lnSpc>
                <a:spcPct val="100000"/>
              </a:lnSpc>
              <a:spcBef>
                <a:spcPts val="4200"/>
              </a:spcBef>
              <a:spcAft>
                <a:spcPts val="0"/>
              </a:spcAft>
              <a:buClr>
                <a:srgbClr val="FFFFFF"/>
              </a:buClr>
              <a:buSzPts val="2610"/>
              <a:buChar char="•"/>
              <a:defRPr/>
            </a:lvl1pPr>
            <a:lvl2pPr marL="914400" lvl="1" indent="-394335" algn="l">
              <a:lnSpc>
                <a:spcPct val="100000"/>
              </a:lnSpc>
              <a:spcBef>
                <a:spcPts val="4200"/>
              </a:spcBef>
              <a:spcAft>
                <a:spcPts val="0"/>
              </a:spcAft>
              <a:buClr>
                <a:srgbClr val="FFFFFF"/>
              </a:buClr>
              <a:buSzPts val="2610"/>
              <a:buChar char="•"/>
              <a:defRPr/>
            </a:lvl2pPr>
            <a:lvl3pPr marL="1371600" lvl="2" indent="-394335" algn="l">
              <a:lnSpc>
                <a:spcPct val="100000"/>
              </a:lnSpc>
              <a:spcBef>
                <a:spcPts val="4200"/>
              </a:spcBef>
              <a:spcAft>
                <a:spcPts val="0"/>
              </a:spcAft>
              <a:buClr>
                <a:srgbClr val="FFFFFF"/>
              </a:buClr>
              <a:buSzPts val="2610"/>
              <a:buChar char="•"/>
              <a:defRPr/>
            </a:lvl3pPr>
            <a:lvl4pPr marL="1828800" lvl="3" indent="-394335" algn="l">
              <a:lnSpc>
                <a:spcPct val="100000"/>
              </a:lnSpc>
              <a:spcBef>
                <a:spcPts val="4200"/>
              </a:spcBef>
              <a:spcAft>
                <a:spcPts val="0"/>
              </a:spcAft>
              <a:buClr>
                <a:srgbClr val="FFFFFF"/>
              </a:buClr>
              <a:buSzPts val="2610"/>
              <a:buChar char="•"/>
              <a:defRPr/>
            </a:lvl4pPr>
            <a:lvl5pPr marL="2286000" lvl="4" indent="-394335" algn="l">
              <a:lnSpc>
                <a:spcPct val="100000"/>
              </a:lnSpc>
              <a:spcBef>
                <a:spcPts val="4200"/>
              </a:spcBef>
              <a:spcAft>
                <a:spcPts val="0"/>
              </a:spcAft>
              <a:buClr>
                <a:srgbClr val="FFFFFF"/>
              </a:buClr>
              <a:buSzPts val="2610"/>
              <a:buChar char="•"/>
              <a:defRPr/>
            </a:lvl5pPr>
            <a:lvl6pPr marL="2743200" lvl="5" indent="-394335" algn="l">
              <a:lnSpc>
                <a:spcPct val="100000"/>
              </a:lnSpc>
              <a:spcBef>
                <a:spcPts val="4200"/>
              </a:spcBef>
              <a:spcAft>
                <a:spcPts val="0"/>
              </a:spcAft>
              <a:buSzPts val="2610"/>
              <a:buChar char="•"/>
              <a:defRPr/>
            </a:lvl6pPr>
            <a:lvl7pPr marL="3200400" lvl="6" indent="-394335" algn="l">
              <a:lnSpc>
                <a:spcPct val="100000"/>
              </a:lnSpc>
              <a:spcBef>
                <a:spcPts val="4200"/>
              </a:spcBef>
              <a:spcAft>
                <a:spcPts val="0"/>
              </a:spcAft>
              <a:buSzPts val="2610"/>
              <a:buChar char="•"/>
              <a:defRPr/>
            </a:lvl7pPr>
            <a:lvl8pPr marL="3657600" lvl="7" indent="-394334" algn="l">
              <a:lnSpc>
                <a:spcPct val="100000"/>
              </a:lnSpc>
              <a:spcBef>
                <a:spcPts val="4200"/>
              </a:spcBef>
              <a:spcAft>
                <a:spcPts val="0"/>
              </a:spcAft>
              <a:buSzPts val="2610"/>
              <a:buChar char="•"/>
              <a:defRPr/>
            </a:lvl8pPr>
            <a:lvl9pPr marL="4114800" lvl="8" indent="-394334" algn="l">
              <a:lnSpc>
                <a:spcPct val="100000"/>
              </a:lnSpc>
              <a:spcBef>
                <a:spcPts val="4200"/>
              </a:spcBef>
              <a:spcAft>
                <a:spcPts val="0"/>
              </a:spcAft>
              <a:buSzPts val="2610"/>
              <a:buChar char="•"/>
              <a:defRPr/>
            </a:lvl9pPr>
          </a:lstStyle>
          <a:p>
            <a:endParaRPr/>
          </a:p>
        </p:txBody>
      </p:sp>
      <p:sp>
        <p:nvSpPr>
          <p:cNvPr id="16" name="Google Shape;16;p19"/>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hoto - Horizontal">
  <p:cSld name="Photo - Horizontal">
    <p:spTree>
      <p:nvGrpSpPr>
        <p:cNvPr id="1" name="Shape 17"/>
        <p:cNvGrpSpPr/>
        <p:nvPr/>
      </p:nvGrpSpPr>
      <p:grpSpPr>
        <a:xfrm>
          <a:off x="0" y="0"/>
          <a:ext cx="0" cy="0"/>
          <a:chOff x="0" y="0"/>
          <a:chExt cx="0" cy="0"/>
        </a:xfrm>
      </p:grpSpPr>
      <p:sp>
        <p:nvSpPr>
          <p:cNvPr id="18" name="Google Shape;18;p20"/>
          <p:cNvSpPr>
            <a:spLocks noGrp="1"/>
          </p:cNvSpPr>
          <p:nvPr>
            <p:ph type="pic" idx="2"/>
          </p:nvPr>
        </p:nvSpPr>
        <p:spPr>
          <a:xfrm>
            <a:off x="-647700" y="508000"/>
            <a:ext cx="12369801" cy="6142538"/>
          </a:xfrm>
          <a:prstGeom prst="rect">
            <a:avLst/>
          </a:prstGeom>
          <a:noFill/>
          <a:ln>
            <a:noFill/>
          </a:ln>
        </p:spPr>
      </p:sp>
      <p:sp>
        <p:nvSpPr>
          <p:cNvPr id="19" name="Google Shape;19;p20"/>
          <p:cNvSpPr txBox="1">
            <a:spLocks noGrp="1"/>
          </p:cNvSpPr>
          <p:nvPr>
            <p:ph type="title"/>
          </p:nvPr>
        </p:nvSpPr>
        <p:spPr>
          <a:xfrm>
            <a:off x="1270000" y="6718300"/>
            <a:ext cx="10464800" cy="14224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20" name="Google Shape;20;p20"/>
          <p:cNvSpPr txBox="1">
            <a:spLocks noGrp="1"/>
          </p:cNvSpPr>
          <p:nvPr>
            <p:ph type="body" idx="1"/>
          </p:nvPr>
        </p:nvSpPr>
        <p:spPr>
          <a:xfrm>
            <a:off x="1270000" y="81534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FFFFFF"/>
              </a:buClr>
              <a:buSzPts val="3700"/>
              <a:buFont typeface="Helvetica Neue"/>
              <a:buNone/>
              <a:defRPr sz="3700"/>
            </a:lvl1pPr>
            <a:lvl2pPr marL="914400" lvl="1" indent="-228600" algn="ctr">
              <a:lnSpc>
                <a:spcPct val="100000"/>
              </a:lnSpc>
              <a:spcBef>
                <a:spcPts val="0"/>
              </a:spcBef>
              <a:spcAft>
                <a:spcPts val="0"/>
              </a:spcAft>
              <a:buClr>
                <a:srgbClr val="FFFFFF"/>
              </a:buClr>
              <a:buSzPts val="3700"/>
              <a:buFont typeface="Helvetica Neue"/>
              <a:buNone/>
              <a:defRPr sz="3700"/>
            </a:lvl2pPr>
            <a:lvl3pPr marL="1371600" lvl="2" indent="-228600" algn="ctr">
              <a:lnSpc>
                <a:spcPct val="100000"/>
              </a:lnSpc>
              <a:spcBef>
                <a:spcPts val="0"/>
              </a:spcBef>
              <a:spcAft>
                <a:spcPts val="0"/>
              </a:spcAft>
              <a:buClr>
                <a:srgbClr val="FFFFFF"/>
              </a:buClr>
              <a:buSzPts val="3700"/>
              <a:buFont typeface="Helvetica Neue"/>
              <a:buNone/>
              <a:defRPr sz="3700"/>
            </a:lvl3pPr>
            <a:lvl4pPr marL="1828800" lvl="3" indent="-228600" algn="ctr">
              <a:lnSpc>
                <a:spcPct val="100000"/>
              </a:lnSpc>
              <a:spcBef>
                <a:spcPts val="0"/>
              </a:spcBef>
              <a:spcAft>
                <a:spcPts val="0"/>
              </a:spcAft>
              <a:buClr>
                <a:srgbClr val="FFFFFF"/>
              </a:buClr>
              <a:buSzPts val="3700"/>
              <a:buFont typeface="Helvetica Neue"/>
              <a:buNone/>
              <a:defRPr sz="3700"/>
            </a:lvl4pPr>
            <a:lvl5pPr marL="2286000" lvl="4" indent="-228600" algn="ctr">
              <a:lnSpc>
                <a:spcPct val="100000"/>
              </a:lnSpc>
              <a:spcBef>
                <a:spcPts val="0"/>
              </a:spcBef>
              <a:spcAft>
                <a:spcPts val="0"/>
              </a:spcAft>
              <a:buClr>
                <a:srgbClr val="FFFFFF"/>
              </a:buClr>
              <a:buSzPts val="3700"/>
              <a:buFont typeface="Helvetica Neue"/>
              <a:buNone/>
              <a:defRPr sz="3700"/>
            </a:lvl5pPr>
            <a:lvl6pPr marL="2743200" lvl="5" indent="-394335" algn="l">
              <a:lnSpc>
                <a:spcPct val="100000"/>
              </a:lnSpc>
              <a:spcBef>
                <a:spcPts val="4200"/>
              </a:spcBef>
              <a:spcAft>
                <a:spcPts val="0"/>
              </a:spcAft>
              <a:buSzPts val="2610"/>
              <a:buChar char="•"/>
              <a:defRPr/>
            </a:lvl6pPr>
            <a:lvl7pPr marL="3200400" lvl="6" indent="-394335" algn="l">
              <a:lnSpc>
                <a:spcPct val="100000"/>
              </a:lnSpc>
              <a:spcBef>
                <a:spcPts val="4200"/>
              </a:spcBef>
              <a:spcAft>
                <a:spcPts val="0"/>
              </a:spcAft>
              <a:buSzPts val="2610"/>
              <a:buChar char="•"/>
              <a:defRPr/>
            </a:lvl7pPr>
            <a:lvl8pPr marL="3657600" lvl="7" indent="-394334" algn="l">
              <a:lnSpc>
                <a:spcPct val="100000"/>
              </a:lnSpc>
              <a:spcBef>
                <a:spcPts val="4200"/>
              </a:spcBef>
              <a:spcAft>
                <a:spcPts val="0"/>
              </a:spcAft>
              <a:buSzPts val="2610"/>
              <a:buChar char="•"/>
              <a:defRPr/>
            </a:lvl8pPr>
            <a:lvl9pPr marL="4114800" lvl="8" indent="-394334" algn="l">
              <a:lnSpc>
                <a:spcPct val="100000"/>
              </a:lnSpc>
              <a:spcBef>
                <a:spcPts val="4200"/>
              </a:spcBef>
              <a:spcAft>
                <a:spcPts val="0"/>
              </a:spcAft>
              <a:buSzPts val="2610"/>
              <a:buChar char="•"/>
              <a:defRPr/>
            </a:lvl9pPr>
          </a:lstStyle>
          <a:p>
            <a:endParaRPr/>
          </a:p>
        </p:txBody>
      </p:sp>
      <p:sp>
        <p:nvSpPr>
          <p:cNvPr id="21" name="Google Shape;21;p20"/>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22"/>
        <p:cNvGrpSpPr/>
        <p:nvPr/>
      </p:nvGrpSpPr>
      <p:grpSpPr>
        <a:xfrm>
          <a:off x="0" y="0"/>
          <a:ext cx="0" cy="0"/>
          <a:chOff x="0" y="0"/>
          <a:chExt cx="0" cy="0"/>
        </a:xfrm>
      </p:grpSpPr>
      <p:sp>
        <p:nvSpPr>
          <p:cNvPr id="23" name="Google Shape;23;p21"/>
          <p:cNvSpPr txBox="1">
            <a:spLocks noGrp="1"/>
          </p:cNvSpPr>
          <p:nvPr>
            <p:ph type="title"/>
          </p:nvPr>
        </p:nvSpPr>
        <p:spPr>
          <a:xfrm>
            <a:off x="1270000" y="3225800"/>
            <a:ext cx="10464800" cy="3302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24" name="Google Shape;24;p21"/>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25"/>
        <p:cNvGrpSpPr/>
        <p:nvPr/>
      </p:nvGrpSpPr>
      <p:grpSpPr>
        <a:xfrm>
          <a:off x="0" y="0"/>
          <a:ext cx="0" cy="0"/>
          <a:chOff x="0" y="0"/>
          <a:chExt cx="0" cy="0"/>
        </a:xfrm>
      </p:grpSpPr>
      <p:sp>
        <p:nvSpPr>
          <p:cNvPr id="26" name="Google Shape;26;p22"/>
          <p:cNvSpPr>
            <a:spLocks noGrp="1"/>
          </p:cNvSpPr>
          <p:nvPr>
            <p:ph type="pic" idx="2"/>
          </p:nvPr>
        </p:nvSpPr>
        <p:spPr>
          <a:xfrm>
            <a:off x="2451058" y="-138499"/>
            <a:ext cx="13525502" cy="9017002"/>
          </a:xfrm>
          <a:prstGeom prst="rect">
            <a:avLst/>
          </a:prstGeom>
          <a:noFill/>
          <a:ln>
            <a:noFill/>
          </a:ln>
        </p:spPr>
      </p:sp>
      <p:sp>
        <p:nvSpPr>
          <p:cNvPr id="27" name="Google Shape;27;p22"/>
          <p:cNvSpPr txBox="1">
            <a:spLocks noGrp="1"/>
          </p:cNvSpPr>
          <p:nvPr>
            <p:ph type="title"/>
          </p:nvPr>
        </p:nvSpPr>
        <p:spPr>
          <a:xfrm>
            <a:off x="952500" y="635000"/>
            <a:ext cx="5334000" cy="39878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FFFFFF"/>
              </a:buClr>
              <a:buSzPts val="6000"/>
              <a:buFont typeface="Helvetica Neue"/>
              <a:buNone/>
              <a:defRPr sz="6000"/>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28" name="Google Shape;28;p22"/>
          <p:cNvSpPr txBox="1">
            <a:spLocks noGrp="1"/>
          </p:cNvSpPr>
          <p:nvPr>
            <p:ph type="body" idx="1"/>
          </p:nvPr>
        </p:nvSpPr>
        <p:spPr>
          <a:xfrm>
            <a:off x="952500" y="4724400"/>
            <a:ext cx="5334000" cy="41148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FFFFFF"/>
              </a:buClr>
              <a:buSzPts val="3700"/>
              <a:buFont typeface="Helvetica Neue"/>
              <a:buNone/>
              <a:defRPr sz="3700"/>
            </a:lvl1pPr>
            <a:lvl2pPr marL="914400" lvl="1" indent="-228600" algn="ctr">
              <a:lnSpc>
                <a:spcPct val="100000"/>
              </a:lnSpc>
              <a:spcBef>
                <a:spcPts val="0"/>
              </a:spcBef>
              <a:spcAft>
                <a:spcPts val="0"/>
              </a:spcAft>
              <a:buClr>
                <a:srgbClr val="FFFFFF"/>
              </a:buClr>
              <a:buSzPts val="3700"/>
              <a:buFont typeface="Helvetica Neue"/>
              <a:buNone/>
              <a:defRPr sz="3700"/>
            </a:lvl2pPr>
            <a:lvl3pPr marL="1371600" lvl="2" indent="-228600" algn="ctr">
              <a:lnSpc>
                <a:spcPct val="100000"/>
              </a:lnSpc>
              <a:spcBef>
                <a:spcPts val="0"/>
              </a:spcBef>
              <a:spcAft>
                <a:spcPts val="0"/>
              </a:spcAft>
              <a:buClr>
                <a:srgbClr val="FFFFFF"/>
              </a:buClr>
              <a:buSzPts val="3700"/>
              <a:buFont typeface="Helvetica Neue"/>
              <a:buNone/>
              <a:defRPr sz="3700"/>
            </a:lvl3pPr>
            <a:lvl4pPr marL="1828800" lvl="3" indent="-228600" algn="ctr">
              <a:lnSpc>
                <a:spcPct val="100000"/>
              </a:lnSpc>
              <a:spcBef>
                <a:spcPts val="0"/>
              </a:spcBef>
              <a:spcAft>
                <a:spcPts val="0"/>
              </a:spcAft>
              <a:buClr>
                <a:srgbClr val="FFFFFF"/>
              </a:buClr>
              <a:buSzPts val="3700"/>
              <a:buFont typeface="Helvetica Neue"/>
              <a:buNone/>
              <a:defRPr sz="3700"/>
            </a:lvl4pPr>
            <a:lvl5pPr marL="2286000" lvl="4" indent="-228600" algn="ctr">
              <a:lnSpc>
                <a:spcPct val="100000"/>
              </a:lnSpc>
              <a:spcBef>
                <a:spcPts val="0"/>
              </a:spcBef>
              <a:spcAft>
                <a:spcPts val="0"/>
              </a:spcAft>
              <a:buClr>
                <a:srgbClr val="FFFFFF"/>
              </a:buClr>
              <a:buSzPts val="3700"/>
              <a:buFont typeface="Helvetica Neue"/>
              <a:buNone/>
              <a:defRPr sz="3700"/>
            </a:lvl5pPr>
            <a:lvl6pPr marL="2743200" lvl="5" indent="-394335" algn="l">
              <a:lnSpc>
                <a:spcPct val="100000"/>
              </a:lnSpc>
              <a:spcBef>
                <a:spcPts val="4200"/>
              </a:spcBef>
              <a:spcAft>
                <a:spcPts val="0"/>
              </a:spcAft>
              <a:buSzPts val="2610"/>
              <a:buChar char="•"/>
              <a:defRPr/>
            </a:lvl6pPr>
            <a:lvl7pPr marL="3200400" lvl="6" indent="-394335" algn="l">
              <a:lnSpc>
                <a:spcPct val="100000"/>
              </a:lnSpc>
              <a:spcBef>
                <a:spcPts val="4200"/>
              </a:spcBef>
              <a:spcAft>
                <a:spcPts val="0"/>
              </a:spcAft>
              <a:buSzPts val="2610"/>
              <a:buChar char="•"/>
              <a:defRPr/>
            </a:lvl7pPr>
            <a:lvl8pPr marL="3657600" lvl="7" indent="-394334" algn="l">
              <a:lnSpc>
                <a:spcPct val="100000"/>
              </a:lnSpc>
              <a:spcBef>
                <a:spcPts val="4200"/>
              </a:spcBef>
              <a:spcAft>
                <a:spcPts val="0"/>
              </a:spcAft>
              <a:buSzPts val="2610"/>
              <a:buChar char="•"/>
              <a:defRPr/>
            </a:lvl8pPr>
            <a:lvl9pPr marL="4114800" lvl="8" indent="-394334" algn="l">
              <a:lnSpc>
                <a:spcPct val="100000"/>
              </a:lnSpc>
              <a:spcBef>
                <a:spcPts val="4200"/>
              </a:spcBef>
              <a:spcAft>
                <a:spcPts val="0"/>
              </a:spcAft>
              <a:buSzPts val="2610"/>
              <a:buChar char="•"/>
              <a:defRPr/>
            </a:lvl9pPr>
          </a:lstStyle>
          <a:p>
            <a:endParaRPr/>
          </a:p>
        </p:txBody>
      </p:sp>
      <p:sp>
        <p:nvSpPr>
          <p:cNvPr id="29" name="Google Shape;29;p22"/>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32" name="Google Shape;32;p23"/>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33"/>
        <p:cNvGrpSpPr/>
        <p:nvPr/>
      </p:nvGrpSpPr>
      <p:grpSpPr>
        <a:xfrm>
          <a:off x="0" y="0"/>
          <a:ext cx="0" cy="0"/>
          <a:chOff x="0" y="0"/>
          <a:chExt cx="0" cy="0"/>
        </a:xfrm>
      </p:grpSpPr>
      <p:sp>
        <p:nvSpPr>
          <p:cNvPr id="34" name="Google Shape;34;p24"/>
          <p:cNvSpPr>
            <a:spLocks noGrp="1"/>
          </p:cNvSpPr>
          <p:nvPr>
            <p:ph type="pic" idx="2"/>
          </p:nvPr>
        </p:nvSpPr>
        <p:spPr>
          <a:xfrm>
            <a:off x="4473575" y="2032000"/>
            <a:ext cx="10287000" cy="6858000"/>
          </a:xfrm>
          <a:prstGeom prst="rect">
            <a:avLst/>
          </a:prstGeom>
          <a:noFill/>
          <a:ln>
            <a:noFill/>
          </a:ln>
        </p:spPr>
      </p:sp>
      <p:sp>
        <p:nvSpPr>
          <p:cNvPr id="35" name="Google Shape;35;p24"/>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36" name="Google Shape;36;p24"/>
          <p:cNvSpPr txBox="1">
            <a:spLocks noGrp="1"/>
          </p:cNvSpPr>
          <p:nvPr>
            <p:ph type="body" idx="1"/>
          </p:nvPr>
        </p:nvSpPr>
        <p:spPr>
          <a:xfrm>
            <a:off x="952500" y="2590800"/>
            <a:ext cx="5334000" cy="6286500"/>
          </a:xfrm>
          <a:prstGeom prst="rect">
            <a:avLst/>
          </a:prstGeom>
          <a:noFill/>
          <a:ln>
            <a:noFill/>
          </a:ln>
        </p:spPr>
        <p:txBody>
          <a:bodyPr spcFirstLastPara="1" wrap="square" lIns="50800" tIns="50800" rIns="50800" bIns="50800" anchor="ctr" anchorCtr="0">
            <a:normAutofit/>
          </a:bodyPr>
          <a:lstStyle>
            <a:lvl1pPr marL="457200" lvl="0" indent="-486410" algn="l">
              <a:lnSpc>
                <a:spcPct val="100000"/>
              </a:lnSpc>
              <a:spcBef>
                <a:spcPts val="3200"/>
              </a:spcBef>
              <a:spcAft>
                <a:spcPts val="0"/>
              </a:spcAft>
              <a:buClr>
                <a:srgbClr val="FFFFFF"/>
              </a:buClr>
              <a:buSzPts val="4060"/>
              <a:buFont typeface="Helvetica Neue"/>
              <a:buChar char="•"/>
              <a:defRPr sz="2800"/>
            </a:lvl1pPr>
            <a:lvl2pPr marL="914400" lvl="1" indent="-486410" algn="l">
              <a:lnSpc>
                <a:spcPct val="100000"/>
              </a:lnSpc>
              <a:spcBef>
                <a:spcPts val="3200"/>
              </a:spcBef>
              <a:spcAft>
                <a:spcPts val="0"/>
              </a:spcAft>
              <a:buClr>
                <a:srgbClr val="FFFFFF"/>
              </a:buClr>
              <a:buSzPts val="4060"/>
              <a:buFont typeface="Helvetica Neue"/>
              <a:buChar char="•"/>
              <a:defRPr sz="2800"/>
            </a:lvl2pPr>
            <a:lvl3pPr marL="1371600" lvl="2" indent="-486410" algn="l">
              <a:lnSpc>
                <a:spcPct val="100000"/>
              </a:lnSpc>
              <a:spcBef>
                <a:spcPts val="3200"/>
              </a:spcBef>
              <a:spcAft>
                <a:spcPts val="0"/>
              </a:spcAft>
              <a:buClr>
                <a:srgbClr val="FFFFFF"/>
              </a:buClr>
              <a:buSzPts val="4060"/>
              <a:buFont typeface="Helvetica Neue"/>
              <a:buChar char="•"/>
              <a:defRPr sz="2800"/>
            </a:lvl3pPr>
            <a:lvl4pPr marL="1828800" lvl="3" indent="-486410" algn="l">
              <a:lnSpc>
                <a:spcPct val="100000"/>
              </a:lnSpc>
              <a:spcBef>
                <a:spcPts val="3200"/>
              </a:spcBef>
              <a:spcAft>
                <a:spcPts val="0"/>
              </a:spcAft>
              <a:buClr>
                <a:srgbClr val="FFFFFF"/>
              </a:buClr>
              <a:buSzPts val="4060"/>
              <a:buFont typeface="Helvetica Neue"/>
              <a:buChar char="•"/>
              <a:defRPr sz="2800"/>
            </a:lvl4pPr>
            <a:lvl5pPr marL="2286000" lvl="4" indent="-486410" algn="l">
              <a:lnSpc>
                <a:spcPct val="100000"/>
              </a:lnSpc>
              <a:spcBef>
                <a:spcPts val="3200"/>
              </a:spcBef>
              <a:spcAft>
                <a:spcPts val="0"/>
              </a:spcAft>
              <a:buClr>
                <a:srgbClr val="FFFFFF"/>
              </a:buClr>
              <a:buSzPts val="4060"/>
              <a:buFont typeface="Helvetica Neue"/>
              <a:buChar char="•"/>
              <a:defRPr sz="2800"/>
            </a:lvl5pPr>
            <a:lvl6pPr marL="2743200" lvl="5" indent="-394335" algn="l">
              <a:lnSpc>
                <a:spcPct val="100000"/>
              </a:lnSpc>
              <a:spcBef>
                <a:spcPts val="4200"/>
              </a:spcBef>
              <a:spcAft>
                <a:spcPts val="0"/>
              </a:spcAft>
              <a:buSzPts val="2610"/>
              <a:buChar char="•"/>
              <a:defRPr/>
            </a:lvl6pPr>
            <a:lvl7pPr marL="3200400" lvl="6" indent="-394335" algn="l">
              <a:lnSpc>
                <a:spcPct val="100000"/>
              </a:lnSpc>
              <a:spcBef>
                <a:spcPts val="4200"/>
              </a:spcBef>
              <a:spcAft>
                <a:spcPts val="0"/>
              </a:spcAft>
              <a:buSzPts val="2610"/>
              <a:buChar char="•"/>
              <a:defRPr/>
            </a:lvl7pPr>
            <a:lvl8pPr marL="3657600" lvl="7" indent="-394334" algn="l">
              <a:lnSpc>
                <a:spcPct val="100000"/>
              </a:lnSpc>
              <a:spcBef>
                <a:spcPts val="4200"/>
              </a:spcBef>
              <a:spcAft>
                <a:spcPts val="0"/>
              </a:spcAft>
              <a:buSzPts val="2610"/>
              <a:buChar char="•"/>
              <a:defRPr/>
            </a:lvl8pPr>
            <a:lvl9pPr marL="4114800" lvl="8" indent="-394334" algn="l">
              <a:lnSpc>
                <a:spcPct val="100000"/>
              </a:lnSpc>
              <a:spcBef>
                <a:spcPts val="4200"/>
              </a:spcBef>
              <a:spcAft>
                <a:spcPts val="0"/>
              </a:spcAft>
              <a:buSzPts val="2610"/>
              <a:buChar char="•"/>
              <a:defRPr/>
            </a:lvl9pPr>
          </a:lstStyle>
          <a:p>
            <a:endParaRPr/>
          </a:p>
        </p:txBody>
      </p:sp>
      <p:sp>
        <p:nvSpPr>
          <p:cNvPr id="37" name="Google Shape;37;p24"/>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38"/>
        <p:cNvGrpSpPr/>
        <p:nvPr/>
      </p:nvGrpSpPr>
      <p:grpSpPr>
        <a:xfrm>
          <a:off x="0" y="0"/>
          <a:ext cx="0" cy="0"/>
          <a:chOff x="0" y="0"/>
          <a:chExt cx="0" cy="0"/>
        </a:xfrm>
      </p:grpSpPr>
      <p:sp>
        <p:nvSpPr>
          <p:cNvPr id="39" name="Google Shape;39;p25"/>
          <p:cNvSpPr txBox="1">
            <a:spLocks noGrp="1"/>
          </p:cNvSpPr>
          <p:nvPr>
            <p:ph type="body" idx="1"/>
          </p:nvPr>
        </p:nvSpPr>
        <p:spPr>
          <a:xfrm>
            <a:off x="952500" y="1270000"/>
            <a:ext cx="11099800" cy="7213600"/>
          </a:xfrm>
          <a:prstGeom prst="rect">
            <a:avLst/>
          </a:prstGeom>
          <a:noFill/>
          <a:ln>
            <a:noFill/>
          </a:ln>
        </p:spPr>
        <p:txBody>
          <a:bodyPr spcFirstLastPara="1" wrap="square" lIns="50800" tIns="50800" rIns="50800" bIns="50800" anchor="ctr" anchorCtr="0">
            <a:normAutofit/>
          </a:bodyPr>
          <a:lstStyle>
            <a:lvl1pPr marL="457200" lvl="0" indent="-394335" algn="l">
              <a:lnSpc>
                <a:spcPct val="100000"/>
              </a:lnSpc>
              <a:spcBef>
                <a:spcPts val="4200"/>
              </a:spcBef>
              <a:spcAft>
                <a:spcPts val="0"/>
              </a:spcAft>
              <a:buClr>
                <a:srgbClr val="FFFFFF"/>
              </a:buClr>
              <a:buSzPts val="2610"/>
              <a:buChar char="•"/>
              <a:defRPr/>
            </a:lvl1pPr>
            <a:lvl2pPr marL="914400" lvl="1" indent="-394335" algn="l">
              <a:lnSpc>
                <a:spcPct val="100000"/>
              </a:lnSpc>
              <a:spcBef>
                <a:spcPts val="4200"/>
              </a:spcBef>
              <a:spcAft>
                <a:spcPts val="0"/>
              </a:spcAft>
              <a:buClr>
                <a:srgbClr val="FFFFFF"/>
              </a:buClr>
              <a:buSzPts val="2610"/>
              <a:buChar char="•"/>
              <a:defRPr/>
            </a:lvl2pPr>
            <a:lvl3pPr marL="1371600" lvl="2" indent="-394335" algn="l">
              <a:lnSpc>
                <a:spcPct val="100000"/>
              </a:lnSpc>
              <a:spcBef>
                <a:spcPts val="4200"/>
              </a:spcBef>
              <a:spcAft>
                <a:spcPts val="0"/>
              </a:spcAft>
              <a:buClr>
                <a:srgbClr val="FFFFFF"/>
              </a:buClr>
              <a:buSzPts val="2610"/>
              <a:buChar char="•"/>
              <a:defRPr/>
            </a:lvl3pPr>
            <a:lvl4pPr marL="1828800" lvl="3" indent="-394335" algn="l">
              <a:lnSpc>
                <a:spcPct val="100000"/>
              </a:lnSpc>
              <a:spcBef>
                <a:spcPts val="4200"/>
              </a:spcBef>
              <a:spcAft>
                <a:spcPts val="0"/>
              </a:spcAft>
              <a:buClr>
                <a:srgbClr val="FFFFFF"/>
              </a:buClr>
              <a:buSzPts val="2610"/>
              <a:buChar char="•"/>
              <a:defRPr/>
            </a:lvl4pPr>
            <a:lvl5pPr marL="2286000" lvl="4" indent="-394335" algn="l">
              <a:lnSpc>
                <a:spcPct val="100000"/>
              </a:lnSpc>
              <a:spcBef>
                <a:spcPts val="4200"/>
              </a:spcBef>
              <a:spcAft>
                <a:spcPts val="0"/>
              </a:spcAft>
              <a:buClr>
                <a:srgbClr val="FFFFFF"/>
              </a:buClr>
              <a:buSzPts val="2610"/>
              <a:buChar char="•"/>
              <a:defRPr/>
            </a:lvl5pPr>
            <a:lvl6pPr marL="2743200" lvl="5" indent="-394335" algn="l">
              <a:lnSpc>
                <a:spcPct val="100000"/>
              </a:lnSpc>
              <a:spcBef>
                <a:spcPts val="4200"/>
              </a:spcBef>
              <a:spcAft>
                <a:spcPts val="0"/>
              </a:spcAft>
              <a:buSzPts val="2610"/>
              <a:buChar char="•"/>
              <a:defRPr/>
            </a:lvl6pPr>
            <a:lvl7pPr marL="3200400" lvl="6" indent="-394335" algn="l">
              <a:lnSpc>
                <a:spcPct val="100000"/>
              </a:lnSpc>
              <a:spcBef>
                <a:spcPts val="4200"/>
              </a:spcBef>
              <a:spcAft>
                <a:spcPts val="0"/>
              </a:spcAft>
              <a:buSzPts val="2610"/>
              <a:buChar char="•"/>
              <a:defRPr/>
            </a:lvl7pPr>
            <a:lvl8pPr marL="3657600" lvl="7" indent="-394334" algn="l">
              <a:lnSpc>
                <a:spcPct val="100000"/>
              </a:lnSpc>
              <a:spcBef>
                <a:spcPts val="4200"/>
              </a:spcBef>
              <a:spcAft>
                <a:spcPts val="0"/>
              </a:spcAft>
              <a:buSzPts val="2610"/>
              <a:buChar char="•"/>
              <a:defRPr/>
            </a:lvl8pPr>
            <a:lvl9pPr marL="4114800" lvl="8" indent="-394334" algn="l">
              <a:lnSpc>
                <a:spcPct val="100000"/>
              </a:lnSpc>
              <a:spcBef>
                <a:spcPts val="4200"/>
              </a:spcBef>
              <a:spcAft>
                <a:spcPts val="0"/>
              </a:spcAft>
              <a:buSzPts val="2610"/>
              <a:buChar char="•"/>
              <a:defRPr/>
            </a:lvl9pPr>
          </a:lstStyle>
          <a:p>
            <a:endParaRPr/>
          </a:p>
        </p:txBody>
      </p:sp>
      <p:sp>
        <p:nvSpPr>
          <p:cNvPr id="40" name="Google Shape;40;p25"/>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41"/>
        <p:cNvGrpSpPr/>
        <p:nvPr/>
      </p:nvGrpSpPr>
      <p:grpSpPr>
        <a:xfrm>
          <a:off x="0" y="0"/>
          <a:ext cx="0" cy="0"/>
          <a:chOff x="0" y="0"/>
          <a:chExt cx="0" cy="0"/>
        </a:xfrm>
      </p:grpSpPr>
      <p:sp>
        <p:nvSpPr>
          <p:cNvPr id="42" name="Google Shape;42;p26"/>
          <p:cNvSpPr>
            <a:spLocks noGrp="1"/>
          </p:cNvSpPr>
          <p:nvPr>
            <p:ph type="pic" idx="2"/>
          </p:nvPr>
        </p:nvSpPr>
        <p:spPr>
          <a:xfrm>
            <a:off x="6426200" y="4965700"/>
            <a:ext cx="5886450" cy="3924300"/>
          </a:xfrm>
          <a:prstGeom prst="rect">
            <a:avLst/>
          </a:prstGeom>
          <a:noFill/>
          <a:ln>
            <a:noFill/>
          </a:ln>
        </p:spPr>
      </p:sp>
      <p:sp>
        <p:nvSpPr>
          <p:cNvPr id="43" name="Google Shape;43;p26"/>
          <p:cNvSpPr>
            <a:spLocks noGrp="1"/>
          </p:cNvSpPr>
          <p:nvPr>
            <p:ph type="pic" idx="3"/>
          </p:nvPr>
        </p:nvSpPr>
        <p:spPr>
          <a:xfrm>
            <a:off x="6737350" y="639233"/>
            <a:ext cx="5880100" cy="3920067"/>
          </a:xfrm>
          <a:prstGeom prst="rect">
            <a:avLst/>
          </a:prstGeom>
          <a:noFill/>
          <a:ln>
            <a:noFill/>
          </a:ln>
        </p:spPr>
      </p:sp>
      <p:sp>
        <p:nvSpPr>
          <p:cNvPr id="44" name="Google Shape;44;p26"/>
          <p:cNvSpPr>
            <a:spLocks noGrp="1"/>
          </p:cNvSpPr>
          <p:nvPr>
            <p:ph type="pic" idx="4"/>
          </p:nvPr>
        </p:nvSpPr>
        <p:spPr>
          <a:xfrm>
            <a:off x="-3400425" y="-127000"/>
            <a:ext cx="13525500" cy="9017000"/>
          </a:xfrm>
          <a:prstGeom prst="rect">
            <a:avLst/>
          </a:prstGeom>
          <a:noFill/>
          <a:ln>
            <a:noFill/>
          </a:ln>
        </p:spPr>
      </p:sp>
      <p:sp>
        <p:nvSpPr>
          <p:cNvPr id="45" name="Google Shape;45;p26"/>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6"/>
        <p:cNvGrpSpPr/>
        <p:nvPr/>
      </p:nvGrpSpPr>
      <p:grpSpPr>
        <a:xfrm>
          <a:off x="0" y="0"/>
          <a:ext cx="0" cy="0"/>
          <a:chOff x="0" y="0"/>
          <a:chExt cx="0" cy="0"/>
        </a:xfrm>
      </p:grpSpPr>
      <p:sp>
        <p:nvSpPr>
          <p:cNvPr id="47" name="Google Shape;47;p27"/>
          <p:cNvSpPr txBox="1">
            <a:spLocks noGrp="1"/>
          </p:cNvSpPr>
          <p:nvPr>
            <p:ph type="body" idx="1"/>
          </p:nvPr>
        </p:nvSpPr>
        <p:spPr>
          <a:xfrm>
            <a:off x="1270000" y="6362700"/>
            <a:ext cx="10464800" cy="461366"/>
          </a:xfrm>
          <a:prstGeom prst="rect">
            <a:avLst/>
          </a:prstGeom>
          <a:noFill/>
          <a:ln>
            <a:noFill/>
          </a:ln>
        </p:spPr>
        <p:txBody>
          <a:bodyPr spcFirstLastPara="1" wrap="square" lIns="50800" tIns="50800" rIns="50800" bIns="50800" anchor="t" anchorCtr="0">
            <a:spAutoFit/>
          </a:bodyPr>
          <a:lstStyle>
            <a:lvl1pPr marL="457200" lvl="0" indent="-228600" algn="ctr">
              <a:lnSpc>
                <a:spcPct val="100000"/>
              </a:lnSpc>
              <a:spcBef>
                <a:spcPts val="0"/>
              </a:spcBef>
              <a:spcAft>
                <a:spcPts val="0"/>
              </a:spcAft>
              <a:buClr>
                <a:srgbClr val="FFFFFF"/>
              </a:buClr>
              <a:buSzPts val="2400"/>
              <a:buFont typeface="Helvetica Neue"/>
              <a:buNone/>
              <a:defRPr sz="2400" i="1"/>
            </a:lvl1pPr>
            <a:lvl2pPr marL="914400" lvl="1" indent="-394335" algn="l">
              <a:lnSpc>
                <a:spcPct val="100000"/>
              </a:lnSpc>
              <a:spcBef>
                <a:spcPts val="4200"/>
              </a:spcBef>
              <a:spcAft>
                <a:spcPts val="0"/>
              </a:spcAft>
              <a:buSzPts val="2610"/>
              <a:buChar char="•"/>
              <a:defRPr/>
            </a:lvl2pPr>
            <a:lvl3pPr marL="1371600" lvl="2" indent="-394335" algn="l">
              <a:lnSpc>
                <a:spcPct val="100000"/>
              </a:lnSpc>
              <a:spcBef>
                <a:spcPts val="4200"/>
              </a:spcBef>
              <a:spcAft>
                <a:spcPts val="0"/>
              </a:spcAft>
              <a:buSzPts val="2610"/>
              <a:buChar char="•"/>
              <a:defRPr/>
            </a:lvl3pPr>
            <a:lvl4pPr marL="1828800" lvl="3" indent="-394335" algn="l">
              <a:lnSpc>
                <a:spcPct val="100000"/>
              </a:lnSpc>
              <a:spcBef>
                <a:spcPts val="4200"/>
              </a:spcBef>
              <a:spcAft>
                <a:spcPts val="0"/>
              </a:spcAft>
              <a:buSzPts val="2610"/>
              <a:buChar char="•"/>
              <a:defRPr/>
            </a:lvl4pPr>
            <a:lvl5pPr marL="2286000" lvl="4" indent="-394335" algn="l">
              <a:lnSpc>
                <a:spcPct val="100000"/>
              </a:lnSpc>
              <a:spcBef>
                <a:spcPts val="4200"/>
              </a:spcBef>
              <a:spcAft>
                <a:spcPts val="0"/>
              </a:spcAft>
              <a:buSzPts val="2610"/>
              <a:buChar char="•"/>
              <a:defRPr/>
            </a:lvl5pPr>
            <a:lvl6pPr marL="2743200" lvl="5" indent="-394335" algn="l">
              <a:lnSpc>
                <a:spcPct val="100000"/>
              </a:lnSpc>
              <a:spcBef>
                <a:spcPts val="4200"/>
              </a:spcBef>
              <a:spcAft>
                <a:spcPts val="0"/>
              </a:spcAft>
              <a:buSzPts val="2610"/>
              <a:buChar char="•"/>
              <a:defRPr/>
            </a:lvl6pPr>
            <a:lvl7pPr marL="3200400" lvl="6" indent="-394335" algn="l">
              <a:lnSpc>
                <a:spcPct val="100000"/>
              </a:lnSpc>
              <a:spcBef>
                <a:spcPts val="4200"/>
              </a:spcBef>
              <a:spcAft>
                <a:spcPts val="0"/>
              </a:spcAft>
              <a:buSzPts val="2610"/>
              <a:buChar char="•"/>
              <a:defRPr/>
            </a:lvl7pPr>
            <a:lvl8pPr marL="3657600" lvl="7" indent="-394334" algn="l">
              <a:lnSpc>
                <a:spcPct val="100000"/>
              </a:lnSpc>
              <a:spcBef>
                <a:spcPts val="4200"/>
              </a:spcBef>
              <a:spcAft>
                <a:spcPts val="0"/>
              </a:spcAft>
              <a:buSzPts val="2610"/>
              <a:buChar char="•"/>
              <a:defRPr/>
            </a:lvl8pPr>
            <a:lvl9pPr marL="4114800" lvl="8" indent="-394334" algn="l">
              <a:lnSpc>
                <a:spcPct val="100000"/>
              </a:lnSpc>
              <a:spcBef>
                <a:spcPts val="4200"/>
              </a:spcBef>
              <a:spcAft>
                <a:spcPts val="0"/>
              </a:spcAft>
              <a:buSzPts val="2610"/>
              <a:buChar char="•"/>
              <a:defRPr/>
            </a:lvl9pPr>
          </a:lstStyle>
          <a:p>
            <a:endParaRPr/>
          </a:p>
        </p:txBody>
      </p:sp>
      <p:sp>
        <p:nvSpPr>
          <p:cNvPr id="48" name="Google Shape;48;p27"/>
          <p:cNvSpPr txBox="1">
            <a:spLocks noGrp="1"/>
          </p:cNvSpPr>
          <p:nvPr>
            <p:ph type="body" idx="2"/>
          </p:nvPr>
        </p:nvSpPr>
        <p:spPr>
          <a:xfrm>
            <a:off x="1270000" y="4308599"/>
            <a:ext cx="10464800" cy="609776"/>
          </a:xfrm>
          <a:prstGeom prst="rect">
            <a:avLst/>
          </a:prstGeom>
          <a:noFill/>
          <a:ln>
            <a:noFill/>
          </a:ln>
        </p:spPr>
        <p:txBody>
          <a:bodyPr spcFirstLastPara="1" wrap="square" lIns="50800" tIns="50800" rIns="50800" bIns="50800" anchor="ctr" anchorCtr="0">
            <a:spAutoFit/>
          </a:bodyPr>
          <a:lstStyle>
            <a:lvl1pPr marL="457200" lvl="0" indent="-228600" algn="ctr">
              <a:lnSpc>
                <a:spcPct val="100000"/>
              </a:lnSpc>
              <a:spcBef>
                <a:spcPts val="0"/>
              </a:spcBef>
              <a:spcAft>
                <a:spcPts val="0"/>
              </a:spcAft>
              <a:buClr>
                <a:srgbClr val="FFFFFF"/>
              </a:buClr>
              <a:buSzPts val="3400"/>
              <a:buFont typeface="Helvetica Neue"/>
              <a:buNone/>
              <a:defRPr sz="3400">
                <a:latin typeface="Helvetica Neue"/>
                <a:ea typeface="Helvetica Neue"/>
                <a:cs typeface="Helvetica Neue"/>
                <a:sym typeface="Helvetica Neue"/>
              </a:defRPr>
            </a:lvl1pPr>
            <a:lvl2pPr marL="914400" lvl="1" indent="-394335" algn="l">
              <a:lnSpc>
                <a:spcPct val="100000"/>
              </a:lnSpc>
              <a:spcBef>
                <a:spcPts val="4200"/>
              </a:spcBef>
              <a:spcAft>
                <a:spcPts val="0"/>
              </a:spcAft>
              <a:buSzPts val="2610"/>
              <a:buChar char="•"/>
              <a:defRPr/>
            </a:lvl2pPr>
            <a:lvl3pPr marL="1371600" lvl="2" indent="-394335" algn="l">
              <a:lnSpc>
                <a:spcPct val="100000"/>
              </a:lnSpc>
              <a:spcBef>
                <a:spcPts val="4200"/>
              </a:spcBef>
              <a:spcAft>
                <a:spcPts val="0"/>
              </a:spcAft>
              <a:buSzPts val="2610"/>
              <a:buChar char="•"/>
              <a:defRPr/>
            </a:lvl3pPr>
            <a:lvl4pPr marL="1828800" lvl="3" indent="-394335" algn="l">
              <a:lnSpc>
                <a:spcPct val="100000"/>
              </a:lnSpc>
              <a:spcBef>
                <a:spcPts val="4200"/>
              </a:spcBef>
              <a:spcAft>
                <a:spcPts val="0"/>
              </a:spcAft>
              <a:buSzPts val="2610"/>
              <a:buChar char="•"/>
              <a:defRPr/>
            </a:lvl4pPr>
            <a:lvl5pPr marL="2286000" lvl="4" indent="-394335" algn="l">
              <a:lnSpc>
                <a:spcPct val="100000"/>
              </a:lnSpc>
              <a:spcBef>
                <a:spcPts val="4200"/>
              </a:spcBef>
              <a:spcAft>
                <a:spcPts val="0"/>
              </a:spcAft>
              <a:buSzPts val="2610"/>
              <a:buChar char="•"/>
              <a:defRPr/>
            </a:lvl5pPr>
            <a:lvl6pPr marL="2743200" lvl="5" indent="-394335" algn="l">
              <a:lnSpc>
                <a:spcPct val="100000"/>
              </a:lnSpc>
              <a:spcBef>
                <a:spcPts val="4200"/>
              </a:spcBef>
              <a:spcAft>
                <a:spcPts val="0"/>
              </a:spcAft>
              <a:buSzPts val="2610"/>
              <a:buChar char="•"/>
              <a:defRPr/>
            </a:lvl6pPr>
            <a:lvl7pPr marL="3200400" lvl="6" indent="-394335" algn="l">
              <a:lnSpc>
                <a:spcPct val="100000"/>
              </a:lnSpc>
              <a:spcBef>
                <a:spcPts val="4200"/>
              </a:spcBef>
              <a:spcAft>
                <a:spcPts val="0"/>
              </a:spcAft>
              <a:buSzPts val="2610"/>
              <a:buChar char="•"/>
              <a:defRPr/>
            </a:lvl7pPr>
            <a:lvl8pPr marL="3657600" lvl="7" indent="-394334" algn="l">
              <a:lnSpc>
                <a:spcPct val="100000"/>
              </a:lnSpc>
              <a:spcBef>
                <a:spcPts val="4200"/>
              </a:spcBef>
              <a:spcAft>
                <a:spcPts val="0"/>
              </a:spcAft>
              <a:buSzPts val="2610"/>
              <a:buChar char="•"/>
              <a:defRPr/>
            </a:lvl8pPr>
            <a:lvl9pPr marL="4114800" lvl="8" indent="-394334" algn="l">
              <a:lnSpc>
                <a:spcPct val="100000"/>
              </a:lnSpc>
              <a:spcBef>
                <a:spcPts val="4200"/>
              </a:spcBef>
              <a:spcAft>
                <a:spcPts val="0"/>
              </a:spcAft>
              <a:buSzPts val="2610"/>
              <a:buChar char="•"/>
              <a:defRPr/>
            </a:lvl9pPr>
          </a:lstStyle>
          <a:p>
            <a:endParaRPr/>
          </a:p>
        </p:txBody>
      </p:sp>
      <p:sp>
        <p:nvSpPr>
          <p:cNvPr id="49" name="Google Shape;49;p27"/>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50"/>
        <p:cNvGrpSpPr/>
        <p:nvPr/>
      </p:nvGrpSpPr>
      <p:grpSpPr>
        <a:xfrm>
          <a:off x="0" y="0"/>
          <a:ext cx="0" cy="0"/>
          <a:chOff x="0" y="0"/>
          <a:chExt cx="0" cy="0"/>
        </a:xfrm>
      </p:grpSpPr>
      <p:sp>
        <p:nvSpPr>
          <p:cNvPr id="51" name="Google Shape;51;p28"/>
          <p:cNvSpPr>
            <a:spLocks noGrp="1"/>
          </p:cNvSpPr>
          <p:nvPr>
            <p:ph type="pic" idx="2"/>
          </p:nvPr>
        </p:nvSpPr>
        <p:spPr>
          <a:xfrm>
            <a:off x="-929606" y="-12700"/>
            <a:ext cx="16551777" cy="11034518"/>
          </a:xfrm>
          <a:prstGeom prst="rect">
            <a:avLst/>
          </a:prstGeom>
          <a:noFill/>
          <a:ln>
            <a:noFill/>
          </a:ln>
        </p:spPr>
      </p:sp>
      <p:sp>
        <p:nvSpPr>
          <p:cNvPr id="52" name="Google Shape;52;p28"/>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3"/>
        <p:cNvGrpSpPr/>
        <p:nvPr/>
      </p:nvGrpSpPr>
      <p:grpSpPr>
        <a:xfrm>
          <a:off x="0" y="0"/>
          <a:ext cx="0" cy="0"/>
          <a:chOff x="0" y="0"/>
          <a:chExt cx="0" cy="0"/>
        </a:xfrm>
      </p:grpSpPr>
      <p:sp>
        <p:nvSpPr>
          <p:cNvPr id="54" name="Google Shape;54;p29"/>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rmAutofit/>
          </a:bodyPr>
          <a:lstStyle>
            <a:lvl1pPr marR="0" lvl="0"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9pPr>
          </a:lstStyle>
          <a:p>
            <a:endParaRPr/>
          </a:p>
        </p:txBody>
      </p:sp>
      <p:sp>
        <p:nvSpPr>
          <p:cNvPr id="7" name="Google Shape;7;p17"/>
          <p:cNvSpPr txBox="1">
            <a:spLocks noGrp="1"/>
          </p:cNvSpPr>
          <p:nvPr>
            <p:ph type="body" idx="1"/>
          </p:nvPr>
        </p:nvSpPr>
        <p:spPr>
          <a:xfrm>
            <a:off x="952500" y="2590800"/>
            <a:ext cx="11099800" cy="6286500"/>
          </a:xfrm>
          <a:prstGeom prst="rect">
            <a:avLst/>
          </a:prstGeom>
          <a:noFill/>
          <a:ln>
            <a:noFill/>
          </a:ln>
        </p:spPr>
        <p:txBody>
          <a:bodyPr spcFirstLastPara="1" wrap="square" lIns="50800" tIns="50800" rIns="50800" bIns="50800" anchor="ctr" anchorCtr="0">
            <a:normAutofit/>
          </a:bodyPr>
          <a:lstStyle>
            <a:lvl1pPr marL="457200" marR="0" lvl="0" indent="-523240"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1pPr>
            <a:lvl2pPr marL="914400" marR="0" lvl="1" indent="-523240"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2pPr>
            <a:lvl3pPr marL="1371600" marR="0" lvl="2" indent="-523239"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3pPr>
            <a:lvl4pPr marL="1828800" marR="0" lvl="3" indent="-523239"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4pPr>
            <a:lvl5pPr marL="2286000" marR="0" lvl="4" indent="-523239"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5pPr>
            <a:lvl6pPr marL="2743200" marR="0" lvl="5" indent="-523239"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6pPr>
            <a:lvl7pPr marL="3200400" marR="0" lvl="6" indent="-523239"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7pPr>
            <a:lvl8pPr marL="3657600" marR="0" lvl="7" indent="-523239"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8pPr>
            <a:lvl9pPr marL="4114800" marR="0" lvl="8" indent="-523240"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9pPr>
          </a:lstStyle>
          <a:p>
            <a:endParaRPr/>
          </a:p>
        </p:txBody>
      </p:sp>
      <p:sp>
        <p:nvSpPr>
          <p:cNvPr id="8" name="Google Shape;8;p17"/>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
          <p:cNvSpPr txBox="1">
            <a:spLocks noGrp="1"/>
          </p:cNvSpPr>
          <p:nvPr>
            <p:ph type="ctrTitle" idx="4294967295"/>
          </p:nvPr>
        </p:nvSpPr>
        <p:spPr>
          <a:xfrm>
            <a:off x="1440780" y="1225677"/>
            <a:ext cx="10464900" cy="2901000"/>
          </a:xfrm>
          <a:prstGeom prst="rect">
            <a:avLst/>
          </a:prstGeom>
          <a:noFill/>
          <a:ln>
            <a:noFill/>
          </a:ln>
        </p:spPr>
        <p:txBody>
          <a:bodyPr spcFirstLastPara="1" wrap="square" lIns="50800" tIns="50800" rIns="50800" bIns="50800" anchor="b" anchorCtr="0">
            <a:normAutofit/>
          </a:bodyPr>
          <a:lstStyle/>
          <a:p>
            <a:pPr marL="0" marR="0" lvl="0" indent="0" algn="ctr" rtl="0">
              <a:lnSpc>
                <a:spcPct val="100000"/>
              </a:lnSpc>
              <a:spcBef>
                <a:spcPts val="0"/>
              </a:spcBef>
              <a:spcAft>
                <a:spcPts val="0"/>
              </a:spcAft>
              <a:buClr>
                <a:srgbClr val="FFFFFF"/>
              </a:buClr>
              <a:buSzPts val="8000"/>
              <a:buFont typeface="Helvetica Neue"/>
              <a:buNone/>
            </a:pPr>
            <a:r>
              <a:rPr lang="en-US" sz="8000" b="0" i="0" u="none" strike="noStrike" cap="none">
                <a:solidFill>
                  <a:srgbClr val="FFFFFF"/>
                </a:solidFill>
                <a:latin typeface="Helvetica Neue"/>
                <a:ea typeface="Helvetica Neue"/>
                <a:cs typeface="Helvetica Neue"/>
                <a:sym typeface="Helvetica Neue"/>
              </a:rPr>
              <a:t>Evaluating SDMs:</a:t>
            </a:r>
            <a:endParaRPr sz="8000" b="0" i="0" u="none" strike="noStrike" cap="none">
              <a:solidFill>
                <a:srgbClr val="FFFFFF"/>
              </a:solidFill>
              <a:latin typeface="Helvetica Neue"/>
              <a:ea typeface="Helvetica Neue"/>
              <a:cs typeface="Helvetica Neue"/>
              <a:sym typeface="Helvetica Neue"/>
            </a:endParaRPr>
          </a:p>
          <a:p>
            <a:pPr marL="0" marR="0" lvl="0" indent="0" algn="ctr" rtl="0">
              <a:lnSpc>
                <a:spcPct val="100000"/>
              </a:lnSpc>
              <a:spcBef>
                <a:spcPts val="0"/>
              </a:spcBef>
              <a:spcAft>
                <a:spcPts val="0"/>
              </a:spcAft>
              <a:buClr>
                <a:srgbClr val="FFFFFF"/>
              </a:buClr>
              <a:buSzPts val="6000"/>
              <a:buFont typeface="Helvetica Neue"/>
              <a:buNone/>
            </a:pPr>
            <a:r>
              <a:rPr lang="en-US" sz="6000" b="0" i="0" u="none" strike="noStrike" cap="none">
                <a:solidFill>
                  <a:srgbClr val="FFFFFF"/>
                </a:solidFill>
                <a:latin typeface="Helvetica Neue"/>
                <a:ea typeface="Helvetica Neue"/>
                <a:cs typeface="Helvetica Neue"/>
                <a:sym typeface="Helvetica Neue"/>
              </a:rPr>
              <a:t>A </a:t>
            </a:r>
            <a:r>
              <a:rPr lang="en-US" sz="6000"/>
              <a:t>C</a:t>
            </a:r>
            <a:r>
              <a:rPr lang="en-US" sz="6000" b="0" i="0" u="none" strike="noStrike" cap="none">
                <a:solidFill>
                  <a:srgbClr val="FFFFFF"/>
                </a:solidFill>
                <a:latin typeface="Helvetica Neue"/>
                <a:ea typeface="Helvetica Neue"/>
                <a:cs typeface="Helvetica Neue"/>
                <a:sym typeface="Helvetica Neue"/>
              </a:rPr>
              <a:t>ritical </a:t>
            </a:r>
            <a:r>
              <a:rPr lang="en-US" sz="6000"/>
              <a:t>R</a:t>
            </a:r>
            <a:r>
              <a:rPr lang="en-US" sz="6000" b="0" i="0" u="none" strike="noStrike" cap="none">
                <a:solidFill>
                  <a:srgbClr val="FFFFFF"/>
                </a:solidFill>
                <a:latin typeface="Helvetica Neue"/>
                <a:ea typeface="Helvetica Neue"/>
                <a:cs typeface="Helvetica Neue"/>
                <a:sym typeface="Helvetica Neue"/>
              </a:rPr>
              <a:t>eading</a:t>
            </a:r>
            <a:endParaRPr sz="8000" b="0" i="1" u="none" strike="noStrike" cap="none">
              <a:solidFill>
                <a:srgbClr val="FFFFFF"/>
              </a:solidFill>
              <a:latin typeface="Helvetica Neue"/>
              <a:ea typeface="Helvetica Neue"/>
              <a:cs typeface="Helvetica Neue"/>
              <a:sym typeface="Helvetica Neue"/>
            </a:endParaRPr>
          </a:p>
        </p:txBody>
      </p:sp>
      <p:pic>
        <p:nvPicPr>
          <p:cNvPr id="60" name="Google Shape;60;p1" descr="r2 v1.png"/>
          <p:cNvPicPr preferRelativeResize="0"/>
          <p:nvPr/>
        </p:nvPicPr>
        <p:blipFill rotWithShape="1">
          <a:blip r:embed="rId3">
            <a:alphaModFix/>
          </a:blip>
          <a:srcRect/>
          <a:stretch/>
        </p:blipFill>
        <p:spPr>
          <a:xfrm>
            <a:off x="9744786" y="6493594"/>
            <a:ext cx="3260015" cy="3260015"/>
          </a:xfrm>
          <a:prstGeom prst="rect">
            <a:avLst/>
          </a:prstGeom>
          <a:noFill/>
          <a:ln>
            <a:noFill/>
          </a:ln>
        </p:spPr>
      </p:pic>
      <p:sp>
        <p:nvSpPr>
          <p:cNvPr id="61" name="Google Shape;61;p1"/>
          <p:cNvSpPr txBox="1"/>
          <p:nvPr/>
        </p:nvSpPr>
        <p:spPr>
          <a:xfrm>
            <a:off x="2146380" y="4911200"/>
            <a:ext cx="9053700" cy="1108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rgbClr val="FFFFFF"/>
                </a:solidFill>
                <a:latin typeface="Helvetica Neue"/>
                <a:ea typeface="Helvetica Neue"/>
                <a:cs typeface="Helvetica Neue"/>
                <a:sym typeface="Helvetica Neue"/>
              </a:rPr>
              <a:t>The Wallace team</a:t>
            </a:r>
            <a:endParaRPr sz="3200" b="0" i="0" u="none" strike="noStrike" cap="none">
              <a:solidFill>
                <a:srgbClr val="FFFFFF"/>
              </a:solidFill>
              <a:latin typeface="Helvetica Neue"/>
              <a:ea typeface="Helvetica Neue"/>
              <a:cs typeface="Helvetica Neue"/>
              <a:sym typeface="Helvetica Neue"/>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rgbClr val="FFFFFF"/>
                </a:solidFill>
                <a:latin typeface="Helvetica Neue"/>
                <a:ea typeface="Helvetica Neue"/>
                <a:cs typeface="Helvetica Neue"/>
                <a:sym typeface="Helvetica Neue"/>
              </a:rPr>
              <a:t>Slide deck lead by Andrea Paz and Jamie Kass</a:t>
            </a:r>
            <a:endParaRPr sz="2800" b="0" i="0"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2"/>
          <p:cNvSpPr/>
          <p:nvPr/>
        </p:nvSpPr>
        <p:spPr>
          <a:xfrm>
            <a:off x="5037519" y="5272802"/>
            <a:ext cx="3357900" cy="2889900"/>
          </a:xfrm>
          <a:prstGeom prst="rect">
            <a:avLst/>
          </a:prstGeom>
          <a:solidFill>
            <a:srgbClr val="00A1FE"/>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1" i="0" u="none" strike="noStrike" cap="none">
              <a:solidFill>
                <a:srgbClr val="FFFFFF"/>
              </a:solidFill>
              <a:latin typeface="Helvetica Neue"/>
              <a:ea typeface="Helvetica Neue"/>
              <a:cs typeface="Helvetica Neue"/>
              <a:sym typeface="Helvetica Neue"/>
            </a:endParaRPr>
          </a:p>
        </p:txBody>
      </p:sp>
      <p:sp>
        <p:nvSpPr>
          <p:cNvPr id="67" name="Google Shape;67;p2"/>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rmAutofit/>
          </a:bodyPr>
          <a:lstStyle/>
          <a:p>
            <a:pPr marL="0" lvl="0" indent="0" algn="ctr" rtl="0">
              <a:lnSpc>
                <a:spcPct val="100000"/>
              </a:lnSpc>
              <a:spcBef>
                <a:spcPts val="0"/>
              </a:spcBef>
              <a:spcAft>
                <a:spcPts val="0"/>
              </a:spcAft>
              <a:buClr>
                <a:srgbClr val="FFFFFF"/>
              </a:buClr>
              <a:buSzPts val="7900"/>
              <a:buFont typeface="Helvetica Neue"/>
              <a:buNone/>
            </a:pPr>
            <a:r>
              <a:rPr lang="en-US"/>
              <a:t>The data</a:t>
            </a:r>
            <a:endParaRPr i="1"/>
          </a:p>
        </p:txBody>
      </p:sp>
      <p:sp>
        <p:nvSpPr>
          <p:cNvPr id="68" name="Google Shape;68;p2"/>
          <p:cNvSpPr txBox="1">
            <a:spLocks noGrp="1"/>
          </p:cNvSpPr>
          <p:nvPr>
            <p:ph type="body" idx="1"/>
          </p:nvPr>
        </p:nvSpPr>
        <p:spPr>
          <a:xfrm>
            <a:off x="952500" y="3117023"/>
            <a:ext cx="10868700" cy="1759800"/>
          </a:xfrm>
          <a:prstGeom prst="rect">
            <a:avLst/>
          </a:prstGeom>
          <a:noFill/>
          <a:ln>
            <a:noFill/>
          </a:ln>
        </p:spPr>
        <p:txBody>
          <a:bodyPr spcFirstLastPara="1" wrap="square" lIns="50800" tIns="50800" rIns="50800" bIns="50800" anchor="ctr" anchorCtr="0">
            <a:normAutofit lnSpcReduction="10000"/>
          </a:bodyPr>
          <a:lstStyle/>
          <a:p>
            <a:pPr marL="1778000" lvl="3" indent="-444500" algn="l" rtl="0">
              <a:lnSpc>
                <a:spcPct val="100000"/>
              </a:lnSpc>
              <a:spcBef>
                <a:spcPts val="0"/>
              </a:spcBef>
              <a:spcAft>
                <a:spcPts val="0"/>
              </a:spcAft>
              <a:buSzPts val="4640"/>
              <a:buFont typeface="Helvetica Neue"/>
              <a:buChar char="•"/>
            </a:pPr>
            <a:r>
              <a:rPr lang="en-US"/>
              <a:t>An example: we want to know the physiological limits of a frog and we use environmental layers at 25 km resolution</a:t>
            </a:r>
            <a:endParaRPr/>
          </a:p>
        </p:txBody>
      </p:sp>
      <p:pic>
        <p:nvPicPr>
          <p:cNvPr id="69" name="Google Shape;69;p2" descr="Image"/>
          <p:cNvPicPr preferRelativeResize="0"/>
          <p:nvPr/>
        </p:nvPicPr>
        <p:blipFill rotWithShape="1">
          <a:blip r:embed="rId3">
            <a:alphaModFix/>
          </a:blip>
          <a:srcRect/>
          <a:stretch/>
        </p:blipFill>
        <p:spPr>
          <a:xfrm>
            <a:off x="5301523" y="7597041"/>
            <a:ext cx="913220" cy="565608"/>
          </a:xfrm>
          <a:prstGeom prst="rect">
            <a:avLst/>
          </a:prstGeom>
          <a:noFill/>
          <a:ln>
            <a:noFill/>
          </a:ln>
        </p:spPr>
      </p:pic>
      <p:sp>
        <p:nvSpPr>
          <p:cNvPr id="70" name="Google Shape;70;p2"/>
          <p:cNvSpPr txBox="1"/>
          <p:nvPr/>
        </p:nvSpPr>
        <p:spPr>
          <a:xfrm>
            <a:off x="6058712" y="6684620"/>
            <a:ext cx="2004900" cy="4719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Appropriate?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body" idx="1"/>
          </p:nvPr>
        </p:nvSpPr>
        <p:spPr>
          <a:xfrm>
            <a:off x="304449" y="2413000"/>
            <a:ext cx="12479400" cy="6180900"/>
          </a:xfrm>
          <a:prstGeom prst="rect">
            <a:avLst/>
          </a:prstGeom>
          <a:noFill/>
          <a:ln>
            <a:noFill/>
          </a:ln>
        </p:spPr>
        <p:txBody>
          <a:bodyPr spcFirstLastPara="1" wrap="square" lIns="50800" tIns="50800" rIns="50800" bIns="50800" anchor="ctr" anchorCtr="0">
            <a:normAutofit/>
          </a:bodyPr>
          <a:lstStyle/>
          <a:p>
            <a:pPr marL="457200" lvl="3" indent="-444500" algn="l" rtl="0">
              <a:lnSpc>
                <a:spcPct val="100000"/>
              </a:lnSpc>
              <a:spcBef>
                <a:spcPts val="0"/>
              </a:spcBef>
              <a:spcAft>
                <a:spcPts val="0"/>
              </a:spcAft>
              <a:buSzPts val="4350"/>
              <a:buFont typeface="Helvetica Neue"/>
              <a:buChar char="•"/>
            </a:pPr>
            <a:r>
              <a:rPr lang="en-US"/>
              <a:t>There are many sources of environmental and occurrence data</a:t>
            </a:r>
            <a:endParaRPr/>
          </a:p>
          <a:p>
            <a:pPr marL="522288" lvl="3" indent="-509588" algn="l" rtl="0">
              <a:lnSpc>
                <a:spcPct val="100000"/>
              </a:lnSpc>
              <a:spcBef>
                <a:spcPts val="0"/>
              </a:spcBef>
              <a:spcAft>
                <a:spcPts val="0"/>
              </a:spcAft>
              <a:buSzPts val="4350"/>
              <a:buFont typeface="Helvetica Neue"/>
              <a:buChar char="•"/>
            </a:pPr>
            <a:r>
              <a:rPr lang="en-US"/>
              <a:t>Are they appropriate for our:</a:t>
            </a:r>
            <a:endParaRPr/>
          </a:p>
          <a:p>
            <a:pPr marL="1373188" lvl="6" indent="-693738" algn="l" rtl="0">
              <a:lnSpc>
                <a:spcPct val="100000"/>
              </a:lnSpc>
              <a:spcBef>
                <a:spcPts val="0"/>
              </a:spcBef>
              <a:spcAft>
                <a:spcPts val="0"/>
              </a:spcAft>
              <a:buClr>
                <a:srgbClr val="FFFFFF"/>
              </a:buClr>
              <a:buSzPts val="4350"/>
              <a:buFont typeface="Helvetica Neue"/>
              <a:buChar char="•"/>
            </a:pPr>
            <a:r>
              <a:rPr lang="en-US"/>
              <a:t>current distribution?</a:t>
            </a:r>
            <a:endParaRPr/>
          </a:p>
          <a:p>
            <a:pPr marL="1373188" lvl="6" indent="-693738" algn="l" rtl="0">
              <a:lnSpc>
                <a:spcPct val="100000"/>
              </a:lnSpc>
              <a:spcBef>
                <a:spcPts val="0"/>
              </a:spcBef>
              <a:spcAft>
                <a:spcPts val="0"/>
              </a:spcAft>
              <a:buClr>
                <a:srgbClr val="FFFFFF"/>
              </a:buClr>
              <a:buSzPts val="4350"/>
              <a:buFont typeface="Helvetica Neue"/>
              <a:buChar char="•"/>
            </a:pPr>
            <a:r>
              <a:rPr lang="en-US"/>
              <a:t>physiological tolerances?</a:t>
            </a:r>
            <a:endParaRPr/>
          </a:p>
          <a:p>
            <a:pPr marL="1373188" lvl="6" indent="-693738" algn="l" rtl="0">
              <a:lnSpc>
                <a:spcPct val="100000"/>
              </a:lnSpc>
              <a:spcBef>
                <a:spcPts val="0"/>
              </a:spcBef>
              <a:spcAft>
                <a:spcPts val="0"/>
              </a:spcAft>
              <a:buClr>
                <a:srgbClr val="FFFFFF"/>
              </a:buClr>
              <a:buSzPts val="4350"/>
              <a:buFont typeface="Helvetica Neue"/>
              <a:buChar char="•"/>
            </a:pPr>
            <a:r>
              <a:rPr lang="en-US"/>
              <a:t>niche preferences?</a:t>
            </a:r>
            <a:endParaRPr/>
          </a:p>
          <a:p>
            <a:pPr marL="1373188" lvl="6" indent="-693738" algn="l" rtl="0">
              <a:lnSpc>
                <a:spcPct val="100000"/>
              </a:lnSpc>
              <a:spcBef>
                <a:spcPts val="0"/>
              </a:spcBef>
              <a:spcAft>
                <a:spcPts val="0"/>
              </a:spcAft>
              <a:buClr>
                <a:srgbClr val="FFFFFF"/>
              </a:buClr>
              <a:buSzPts val="4350"/>
              <a:buFont typeface="Helvetica Neue"/>
              <a:buChar char="•"/>
            </a:pPr>
            <a:r>
              <a:rPr lang="en-US"/>
              <a:t>niche differences between species?</a:t>
            </a:r>
            <a:endParaRPr/>
          </a:p>
          <a:p>
            <a:pPr marL="1373188" lvl="6" indent="-693738" algn="l" rtl="0">
              <a:lnSpc>
                <a:spcPct val="100000"/>
              </a:lnSpc>
              <a:spcBef>
                <a:spcPts val="0"/>
              </a:spcBef>
              <a:spcAft>
                <a:spcPts val="0"/>
              </a:spcAft>
              <a:buClr>
                <a:srgbClr val="FFFFFF"/>
              </a:buClr>
              <a:buSzPts val="4350"/>
              <a:buFont typeface="Helvetica Neue"/>
              <a:buChar char="•"/>
            </a:pPr>
            <a:r>
              <a:rPr lang="en-US"/>
              <a:t>distributional changes over space and/or time?</a:t>
            </a:r>
            <a:endParaRPr/>
          </a:p>
        </p:txBody>
      </p:sp>
      <p:sp>
        <p:nvSpPr>
          <p:cNvPr id="76" name="Google Shape;76;p3"/>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rmAutofit/>
          </a:bodyPr>
          <a:lstStyle/>
          <a:p>
            <a:pPr marL="0" lvl="0" indent="0" algn="ctr" rtl="0">
              <a:lnSpc>
                <a:spcPct val="100000"/>
              </a:lnSpc>
              <a:spcBef>
                <a:spcPts val="0"/>
              </a:spcBef>
              <a:spcAft>
                <a:spcPts val="0"/>
              </a:spcAft>
              <a:buClr>
                <a:srgbClr val="FFFFFF"/>
              </a:buClr>
              <a:buSzPts val="7900"/>
              <a:buFont typeface="Helvetica Neue"/>
              <a:buNone/>
            </a:pPr>
            <a:r>
              <a:rPr lang="en-US"/>
              <a:t>The data</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4"/>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rmAutofit/>
          </a:bodyPr>
          <a:lstStyle/>
          <a:p>
            <a:pPr marL="0" lvl="0" indent="0" algn="ctr" rtl="0">
              <a:lnSpc>
                <a:spcPct val="100000"/>
              </a:lnSpc>
              <a:spcBef>
                <a:spcPts val="0"/>
              </a:spcBef>
              <a:spcAft>
                <a:spcPts val="0"/>
              </a:spcAft>
              <a:buClr>
                <a:srgbClr val="FFFFFF"/>
              </a:buClr>
              <a:buSzPts val="8000"/>
              <a:buFont typeface="Helvetica Neue"/>
              <a:buNone/>
            </a:pPr>
            <a:r>
              <a:rPr lang="en-US"/>
              <a:t>Evaluating models</a:t>
            </a:r>
            <a:endParaRPr i="1"/>
          </a:p>
        </p:txBody>
      </p:sp>
      <p:pic>
        <p:nvPicPr>
          <p:cNvPr id="82" name="Google Shape;82;p4" descr="refu_labiyfus.jpg"/>
          <p:cNvPicPr preferRelativeResize="0"/>
          <p:nvPr/>
        </p:nvPicPr>
        <p:blipFill rotWithShape="1">
          <a:blip r:embed="rId3">
            <a:alphaModFix/>
          </a:blip>
          <a:srcRect l="2366" t="10962" r="51558" b="19695"/>
          <a:stretch/>
        </p:blipFill>
        <p:spPr>
          <a:xfrm>
            <a:off x="6771539" y="2973941"/>
            <a:ext cx="5360942" cy="5958003"/>
          </a:xfrm>
          <a:prstGeom prst="rect">
            <a:avLst/>
          </a:prstGeom>
          <a:noFill/>
          <a:ln>
            <a:noFill/>
          </a:ln>
        </p:spPr>
      </p:pic>
      <p:pic>
        <p:nvPicPr>
          <p:cNvPr id="83" name="Google Shape;83;p4" descr="Image"/>
          <p:cNvPicPr preferRelativeResize="0"/>
          <p:nvPr/>
        </p:nvPicPr>
        <p:blipFill rotWithShape="1">
          <a:blip r:embed="rId4">
            <a:alphaModFix/>
          </a:blip>
          <a:srcRect/>
          <a:stretch/>
        </p:blipFill>
        <p:spPr>
          <a:xfrm>
            <a:off x="9704748" y="7545130"/>
            <a:ext cx="1977304" cy="1224653"/>
          </a:xfrm>
          <a:prstGeom prst="rect">
            <a:avLst/>
          </a:prstGeom>
          <a:noFill/>
          <a:ln>
            <a:noFill/>
          </a:ln>
        </p:spPr>
      </p:pic>
      <p:sp>
        <p:nvSpPr>
          <p:cNvPr id="84" name="Google Shape;84;p4"/>
          <p:cNvSpPr txBox="1"/>
          <p:nvPr/>
        </p:nvSpPr>
        <p:spPr>
          <a:xfrm>
            <a:off x="9255912" y="6726928"/>
            <a:ext cx="2689884" cy="8293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1" u="none" strike="noStrike" cap="none">
                <a:solidFill>
                  <a:srgbClr val="FFFFFF"/>
                </a:solidFill>
                <a:latin typeface="Helvetica Neue"/>
                <a:ea typeface="Helvetica Neue"/>
                <a:cs typeface="Helvetica Neue"/>
                <a:sym typeface="Helvetica Neue"/>
              </a:rPr>
              <a:t>Dendropsophus molitor</a:t>
            </a:r>
            <a:endParaRPr sz="1400" b="0" i="0" u="none" strike="noStrike" cap="none">
              <a:solidFill>
                <a:srgbClr val="000000"/>
              </a:solidFill>
              <a:latin typeface="Arial"/>
              <a:ea typeface="Arial"/>
              <a:cs typeface="Arial"/>
              <a:sym typeface="Arial"/>
            </a:endParaRPr>
          </a:p>
        </p:txBody>
      </p:sp>
      <p:pic>
        <p:nvPicPr>
          <p:cNvPr id="85" name="Google Shape;85;p4" descr="Fig_1_dist_labiyfus.jpg"/>
          <p:cNvPicPr preferRelativeResize="0"/>
          <p:nvPr/>
        </p:nvPicPr>
        <p:blipFill rotWithShape="1">
          <a:blip r:embed="rId5">
            <a:alphaModFix/>
          </a:blip>
          <a:srcRect l="15129" t="9292" r="60814" b="57240"/>
          <a:stretch/>
        </p:blipFill>
        <p:spPr>
          <a:xfrm>
            <a:off x="1650662" y="2973147"/>
            <a:ext cx="5051129" cy="5959357"/>
          </a:xfrm>
          <a:prstGeom prst="rect">
            <a:avLst/>
          </a:prstGeom>
          <a:noFill/>
          <a:ln>
            <a:noFill/>
          </a:ln>
        </p:spPr>
      </p:pic>
      <p:sp>
        <p:nvSpPr>
          <p:cNvPr id="86" name="Google Shape;86;p4"/>
          <p:cNvSpPr txBox="1"/>
          <p:nvPr/>
        </p:nvSpPr>
        <p:spPr>
          <a:xfrm>
            <a:off x="952500" y="9027676"/>
            <a:ext cx="11389336" cy="471924"/>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Is this a good or a bad model?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5"/>
          <p:cNvSpPr txBox="1">
            <a:spLocks noGrp="1"/>
          </p:cNvSpPr>
          <p:nvPr>
            <p:ph type="title"/>
          </p:nvPr>
        </p:nvSpPr>
        <p:spPr>
          <a:xfrm>
            <a:off x="-63352" y="254000"/>
            <a:ext cx="12946411" cy="21590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60000"/>
              <a:buFont typeface="Helvetica Neue"/>
              <a:buNone/>
            </a:pPr>
            <a:r>
              <a:rPr lang="en-US"/>
              <a:t>Evaluating models from organismal expertise</a:t>
            </a:r>
            <a:endParaRPr/>
          </a:p>
        </p:txBody>
      </p:sp>
      <p:pic>
        <p:nvPicPr>
          <p:cNvPr id="92" name="Google Shape;92;p5" descr="refu_labiyfus.jpg"/>
          <p:cNvPicPr preferRelativeResize="0"/>
          <p:nvPr/>
        </p:nvPicPr>
        <p:blipFill rotWithShape="1">
          <a:blip r:embed="rId3">
            <a:alphaModFix/>
          </a:blip>
          <a:srcRect l="2366" t="10962" r="51558" b="19695"/>
          <a:stretch/>
        </p:blipFill>
        <p:spPr>
          <a:xfrm>
            <a:off x="2580539" y="3179282"/>
            <a:ext cx="5360942" cy="5958003"/>
          </a:xfrm>
          <a:prstGeom prst="rect">
            <a:avLst/>
          </a:prstGeom>
          <a:noFill/>
          <a:ln>
            <a:noFill/>
          </a:ln>
        </p:spPr>
      </p:pic>
      <p:pic>
        <p:nvPicPr>
          <p:cNvPr id="93" name="Google Shape;93;p5" descr="Image"/>
          <p:cNvPicPr preferRelativeResize="0"/>
          <p:nvPr/>
        </p:nvPicPr>
        <p:blipFill rotWithShape="1">
          <a:blip r:embed="rId4">
            <a:alphaModFix/>
          </a:blip>
          <a:srcRect/>
          <a:stretch/>
        </p:blipFill>
        <p:spPr>
          <a:xfrm>
            <a:off x="5513748" y="7750471"/>
            <a:ext cx="1977304" cy="1224654"/>
          </a:xfrm>
          <a:prstGeom prst="rect">
            <a:avLst/>
          </a:prstGeom>
          <a:noFill/>
          <a:ln>
            <a:noFill/>
          </a:ln>
        </p:spPr>
      </p:pic>
      <p:sp>
        <p:nvSpPr>
          <p:cNvPr id="94" name="Google Shape;94;p5"/>
          <p:cNvSpPr txBox="1"/>
          <p:nvPr/>
        </p:nvSpPr>
        <p:spPr>
          <a:xfrm>
            <a:off x="5064912" y="6932270"/>
            <a:ext cx="2689883" cy="8293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1" u="none" strike="noStrike" cap="none">
                <a:solidFill>
                  <a:srgbClr val="FFFFFF"/>
                </a:solidFill>
                <a:latin typeface="Helvetica Neue"/>
                <a:ea typeface="Helvetica Neue"/>
                <a:cs typeface="Helvetica Neue"/>
                <a:sym typeface="Helvetica Neue"/>
              </a:rPr>
              <a:t>Dendropsophus molitor</a:t>
            </a:r>
            <a:endParaRPr sz="1400" b="0" i="0" u="none" strike="noStrike" cap="none">
              <a:solidFill>
                <a:srgbClr val="000000"/>
              </a:solidFill>
              <a:latin typeface="Arial"/>
              <a:ea typeface="Arial"/>
              <a:cs typeface="Arial"/>
              <a:sym typeface="Arial"/>
            </a:endParaRPr>
          </a:p>
        </p:txBody>
      </p:sp>
      <p:sp>
        <p:nvSpPr>
          <p:cNvPr id="95" name="Google Shape;95;p5"/>
          <p:cNvSpPr/>
          <p:nvPr/>
        </p:nvSpPr>
        <p:spPr>
          <a:xfrm>
            <a:off x="2923805" y="6910905"/>
            <a:ext cx="603990" cy="1532491"/>
          </a:xfrm>
          <a:custGeom>
            <a:avLst/>
            <a:gdLst/>
            <a:ahLst/>
            <a:cxnLst/>
            <a:rect l="l" t="t" r="r" b="b"/>
            <a:pathLst>
              <a:path w="21051" h="21600" extrusionOk="0">
                <a:moveTo>
                  <a:pt x="1090" y="0"/>
                </a:moveTo>
                <a:cubicBezTo>
                  <a:pt x="96" y="569"/>
                  <a:pt x="-275" y="1174"/>
                  <a:pt x="214" y="1750"/>
                </a:cubicBezTo>
                <a:cubicBezTo>
                  <a:pt x="934" y="2598"/>
                  <a:pt x="3681" y="5014"/>
                  <a:pt x="8468" y="10613"/>
                </a:cubicBezTo>
                <a:cubicBezTo>
                  <a:pt x="8493" y="10583"/>
                  <a:pt x="9625" y="9244"/>
                  <a:pt x="10104" y="8660"/>
                </a:cubicBezTo>
                <a:cubicBezTo>
                  <a:pt x="6380" y="4115"/>
                  <a:pt x="5091" y="1928"/>
                  <a:pt x="4441" y="1163"/>
                </a:cubicBezTo>
                <a:cubicBezTo>
                  <a:pt x="3952" y="587"/>
                  <a:pt x="2739" y="202"/>
                  <a:pt x="1090" y="0"/>
                </a:cubicBezTo>
                <a:close/>
                <a:moveTo>
                  <a:pt x="19960" y="0"/>
                </a:moveTo>
                <a:cubicBezTo>
                  <a:pt x="18311" y="202"/>
                  <a:pt x="17094" y="587"/>
                  <a:pt x="16605" y="1163"/>
                </a:cubicBezTo>
                <a:cubicBezTo>
                  <a:pt x="15867" y="2032"/>
                  <a:pt x="14312" y="4731"/>
                  <a:pt x="9302" y="10631"/>
                </a:cubicBezTo>
                <a:cubicBezTo>
                  <a:pt x="4293" y="16532"/>
                  <a:pt x="1" y="21090"/>
                  <a:pt x="1" y="21090"/>
                </a:cubicBezTo>
                <a:lnTo>
                  <a:pt x="3673" y="21600"/>
                </a:lnTo>
                <a:cubicBezTo>
                  <a:pt x="3673" y="21600"/>
                  <a:pt x="7209" y="16937"/>
                  <a:pt x="12219" y="11036"/>
                </a:cubicBezTo>
                <a:cubicBezTo>
                  <a:pt x="17229" y="5135"/>
                  <a:pt x="20098" y="2619"/>
                  <a:pt x="20836" y="1750"/>
                </a:cubicBezTo>
                <a:cubicBezTo>
                  <a:pt x="21325" y="1174"/>
                  <a:pt x="20954" y="569"/>
                  <a:pt x="19960" y="0"/>
                </a:cubicBezTo>
                <a:close/>
                <a:moveTo>
                  <a:pt x="12578" y="11608"/>
                </a:moveTo>
                <a:cubicBezTo>
                  <a:pt x="12013" y="12277"/>
                  <a:pt x="11469" y="12929"/>
                  <a:pt x="10946" y="13559"/>
                </a:cubicBezTo>
                <a:cubicBezTo>
                  <a:pt x="14806" y="18213"/>
                  <a:pt x="17377" y="21600"/>
                  <a:pt x="17377" y="21600"/>
                </a:cubicBezTo>
                <a:lnTo>
                  <a:pt x="21049" y="21090"/>
                </a:lnTo>
                <a:cubicBezTo>
                  <a:pt x="21049" y="21090"/>
                  <a:pt x="17221" y="17027"/>
                  <a:pt x="12578" y="11608"/>
                </a:cubicBezTo>
                <a:close/>
              </a:path>
            </a:pathLst>
          </a:custGeom>
          <a:solidFill>
            <a:srgbClr val="00A1FE"/>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1" i="0" u="none" strike="noStrike" cap="none">
              <a:solidFill>
                <a:srgbClr val="FFFFFF"/>
              </a:solidFill>
              <a:latin typeface="Helvetica Neue"/>
              <a:ea typeface="Helvetica Neue"/>
              <a:cs typeface="Helvetica Neue"/>
              <a:sym typeface="Helvetica Neue"/>
            </a:endParaRPr>
          </a:p>
        </p:txBody>
      </p:sp>
      <p:sp>
        <p:nvSpPr>
          <p:cNvPr id="96" name="Google Shape;96;p5"/>
          <p:cNvSpPr/>
          <p:nvPr/>
        </p:nvSpPr>
        <p:spPr>
          <a:xfrm>
            <a:off x="3835925" y="5162936"/>
            <a:ext cx="326870" cy="829360"/>
          </a:xfrm>
          <a:custGeom>
            <a:avLst/>
            <a:gdLst/>
            <a:ahLst/>
            <a:cxnLst/>
            <a:rect l="l" t="t" r="r" b="b"/>
            <a:pathLst>
              <a:path w="21051" h="21600" extrusionOk="0">
                <a:moveTo>
                  <a:pt x="1090" y="0"/>
                </a:moveTo>
                <a:cubicBezTo>
                  <a:pt x="96" y="569"/>
                  <a:pt x="-275" y="1174"/>
                  <a:pt x="214" y="1750"/>
                </a:cubicBezTo>
                <a:cubicBezTo>
                  <a:pt x="934" y="2598"/>
                  <a:pt x="3681" y="5014"/>
                  <a:pt x="8468" y="10613"/>
                </a:cubicBezTo>
                <a:cubicBezTo>
                  <a:pt x="8493" y="10583"/>
                  <a:pt x="9625" y="9244"/>
                  <a:pt x="10104" y="8660"/>
                </a:cubicBezTo>
                <a:cubicBezTo>
                  <a:pt x="6380" y="4115"/>
                  <a:pt x="5091" y="1928"/>
                  <a:pt x="4441" y="1163"/>
                </a:cubicBezTo>
                <a:cubicBezTo>
                  <a:pt x="3952" y="587"/>
                  <a:pt x="2739" y="202"/>
                  <a:pt x="1090" y="0"/>
                </a:cubicBezTo>
                <a:close/>
                <a:moveTo>
                  <a:pt x="19960" y="0"/>
                </a:moveTo>
                <a:cubicBezTo>
                  <a:pt x="18311" y="202"/>
                  <a:pt x="17094" y="587"/>
                  <a:pt x="16605" y="1163"/>
                </a:cubicBezTo>
                <a:cubicBezTo>
                  <a:pt x="15867" y="2032"/>
                  <a:pt x="14312" y="4731"/>
                  <a:pt x="9302" y="10631"/>
                </a:cubicBezTo>
                <a:cubicBezTo>
                  <a:pt x="4293" y="16532"/>
                  <a:pt x="1" y="21090"/>
                  <a:pt x="1" y="21090"/>
                </a:cubicBezTo>
                <a:lnTo>
                  <a:pt x="3673" y="21600"/>
                </a:lnTo>
                <a:cubicBezTo>
                  <a:pt x="3673" y="21600"/>
                  <a:pt x="7209" y="16937"/>
                  <a:pt x="12219" y="11036"/>
                </a:cubicBezTo>
                <a:cubicBezTo>
                  <a:pt x="17229" y="5135"/>
                  <a:pt x="20098" y="2619"/>
                  <a:pt x="20836" y="1750"/>
                </a:cubicBezTo>
                <a:cubicBezTo>
                  <a:pt x="21325" y="1174"/>
                  <a:pt x="20954" y="569"/>
                  <a:pt x="19960" y="0"/>
                </a:cubicBezTo>
                <a:close/>
                <a:moveTo>
                  <a:pt x="12578" y="11608"/>
                </a:moveTo>
                <a:cubicBezTo>
                  <a:pt x="12013" y="12277"/>
                  <a:pt x="11469" y="12929"/>
                  <a:pt x="10946" y="13559"/>
                </a:cubicBezTo>
                <a:cubicBezTo>
                  <a:pt x="14806" y="18213"/>
                  <a:pt x="17377" y="21600"/>
                  <a:pt x="17377" y="21600"/>
                </a:cubicBezTo>
                <a:lnTo>
                  <a:pt x="21049" y="21090"/>
                </a:lnTo>
                <a:cubicBezTo>
                  <a:pt x="21049" y="21090"/>
                  <a:pt x="17221" y="17027"/>
                  <a:pt x="12578" y="11608"/>
                </a:cubicBezTo>
                <a:close/>
              </a:path>
            </a:pathLst>
          </a:custGeom>
          <a:solidFill>
            <a:srgbClr val="00A1FE"/>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1" i="0" u="none" strike="noStrike" cap="none">
              <a:solidFill>
                <a:srgbClr val="FFFFFF"/>
              </a:solidFill>
              <a:latin typeface="Helvetica Neue"/>
              <a:ea typeface="Helvetica Neue"/>
              <a:cs typeface="Helvetica Neue"/>
              <a:sym typeface="Helvetica Neue"/>
            </a:endParaRPr>
          </a:p>
        </p:txBody>
      </p:sp>
      <p:sp>
        <p:nvSpPr>
          <p:cNvPr id="97" name="Google Shape;97;p5"/>
          <p:cNvSpPr/>
          <p:nvPr/>
        </p:nvSpPr>
        <p:spPr>
          <a:xfrm>
            <a:off x="4605051" y="3963713"/>
            <a:ext cx="158825" cy="402983"/>
          </a:xfrm>
          <a:custGeom>
            <a:avLst/>
            <a:gdLst/>
            <a:ahLst/>
            <a:cxnLst/>
            <a:rect l="l" t="t" r="r" b="b"/>
            <a:pathLst>
              <a:path w="21051" h="21600" extrusionOk="0">
                <a:moveTo>
                  <a:pt x="1090" y="0"/>
                </a:moveTo>
                <a:cubicBezTo>
                  <a:pt x="96" y="569"/>
                  <a:pt x="-275" y="1174"/>
                  <a:pt x="214" y="1750"/>
                </a:cubicBezTo>
                <a:cubicBezTo>
                  <a:pt x="934" y="2598"/>
                  <a:pt x="3681" y="5014"/>
                  <a:pt x="8468" y="10613"/>
                </a:cubicBezTo>
                <a:cubicBezTo>
                  <a:pt x="8493" y="10583"/>
                  <a:pt x="9625" y="9244"/>
                  <a:pt x="10104" y="8660"/>
                </a:cubicBezTo>
                <a:cubicBezTo>
                  <a:pt x="6380" y="4115"/>
                  <a:pt x="5091" y="1928"/>
                  <a:pt x="4441" y="1163"/>
                </a:cubicBezTo>
                <a:cubicBezTo>
                  <a:pt x="3952" y="587"/>
                  <a:pt x="2739" y="202"/>
                  <a:pt x="1090" y="0"/>
                </a:cubicBezTo>
                <a:close/>
                <a:moveTo>
                  <a:pt x="19960" y="0"/>
                </a:moveTo>
                <a:cubicBezTo>
                  <a:pt x="18311" y="202"/>
                  <a:pt x="17094" y="587"/>
                  <a:pt x="16605" y="1163"/>
                </a:cubicBezTo>
                <a:cubicBezTo>
                  <a:pt x="15867" y="2032"/>
                  <a:pt x="14312" y="4731"/>
                  <a:pt x="9302" y="10631"/>
                </a:cubicBezTo>
                <a:cubicBezTo>
                  <a:pt x="4293" y="16532"/>
                  <a:pt x="1" y="21090"/>
                  <a:pt x="1" y="21090"/>
                </a:cubicBezTo>
                <a:lnTo>
                  <a:pt x="3673" y="21600"/>
                </a:lnTo>
                <a:cubicBezTo>
                  <a:pt x="3673" y="21600"/>
                  <a:pt x="7209" y="16937"/>
                  <a:pt x="12219" y="11036"/>
                </a:cubicBezTo>
                <a:cubicBezTo>
                  <a:pt x="17229" y="5135"/>
                  <a:pt x="20098" y="2619"/>
                  <a:pt x="20836" y="1750"/>
                </a:cubicBezTo>
                <a:cubicBezTo>
                  <a:pt x="21325" y="1174"/>
                  <a:pt x="20954" y="569"/>
                  <a:pt x="19960" y="0"/>
                </a:cubicBezTo>
                <a:close/>
                <a:moveTo>
                  <a:pt x="12578" y="11608"/>
                </a:moveTo>
                <a:cubicBezTo>
                  <a:pt x="12013" y="12277"/>
                  <a:pt x="11469" y="12929"/>
                  <a:pt x="10946" y="13559"/>
                </a:cubicBezTo>
                <a:cubicBezTo>
                  <a:pt x="14806" y="18213"/>
                  <a:pt x="17377" y="21600"/>
                  <a:pt x="17377" y="21600"/>
                </a:cubicBezTo>
                <a:lnTo>
                  <a:pt x="21049" y="21090"/>
                </a:lnTo>
                <a:cubicBezTo>
                  <a:pt x="21049" y="21090"/>
                  <a:pt x="17221" y="17027"/>
                  <a:pt x="12578" y="11608"/>
                </a:cubicBezTo>
                <a:close/>
              </a:path>
            </a:pathLst>
          </a:custGeom>
          <a:solidFill>
            <a:srgbClr val="00A1FE"/>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1" i="0" u="none" strike="noStrike" cap="none">
              <a:solidFill>
                <a:srgbClr val="FFFFFF"/>
              </a:solidFill>
              <a:latin typeface="Helvetica Neue"/>
              <a:ea typeface="Helvetica Neue"/>
              <a:cs typeface="Helvetica Neue"/>
              <a:sym typeface="Helvetica Neue"/>
            </a:endParaRPr>
          </a:p>
        </p:txBody>
      </p:sp>
      <p:sp>
        <p:nvSpPr>
          <p:cNvPr id="98" name="Google Shape;98;p5"/>
          <p:cNvSpPr/>
          <p:nvPr/>
        </p:nvSpPr>
        <p:spPr>
          <a:xfrm>
            <a:off x="6205251" y="4141513"/>
            <a:ext cx="224830" cy="570456"/>
          </a:xfrm>
          <a:custGeom>
            <a:avLst/>
            <a:gdLst/>
            <a:ahLst/>
            <a:cxnLst/>
            <a:rect l="l" t="t" r="r" b="b"/>
            <a:pathLst>
              <a:path w="21051" h="21600" extrusionOk="0">
                <a:moveTo>
                  <a:pt x="1090" y="0"/>
                </a:moveTo>
                <a:cubicBezTo>
                  <a:pt x="96" y="569"/>
                  <a:pt x="-275" y="1174"/>
                  <a:pt x="214" y="1750"/>
                </a:cubicBezTo>
                <a:cubicBezTo>
                  <a:pt x="934" y="2598"/>
                  <a:pt x="3681" y="5014"/>
                  <a:pt x="8468" y="10613"/>
                </a:cubicBezTo>
                <a:cubicBezTo>
                  <a:pt x="8493" y="10583"/>
                  <a:pt x="9625" y="9244"/>
                  <a:pt x="10104" y="8660"/>
                </a:cubicBezTo>
                <a:cubicBezTo>
                  <a:pt x="6380" y="4115"/>
                  <a:pt x="5091" y="1928"/>
                  <a:pt x="4441" y="1163"/>
                </a:cubicBezTo>
                <a:cubicBezTo>
                  <a:pt x="3952" y="587"/>
                  <a:pt x="2739" y="202"/>
                  <a:pt x="1090" y="0"/>
                </a:cubicBezTo>
                <a:close/>
                <a:moveTo>
                  <a:pt x="19960" y="0"/>
                </a:moveTo>
                <a:cubicBezTo>
                  <a:pt x="18311" y="202"/>
                  <a:pt x="17094" y="587"/>
                  <a:pt x="16605" y="1163"/>
                </a:cubicBezTo>
                <a:cubicBezTo>
                  <a:pt x="15867" y="2032"/>
                  <a:pt x="14312" y="4731"/>
                  <a:pt x="9302" y="10631"/>
                </a:cubicBezTo>
                <a:cubicBezTo>
                  <a:pt x="4293" y="16532"/>
                  <a:pt x="1" y="21090"/>
                  <a:pt x="1" y="21090"/>
                </a:cubicBezTo>
                <a:lnTo>
                  <a:pt x="3673" y="21600"/>
                </a:lnTo>
                <a:cubicBezTo>
                  <a:pt x="3673" y="21600"/>
                  <a:pt x="7209" y="16937"/>
                  <a:pt x="12219" y="11036"/>
                </a:cubicBezTo>
                <a:cubicBezTo>
                  <a:pt x="17229" y="5135"/>
                  <a:pt x="20098" y="2619"/>
                  <a:pt x="20836" y="1750"/>
                </a:cubicBezTo>
                <a:cubicBezTo>
                  <a:pt x="21325" y="1174"/>
                  <a:pt x="20954" y="569"/>
                  <a:pt x="19960" y="0"/>
                </a:cubicBezTo>
                <a:close/>
                <a:moveTo>
                  <a:pt x="12578" y="11608"/>
                </a:moveTo>
                <a:cubicBezTo>
                  <a:pt x="12013" y="12277"/>
                  <a:pt x="11469" y="12929"/>
                  <a:pt x="10946" y="13559"/>
                </a:cubicBezTo>
                <a:cubicBezTo>
                  <a:pt x="14806" y="18213"/>
                  <a:pt x="17377" y="21600"/>
                  <a:pt x="17377" y="21600"/>
                </a:cubicBezTo>
                <a:lnTo>
                  <a:pt x="21049" y="21090"/>
                </a:lnTo>
                <a:cubicBezTo>
                  <a:pt x="21049" y="21090"/>
                  <a:pt x="17221" y="17027"/>
                  <a:pt x="12578" y="11608"/>
                </a:cubicBezTo>
                <a:close/>
              </a:path>
            </a:pathLst>
          </a:custGeom>
          <a:solidFill>
            <a:srgbClr val="00A1FE"/>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1" i="0"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6"/>
          <p:cNvSpPr txBox="1">
            <a:spLocks noGrp="1"/>
          </p:cNvSpPr>
          <p:nvPr>
            <p:ph type="title"/>
          </p:nvPr>
        </p:nvSpPr>
        <p:spPr>
          <a:xfrm>
            <a:off x="0" y="254000"/>
            <a:ext cx="13004800" cy="21590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60000"/>
              <a:buFont typeface="Helvetica Neue"/>
              <a:buNone/>
            </a:pPr>
            <a:r>
              <a:rPr lang="en-US"/>
              <a:t>The models: Data &amp; congruence with the questions</a:t>
            </a:r>
            <a:endParaRPr/>
          </a:p>
        </p:txBody>
      </p:sp>
      <p:pic>
        <p:nvPicPr>
          <p:cNvPr id="104" name="Google Shape;104;p6" descr="refu_labiyfus.jpg"/>
          <p:cNvPicPr preferRelativeResize="0"/>
          <p:nvPr/>
        </p:nvPicPr>
        <p:blipFill rotWithShape="1">
          <a:blip r:embed="rId3">
            <a:alphaModFix/>
          </a:blip>
          <a:srcRect l="2366" t="10962" r="51558" b="19695"/>
          <a:stretch/>
        </p:blipFill>
        <p:spPr>
          <a:xfrm>
            <a:off x="7562506" y="3188453"/>
            <a:ext cx="4067110" cy="4520076"/>
          </a:xfrm>
          <a:prstGeom prst="rect">
            <a:avLst/>
          </a:prstGeom>
          <a:noFill/>
          <a:ln>
            <a:noFill/>
          </a:ln>
        </p:spPr>
      </p:pic>
      <p:pic>
        <p:nvPicPr>
          <p:cNvPr id="105" name="Google Shape;105;p6" descr="Image"/>
          <p:cNvPicPr preferRelativeResize="0"/>
          <p:nvPr/>
        </p:nvPicPr>
        <p:blipFill rotWithShape="1">
          <a:blip r:embed="rId4">
            <a:alphaModFix/>
          </a:blip>
          <a:srcRect/>
          <a:stretch/>
        </p:blipFill>
        <p:spPr>
          <a:xfrm>
            <a:off x="8415273" y="6679146"/>
            <a:ext cx="1977304" cy="1224654"/>
          </a:xfrm>
          <a:prstGeom prst="rect">
            <a:avLst/>
          </a:prstGeom>
          <a:noFill/>
          <a:ln>
            <a:noFill/>
          </a:ln>
        </p:spPr>
      </p:pic>
      <p:sp>
        <p:nvSpPr>
          <p:cNvPr id="106" name="Google Shape;106;p6"/>
          <p:cNvSpPr txBox="1"/>
          <p:nvPr/>
        </p:nvSpPr>
        <p:spPr>
          <a:xfrm>
            <a:off x="8939733" y="5894852"/>
            <a:ext cx="2689800" cy="8415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1" u="none" strike="noStrike" cap="none">
                <a:solidFill>
                  <a:srgbClr val="FFFFFF"/>
                </a:solidFill>
                <a:latin typeface="Helvetica Neue"/>
                <a:ea typeface="Helvetica Neue"/>
                <a:cs typeface="Helvetica Neue"/>
                <a:sym typeface="Helvetica Neue"/>
              </a:rPr>
              <a:t>Dendropsophus molitor</a:t>
            </a:r>
            <a:endParaRPr sz="2400" b="1" i="1" u="none" strike="noStrike" cap="none">
              <a:solidFill>
                <a:srgbClr val="FFFFFF"/>
              </a:solidFill>
              <a:latin typeface="Helvetica Neue"/>
              <a:ea typeface="Helvetica Neue"/>
              <a:cs typeface="Helvetica Neue"/>
              <a:sym typeface="Helvetica Neue"/>
            </a:endParaRPr>
          </a:p>
        </p:txBody>
      </p:sp>
      <p:sp>
        <p:nvSpPr>
          <p:cNvPr id="107" name="Google Shape;107;p6"/>
          <p:cNvSpPr txBox="1"/>
          <p:nvPr/>
        </p:nvSpPr>
        <p:spPr>
          <a:xfrm>
            <a:off x="846172" y="2983325"/>
            <a:ext cx="5656200" cy="6253500"/>
          </a:xfrm>
          <a:prstGeom prst="rect">
            <a:avLst/>
          </a:prstGeom>
          <a:noFill/>
          <a:ln>
            <a:noFill/>
          </a:ln>
        </p:spPr>
        <p:txBody>
          <a:bodyPr spcFirstLastPara="1" wrap="square" lIns="50800" tIns="50800" rIns="50800" bIns="50800" anchor="ctr" anchorCtr="0">
            <a:spAutoFit/>
          </a:bodyPr>
          <a:lstStyle/>
          <a:p>
            <a:pPr marL="457200" marR="0" lvl="0" indent="-400050" algn="l" rtl="0">
              <a:lnSpc>
                <a:spcPct val="115000"/>
              </a:lnSpc>
              <a:spcBef>
                <a:spcPts val="0"/>
              </a:spcBef>
              <a:spcAft>
                <a:spcPts val="0"/>
              </a:spcAft>
              <a:buClr>
                <a:srgbClr val="FFFFFF"/>
              </a:buClr>
              <a:buSzPts val="2700"/>
              <a:buFont typeface="Helvetica Neue"/>
              <a:buChar char="●"/>
            </a:pPr>
            <a:r>
              <a:rPr lang="en-US" sz="2700" b="1" i="0" u="none" strike="noStrike" cap="none">
                <a:solidFill>
                  <a:srgbClr val="FFFFFF"/>
                </a:solidFill>
                <a:latin typeface="Helvetica Neue"/>
                <a:ea typeface="Helvetica Neue"/>
                <a:cs typeface="Helvetica Neue"/>
                <a:sym typeface="Helvetica Neue"/>
              </a:rPr>
              <a:t>Biodiversity Data:</a:t>
            </a:r>
            <a:endParaRPr sz="2700" b="1" i="0" u="none" strike="noStrike" cap="none">
              <a:solidFill>
                <a:srgbClr val="FFFFFF"/>
              </a:solidFill>
              <a:latin typeface="Helvetica Neue"/>
              <a:ea typeface="Helvetica Neue"/>
              <a:cs typeface="Helvetica Neue"/>
              <a:sym typeface="Helvetica Neue"/>
            </a:endParaRPr>
          </a:p>
          <a:p>
            <a:pPr marL="457200" marR="0" lvl="0" indent="0" algn="l" rtl="0">
              <a:lnSpc>
                <a:spcPct val="115000"/>
              </a:lnSpc>
              <a:spcBef>
                <a:spcPts val="0"/>
              </a:spcBef>
              <a:spcAft>
                <a:spcPts val="0"/>
              </a:spcAft>
              <a:buClr>
                <a:srgbClr val="000000"/>
              </a:buClr>
              <a:buSzPts val="2700"/>
              <a:buFont typeface="Arial"/>
              <a:buNone/>
            </a:pPr>
            <a:r>
              <a:rPr lang="en-US" sz="2700" b="0" i="0" u="none" strike="noStrike" cap="none">
                <a:solidFill>
                  <a:srgbClr val="FFFFFF"/>
                </a:solidFill>
                <a:latin typeface="Helvetica Neue"/>
                <a:ea typeface="Helvetica Neue"/>
                <a:cs typeface="Helvetica Neue"/>
                <a:sym typeface="Helvetica Neue"/>
              </a:rPr>
              <a:t>Only presences from GBIF</a:t>
            </a:r>
            <a:endParaRPr sz="2700" b="0" i="0" u="none" strike="noStrike" cap="none">
              <a:solidFill>
                <a:srgbClr val="000000"/>
              </a:solidFill>
              <a:latin typeface="Helvetica Neue"/>
              <a:ea typeface="Helvetica Neue"/>
              <a:cs typeface="Helvetica Neue"/>
              <a:sym typeface="Helvetica Neue"/>
            </a:endParaRPr>
          </a:p>
          <a:p>
            <a:pPr marL="0" marR="0" lvl="0" indent="457200" algn="l" rtl="0">
              <a:lnSpc>
                <a:spcPct val="115000"/>
              </a:lnSpc>
              <a:spcBef>
                <a:spcPts val="0"/>
              </a:spcBef>
              <a:spcAft>
                <a:spcPts val="0"/>
              </a:spcAft>
              <a:buClr>
                <a:srgbClr val="000000"/>
              </a:buClr>
              <a:buSzPts val="2700"/>
              <a:buFont typeface="Arial"/>
              <a:buNone/>
            </a:pPr>
            <a:r>
              <a:rPr lang="en-US" sz="2700" b="0" i="0" u="none" strike="noStrike" cap="none">
                <a:solidFill>
                  <a:srgbClr val="FFFFFF"/>
                </a:solidFill>
                <a:latin typeface="Helvetica Neue"/>
                <a:ea typeface="Helvetica Neue"/>
                <a:cs typeface="Helvetica Neue"/>
                <a:sym typeface="Helvetica Neue"/>
              </a:rPr>
              <a:t>About 15 observations</a:t>
            </a:r>
            <a:endParaRPr sz="2700" b="0" i="0" u="none" strike="noStrike" cap="none">
              <a:solidFill>
                <a:srgbClr val="FFFFFF"/>
              </a:solidFill>
              <a:latin typeface="Helvetica Neue"/>
              <a:ea typeface="Helvetica Neue"/>
              <a:cs typeface="Helvetica Neue"/>
              <a:sym typeface="Helvetica Neue"/>
            </a:endParaRPr>
          </a:p>
          <a:p>
            <a:pPr marL="457200" marR="0" lvl="0" indent="0" algn="l" rtl="0">
              <a:lnSpc>
                <a:spcPct val="115000"/>
              </a:lnSpc>
              <a:spcBef>
                <a:spcPts val="0"/>
              </a:spcBef>
              <a:spcAft>
                <a:spcPts val="0"/>
              </a:spcAft>
              <a:buClr>
                <a:srgbClr val="000000"/>
              </a:buClr>
              <a:buSzPts val="2700"/>
              <a:buFont typeface="Arial"/>
              <a:buNone/>
            </a:pPr>
            <a:r>
              <a:rPr lang="en-US" sz="2700" b="0" i="0" u="none" strike="noStrike" cap="none">
                <a:solidFill>
                  <a:schemeClr val="lt1"/>
                </a:solidFill>
                <a:latin typeface="Helvetica Neue"/>
                <a:ea typeface="Helvetica Neue"/>
                <a:cs typeface="Helvetica Neue"/>
                <a:sym typeface="Helvetica Neue"/>
              </a:rPr>
              <a:t>Cleaned?</a:t>
            </a:r>
            <a:endParaRPr sz="2700" b="0" i="0" u="none" strike="noStrike" cap="none">
              <a:solidFill>
                <a:schemeClr val="lt1"/>
              </a:solidFill>
              <a:latin typeface="Helvetica Neue"/>
              <a:ea typeface="Helvetica Neue"/>
              <a:cs typeface="Helvetica Neue"/>
              <a:sym typeface="Helvetica Neue"/>
            </a:endParaRPr>
          </a:p>
          <a:p>
            <a:pPr marL="457200" marR="0" lvl="0" indent="-400050" algn="l" rtl="0">
              <a:lnSpc>
                <a:spcPct val="115000"/>
              </a:lnSpc>
              <a:spcBef>
                <a:spcPts val="0"/>
              </a:spcBef>
              <a:spcAft>
                <a:spcPts val="0"/>
              </a:spcAft>
              <a:buClr>
                <a:schemeClr val="lt1"/>
              </a:buClr>
              <a:buSzPts val="2700"/>
              <a:buFont typeface="Helvetica Neue"/>
              <a:buChar char="●"/>
            </a:pPr>
            <a:r>
              <a:rPr lang="en-US" sz="2700" b="1" i="0" u="none" strike="noStrike" cap="none">
                <a:solidFill>
                  <a:schemeClr val="lt1"/>
                </a:solidFill>
                <a:latin typeface="Helvetica Neue"/>
                <a:ea typeface="Helvetica Neue"/>
                <a:cs typeface="Helvetica Neue"/>
                <a:sym typeface="Helvetica Neue"/>
              </a:rPr>
              <a:t>Environmental data </a:t>
            </a:r>
            <a:endParaRPr sz="2700" b="0" i="0" u="none" strike="noStrike" cap="none">
              <a:solidFill>
                <a:schemeClr val="dk1"/>
              </a:solidFill>
              <a:latin typeface="Arial"/>
              <a:ea typeface="Arial"/>
              <a:cs typeface="Arial"/>
              <a:sym typeface="Arial"/>
            </a:endParaRPr>
          </a:p>
          <a:p>
            <a:pPr marL="457200" marR="0" lvl="0" indent="0" algn="l" rtl="0">
              <a:lnSpc>
                <a:spcPct val="115000"/>
              </a:lnSpc>
              <a:spcBef>
                <a:spcPts val="0"/>
              </a:spcBef>
              <a:spcAft>
                <a:spcPts val="0"/>
              </a:spcAft>
              <a:buClr>
                <a:srgbClr val="000000"/>
              </a:buClr>
              <a:buSzPts val="2700"/>
              <a:buFont typeface="Arial"/>
              <a:buNone/>
            </a:pPr>
            <a:r>
              <a:rPr lang="en-US" sz="2700" b="0" i="0" u="none" strike="noStrike" cap="none">
                <a:solidFill>
                  <a:schemeClr val="lt1"/>
                </a:solidFill>
                <a:latin typeface="Helvetica Neue"/>
                <a:ea typeface="Helvetica Neue"/>
                <a:cs typeface="Helvetica Neue"/>
                <a:sym typeface="Helvetica Neue"/>
              </a:rPr>
              <a:t> Worldclim</a:t>
            </a:r>
            <a:endParaRPr sz="2700" b="0" i="0" u="none" strike="noStrike" cap="none">
              <a:solidFill>
                <a:schemeClr val="lt1"/>
              </a:solidFill>
              <a:latin typeface="Helvetica Neue"/>
              <a:ea typeface="Helvetica Neue"/>
              <a:cs typeface="Helvetica Neue"/>
              <a:sym typeface="Helvetica Neue"/>
            </a:endParaRPr>
          </a:p>
          <a:p>
            <a:pPr marL="457200" marR="0" lvl="0" indent="-400050" algn="l" rtl="0">
              <a:lnSpc>
                <a:spcPct val="115000"/>
              </a:lnSpc>
              <a:spcBef>
                <a:spcPts val="0"/>
              </a:spcBef>
              <a:spcAft>
                <a:spcPts val="0"/>
              </a:spcAft>
              <a:buClr>
                <a:schemeClr val="lt1"/>
              </a:buClr>
              <a:buSzPts val="2700"/>
              <a:buFont typeface="Helvetica Neue"/>
              <a:buChar char="●"/>
            </a:pPr>
            <a:r>
              <a:rPr lang="en-US" sz="2700" b="1" i="0" u="none" strike="noStrike" cap="none">
                <a:solidFill>
                  <a:schemeClr val="lt1"/>
                </a:solidFill>
                <a:latin typeface="Helvetica Neue"/>
                <a:ea typeface="Helvetica Neue"/>
                <a:cs typeface="Helvetica Neue"/>
                <a:sym typeface="Helvetica Neue"/>
              </a:rPr>
              <a:t>Question: </a:t>
            </a:r>
            <a:endParaRPr sz="2700" b="0" i="0" u="none" strike="noStrike" cap="none">
              <a:solidFill>
                <a:schemeClr val="dk1"/>
              </a:solidFill>
              <a:latin typeface="Arial"/>
              <a:ea typeface="Arial"/>
              <a:cs typeface="Arial"/>
              <a:sym typeface="Arial"/>
            </a:endParaRPr>
          </a:p>
          <a:p>
            <a:pPr marL="457200" marR="0" lvl="0" indent="0" algn="l" rtl="0">
              <a:lnSpc>
                <a:spcPct val="115000"/>
              </a:lnSpc>
              <a:spcBef>
                <a:spcPts val="0"/>
              </a:spcBef>
              <a:spcAft>
                <a:spcPts val="0"/>
              </a:spcAft>
              <a:buClr>
                <a:srgbClr val="000000"/>
              </a:buClr>
              <a:buSzPts val="2700"/>
              <a:buFont typeface="Arial"/>
              <a:buNone/>
            </a:pPr>
            <a:r>
              <a:rPr lang="en-US" sz="2700" b="0" i="0" u="none" strike="noStrike" cap="none">
                <a:solidFill>
                  <a:schemeClr val="lt1"/>
                </a:solidFill>
                <a:latin typeface="Helvetica Neue"/>
                <a:ea typeface="Helvetica Neue"/>
                <a:cs typeface="Helvetica Neue"/>
                <a:sym typeface="Helvetica Neue"/>
              </a:rPr>
              <a:t>Potential past distribution</a:t>
            </a:r>
            <a:endParaRPr sz="2700" b="0" i="0" u="none" strike="noStrike" cap="none">
              <a:solidFill>
                <a:schemeClr val="lt1"/>
              </a:solidFill>
              <a:latin typeface="Helvetica Neue"/>
              <a:ea typeface="Helvetica Neue"/>
              <a:cs typeface="Helvetica Neue"/>
              <a:sym typeface="Helvetica Neue"/>
            </a:endParaRPr>
          </a:p>
          <a:p>
            <a:pPr marL="457200" marR="0" lvl="0" indent="-400050" algn="l" rtl="0">
              <a:lnSpc>
                <a:spcPct val="115000"/>
              </a:lnSpc>
              <a:spcBef>
                <a:spcPts val="0"/>
              </a:spcBef>
              <a:spcAft>
                <a:spcPts val="0"/>
              </a:spcAft>
              <a:buClr>
                <a:schemeClr val="lt1"/>
              </a:buClr>
              <a:buSzPts val="2700"/>
              <a:buFont typeface="Helvetica Neue"/>
              <a:buChar char="●"/>
            </a:pPr>
            <a:r>
              <a:rPr lang="en-US" sz="2700" b="1" i="0" u="none" strike="noStrike" cap="none">
                <a:solidFill>
                  <a:schemeClr val="lt1"/>
                </a:solidFill>
                <a:latin typeface="Helvetica Neue"/>
                <a:ea typeface="Helvetica Neue"/>
                <a:cs typeface="Helvetica Neue"/>
                <a:sym typeface="Helvetica Neue"/>
              </a:rPr>
              <a:t>Algorithm:</a:t>
            </a:r>
            <a:endParaRPr sz="2700" b="1" i="0" u="none" strike="noStrike" cap="none">
              <a:solidFill>
                <a:schemeClr val="lt1"/>
              </a:solidFill>
              <a:latin typeface="Helvetica Neue"/>
              <a:ea typeface="Helvetica Neue"/>
              <a:cs typeface="Helvetica Neue"/>
              <a:sym typeface="Helvetica Neue"/>
            </a:endParaRPr>
          </a:p>
          <a:p>
            <a:pPr marL="457200" marR="0" lvl="0" indent="0" algn="l" rtl="0">
              <a:lnSpc>
                <a:spcPct val="115000"/>
              </a:lnSpc>
              <a:spcBef>
                <a:spcPts val="0"/>
              </a:spcBef>
              <a:spcAft>
                <a:spcPts val="0"/>
              </a:spcAft>
              <a:buClr>
                <a:srgbClr val="000000"/>
              </a:buClr>
              <a:buSzPts val="2700"/>
              <a:buFont typeface="Arial"/>
              <a:buNone/>
            </a:pPr>
            <a:r>
              <a:rPr lang="en-US" sz="2700" b="0" i="0" u="none" strike="noStrike" cap="none">
                <a:solidFill>
                  <a:schemeClr val="lt1"/>
                </a:solidFill>
                <a:latin typeface="Helvetica Neue"/>
                <a:ea typeface="Helvetica Neue"/>
                <a:cs typeface="Helvetica Neue"/>
                <a:sym typeface="Helvetica Neue"/>
              </a:rPr>
              <a:t> Maxent</a:t>
            </a:r>
            <a:endParaRPr sz="2700" b="0" i="0" u="none" strike="noStrike" cap="none">
              <a:solidFill>
                <a:schemeClr val="dk1"/>
              </a:solidFill>
              <a:latin typeface="Arial"/>
              <a:ea typeface="Arial"/>
              <a:cs typeface="Arial"/>
              <a:sym typeface="Arial"/>
            </a:endParaRPr>
          </a:p>
          <a:p>
            <a:pPr marL="457200" marR="0" lvl="0" indent="0" algn="l" rtl="0">
              <a:lnSpc>
                <a:spcPct val="115000"/>
              </a:lnSpc>
              <a:spcBef>
                <a:spcPts val="0"/>
              </a:spcBef>
              <a:spcAft>
                <a:spcPts val="0"/>
              </a:spcAft>
              <a:buClr>
                <a:srgbClr val="000000"/>
              </a:buClr>
              <a:buSzPts val="2700"/>
              <a:buFont typeface="Arial"/>
              <a:buNone/>
            </a:pPr>
            <a:r>
              <a:rPr lang="en-US" sz="2700" b="0" i="0" u="none" strike="noStrike" cap="none">
                <a:solidFill>
                  <a:schemeClr val="lt1"/>
                </a:solidFill>
                <a:latin typeface="Helvetica Neue"/>
                <a:ea typeface="Helvetica Neue"/>
                <a:cs typeface="Helvetica Neue"/>
                <a:sym typeface="Helvetica Neue"/>
              </a:rPr>
              <a:t>Tuned? Yes </a:t>
            </a:r>
            <a:endParaRPr sz="2700" b="0" i="0" u="none" strike="noStrike" cap="none">
              <a:solidFill>
                <a:schemeClr val="dk1"/>
              </a:solidFill>
              <a:latin typeface="Arial"/>
              <a:ea typeface="Arial"/>
              <a:cs typeface="Arial"/>
              <a:sym typeface="Arial"/>
            </a:endParaRPr>
          </a:p>
          <a:p>
            <a:pPr marL="457200" marR="0" lvl="0" indent="-400050" algn="l" rtl="0">
              <a:lnSpc>
                <a:spcPct val="115000"/>
              </a:lnSpc>
              <a:spcBef>
                <a:spcPts val="0"/>
              </a:spcBef>
              <a:spcAft>
                <a:spcPts val="0"/>
              </a:spcAft>
              <a:buClr>
                <a:schemeClr val="lt1"/>
              </a:buClr>
              <a:buSzPts val="2700"/>
              <a:buFont typeface="Helvetica Neue"/>
              <a:buChar char="●"/>
            </a:pPr>
            <a:r>
              <a:rPr lang="en-US" sz="2700" b="1" i="0" u="none" strike="noStrike" cap="none">
                <a:solidFill>
                  <a:schemeClr val="lt1"/>
                </a:solidFill>
                <a:latin typeface="Helvetica Neue"/>
                <a:ea typeface="Helvetica Neue"/>
                <a:cs typeface="Helvetica Neue"/>
                <a:sym typeface="Helvetica Neue"/>
              </a:rPr>
              <a:t>Threshold: </a:t>
            </a:r>
            <a:endParaRPr sz="2700" b="1" i="0" u="none" strike="noStrike" cap="none">
              <a:solidFill>
                <a:schemeClr val="lt1"/>
              </a:solidFill>
              <a:latin typeface="Helvetica Neue"/>
              <a:ea typeface="Helvetica Neue"/>
              <a:cs typeface="Helvetica Neue"/>
              <a:sym typeface="Helvetica Neue"/>
            </a:endParaRPr>
          </a:p>
          <a:p>
            <a:pPr marL="457200" marR="0" lvl="0" indent="0" algn="l" rtl="0">
              <a:lnSpc>
                <a:spcPct val="115000"/>
              </a:lnSpc>
              <a:spcBef>
                <a:spcPts val="0"/>
              </a:spcBef>
              <a:spcAft>
                <a:spcPts val="0"/>
              </a:spcAft>
              <a:buClr>
                <a:srgbClr val="000000"/>
              </a:buClr>
              <a:buSzPts val="2700"/>
              <a:buFont typeface="Arial"/>
              <a:buNone/>
            </a:pPr>
            <a:r>
              <a:rPr lang="en-US" sz="2700" b="0" i="0" u="none" strike="noStrike" cap="none">
                <a:solidFill>
                  <a:schemeClr val="lt1"/>
                </a:solidFill>
                <a:latin typeface="Helvetica Neue"/>
                <a:ea typeface="Helvetica Neue"/>
                <a:cs typeface="Helvetica Neue"/>
                <a:sym typeface="Helvetica Neue"/>
              </a:rPr>
              <a:t>10 percentile</a:t>
            </a:r>
            <a:endParaRPr sz="2700" b="0" i="0" u="none" strike="noStrike" cap="none">
              <a:solidFill>
                <a:schemeClr val="lt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7"/>
          <p:cNvSpPr txBox="1"/>
          <p:nvPr/>
        </p:nvSpPr>
        <p:spPr>
          <a:xfrm>
            <a:off x="391695" y="2861438"/>
            <a:ext cx="9945300" cy="1826700"/>
          </a:xfrm>
          <a:prstGeom prst="rect">
            <a:avLst/>
          </a:prstGeom>
          <a:noFill/>
          <a:ln>
            <a:noFill/>
          </a:ln>
        </p:spPr>
        <p:txBody>
          <a:bodyPr spcFirstLastPara="1" wrap="square" lIns="50800" tIns="50800" rIns="50800" bIns="50800" anchor="ctr" anchorCtr="0">
            <a:spAutoFit/>
          </a:bodyPr>
          <a:lstStyle/>
          <a:p>
            <a:pPr marL="342900" marR="0" lvl="0" indent="-342900" algn="l" rtl="0">
              <a:lnSpc>
                <a:spcPct val="100000"/>
              </a:lnSpc>
              <a:spcBef>
                <a:spcPts val="0"/>
              </a:spcBef>
              <a:spcAft>
                <a:spcPts val="0"/>
              </a:spcAft>
              <a:buClr>
                <a:srgbClr val="FFFFFF"/>
              </a:buClr>
              <a:buSzPts val="2800"/>
              <a:buFont typeface="Arial"/>
              <a:buChar char="•"/>
            </a:pPr>
            <a:r>
              <a:rPr lang="en-US" sz="2800" b="0" i="0" u="none" strike="noStrike" cap="none">
                <a:solidFill>
                  <a:srgbClr val="FFFFFF"/>
                </a:solidFill>
                <a:latin typeface="Helvetica Neue"/>
                <a:ea typeface="Helvetica Neue"/>
                <a:cs typeface="Helvetica Neue"/>
                <a:sym typeface="Helvetica Neue"/>
              </a:rPr>
              <a:t>To compute evaluation statistics we need test data</a:t>
            </a:r>
            <a:endParaRPr sz="2800" b="1" i="0" u="none" strike="noStrike" cap="none">
              <a:solidFill>
                <a:srgbClr val="FFFFFF"/>
              </a:solidFill>
              <a:latin typeface="Helvetica Neue"/>
              <a:ea typeface="Helvetica Neue"/>
              <a:cs typeface="Helvetica Neue"/>
              <a:sym typeface="Helvetica Neue"/>
            </a:endParaRPr>
          </a:p>
          <a:p>
            <a:pPr marL="342900" marR="0" lvl="1" indent="-342900" algn="l" rtl="0">
              <a:lnSpc>
                <a:spcPct val="100000"/>
              </a:lnSpc>
              <a:spcBef>
                <a:spcPts val="0"/>
              </a:spcBef>
              <a:spcAft>
                <a:spcPts val="0"/>
              </a:spcAft>
              <a:buClr>
                <a:srgbClr val="FFFFFF"/>
              </a:buClr>
              <a:buSzPts val="2800"/>
              <a:buFont typeface="Arial"/>
              <a:buChar char="•"/>
            </a:pPr>
            <a:r>
              <a:rPr lang="en-US" sz="2800" b="0" i="0" u="none" strike="noStrike" cap="none">
                <a:solidFill>
                  <a:srgbClr val="FFFFFF"/>
                </a:solidFill>
                <a:latin typeface="Helvetica Neue"/>
                <a:ea typeface="Helvetica Neue"/>
                <a:cs typeface="Helvetica Neue"/>
                <a:sym typeface="Helvetica Neue"/>
              </a:rPr>
              <a:t>Ideally these would be independent</a:t>
            </a:r>
            <a:endParaRPr sz="2800" b="1" i="0" u="none" strike="noStrike" cap="none">
              <a:solidFill>
                <a:srgbClr val="FFFFFF"/>
              </a:solidFill>
              <a:latin typeface="Helvetica Neue"/>
              <a:ea typeface="Helvetica Neue"/>
              <a:cs typeface="Helvetica Neue"/>
              <a:sym typeface="Helvetica Neue"/>
            </a:endParaRPr>
          </a:p>
          <a:p>
            <a:pPr marL="342900" marR="0" lvl="1" indent="-342900" algn="l" rtl="0">
              <a:lnSpc>
                <a:spcPct val="100000"/>
              </a:lnSpc>
              <a:spcBef>
                <a:spcPts val="0"/>
              </a:spcBef>
              <a:spcAft>
                <a:spcPts val="0"/>
              </a:spcAft>
              <a:buClr>
                <a:srgbClr val="FFFFFF"/>
              </a:buClr>
              <a:buSzPts val="2800"/>
              <a:buFont typeface="Arial"/>
              <a:buChar char="•"/>
            </a:pPr>
            <a:r>
              <a:rPr lang="en-US" sz="2800" b="0" i="0" u="none" strike="noStrike" cap="none">
                <a:solidFill>
                  <a:srgbClr val="FFFFFF"/>
                </a:solidFill>
                <a:latin typeface="Helvetica Neue"/>
                <a:ea typeface="Helvetica Neue"/>
                <a:cs typeface="Helvetica Neue"/>
                <a:sym typeface="Helvetica Neue"/>
              </a:rPr>
              <a:t>But we want to use as much data for modeling as we can</a:t>
            </a:r>
            <a:endParaRPr sz="2800" b="1" i="0" u="none" strike="noStrike" cap="none">
              <a:solidFill>
                <a:srgbClr val="FFFFFF"/>
              </a:solidFill>
              <a:latin typeface="Helvetica Neue"/>
              <a:ea typeface="Helvetica Neue"/>
              <a:cs typeface="Helvetica Neue"/>
              <a:sym typeface="Helvetica Neue"/>
            </a:endParaRPr>
          </a:p>
          <a:p>
            <a:pPr marL="342900" marR="0" lvl="0" indent="-342900" algn="l" rtl="0">
              <a:lnSpc>
                <a:spcPct val="100000"/>
              </a:lnSpc>
              <a:spcBef>
                <a:spcPts val="0"/>
              </a:spcBef>
              <a:spcAft>
                <a:spcPts val="0"/>
              </a:spcAft>
              <a:buClr>
                <a:srgbClr val="FFFFFF"/>
              </a:buClr>
              <a:buSzPts val="2800"/>
              <a:buFont typeface="Arial"/>
              <a:buChar char="•"/>
            </a:pPr>
            <a:r>
              <a:rPr lang="en-US" sz="2800" b="0" i="0" u="none" strike="noStrike" cap="none">
                <a:solidFill>
                  <a:srgbClr val="FFFFFF"/>
                </a:solidFill>
                <a:latin typeface="Helvetica Neue"/>
                <a:ea typeface="Helvetica Neue"/>
                <a:cs typeface="Helvetica Neue"/>
                <a:sym typeface="Helvetica Neue"/>
              </a:rPr>
              <a:t>We can partition data into groups for cross-validation</a:t>
            </a:r>
            <a:endParaRPr sz="2800" b="1" i="0" u="none" strike="noStrike" cap="none">
              <a:solidFill>
                <a:srgbClr val="FFFFFF"/>
              </a:solidFill>
              <a:latin typeface="Helvetica Neue"/>
              <a:ea typeface="Helvetica Neue"/>
              <a:cs typeface="Helvetica Neue"/>
              <a:sym typeface="Helvetica Neue"/>
            </a:endParaRPr>
          </a:p>
        </p:txBody>
      </p:sp>
      <p:pic>
        <p:nvPicPr>
          <p:cNvPr id="113" name="Google Shape;113;p7" descr="Screen Shot 2021-01-23 at 8.34.25 PM.png"/>
          <p:cNvPicPr preferRelativeResize="0"/>
          <p:nvPr/>
        </p:nvPicPr>
        <p:blipFill rotWithShape="1">
          <a:blip r:embed="rId3">
            <a:alphaModFix/>
          </a:blip>
          <a:srcRect/>
          <a:stretch/>
        </p:blipFill>
        <p:spPr>
          <a:xfrm>
            <a:off x="3554202" y="5136499"/>
            <a:ext cx="6964250" cy="3284525"/>
          </a:xfrm>
          <a:prstGeom prst="rect">
            <a:avLst/>
          </a:prstGeom>
          <a:noFill/>
          <a:ln>
            <a:noFill/>
          </a:ln>
        </p:spPr>
      </p:pic>
      <p:sp>
        <p:nvSpPr>
          <p:cNvPr id="114" name="Google Shape;114;p7"/>
          <p:cNvSpPr txBox="1">
            <a:spLocks noGrp="1"/>
          </p:cNvSpPr>
          <p:nvPr>
            <p:ph type="title"/>
          </p:nvPr>
        </p:nvSpPr>
        <p:spPr>
          <a:xfrm>
            <a:off x="108488" y="254000"/>
            <a:ext cx="12693000" cy="21591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83750"/>
              <a:buFont typeface="Helvetica Neue"/>
              <a:buNone/>
            </a:pPr>
            <a:r>
              <a:rPr lang="en-US"/>
              <a:t>The models: statistical evaluation</a:t>
            </a:r>
            <a:endParaRPr i="1"/>
          </a:p>
        </p:txBody>
      </p:sp>
      <p:sp>
        <p:nvSpPr>
          <p:cNvPr id="115" name="Google Shape;115;p7"/>
          <p:cNvSpPr txBox="1"/>
          <p:nvPr/>
        </p:nvSpPr>
        <p:spPr>
          <a:xfrm>
            <a:off x="9518650" y="9263638"/>
            <a:ext cx="3282950" cy="471924"/>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dirty="0" err="1">
                <a:solidFill>
                  <a:srgbClr val="FFFFFF"/>
                </a:solidFill>
                <a:latin typeface="Helvetica Neue"/>
                <a:ea typeface="Helvetica Neue"/>
                <a:cs typeface="Helvetica Neue"/>
                <a:sym typeface="Helvetica Neue"/>
              </a:rPr>
              <a:t>Muscarella</a:t>
            </a:r>
            <a:r>
              <a:rPr lang="en-US" sz="2400" b="1" i="0" u="none" strike="noStrike" cap="none" dirty="0">
                <a:solidFill>
                  <a:srgbClr val="FFFFFF"/>
                </a:solidFill>
                <a:latin typeface="Helvetica Neue"/>
                <a:ea typeface="Helvetica Neue"/>
                <a:cs typeface="Helvetica Neue"/>
                <a:sym typeface="Helvetica Neue"/>
              </a:rPr>
              <a:t> et al. 2014</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8" descr="Fig_1_dist_labiyfus.jpg"/>
          <p:cNvPicPr preferRelativeResize="0"/>
          <p:nvPr/>
        </p:nvPicPr>
        <p:blipFill rotWithShape="1">
          <a:blip r:embed="rId3">
            <a:alphaModFix/>
          </a:blip>
          <a:srcRect l="15129" t="9292" r="60814" b="57240"/>
          <a:stretch/>
        </p:blipFill>
        <p:spPr>
          <a:xfrm>
            <a:off x="2497357" y="2964939"/>
            <a:ext cx="5051129" cy="5959357"/>
          </a:xfrm>
          <a:prstGeom prst="rect">
            <a:avLst/>
          </a:prstGeom>
          <a:noFill/>
          <a:ln>
            <a:noFill/>
          </a:ln>
        </p:spPr>
      </p:pic>
      <p:pic>
        <p:nvPicPr>
          <p:cNvPr id="121" name="Google Shape;121;p8" descr="Image"/>
          <p:cNvPicPr preferRelativeResize="0"/>
          <p:nvPr/>
        </p:nvPicPr>
        <p:blipFill rotWithShape="1">
          <a:blip r:embed="rId4">
            <a:alphaModFix/>
          </a:blip>
          <a:srcRect/>
          <a:stretch/>
        </p:blipFill>
        <p:spPr>
          <a:xfrm>
            <a:off x="5243402" y="7750471"/>
            <a:ext cx="1977303" cy="1224654"/>
          </a:xfrm>
          <a:prstGeom prst="rect">
            <a:avLst/>
          </a:prstGeom>
          <a:noFill/>
          <a:ln>
            <a:noFill/>
          </a:ln>
        </p:spPr>
      </p:pic>
      <p:sp>
        <p:nvSpPr>
          <p:cNvPr id="122" name="Google Shape;122;p8"/>
          <p:cNvSpPr txBox="1"/>
          <p:nvPr/>
        </p:nvSpPr>
        <p:spPr>
          <a:xfrm>
            <a:off x="4887112" y="6919570"/>
            <a:ext cx="2689883" cy="8293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1" u="none" strike="noStrike" cap="none">
                <a:solidFill>
                  <a:srgbClr val="FFFFFF"/>
                </a:solidFill>
                <a:latin typeface="Helvetica Neue"/>
                <a:ea typeface="Helvetica Neue"/>
                <a:cs typeface="Helvetica Neue"/>
                <a:sym typeface="Helvetica Neue"/>
              </a:rPr>
              <a:t>Dendropsophus molitor</a:t>
            </a:r>
            <a:endParaRPr sz="1400" b="0" i="0" u="none" strike="noStrike" cap="none">
              <a:solidFill>
                <a:srgbClr val="000000"/>
              </a:solidFill>
              <a:latin typeface="Arial"/>
              <a:ea typeface="Arial"/>
              <a:cs typeface="Arial"/>
              <a:sym typeface="Arial"/>
            </a:endParaRPr>
          </a:p>
        </p:txBody>
      </p:sp>
      <p:sp>
        <p:nvSpPr>
          <p:cNvPr id="123" name="Google Shape;123;p8"/>
          <p:cNvSpPr txBox="1"/>
          <p:nvPr/>
        </p:nvSpPr>
        <p:spPr>
          <a:xfrm>
            <a:off x="8366251" y="2964939"/>
            <a:ext cx="3325124" cy="471924"/>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Training AUC= 0.87 </a:t>
            </a:r>
            <a:endParaRPr sz="1400" b="0" i="0" u="none" strike="noStrike" cap="none">
              <a:solidFill>
                <a:srgbClr val="000000"/>
              </a:solidFill>
              <a:latin typeface="Arial"/>
              <a:ea typeface="Arial"/>
              <a:cs typeface="Arial"/>
              <a:sym typeface="Arial"/>
            </a:endParaRPr>
          </a:p>
        </p:txBody>
      </p:sp>
      <p:pic>
        <p:nvPicPr>
          <p:cNvPr id="124" name="Google Shape;124;p8" descr="Screen Shot 2021-01-23 at 4.21.00 PM.png"/>
          <p:cNvPicPr preferRelativeResize="0"/>
          <p:nvPr/>
        </p:nvPicPr>
        <p:blipFill rotWithShape="1">
          <a:blip r:embed="rId5">
            <a:alphaModFix/>
          </a:blip>
          <a:srcRect/>
          <a:stretch/>
        </p:blipFill>
        <p:spPr>
          <a:xfrm>
            <a:off x="8138675" y="4735649"/>
            <a:ext cx="3780274" cy="3627149"/>
          </a:xfrm>
          <a:prstGeom prst="rect">
            <a:avLst/>
          </a:prstGeom>
          <a:noFill/>
          <a:ln>
            <a:noFill/>
          </a:ln>
        </p:spPr>
      </p:pic>
      <p:sp>
        <p:nvSpPr>
          <p:cNvPr id="125" name="Google Shape;125;p8"/>
          <p:cNvSpPr txBox="1"/>
          <p:nvPr/>
        </p:nvSpPr>
        <p:spPr>
          <a:xfrm>
            <a:off x="9021856" y="7952404"/>
            <a:ext cx="2517600" cy="410400"/>
          </a:xfrm>
          <a:prstGeom prst="rect">
            <a:avLst/>
          </a:prstGeom>
          <a:solidFill>
            <a:srgbClr val="FFFFFF"/>
          </a:solid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2000"/>
              <a:buFont typeface="Helvetica Neue"/>
              <a:buNone/>
            </a:pPr>
            <a:r>
              <a:rPr lang="en-US" sz="2000" b="1" i="0" u="none" strike="noStrike" cap="none">
                <a:solidFill>
                  <a:srgbClr val="000000"/>
                </a:solidFill>
                <a:latin typeface="Helvetica Neue"/>
                <a:ea typeface="Helvetica Neue"/>
                <a:cs typeface="Helvetica Neue"/>
                <a:sym typeface="Helvetica Neue"/>
              </a:rPr>
              <a:t>1- False positives</a:t>
            </a:r>
            <a:endParaRPr sz="1400" b="0" i="0" u="none" strike="noStrike" cap="none">
              <a:solidFill>
                <a:srgbClr val="000000"/>
              </a:solidFill>
              <a:latin typeface="Arial"/>
              <a:ea typeface="Arial"/>
              <a:cs typeface="Arial"/>
              <a:sym typeface="Arial"/>
            </a:endParaRPr>
          </a:p>
        </p:txBody>
      </p:sp>
      <p:sp>
        <p:nvSpPr>
          <p:cNvPr id="126" name="Google Shape;126;p8"/>
          <p:cNvSpPr txBox="1"/>
          <p:nvPr/>
        </p:nvSpPr>
        <p:spPr>
          <a:xfrm rot="-5400000">
            <a:off x="7685629" y="6680057"/>
            <a:ext cx="1638300" cy="387000"/>
          </a:xfrm>
          <a:prstGeom prst="rect">
            <a:avLst/>
          </a:prstGeom>
          <a:solidFill>
            <a:srgbClr val="FFFFFF"/>
          </a:solid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1800"/>
              <a:buFont typeface="Helvetica Neue"/>
              <a:buNone/>
            </a:pPr>
            <a:r>
              <a:rPr lang="en-US" sz="1800" b="1" i="0" u="none" strike="noStrike" cap="none">
                <a:solidFill>
                  <a:srgbClr val="000000"/>
                </a:solidFill>
                <a:latin typeface="Helvetica Neue"/>
                <a:ea typeface="Helvetica Neue"/>
                <a:cs typeface="Helvetica Neue"/>
                <a:sym typeface="Helvetica Neue"/>
              </a:rPr>
              <a:t>True Positives</a:t>
            </a:r>
            <a:endParaRPr sz="1400" b="0" i="0" u="none" strike="noStrike" cap="none">
              <a:solidFill>
                <a:srgbClr val="000000"/>
              </a:solidFill>
              <a:latin typeface="Arial"/>
              <a:ea typeface="Arial"/>
              <a:cs typeface="Arial"/>
              <a:sym typeface="Arial"/>
            </a:endParaRPr>
          </a:p>
        </p:txBody>
      </p:sp>
      <p:sp>
        <p:nvSpPr>
          <p:cNvPr id="127" name="Google Shape;127;p8"/>
          <p:cNvSpPr txBox="1">
            <a:spLocks noGrp="1"/>
          </p:cNvSpPr>
          <p:nvPr>
            <p:ph type="title"/>
          </p:nvPr>
        </p:nvSpPr>
        <p:spPr>
          <a:xfrm>
            <a:off x="0" y="254000"/>
            <a:ext cx="13004800" cy="21590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83750"/>
              <a:buFont typeface="Helvetica Neue"/>
              <a:buNone/>
            </a:pPr>
            <a:r>
              <a:rPr lang="en-US"/>
              <a:t>The models: statistical evaluation</a:t>
            </a:r>
            <a:endParaRPr i="1"/>
          </a:p>
        </p:txBody>
      </p:sp>
      <p:sp>
        <p:nvSpPr>
          <p:cNvPr id="128" name="Google Shape;128;p8"/>
          <p:cNvSpPr txBox="1"/>
          <p:nvPr/>
        </p:nvSpPr>
        <p:spPr>
          <a:xfrm>
            <a:off x="7905157" y="3717285"/>
            <a:ext cx="4247311" cy="841256"/>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So does that mean this a good model?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9" descr="Fig_1_dist_labiyfus.jpg"/>
          <p:cNvPicPr preferRelativeResize="0"/>
          <p:nvPr/>
        </p:nvPicPr>
        <p:blipFill rotWithShape="1">
          <a:blip r:embed="rId3">
            <a:alphaModFix/>
          </a:blip>
          <a:srcRect l="15129" t="9292" r="60814" b="57240"/>
          <a:stretch/>
        </p:blipFill>
        <p:spPr>
          <a:xfrm>
            <a:off x="8123437" y="3245187"/>
            <a:ext cx="3430645" cy="4047495"/>
          </a:xfrm>
          <a:prstGeom prst="rect">
            <a:avLst/>
          </a:prstGeom>
          <a:noFill/>
          <a:ln>
            <a:noFill/>
          </a:ln>
        </p:spPr>
      </p:pic>
      <p:pic>
        <p:nvPicPr>
          <p:cNvPr id="134" name="Google Shape;134;p9" descr="Image"/>
          <p:cNvPicPr preferRelativeResize="0"/>
          <p:nvPr/>
        </p:nvPicPr>
        <p:blipFill rotWithShape="1">
          <a:blip r:embed="rId4">
            <a:alphaModFix/>
          </a:blip>
          <a:srcRect/>
          <a:stretch/>
        </p:blipFill>
        <p:spPr>
          <a:xfrm>
            <a:off x="8872755" y="7522220"/>
            <a:ext cx="1977303" cy="1224654"/>
          </a:xfrm>
          <a:prstGeom prst="rect">
            <a:avLst/>
          </a:prstGeom>
          <a:noFill/>
          <a:ln>
            <a:noFill/>
          </a:ln>
        </p:spPr>
      </p:pic>
      <p:sp>
        <p:nvSpPr>
          <p:cNvPr id="135" name="Google Shape;135;p9"/>
          <p:cNvSpPr txBox="1"/>
          <p:nvPr/>
        </p:nvSpPr>
        <p:spPr>
          <a:xfrm>
            <a:off x="8915425" y="6362928"/>
            <a:ext cx="2689800" cy="8415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1" u="none" strike="noStrike" cap="none">
                <a:solidFill>
                  <a:srgbClr val="FFFFFF"/>
                </a:solidFill>
                <a:latin typeface="Helvetica Neue"/>
                <a:ea typeface="Helvetica Neue"/>
                <a:cs typeface="Helvetica Neue"/>
                <a:sym typeface="Helvetica Neue"/>
              </a:rPr>
              <a:t>Dendropsophus molitor</a:t>
            </a:r>
            <a:endParaRPr sz="2400" b="1" i="1" u="none" strike="noStrike" cap="none">
              <a:solidFill>
                <a:srgbClr val="FFFFFF"/>
              </a:solidFill>
              <a:latin typeface="Helvetica Neue"/>
              <a:ea typeface="Helvetica Neue"/>
              <a:cs typeface="Helvetica Neue"/>
              <a:sym typeface="Helvetica Neue"/>
            </a:endParaRPr>
          </a:p>
        </p:txBody>
      </p:sp>
      <p:sp>
        <p:nvSpPr>
          <p:cNvPr id="136" name="Google Shape;136;p9"/>
          <p:cNvSpPr txBox="1">
            <a:spLocks noGrp="1"/>
          </p:cNvSpPr>
          <p:nvPr>
            <p:ph type="title"/>
          </p:nvPr>
        </p:nvSpPr>
        <p:spPr>
          <a:xfrm>
            <a:off x="0" y="254000"/>
            <a:ext cx="13004800" cy="21590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83750"/>
              <a:buFont typeface="Helvetica Neue"/>
              <a:buNone/>
            </a:pPr>
            <a:r>
              <a:rPr lang="en-US"/>
              <a:t>The models: statistical evaluation</a:t>
            </a:r>
            <a:endParaRPr i="1"/>
          </a:p>
        </p:txBody>
      </p:sp>
      <p:sp>
        <p:nvSpPr>
          <p:cNvPr id="137" name="Google Shape;137;p9"/>
          <p:cNvSpPr txBox="1"/>
          <p:nvPr/>
        </p:nvSpPr>
        <p:spPr>
          <a:xfrm>
            <a:off x="536648" y="3614725"/>
            <a:ext cx="5871900" cy="4719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Training AUC= 0.87 </a:t>
            </a:r>
            <a:endParaRPr sz="1400" b="0" i="0" u="none" strike="noStrike" cap="none">
              <a:solidFill>
                <a:srgbClr val="000000"/>
              </a:solidFill>
              <a:latin typeface="Arial"/>
              <a:ea typeface="Arial"/>
              <a:cs typeface="Arial"/>
              <a:sym typeface="Arial"/>
            </a:endParaRPr>
          </a:p>
        </p:txBody>
      </p:sp>
      <p:sp>
        <p:nvSpPr>
          <p:cNvPr id="138" name="Google Shape;138;p9"/>
          <p:cNvSpPr txBox="1"/>
          <p:nvPr/>
        </p:nvSpPr>
        <p:spPr>
          <a:xfrm>
            <a:off x="185456" y="4456175"/>
            <a:ext cx="6848100" cy="4719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So does that mean this a good model?</a:t>
            </a:r>
            <a:endParaRPr sz="1400" b="0" i="0" u="none" strike="noStrike" cap="none">
              <a:solidFill>
                <a:srgbClr val="000000"/>
              </a:solidFill>
              <a:latin typeface="Arial"/>
              <a:ea typeface="Arial"/>
              <a:cs typeface="Arial"/>
              <a:sym typeface="Arial"/>
            </a:endParaRPr>
          </a:p>
        </p:txBody>
      </p:sp>
      <p:sp>
        <p:nvSpPr>
          <p:cNvPr id="139" name="Google Shape;139;p9"/>
          <p:cNvSpPr txBox="1"/>
          <p:nvPr/>
        </p:nvSpPr>
        <p:spPr>
          <a:xfrm>
            <a:off x="178620" y="5530750"/>
            <a:ext cx="6676500" cy="1949700"/>
          </a:xfrm>
          <a:prstGeom prst="rect">
            <a:avLst/>
          </a:prstGeom>
          <a:noFill/>
          <a:ln>
            <a:noFill/>
          </a:ln>
        </p:spPr>
        <p:txBody>
          <a:bodyPr spcFirstLastPara="1" wrap="square" lIns="50800" tIns="50800" rIns="50800" bIns="50800" anchor="ctr" anchorCtr="0">
            <a:spAutoFit/>
          </a:bodyPr>
          <a:lstStyle/>
          <a:p>
            <a:pPr marL="342900" marR="0" lvl="0" indent="-342900" algn="l" rtl="0">
              <a:lnSpc>
                <a:spcPct val="100000"/>
              </a:lnSpc>
              <a:spcBef>
                <a:spcPts val="0"/>
              </a:spcBef>
              <a:spcAft>
                <a:spcPts val="0"/>
              </a:spcAft>
              <a:buClr>
                <a:srgbClr val="FF2600"/>
              </a:buClr>
              <a:buSzPts val="2400"/>
              <a:buFont typeface="Arial"/>
              <a:buChar char="•"/>
            </a:pPr>
            <a:r>
              <a:rPr lang="en-US" sz="2400" b="1" i="0" u="none" strike="noStrike" cap="none">
                <a:solidFill>
                  <a:srgbClr val="FF2600"/>
                </a:solidFill>
                <a:latin typeface="Helvetica Neue"/>
                <a:ea typeface="Helvetica Neue"/>
                <a:cs typeface="Helvetica Neue"/>
                <a:sym typeface="Helvetica Neue"/>
              </a:rPr>
              <a:t>We are predicting data the model was trained on</a:t>
            </a:r>
            <a:endParaRPr sz="1400" b="0" i="0" u="none" strike="noStrike" cap="none">
              <a:solidFill>
                <a:srgbClr val="000000"/>
              </a:solidFill>
              <a:latin typeface="Arial"/>
              <a:ea typeface="Arial"/>
              <a:cs typeface="Arial"/>
              <a:sym typeface="Arial"/>
            </a:endParaRPr>
          </a:p>
          <a:p>
            <a:pPr marL="342900" marR="0" lvl="0" indent="-190500" algn="l" rtl="0">
              <a:lnSpc>
                <a:spcPct val="100000"/>
              </a:lnSpc>
              <a:spcBef>
                <a:spcPts val="0"/>
              </a:spcBef>
              <a:spcAft>
                <a:spcPts val="0"/>
              </a:spcAft>
              <a:buClr>
                <a:srgbClr val="FF2600"/>
              </a:buClr>
              <a:buSzPts val="2400"/>
              <a:buFont typeface="Arial"/>
              <a:buNone/>
            </a:pPr>
            <a:endParaRPr sz="2400" b="1" i="0" u="none" strike="noStrike" cap="none">
              <a:solidFill>
                <a:srgbClr val="FFFFFF"/>
              </a:solidFill>
              <a:latin typeface="Helvetica Neue"/>
              <a:ea typeface="Helvetica Neue"/>
              <a:cs typeface="Helvetica Neue"/>
              <a:sym typeface="Helvetica Neue"/>
            </a:endParaRPr>
          </a:p>
          <a:p>
            <a:pPr marL="342900" marR="0" lvl="0" indent="-342900" algn="l" rtl="0">
              <a:lnSpc>
                <a:spcPct val="100000"/>
              </a:lnSpc>
              <a:spcBef>
                <a:spcPts val="0"/>
              </a:spcBef>
              <a:spcAft>
                <a:spcPts val="0"/>
              </a:spcAft>
              <a:buClr>
                <a:srgbClr val="FF2600"/>
              </a:buClr>
              <a:buSzPts val="2400"/>
              <a:buFont typeface="Arial"/>
              <a:buChar char="•"/>
            </a:pPr>
            <a:r>
              <a:rPr lang="en-US" sz="2400" b="1" i="0" u="none" strike="noStrike" cap="none">
                <a:solidFill>
                  <a:srgbClr val="FF2600"/>
                </a:solidFill>
                <a:latin typeface="Helvetica Neue"/>
                <a:ea typeface="Helvetica Neue"/>
                <a:cs typeface="Helvetica Neue"/>
                <a:sym typeface="Helvetica Neue"/>
              </a:rPr>
              <a:t>Better test of performance to predict data the model does not know</a:t>
            </a:r>
            <a:endParaRPr sz="2400" b="1" i="0"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10" descr="Fig_1_dist_labiyfus.jpg"/>
          <p:cNvPicPr preferRelativeResize="0"/>
          <p:nvPr/>
        </p:nvPicPr>
        <p:blipFill rotWithShape="1">
          <a:blip r:embed="rId3">
            <a:alphaModFix/>
          </a:blip>
          <a:srcRect l="15129" t="9292" r="60814" b="57240"/>
          <a:stretch/>
        </p:blipFill>
        <p:spPr>
          <a:xfrm>
            <a:off x="924945" y="2964939"/>
            <a:ext cx="5051129" cy="5959357"/>
          </a:xfrm>
          <a:prstGeom prst="rect">
            <a:avLst/>
          </a:prstGeom>
          <a:noFill/>
          <a:ln>
            <a:noFill/>
          </a:ln>
        </p:spPr>
      </p:pic>
      <p:pic>
        <p:nvPicPr>
          <p:cNvPr id="145" name="Google Shape;145;p10" descr="Image"/>
          <p:cNvPicPr preferRelativeResize="0"/>
          <p:nvPr/>
        </p:nvPicPr>
        <p:blipFill rotWithShape="1">
          <a:blip r:embed="rId4">
            <a:alphaModFix/>
          </a:blip>
          <a:srcRect/>
          <a:stretch/>
        </p:blipFill>
        <p:spPr>
          <a:xfrm>
            <a:off x="3336779" y="7544604"/>
            <a:ext cx="1977303" cy="1224654"/>
          </a:xfrm>
          <a:prstGeom prst="rect">
            <a:avLst/>
          </a:prstGeom>
          <a:noFill/>
          <a:ln>
            <a:noFill/>
          </a:ln>
        </p:spPr>
      </p:pic>
      <p:sp>
        <p:nvSpPr>
          <p:cNvPr id="146" name="Google Shape;146;p10"/>
          <p:cNvSpPr txBox="1"/>
          <p:nvPr/>
        </p:nvSpPr>
        <p:spPr>
          <a:xfrm>
            <a:off x="3241699" y="6756365"/>
            <a:ext cx="2689883" cy="8293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1" u="none" strike="noStrike" cap="none">
                <a:solidFill>
                  <a:srgbClr val="FFFFFF"/>
                </a:solidFill>
                <a:latin typeface="Helvetica Neue"/>
                <a:ea typeface="Helvetica Neue"/>
                <a:cs typeface="Helvetica Neue"/>
                <a:sym typeface="Helvetica Neue"/>
              </a:rPr>
              <a:t>Dendropsophus molitor</a:t>
            </a:r>
            <a:endParaRPr sz="2400" b="1" i="1" u="none" strike="noStrike" cap="none">
              <a:solidFill>
                <a:srgbClr val="FFFFFF"/>
              </a:solidFill>
              <a:latin typeface="Helvetica Neue"/>
              <a:ea typeface="Helvetica Neue"/>
              <a:cs typeface="Helvetica Neue"/>
              <a:sym typeface="Helvetica Neue"/>
            </a:endParaRPr>
          </a:p>
        </p:txBody>
      </p:sp>
      <p:sp>
        <p:nvSpPr>
          <p:cNvPr id="147" name="Google Shape;147;p10"/>
          <p:cNvSpPr txBox="1"/>
          <p:nvPr/>
        </p:nvSpPr>
        <p:spPr>
          <a:xfrm>
            <a:off x="8366250" y="2642001"/>
            <a:ext cx="3325124" cy="471924"/>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Training AUC= 0.87 </a:t>
            </a:r>
            <a:endParaRPr sz="1400" b="0" i="0" u="none" strike="noStrike" cap="none">
              <a:solidFill>
                <a:srgbClr val="000000"/>
              </a:solidFill>
              <a:latin typeface="Arial"/>
              <a:ea typeface="Arial"/>
              <a:cs typeface="Arial"/>
              <a:sym typeface="Arial"/>
            </a:endParaRPr>
          </a:p>
        </p:txBody>
      </p:sp>
      <p:sp>
        <p:nvSpPr>
          <p:cNvPr id="148" name="Google Shape;148;p10"/>
          <p:cNvSpPr txBox="1">
            <a:spLocks noGrp="1"/>
          </p:cNvSpPr>
          <p:nvPr>
            <p:ph type="title"/>
          </p:nvPr>
        </p:nvSpPr>
        <p:spPr>
          <a:xfrm>
            <a:off x="0" y="254000"/>
            <a:ext cx="13004800" cy="21590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83750"/>
              <a:buFont typeface="Helvetica Neue"/>
              <a:buNone/>
            </a:pPr>
            <a:r>
              <a:rPr lang="en-US"/>
              <a:t>The models: statistical evaluation</a:t>
            </a:r>
            <a:endParaRPr i="1"/>
          </a:p>
        </p:txBody>
      </p:sp>
      <p:sp>
        <p:nvSpPr>
          <p:cNvPr id="149" name="Google Shape;149;p10"/>
          <p:cNvSpPr txBox="1"/>
          <p:nvPr/>
        </p:nvSpPr>
        <p:spPr>
          <a:xfrm>
            <a:off x="6541145" y="3551364"/>
            <a:ext cx="6338956" cy="471924"/>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So does that mean this a good model?</a:t>
            </a:r>
            <a:endParaRPr sz="1400" b="0" i="0" u="none" strike="noStrike" cap="none">
              <a:solidFill>
                <a:srgbClr val="000000"/>
              </a:solidFill>
              <a:latin typeface="Arial"/>
              <a:ea typeface="Arial"/>
              <a:cs typeface="Arial"/>
              <a:sym typeface="Arial"/>
            </a:endParaRPr>
          </a:p>
        </p:txBody>
      </p:sp>
      <p:grpSp>
        <p:nvGrpSpPr>
          <p:cNvPr id="150" name="Google Shape;150;p10"/>
          <p:cNvGrpSpPr/>
          <p:nvPr/>
        </p:nvGrpSpPr>
        <p:grpSpPr>
          <a:xfrm>
            <a:off x="7028727" y="4370252"/>
            <a:ext cx="5415063" cy="4554044"/>
            <a:chOff x="8138676" y="4932651"/>
            <a:chExt cx="3780274" cy="3786679"/>
          </a:xfrm>
        </p:grpSpPr>
        <p:pic>
          <p:nvPicPr>
            <p:cNvPr id="151" name="Google Shape;151;p10" descr="Screen Shot 2021-01-23 at 4.21.00 PM.png"/>
            <p:cNvPicPr preferRelativeResize="0"/>
            <p:nvPr/>
          </p:nvPicPr>
          <p:blipFill rotWithShape="1">
            <a:blip r:embed="rId5">
              <a:alphaModFix/>
            </a:blip>
            <a:srcRect/>
            <a:stretch/>
          </p:blipFill>
          <p:spPr>
            <a:xfrm>
              <a:off x="8138676" y="4932651"/>
              <a:ext cx="3780274" cy="3627149"/>
            </a:xfrm>
            <a:prstGeom prst="rect">
              <a:avLst/>
            </a:prstGeom>
            <a:noFill/>
            <a:ln>
              <a:noFill/>
            </a:ln>
          </p:spPr>
        </p:pic>
        <p:sp>
          <p:nvSpPr>
            <p:cNvPr id="152" name="Google Shape;152;p10"/>
            <p:cNvSpPr txBox="1"/>
            <p:nvPr/>
          </p:nvSpPr>
          <p:spPr>
            <a:xfrm>
              <a:off x="9044630" y="8156931"/>
              <a:ext cx="2517649" cy="411734"/>
            </a:xfrm>
            <a:prstGeom prst="rect">
              <a:avLst/>
            </a:prstGeom>
            <a:solidFill>
              <a:srgbClr val="FFFFFF"/>
            </a:solid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2000"/>
                <a:buFont typeface="Helvetica Neue"/>
                <a:buNone/>
              </a:pPr>
              <a:r>
                <a:rPr lang="en-US" sz="2000" b="1" i="0" u="none" strike="noStrike" cap="none">
                  <a:solidFill>
                    <a:srgbClr val="000000"/>
                  </a:solidFill>
                  <a:latin typeface="Helvetica Neue"/>
                  <a:ea typeface="Helvetica Neue"/>
                  <a:cs typeface="Helvetica Neue"/>
                  <a:sym typeface="Helvetica Neue"/>
                </a:rPr>
                <a:t>1- False positives</a:t>
              </a:r>
              <a:endParaRPr sz="1400" b="0" i="0" u="none" strike="noStrike" cap="none">
                <a:solidFill>
                  <a:srgbClr val="000000"/>
                </a:solidFill>
                <a:latin typeface="Arial"/>
                <a:ea typeface="Arial"/>
                <a:cs typeface="Arial"/>
                <a:sym typeface="Arial"/>
              </a:endParaRPr>
            </a:p>
          </p:txBody>
        </p:sp>
        <p:sp>
          <p:nvSpPr>
            <p:cNvPr id="153" name="Google Shape;153;p10"/>
            <p:cNvSpPr txBox="1"/>
            <p:nvPr/>
          </p:nvSpPr>
          <p:spPr>
            <a:xfrm rot="-5400000">
              <a:off x="7705079" y="6564677"/>
              <a:ext cx="1599469" cy="656590"/>
            </a:xfrm>
            <a:prstGeom prst="rect">
              <a:avLst/>
            </a:prstGeom>
            <a:solidFill>
              <a:srgbClr val="FFFFFF"/>
            </a:solid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1800"/>
                <a:buFont typeface="Helvetica Neue"/>
                <a:buNone/>
              </a:pPr>
              <a:r>
                <a:rPr lang="en-US" sz="1800" b="1" i="0" u="none" strike="noStrike" cap="none">
                  <a:solidFill>
                    <a:srgbClr val="000000"/>
                  </a:solidFill>
                  <a:latin typeface="Helvetica Neue"/>
                  <a:ea typeface="Helvetica Neue"/>
                  <a:cs typeface="Helvetica Neue"/>
                  <a:sym typeface="Helvetica Neue"/>
                </a:rPr>
                <a:t>True Positives</a:t>
              </a:r>
              <a:endParaRPr sz="1400" b="0" i="0" u="none" strike="noStrike" cap="none">
                <a:solidFill>
                  <a:srgbClr val="000000"/>
                </a:solidFill>
                <a:latin typeface="Arial"/>
                <a:ea typeface="Arial"/>
                <a:cs typeface="Arial"/>
                <a:sym typeface="Arial"/>
              </a:endParaRPr>
            </a:p>
          </p:txBody>
        </p:sp>
        <p:sp>
          <p:nvSpPr>
            <p:cNvPr id="154" name="Google Shape;154;p10"/>
            <p:cNvSpPr/>
            <p:nvPr/>
          </p:nvSpPr>
          <p:spPr>
            <a:xfrm>
              <a:off x="8864600" y="7953471"/>
              <a:ext cx="2760812" cy="765859"/>
            </a:xfrm>
            <a:prstGeom prst="rect">
              <a:avLst/>
            </a:prstGeom>
            <a:noFill/>
            <a:ln w="63500" cap="flat" cmpd="sng">
              <a:solidFill>
                <a:srgbClr val="FF2600"/>
              </a:solidFill>
              <a:prstDash val="solid"/>
              <a:miter lim="400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2400"/>
                <a:buFont typeface="Helvetica Neue"/>
                <a:buNone/>
              </a:pPr>
              <a:endParaRPr sz="2400" b="1" i="0" u="none" strike="noStrike" cap="none">
                <a:solidFill>
                  <a:srgbClr val="FFFFFF"/>
                </a:solidFill>
                <a:latin typeface="Helvetica Neue"/>
                <a:ea typeface="Helvetica Neue"/>
                <a:cs typeface="Helvetica Neue"/>
                <a:sym typeface="Helvetica Neue"/>
              </a:endParaRPr>
            </a:p>
          </p:txBody>
        </p:sp>
        <p:sp>
          <p:nvSpPr>
            <p:cNvPr id="155" name="Google Shape;155;p10"/>
            <p:cNvSpPr txBox="1"/>
            <p:nvPr/>
          </p:nvSpPr>
          <p:spPr>
            <a:xfrm>
              <a:off x="8942511" y="6106300"/>
              <a:ext cx="2867100" cy="6996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2600"/>
                </a:buClr>
                <a:buSzPts val="2400"/>
                <a:buFont typeface="Helvetica Neue"/>
                <a:buNone/>
              </a:pPr>
              <a:r>
                <a:rPr lang="en-US" sz="2400" b="1" i="0" u="none" strike="noStrike" cap="none">
                  <a:solidFill>
                    <a:srgbClr val="FF2600"/>
                  </a:solidFill>
                  <a:latin typeface="Helvetica Neue"/>
                  <a:ea typeface="Helvetica Neue"/>
                  <a:cs typeface="Helvetica Neue"/>
                  <a:sym typeface="Helvetica Neue"/>
                </a:rPr>
                <a:t>How do we know?</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2600"/>
                </a:buClr>
                <a:buSzPts val="2400"/>
                <a:buFont typeface="Helvetica Neue"/>
                <a:buNone/>
              </a:pPr>
              <a:r>
                <a:rPr lang="en-US" sz="2400" b="1" i="0" u="none" strike="noStrike" cap="none">
                  <a:solidFill>
                    <a:srgbClr val="FF2600"/>
                  </a:solidFill>
                  <a:latin typeface="Helvetica Neue"/>
                  <a:ea typeface="Helvetica Neue"/>
                  <a:cs typeface="Helvetica Neue"/>
                  <a:sym typeface="Helvetica Neue"/>
                </a:rPr>
                <a:t> no absences…</a:t>
              </a:r>
              <a:endParaRPr sz="2400" b="1" i="0" u="none" strike="noStrike" cap="none">
                <a:solidFill>
                  <a:srgbClr val="FFFFFF"/>
                </a:solidFill>
                <a:latin typeface="Helvetica Neue"/>
                <a:ea typeface="Helvetica Neue"/>
                <a:cs typeface="Helvetica Neue"/>
                <a:sym typeface="Helvetica Neue"/>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1"/>
          <p:cNvSpPr txBox="1"/>
          <p:nvPr/>
        </p:nvSpPr>
        <p:spPr>
          <a:xfrm>
            <a:off x="9833373" y="3902174"/>
            <a:ext cx="2484600" cy="19497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Omission rates</a:t>
            </a:r>
            <a:endParaRPr sz="2400" b="1" i="0" u="none" strike="noStrike" cap="none">
              <a:solidFill>
                <a:srgbClr val="FFFFFF"/>
              </a:solidFill>
              <a:latin typeface="Helvetica Neue"/>
              <a:ea typeface="Helvetica Neue"/>
              <a:cs typeface="Helvetica Neue"/>
              <a:sym typeface="Helvetica Neue"/>
            </a:endParaRPr>
          </a:p>
          <a:p>
            <a:pPr marL="0" marR="0" lvl="0" indent="0" algn="ctr" rtl="0">
              <a:lnSpc>
                <a:spcPct val="100000"/>
              </a:lnSpc>
              <a:spcBef>
                <a:spcPts val="0"/>
              </a:spcBef>
              <a:spcAft>
                <a:spcPts val="0"/>
              </a:spcAft>
              <a:buClr>
                <a:srgbClr val="FFFFFF"/>
              </a:buClr>
              <a:buSzPts val="2400"/>
              <a:buFont typeface="Helvetica Neue"/>
              <a:buNone/>
            </a:pPr>
            <a:endParaRPr sz="2400" b="1" i="0" u="none" strike="noStrike" cap="none">
              <a:solidFill>
                <a:srgbClr val="FFFFFF"/>
              </a:solidFill>
              <a:latin typeface="Helvetica Neue"/>
              <a:ea typeface="Helvetica Neue"/>
              <a:cs typeface="Helvetica Neue"/>
              <a:sym typeface="Helvetica Neue"/>
            </a:endParaRPr>
          </a:p>
          <a:p>
            <a:pPr marL="0" marR="0" lvl="0" indent="0" algn="ctr" rtl="0">
              <a:lnSpc>
                <a:spcPct val="100000"/>
              </a:lnSpc>
              <a:spcBef>
                <a:spcPts val="0"/>
              </a:spcBef>
              <a:spcAft>
                <a:spcPts val="0"/>
              </a:spcAft>
              <a:buClr>
                <a:srgbClr val="FFFFFF"/>
              </a:buClr>
              <a:buSzPts val="2400"/>
              <a:buFont typeface="Helvetica Neue"/>
              <a:buNone/>
            </a:pPr>
            <a:endParaRPr sz="2400" b="1" i="0" u="none" strike="noStrike" cap="none">
              <a:solidFill>
                <a:srgbClr val="FFFFFF"/>
              </a:solidFill>
              <a:latin typeface="Helvetica Neue"/>
              <a:ea typeface="Helvetica Neue"/>
              <a:cs typeface="Helvetica Neue"/>
              <a:sym typeface="Helvetica Neue"/>
            </a:endParaRPr>
          </a:p>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OR</a:t>
            </a:r>
            <a:r>
              <a:rPr lang="en-US" sz="2400" b="1" i="0" u="none" strike="noStrike" cap="none" baseline="-25000">
                <a:solidFill>
                  <a:srgbClr val="FFFFFF"/>
                </a:solidFill>
                <a:latin typeface="Helvetica Neue"/>
                <a:ea typeface="Helvetica Neue"/>
                <a:cs typeface="Helvetica Neue"/>
                <a:sym typeface="Helvetica Neue"/>
              </a:rPr>
              <a:t>min</a:t>
            </a:r>
            <a:r>
              <a:rPr lang="en-US" sz="2400" b="1" i="0" u="none" strike="noStrike" cap="none">
                <a:solidFill>
                  <a:srgbClr val="FFFFFF"/>
                </a:solidFill>
                <a:latin typeface="Helvetica Neue"/>
                <a:ea typeface="Helvetica Neue"/>
                <a:cs typeface="Helvetica Neue"/>
                <a:sym typeface="Helvetica Neue"/>
              </a:rPr>
              <a:t>= 0.01</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OR</a:t>
            </a:r>
            <a:r>
              <a:rPr lang="en-US" sz="2400" b="1" i="0" u="none" strike="noStrike" cap="none" baseline="-25000">
                <a:solidFill>
                  <a:srgbClr val="FFFFFF"/>
                </a:solidFill>
                <a:latin typeface="Helvetica Neue"/>
                <a:ea typeface="Helvetica Neue"/>
                <a:cs typeface="Helvetica Neue"/>
                <a:sym typeface="Helvetica Neue"/>
              </a:rPr>
              <a:t>10</a:t>
            </a:r>
            <a:r>
              <a:rPr lang="en-US" sz="2400" b="1" i="0" u="none" strike="noStrike" cap="none">
                <a:solidFill>
                  <a:srgbClr val="FFFFFF"/>
                </a:solidFill>
                <a:latin typeface="Helvetica Neue"/>
                <a:ea typeface="Helvetica Neue"/>
                <a:cs typeface="Helvetica Neue"/>
                <a:sym typeface="Helvetica Neue"/>
              </a:rPr>
              <a:t>=0.071 </a:t>
            </a:r>
            <a:endParaRPr sz="1400" b="0" i="0" u="none" strike="noStrike" cap="none">
              <a:solidFill>
                <a:srgbClr val="000000"/>
              </a:solidFill>
              <a:latin typeface="Arial"/>
              <a:ea typeface="Arial"/>
              <a:cs typeface="Arial"/>
              <a:sym typeface="Arial"/>
            </a:endParaRPr>
          </a:p>
        </p:txBody>
      </p:sp>
      <p:pic>
        <p:nvPicPr>
          <p:cNvPr id="161" name="Google Shape;161;p11" descr="omission_k5.jpg"/>
          <p:cNvPicPr preferRelativeResize="0"/>
          <p:nvPr/>
        </p:nvPicPr>
        <p:blipFill rotWithShape="1">
          <a:blip r:embed="rId3">
            <a:alphaModFix/>
          </a:blip>
          <a:srcRect l="13969" t="5603" r="19551" b="19686"/>
          <a:stretch/>
        </p:blipFill>
        <p:spPr>
          <a:xfrm>
            <a:off x="211258" y="2526136"/>
            <a:ext cx="9233907" cy="6973464"/>
          </a:xfrm>
          <a:prstGeom prst="rect">
            <a:avLst/>
          </a:prstGeom>
          <a:noFill/>
          <a:ln>
            <a:noFill/>
          </a:ln>
        </p:spPr>
      </p:pic>
      <p:sp>
        <p:nvSpPr>
          <p:cNvPr id="162" name="Google Shape;162;p11"/>
          <p:cNvSpPr txBox="1">
            <a:spLocks noGrp="1"/>
          </p:cNvSpPr>
          <p:nvPr>
            <p:ph type="title"/>
          </p:nvPr>
        </p:nvSpPr>
        <p:spPr>
          <a:xfrm>
            <a:off x="0" y="254000"/>
            <a:ext cx="13004800" cy="21590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83750"/>
              <a:buFont typeface="Helvetica Neue"/>
              <a:buNone/>
            </a:pPr>
            <a:r>
              <a:rPr lang="en-US"/>
              <a:t>The models: statistical evaluation</a:t>
            </a:r>
            <a:endParaRPr i="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p:nvPr/>
        </p:nvSpPr>
        <p:spPr>
          <a:xfrm>
            <a:off x="477051" y="2451961"/>
            <a:ext cx="10477200" cy="4719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Continuous Boyce Index: made for presence-only data</a:t>
            </a:r>
            <a:endParaRPr sz="2400" b="1" i="1" u="none" strike="noStrike" cap="none">
              <a:solidFill>
                <a:srgbClr val="FFFFFF"/>
              </a:solidFill>
              <a:latin typeface="Helvetica Neue"/>
              <a:ea typeface="Helvetica Neue"/>
              <a:cs typeface="Helvetica Neue"/>
              <a:sym typeface="Helvetica Neue"/>
            </a:endParaRPr>
          </a:p>
        </p:txBody>
      </p:sp>
      <p:sp>
        <p:nvSpPr>
          <p:cNvPr id="168" name="Google Shape;168;p12"/>
          <p:cNvSpPr txBox="1">
            <a:spLocks noGrp="1"/>
          </p:cNvSpPr>
          <p:nvPr>
            <p:ph type="title"/>
          </p:nvPr>
        </p:nvSpPr>
        <p:spPr>
          <a:xfrm>
            <a:off x="0" y="254000"/>
            <a:ext cx="13004800" cy="21590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83750"/>
              <a:buFont typeface="Helvetica Neue"/>
              <a:buNone/>
            </a:pPr>
            <a:r>
              <a:rPr lang="en-US"/>
              <a:t>The models: statistical evaluation</a:t>
            </a:r>
            <a:endParaRPr i="1"/>
          </a:p>
        </p:txBody>
      </p:sp>
      <p:pic>
        <p:nvPicPr>
          <p:cNvPr id="169" name="Google Shape;169;p12"/>
          <p:cNvPicPr preferRelativeResize="0"/>
          <p:nvPr/>
        </p:nvPicPr>
        <p:blipFill rotWithShape="1">
          <a:blip r:embed="rId3">
            <a:alphaModFix/>
          </a:blip>
          <a:srcRect/>
          <a:stretch/>
        </p:blipFill>
        <p:spPr>
          <a:xfrm>
            <a:off x="639276" y="3076250"/>
            <a:ext cx="9138437" cy="6136149"/>
          </a:xfrm>
          <a:prstGeom prst="rect">
            <a:avLst/>
          </a:prstGeom>
          <a:noFill/>
          <a:ln>
            <a:noFill/>
          </a:ln>
        </p:spPr>
      </p:pic>
      <p:sp>
        <p:nvSpPr>
          <p:cNvPr id="170" name="Google Shape;170;p12"/>
          <p:cNvSpPr txBox="1"/>
          <p:nvPr/>
        </p:nvSpPr>
        <p:spPr>
          <a:xfrm>
            <a:off x="10108569" y="9043034"/>
            <a:ext cx="2515112" cy="471924"/>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0" u="none" strike="noStrike" cap="none" dirty="0" err="1">
                <a:solidFill>
                  <a:srgbClr val="FFFFFF"/>
                </a:solidFill>
                <a:latin typeface="Helvetica Neue"/>
                <a:ea typeface="Helvetica Neue"/>
                <a:cs typeface="Helvetica Neue"/>
                <a:sym typeface="Helvetica Neue"/>
              </a:rPr>
              <a:t>Hirzel</a:t>
            </a:r>
            <a:r>
              <a:rPr lang="en-US" sz="2400" b="1" i="0" u="none" strike="noStrike" cap="none" dirty="0">
                <a:solidFill>
                  <a:srgbClr val="FFFFFF"/>
                </a:solidFill>
                <a:latin typeface="Helvetica Neue"/>
                <a:ea typeface="Helvetica Neue"/>
                <a:cs typeface="Helvetica Neue"/>
                <a:sym typeface="Helvetica Neue"/>
              </a:rPr>
              <a:t> et al. 2006</a:t>
            </a:r>
            <a:endParaRPr sz="1400" b="0" i="0" u="none" strike="noStrike" cap="none" dirty="0">
              <a:solidFill>
                <a:srgbClr val="000000"/>
              </a:solidFill>
              <a:latin typeface="Arial"/>
              <a:ea typeface="Arial"/>
              <a:cs typeface="Arial"/>
              <a:sym typeface="Arial"/>
            </a:endParaRPr>
          </a:p>
        </p:txBody>
      </p:sp>
      <p:sp>
        <p:nvSpPr>
          <p:cNvPr id="171" name="Google Shape;171;p12"/>
          <p:cNvSpPr txBox="1"/>
          <p:nvPr/>
        </p:nvSpPr>
        <p:spPr>
          <a:xfrm>
            <a:off x="10066781" y="3984248"/>
            <a:ext cx="1848300" cy="841500"/>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good model</a:t>
            </a:r>
            <a:endParaRPr sz="2400" b="1"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2400"/>
              <a:buFont typeface="Helvetica Neue"/>
              <a:buNone/>
            </a:pPr>
            <a:endParaRPr sz="2400" b="1" i="1" u="none" strike="noStrike" cap="none">
              <a:solidFill>
                <a:srgbClr val="FFFFFF"/>
              </a:solidFill>
              <a:latin typeface="Helvetica Neue"/>
              <a:ea typeface="Helvetica Neue"/>
              <a:cs typeface="Helvetica Neue"/>
              <a:sym typeface="Helvetica Neue"/>
            </a:endParaRPr>
          </a:p>
        </p:txBody>
      </p:sp>
      <p:sp>
        <p:nvSpPr>
          <p:cNvPr id="172" name="Google Shape;172;p12"/>
          <p:cNvSpPr txBox="1"/>
          <p:nvPr/>
        </p:nvSpPr>
        <p:spPr>
          <a:xfrm>
            <a:off x="10066781" y="5798108"/>
            <a:ext cx="2556900" cy="841500"/>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random model</a:t>
            </a:r>
            <a:endParaRPr sz="2400" b="1"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2400"/>
              <a:buFont typeface="Helvetica Neue"/>
              <a:buNone/>
            </a:pPr>
            <a:endParaRPr sz="2400" b="1" i="1" u="none" strike="noStrike" cap="none">
              <a:solidFill>
                <a:srgbClr val="FFFFFF"/>
              </a:solidFill>
              <a:latin typeface="Helvetica Neue"/>
              <a:ea typeface="Helvetica Neue"/>
              <a:cs typeface="Helvetica Neue"/>
              <a:sym typeface="Helvetica Neue"/>
            </a:endParaRPr>
          </a:p>
        </p:txBody>
      </p:sp>
      <p:sp>
        <p:nvSpPr>
          <p:cNvPr id="173" name="Google Shape;173;p12"/>
          <p:cNvSpPr txBox="1"/>
          <p:nvPr/>
        </p:nvSpPr>
        <p:spPr>
          <a:xfrm>
            <a:off x="10066781" y="7789984"/>
            <a:ext cx="2494200" cy="841500"/>
          </a:xfrm>
          <a:prstGeom prst="rect">
            <a:avLst/>
          </a:prstGeom>
          <a:noFill/>
          <a:ln>
            <a:noFill/>
          </a:ln>
        </p:spPr>
        <p:txBody>
          <a:bodyPr spcFirstLastPara="1" wrap="square" lIns="50800" tIns="50800" rIns="50800" bIns="50800" anchor="ctr" anchorCtr="0">
            <a:spAutoFit/>
          </a:bodyPr>
          <a:lstStyle/>
          <a:p>
            <a:pPr marL="0" marR="0" lvl="0" indent="0" algn="l" rtl="0">
              <a:lnSpc>
                <a:spcPct val="100000"/>
              </a:lnSpc>
              <a:spcBef>
                <a:spcPts val="0"/>
              </a:spcBef>
              <a:spcAft>
                <a:spcPts val="0"/>
              </a:spcAft>
              <a:buClr>
                <a:srgbClr val="FFFFFF"/>
              </a:buClr>
              <a:buSzPts val="2400"/>
              <a:buFont typeface="Helvetica Neue"/>
              <a:buNone/>
            </a:pPr>
            <a:r>
              <a:rPr lang="en-US" sz="2400" b="1" i="0" u="none" strike="noStrike" cap="none">
                <a:solidFill>
                  <a:srgbClr val="FFFFFF"/>
                </a:solidFill>
                <a:latin typeface="Helvetica Neue"/>
                <a:ea typeface="Helvetica Neue"/>
                <a:cs typeface="Helvetica Neue"/>
                <a:sym typeface="Helvetica Neue"/>
              </a:rPr>
              <a:t>bad model</a:t>
            </a:r>
            <a:endParaRPr sz="2400" b="1"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2400"/>
              <a:buFont typeface="Helvetica Neue"/>
              <a:buNone/>
            </a:pPr>
            <a:endParaRPr sz="2400" b="1" i="1"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13" descr="refu_labiyfus.jpg"/>
          <p:cNvPicPr preferRelativeResize="0"/>
          <p:nvPr/>
        </p:nvPicPr>
        <p:blipFill rotWithShape="1">
          <a:blip r:embed="rId3">
            <a:alphaModFix/>
          </a:blip>
          <a:srcRect l="2366" t="10962" r="51558" b="19695"/>
          <a:stretch/>
        </p:blipFill>
        <p:spPr>
          <a:xfrm>
            <a:off x="7775226" y="2786151"/>
            <a:ext cx="3516603" cy="3908261"/>
          </a:xfrm>
          <a:prstGeom prst="rect">
            <a:avLst/>
          </a:prstGeom>
          <a:noFill/>
          <a:ln>
            <a:noFill/>
          </a:ln>
        </p:spPr>
      </p:pic>
      <p:pic>
        <p:nvPicPr>
          <p:cNvPr id="179" name="Google Shape;179;p13" descr="Image"/>
          <p:cNvPicPr preferRelativeResize="0"/>
          <p:nvPr/>
        </p:nvPicPr>
        <p:blipFill rotWithShape="1">
          <a:blip r:embed="rId4">
            <a:alphaModFix/>
          </a:blip>
          <a:srcRect/>
          <a:stretch/>
        </p:blipFill>
        <p:spPr>
          <a:xfrm>
            <a:off x="8808913" y="7031169"/>
            <a:ext cx="1977303" cy="1224654"/>
          </a:xfrm>
          <a:prstGeom prst="rect">
            <a:avLst/>
          </a:prstGeom>
          <a:noFill/>
          <a:ln>
            <a:noFill/>
          </a:ln>
        </p:spPr>
      </p:pic>
      <p:sp>
        <p:nvSpPr>
          <p:cNvPr id="180" name="Google Shape;180;p13"/>
          <p:cNvSpPr txBox="1"/>
          <p:nvPr/>
        </p:nvSpPr>
        <p:spPr>
          <a:xfrm>
            <a:off x="8526206" y="5728265"/>
            <a:ext cx="2689800" cy="8415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1" u="none" strike="noStrike" cap="none">
                <a:solidFill>
                  <a:srgbClr val="FFFFFF"/>
                </a:solidFill>
                <a:latin typeface="Helvetica Neue"/>
                <a:ea typeface="Helvetica Neue"/>
                <a:cs typeface="Helvetica Neue"/>
                <a:sym typeface="Helvetica Neue"/>
              </a:rPr>
              <a:t>Dendropsophus molitor</a:t>
            </a:r>
            <a:endParaRPr sz="2400" b="1" i="1" u="none" strike="noStrike" cap="none">
              <a:solidFill>
                <a:srgbClr val="FFFFFF"/>
              </a:solidFill>
              <a:latin typeface="Helvetica Neue"/>
              <a:ea typeface="Helvetica Neue"/>
              <a:cs typeface="Helvetica Neue"/>
              <a:sym typeface="Helvetica Neue"/>
            </a:endParaRPr>
          </a:p>
        </p:txBody>
      </p:sp>
      <p:sp>
        <p:nvSpPr>
          <p:cNvPr id="181" name="Google Shape;181;p13"/>
          <p:cNvSpPr txBox="1">
            <a:spLocks noGrp="1"/>
          </p:cNvSpPr>
          <p:nvPr>
            <p:ph type="title"/>
          </p:nvPr>
        </p:nvSpPr>
        <p:spPr>
          <a:xfrm>
            <a:off x="0" y="254000"/>
            <a:ext cx="13004800" cy="21590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83750"/>
              <a:buFont typeface="Helvetica Neue"/>
              <a:buNone/>
            </a:pPr>
            <a:r>
              <a:rPr lang="en-US"/>
              <a:t>The models: statistical evaluation</a:t>
            </a:r>
            <a:endParaRPr i="1"/>
          </a:p>
        </p:txBody>
      </p:sp>
      <p:sp>
        <p:nvSpPr>
          <p:cNvPr id="182" name="Google Shape;182;p13"/>
          <p:cNvSpPr txBox="1"/>
          <p:nvPr/>
        </p:nvSpPr>
        <p:spPr>
          <a:xfrm>
            <a:off x="23472" y="3086525"/>
            <a:ext cx="7010100" cy="44124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800"/>
              <a:buFont typeface="Helvetica Neue"/>
              <a:buNone/>
            </a:pPr>
            <a:r>
              <a:rPr lang="en-US" sz="2800" b="0" i="0" u="none" strike="noStrike" cap="none">
                <a:solidFill>
                  <a:srgbClr val="FFFFFF"/>
                </a:solidFill>
                <a:latin typeface="Helvetica Neue"/>
                <a:ea typeface="Helvetica Neue"/>
                <a:cs typeface="Helvetica Neue"/>
                <a:sym typeface="Helvetica Neue"/>
              </a:rPr>
              <a:t>Information criteria:</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2800"/>
              <a:buFont typeface="Helvetica Neue"/>
              <a:buNone/>
            </a:pPr>
            <a:r>
              <a:rPr lang="en-US" sz="2800" b="0" i="0" u="none" strike="noStrike" cap="none">
                <a:solidFill>
                  <a:srgbClr val="FFFFFF"/>
                </a:solidFill>
                <a:latin typeface="Helvetica Neue"/>
                <a:ea typeface="Helvetica Neue"/>
                <a:cs typeface="Helvetica Neue"/>
                <a:sym typeface="Helvetica Neue"/>
              </a:rPr>
              <a:t> AICc= 450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2800"/>
              <a:buFont typeface="Helvetica Neue"/>
              <a:buNone/>
            </a:pPr>
            <a:endParaRPr sz="2800" b="0" i="0" u="none" strike="noStrike" cap="none">
              <a:solidFill>
                <a:srgbClr val="FFFFFF"/>
              </a:solidFill>
              <a:latin typeface="Helvetica Neue"/>
              <a:ea typeface="Helvetica Neue"/>
              <a:cs typeface="Helvetica Neue"/>
              <a:sym typeface="Helvetica Neue"/>
            </a:endParaRPr>
          </a:p>
          <a:p>
            <a:pPr marL="0" marR="0" lvl="0" indent="0" algn="ctr" rtl="0">
              <a:lnSpc>
                <a:spcPct val="100000"/>
              </a:lnSpc>
              <a:spcBef>
                <a:spcPts val="0"/>
              </a:spcBef>
              <a:spcAft>
                <a:spcPts val="0"/>
              </a:spcAft>
              <a:buClr>
                <a:srgbClr val="FFFFFF"/>
              </a:buClr>
              <a:buSzPts val="2800"/>
              <a:buFont typeface="Helvetica Neue"/>
              <a:buNone/>
            </a:pPr>
            <a:endParaRPr sz="2800" b="0" i="0" u="none" strike="noStrike" cap="none">
              <a:solidFill>
                <a:srgbClr val="FFFFFF"/>
              </a:solidFill>
              <a:latin typeface="Helvetica Neue"/>
              <a:ea typeface="Helvetica Neue"/>
              <a:cs typeface="Helvetica Neue"/>
              <a:sym typeface="Helvetica Neue"/>
            </a:endParaRPr>
          </a:p>
          <a:p>
            <a:pPr marL="342900" marR="0" lvl="0" indent="-342900" algn="l" rtl="0">
              <a:lnSpc>
                <a:spcPct val="100000"/>
              </a:lnSpc>
              <a:spcBef>
                <a:spcPts val="0"/>
              </a:spcBef>
              <a:spcAft>
                <a:spcPts val="0"/>
              </a:spcAft>
              <a:buClr>
                <a:srgbClr val="FFFFFF"/>
              </a:buClr>
              <a:buSzPts val="2800"/>
              <a:buFont typeface="Arial"/>
              <a:buChar char="•"/>
            </a:pPr>
            <a:r>
              <a:rPr lang="en-US" sz="2800" b="0" i="0" u="none" strike="noStrike" cap="none">
                <a:solidFill>
                  <a:srgbClr val="FFFFFF"/>
                </a:solidFill>
                <a:latin typeface="Helvetica Neue"/>
                <a:ea typeface="Helvetica Neue"/>
                <a:cs typeface="Helvetica Neue"/>
                <a:sym typeface="Helvetica Neue"/>
              </a:rPr>
              <a:t>Comparative measure </a:t>
            </a:r>
            <a:endParaRPr sz="2800" b="0" i="0" u="none" strike="noStrike" cap="none">
              <a:solidFill>
                <a:srgbClr val="FFFFFF"/>
              </a:solidFill>
              <a:latin typeface="Helvetica Neue"/>
              <a:ea typeface="Helvetica Neue"/>
              <a:cs typeface="Helvetica Neue"/>
              <a:sym typeface="Helvetica Neue"/>
            </a:endParaRPr>
          </a:p>
          <a:p>
            <a:pPr marL="342900" marR="0" lvl="0" indent="-342900" algn="l" rtl="0">
              <a:lnSpc>
                <a:spcPct val="100000"/>
              </a:lnSpc>
              <a:spcBef>
                <a:spcPts val="0"/>
              </a:spcBef>
              <a:spcAft>
                <a:spcPts val="0"/>
              </a:spcAft>
              <a:buClr>
                <a:srgbClr val="FFFFFF"/>
              </a:buClr>
              <a:buSzPts val="2800"/>
              <a:buFont typeface="Arial"/>
              <a:buChar char="•"/>
            </a:pPr>
            <a:r>
              <a:rPr lang="en-US" sz="2800" b="0" i="0" u="none" strike="noStrike" cap="none">
                <a:solidFill>
                  <a:srgbClr val="FFFFFF"/>
                </a:solidFill>
                <a:latin typeface="Helvetica Neue"/>
                <a:ea typeface="Helvetica Neue"/>
                <a:cs typeface="Helvetica Neue"/>
                <a:sym typeface="Helvetica Neue"/>
              </a:rPr>
              <a:t>Only makes sense when comparing models built with same data but different predictors/settings</a:t>
            </a:r>
            <a:endParaRPr sz="2800" b="0" i="0" u="none" strike="noStrike" cap="none">
              <a:solidFill>
                <a:srgbClr val="FFFFFF"/>
              </a:solidFill>
              <a:latin typeface="Helvetica Neue"/>
              <a:ea typeface="Helvetica Neue"/>
              <a:cs typeface="Helvetica Neue"/>
              <a:sym typeface="Helvetica Neue"/>
            </a:endParaRPr>
          </a:p>
          <a:p>
            <a:pPr marL="342900" marR="0" lvl="0" indent="-342900" algn="l" rtl="0">
              <a:lnSpc>
                <a:spcPct val="100000"/>
              </a:lnSpc>
              <a:spcBef>
                <a:spcPts val="0"/>
              </a:spcBef>
              <a:spcAft>
                <a:spcPts val="0"/>
              </a:spcAft>
              <a:buClr>
                <a:srgbClr val="FFFFFF"/>
              </a:buClr>
              <a:buSzPts val="2800"/>
              <a:buFont typeface="Arial"/>
              <a:buChar char="•"/>
            </a:pPr>
            <a:r>
              <a:rPr lang="en-US" sz="2800" b="0" i="0" u="none" strike="noStrike" cap="none">
                <a:solidFill>
                  <a:srgbClr val="FFFFFF"/>
                </a:solidFill>
                <a:latin typeface="Helvetica Neue"/>
                <a:ea typeface="Helvetica Neue"/>
                <a:cs typeface="Helvetica Neue"/>
                <a:sym typeface="Helvetica Neue"/>
              </a:rPr>
              <a:t>Maximizes likelihood while minimizing complexity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4"/>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80000"/>
              <a:buFont typeface="Helvetica Neue"/>
              <a:buNone/>
            </a:pPr>
            <a:r>
              <a:rPr lang="en-US"/>
              <a:t>Was the model good or bad?</a:t>
            </a:r>
            <a:endParaRPr/>
          </a:p>
        </p:txBody>
      </p:sp>
      <p:pic>
        <p:nvPicPr>
          <p:cNvPr id="188" name="Google Shape;188;p14" descr="refu_labiyfus.jpg"/>
          <p:cNvPicPr preferRelativeResize="0"/>
          <p:nvPr/>
        </p:nvPicPr>
        <p:blipFill rotWithShape="1">
          <a:blip r:embed="rId3">
            <a:alphaModFix/>
          </a:blip>
          <a:srcRect l="2366" t="10962" r="51558" b="19695"/>
          <a:stretch/>
        </p:blipFill>
        <p:spPr>
          <a:xfrm>
            <a:off x="421539" y="2976082"/>
            <a:ext cx="5360942" cy="5958003"/>
          </a:xfrm>
          <a:prstGeom prst="rect">
            <a:avLst/>
          </a:prstGeom>
          <a:noFill/>
          <a:ln>
            <a:noFill/>
          </a:ln>
        </p:spPr>
      </p:pic>
      <p:pic>
        <p:nvPicPr>
          <p:cNvPr id="189" name="Google Shape;189;p14" descr="Image"/>
          <p:cNvPicPr preferRelativeResize="0"/>
          <p:nvPr/>
        </p:nvPicPr>
        <p:blipFill rotWithShape="1">
          <a:blip r:embed="rId4">
            <a:alphaModFix/>
          </a:blip>
          <a:srcRect/>
          <a:stretch/>
        </p:blipFill>
        <p:spPr>
          <a:xfrm>
            <a:off x="3354748" y="7547271"/>
            <a:ext cx="1977304" cy="1224654"/>
          </a:xfrm>
          <a:prstGeom prst="rect">
            <a:avLst/>
          </a:prstGeom>
          <a:noFill/>
          <a:ln>
            <a:noFill/>
          </a:ln>
        </p:spPr>
      </p:pic>
      <p:sp>
        <p:nvSpPr>
          <p:cNvPr id="190" name="Google Shape;190;p14"/>
          <p:cNvSpPr txBox="1"/>
          <p:nvPr/>
        </p:nvSpPr>
        <p:spPr>
          <a:xfrm>
            <a:off x="2905912" y="6729070"/>
            <a:ext cx="2689883" cy="8293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1" u="none" strike="noStrike" cap="none">
                <a:solidFill>
                  <a:srgbClr val="FFFFFF"/>
                </a:solidFill>
                <a:latin typeface="Helvetica Neue"/>
                <a:ea typeface="Helvetica Neue"/>
                <a:cs typeface="Helvetica Neue"/>
                <a:sym typeface="Helvetica Neue"/>
              </a:rPr>
              <a:t>Dendropsophus molitor</a:t>
            </a:r>
            <a:endParaRPr sz="1400" b="0" i="0" u="none" strike="noStrike" cap="none">
              <a:solidFill>
                <a:srgbClr val="000000"/>
              </a:solidFill>
              <a:latin typeface="Arial"/>
              <a:ea typeface="Arial"/>
              <a:cs typeface="Arial"/>
              <a:sym typeface="Arial"/>
            </a:endParaRPr>
          </a:p>
        </p:txBody>
      </p:sp>
      <p:sp>
        <p:nvSpPr>
          <p:cNvPr id="191" name="Google Shape;191;p14"/>
          <p:cNvSpPr txBox="1"/>
          <p:nvPr/>
        </p:nvSpPr>
        <p:spPr>
          <a:xfrm>
            <a:off x="6003225" y="3051725"/>
            <a:ext cx="6579900" cy="6287400"/>
          </a:xfrm>
          <a:prstGeom prst="rect">
            <a:avLst/>
          </a:prstGeom>
          <a:noFill/>
          <a:ln>
            <a:noFill/>
          </a:ln>
        </p:spPr>
        <p:txBody>
          <a:bodyPr spcFirstLastPara="1" wrap="square" lIns="50800" tIns="50800" rIns="50800" bIns="50800" anchor="ctr" anchorCtr="0">
            <a:spAutoFit/>
          </a:bodyPr>
          <a:lstStyle/>
          <a:p>
            <a:pPr marL="208359" marR="0" lvl="0" indent="-257809" algn="l" rtl="0">
              <a:lnSpc>
                <a:spcPct val="100000"/>
              </a:lnSpc>
              <a:spcBef>
                <a:spcPts val="0"/>
              </a:spcBef>
              <a:spcAft>
                <a:spcPts val="0"/>
              </a:spcAft>
              <a:buClr>
                <a:srgbClr val="FFFFFF"/>
              </a:buClr>
              <a:buSzPts val="4060"/>
              <a:buFont typeface="Helvetica Neue"/>
              <a:buChar char="•"/>
            </a:pPr>
            <a:r>
              <a:rPr lang="en-US" sz="2800" b="0" i="0" u="none" strike="noStrike" cap="none">
                <a:solidFill>
                  <a:srgbClr val="FFFFFF"/>
                </a:solidFill>
                <a:latin typeface="Helvetica Neue"/>
                <a:ea typeface="Helvetica Neue"/>
                <a:cs typeface="Helvetica Neue"/>
                <a:sym typeface="Helvetica Neue"/>
              </a:rPr>
              <a:t>Overestimates the real distribution </a:t>
            </a:r>
            <a:endParaRPr sz="1400" b="0" i="0" u="none" strike="noStrike" cap="none">
              <a:solidFill>
                <a:srgbClr val="000000"/>
              </a:solidFill>
              <a:latin typeface="Arial"/>
              <a:ea typeface="Arial"/>
              <a:cs typeface="Arial"/>
              <a:sym typeface="Arial"/>
            </a:endParaRPr>
          </a:p>
          <a:p>
            <a:pPr marL="208359" marR="0" lvl="0" indent="-257809" algn="l" rtl="0">
              <a:lnSpc>
                <a:spcPct val="100000"/>
              </a:lnSpc>
              <a:spcBef>
                <a:spcPts val="0"/>
              </a:spcBef>
              <a:spcAft>
                <a:spcPts val="0"/>
              </a:spcAft>
              <a:buClr>
                <a:srgbClr val="FFFFFF"/>
              </a:buClr>
              <a:buSzPts val="4060"/>
              <a:buFont typeface="Helvetica Neue"/>
              <a:buChar char="•"/>
            </a:pPr>
            <a:r>
              <a:rPr lang="en-US" sz="2800" b="0" i="0" u="none" strike="noStrike" cap="none">
                <a:solidFill>
                  <a:srgbClr val="FFFFFF"/>
                </a:solidFill>
                <a:latin typeface="Helvetica Neue"/>
                <a:ea typeface="Helvetica Neue"/>
                <a:cs typeface="Helvetica Neue"/>
                <a:sym typeface="Helvetica Neue"/>
              </a:rPr>
              <a:t>But question was about areas of potential distribution (present and past)</a:t>
            </a:r>
            <a:endParaRPr sz="1400" b="0" i="0" u="none" strike="noStrike" cap="none">
              <a:solidFill>
                <a:srgbClr val="000000"/>
              </a:solidFill>
              <a:latin typeface="Arial"/>
              <a:ea typeface="Arial"/>
              <a:cs typeface="Arial"/>
              <a:sym typeface="Arial"/>
            </a:endParaRPr>
          </a:p>
          <a:p>
            <a:pPr marL="208358" marR="0" lvl="0" indent="-257809" algn="l" rtl="0">
              <a:lnSpc>
                <a:spcPct val="100000"/>
              </a:lnSpc>
              <a:spcBef>
                <a:spcPts val="0"/>
              </a:spcBef>
              <a:spcAft>
                <a:spcPts val="0"/>
              </a:spcAft>
              <a:buClr>
                <a:srgbClr val="FFFFFF"/>
              </a:buClr>
              <a:buSzPts val="4060"/>
              <a:buFont typeface="Helvetica Neue"/>
              <a:buChar char="•"/>
            </a:pPr>
            <a:r>
              <a:rPr lang="en-US" sz="2800" b="0" i="0" u="none" strike="noStrike" cap="none">
                <a:solidFill>
                  <a:srgbClr val="FFFFFF"/>
                </a:solidFill>
                <a:latin typeface="Helvetica Neue"/>
                <a:ea typeface="Helvetica Neue"/>
                <a:cs typeface="Helvetica Neue"/>
                <a:sym typeface="Helvetica Neue"/>
              </a:rPr>
              <a:t>Data appropriate or at least best available for the question (assuming they were cleaned!)</a:t>
            </a:r>
            <a:endParaRPr sz="2800" b="0" i="0" u="none" strike="noStrike" cap="none">
              <a:solidFill>
                <a:srgbClr val="FFFFFF"/>
              </a:solidFill>
              <a:latin typeface="Helvetica Neue"/>
              <a:ea typeface="Helvetica Neue"/>
              <a:cs typeface="Helvetica Neue"/>
              <a:sym typeface="Helvetica Neue"/>
            </a:endParaRPr>
          </a:p>
          <a:p>
            <a:pPr marL="208358" marR="0" lvl="0" indent="-177800" algn="l" rtl="0">
              <a:lnSpc>
                <a:spcPct val="100000"/>
              </a:lnSpc>
              <a:spcBef>
                <a:spcPts val="0"/>
              </a:spcBef>
              <a:spcAft>
                <a:spcPts val="0"/>
              </a:spcAft>
              <a:buClr>
                <a:srgbClr val="FFFFFF"/>
              </a:buClr>
              <a:buSzPts val="2800"/>
              <a:buFont typeface="Helvetica Neue"/>
              <a:buChar char="•"/>
            </a:pPr>
            <a:r>
              <a:rPr lang="en-US" sz="2800" b="0" i="0" u="none" strike="noStrike" cap="none">
                <a:solidFill>
                  <a:srgbClr val="FFFFFF"/>
                </a:solidFill>
                <a:latin typeface="Helvetica Neue"/>
                <a:ea typeface="Helvetica Neue"/>
                <a:cs typeface="Helvetica Neue"/>
                <a:sym typeface="Helvetica Neue"/>
              </a:rPr>
              <a:t>Not all appropriate statistics were computed but values were ok for AUC and OR but no models are presented for comparison was there a better one? </a:t>
            </a:r>
            <a:endParaRPr sz="2800" b="0" i="0" u="none" strike="noStrike" cap="none">
              <a:solidFill>
                <a:srgbClr val="FFFFFF"/>
              </a:solidFill>
              <a:latin typeface="Helvetica Neue"/>
              <a:ea typeface="Helvetica Neue"/>
              <a:cs typeface="Helvetica Neue"/>
              <a:sym typeface="Helvetica Neue"/>
            </a:endParaRPr>
          </a:p>
          <a:p>
            <a:pPr marL="45720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lt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lt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5"/>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80000"/>
              <a:buFont typeface="Helvetica Neue"/>
              <a:buNone/>
            </a:pPr>
            <a:r>
              <a:rPr lang="en-US"/>
              <a:t>Was the model good or bad?</a:t>
            </a:r>
            <a:endParaRPr/>
          </a:p>
        </p:txBody>
      </p:sp>
      <p:pic>
        <p:nvPicPr>
          <p:cNvPr id="197" name="Google Shape;197;p15" descr="refu_labiyfus.jpg"/>
          <p:cNvPicPr preferRelativeResize="0"/>
          <p:nvPr/>
        </p:nvPicPr>
        <p:blipFill rotWithShape="1">
          <a:blip r:embed="rId3">
            <a:alphaModFix/>
          </a:blip>
          <a:srcRect l="2366" t="10962" r="51558" b="19695"/>
          <a:stretch/>
        </p:blipFill>
        <p:spPr>
          <a:xfrm>
            <a:off x="421539" y="2976082"/>
            <a:ext cx="5360942" cy="5958003"/>
          </a:xfrm>
          <a:prstGeom prst="rect">
            <a:avLst/>
          </a:prstGeom>
          <a:noFill/>
          <a:ln>
            <a:noFill/>
          </a:ln>
        </p:spPr>
      </p:pic>
      <p:pic>
        <p:nvPicPr>
          <p:cNvPr id="198" name="Google Shape;198;p15" descr="Image"/>
          <p:cNvPicPr preferRelativeResize="0"/>
          <p:nvPr/>
        </p:nvPicPr>
        <p:blipFill rotWithShape="1">
          <a:blip r:embed="rId4">
            <a:alphaModFix/>
          </a:blip>
          <a:srcRect/>
          <a:stretch/>
        </p:blipFill>
        <p:spPr>
          <a:xfrm>
            <a:off x="3354748" y="7547271"/>
            <a:ext cx="1977304" cy="1224654"/>
          </a:xfrm>
          <a:prstGeom prst="rect">
            <a:avLst/>
          </a:prstGeom>
          <a:noFill/>
          <a:ln>
            <a:noFill/>
          </a:ln>
        </p:spPr>
      </p:pic>
      <p:sp>
        <p:nvSpPr>
          <p:cNvPr id="199" name="Google Shape;199;p15"/>
          <p:cNvSpPr txBox="1"/>
          <p:nvPr/>
        </p:nvSpPr>
        <p:spPr>
          <a:xfrm>
            <a:off x="2905912" y="6729070"/>
            <a:ext cx="2689883" cy="82936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FFFFFF"/>
              </a:buClr>
              <a:buSzPts val="2400"/>
              <a:buFont typeface="Helvetica Neue"/>
              <a:buNone/>
            </a:pPr>
            <a:r>
              <a:rPr lang="en-US" sz="2400" b="1" i="1" u="none" strike="noStrike" cap="none">
                <a:solidFill>
                  <a:srgbClr val="FFFFFF"/>
                </a:solidFill>
                <a:latin typeface="Helvetica Neue"/>
                <a:ea typeface="Helvetica Neue"/>
                <a:cs typeface="Helvetica Neue"/>
                <a:sym typeface="Helvetica Neue"/>
              </a:rPr>
              <a:t>Dendropsophus molitor</a:t>
            </a:r>
            <a:endParaRPr sz="1400" b="0" i="0" u="none" strike="noStrike" cap="none">
              <a:solidFill>
                <a:srgbClr val="000000"/>
              </a:solidFill>
              <a:latin typeface="Arial"/>
              <a:ea typeface="Arial"/>
              <a:cs typeface="Arial"/>
              <a:sym typeface="Arial"/>
            </a:endParaRPr>
          </a:p>
        </p:txBody>
      </p:sp>
      <p:sp>
        <p:nvSpPr>
          <p:cNvPr id="200" name="Google Shape;200;p15"/>
          <p:cNvSpPr txBox="1"/>
          <p:nvPr/>
        </p:nvSpPr>
        <p:spPr>
          <a:xfrm>
            <a:off x="6384913" y="3825088"/>
            <a:ext cx="5667387" cy="1395254"/>
          </a:xfrm>
          <a:prstGeom prst="rect">
            <a:avLst/>
          </a:prstGeom>
          <a:noFill/>
          <a:ln>
            <a:noFill/>
          </a:ln>
        </p:spPr>
        <p:txBody>
          <a:bodyPr spcFirstLastPara="1" wrap="square" lIns="50800" tIns="50800" rIns="50800" bIns="50800" anchor="ctr" anchorCtr="0">
            <a:spAutoFit/>
          </a:bodyPr>
          <a:lstStyle/>
          <a:p>
            <a:pPr marL="208359" marR="0" lvl="0" indent="-257809" algn="l" rtl="0">
              <a:lnSpc>
                <a:spcPct val="100000"/>
              </a:lnSpc>
              <a:spcBef>
                <a:spcPts val="0"/>
              </a:spcBef>
              <a:spcAft>
                <a:spcPts val="0"/>
              </a:spcAft>
              <a:buClr>
                <a:srgbClr val="FFFFFF"/>
              </a:buClr>
              <a:buSzPts val="4060"/>
              <a:buFont typeface="Helvetica Neue"/>
              <a:buChar char="•"/>
            </a:pPr>
            <a:r>
              <a:rPr lang="en-US" sz="2800" b="0" i="0" u="none" strike="noStrike" cap="none">
                <a:solidFill>
                  <a:srgbClr val="FFFFFF"/>
                </a:solidFill>
                <a:latin typeface="Helvetica Neue"/>
                <a:ea typeface="Helvetica Neue"/>
                <a:cs typeface="Helvetica Neue"/>
                <a:sym typeface="Helvetica Neue"/>
              </a:rPr>
              <a:t>Good performance statistics</a:t>
            </a:r>
            <a:endParaRPr sz="1400" b="0" i="0" u="none" strike="noStrike" cap="none">
              <a:solidFill>
                <a:srgbClr val="000000"/>
              </a:solidFill>
              <a:latin typeface="Arial"/>
              <a:ea typeface="Arial"/>
              <a:cs typeface="Arial"/>
              <a:sym typeface="Arial"/>
            </a:endParaRPr>
          </a:p>
          <a:p>
            <a:pPr marL="208359" marR="0" lvl="0" indent="-257809" algn="l" rtl="0">
              <a:lnSpc>
                <a:spcPct val="100000"/>
              </a:lnSpc>
              <a:spcBef>
                <a:spcPts val="0"/>
              </a:spcBef>
              <a:spcAft>
                <a:spcPts val="0"/>
              </a:spcAft>
              <a:buClr>
                <a:srgbClr val="FFFFFF"/>
              </a:buClr>
              <a:buSzPts val="4060"/>
              <a:buFont typeface="Helvetica Neue"/>
              <a:buChar char="•"/>
            </a:pPr>
            <a:r>
              <a:rPr lang="en-US" sz="2800" b="0" i="0" u="none" strike="noStrike" cap="none">
                <a:solidFill>
                  <a:srgbClr val="FFFFFF"/>
                </a:solidFill>
                <a:latin typeface="Helvetica Neue"/>
                <a:ea typeface="Helvetica Neue"/>
                <a:cs typeface="Helvetica Neue"/>
                <a:sym typeface="Helvetica Neue"/>
              </a:rPr>
              <a:t>Should compare to other models to find optimal complexity</a:t>
            </a:r>
            <a:endParaRPr sz="2800" b="1" i="0" u="none" strike="noStrike" cap="none">
              <a:solidFill>
                <a:srgbClr val="FFFFFF"/>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6"/>
          <p:cNvSpPr txBox="1">
            <a:spLocks noGrp="1"/>
          </p:cNvSpPr>
          <p:nvPr>
            <p:ph type="body" idx="1"/>
          </p:nvPr>
        </p:nvSpPr>
        <p:spPr>
          <a:xfrm>
            <a:off x="952500" y="2590800"/>
            <a:ext cx="11099800" cy="6286500"/>
          </a:xfrm>
          <a:prstGeom prst="rect">
            <a:avLst/>
          </a:prstGeom>
          <a:noFill/>
          <a:ln>
            <a:noFill/>
          </a:ln>
        </p:spPr>
        <p:txBody>
          <a:bodyPr spcFirstLastPara="1" wrap="square" lIns="50800" tIns="50800" rIns="50800" bIns="50800" anchor="ctr" anchorCtr="0">
            <a:normAutofit lnSpcReduction="20000"/>
          </a:bodyPr>
          <a:lstStyle/>
          <a:p>
            <a:pPr marL="422275" lvl="0" indent="-422275" algn="l" rtl="0">
              <a:lnSpc>
                <a:spcPct val="100000"/>
              </a:lnSpc>
              <a:spcBef>
                <a:spcPts val="0"/>
              </a:spcBef>
              <a:spcAft>
                <a:spcPts val="0"/>
              </a:spcAft>
              <a:buSzPts val="4350"/>
              <a:buFont typeface="Helvetica Neue"/>
              <a:buChar char="•"/>
            </a:pPr>
            <a:r>
              <a:rPr lang="en-US"/>
              <a:t>These were only some considerations</a:t>
            </a:r>
            <a:endParaRPr/>
          </a:p>
          <a:p>
            <a:pPr marL="422275" lvl="0" indent="-422275" algn="l" rtl="0">
              <a:lnSpc>
                <a:spcPct val="100000"/>
              </a:lnSpc>
              <a:spcBef>
                <a:spcPts val="3900"/>
              </a:spcBef>
              <a:spcAft>
                <a:spcPts val="0"/>
              </a:spcAft>
              <a:buSzPts val="4350"/>
              <a:buFont typeface="Helvetica Neue"/>
              <a:buChar char="•"/>
            </a:pPr>
            <a:r>
              <a:rPr lang="en-US"/>
              <a:t>Important whether data, algorithms and statistics are appropriate for the question. </a:t>
            </a:r>
            <a:r>
              <a:rPr lang="en-US">
                <a:solidFill>
                  <a:srgbClr val="3BB6FF"/>
                </a:solidFill>
              </a:rPr>
              <a:t>There is </a:t>
            </a:r>
            <a:r>
              <a:rPr lang="en-US" b="1">
                <a:solidFill>
                  <a:srgbClr val="3BB6FF"/>
                </a:solidFill>
              </a:rPr>
              <a:t>no</a:t>
            </a:r>
            <a:r>
              <a:rPr lang="en-US">
                <a:solidFill>
                  <a:srgbClr val="3BB6FF"/>
                </a:solidFill>
              </a:rPr>
              <a:t> </a:t>
            </a:r>
            <a:r>
              <a:rPr lang="en-US" b="1">
                <a:solidFill>
                  <a:srgbClr val="3BB6FF"/>
                </a:solidFill>
              </a:rPr>
              <a:t>silver bullet</a:t>
            </a:r>
            <a:r>
              <a:rPr lang="en-US">
                <a:solidFill>
                  <a:srgbClr val="3BB6FF"/>
                </a:solidFill>
              </a:rPr>
              <a:t>!</a:t>
            </a:r>
            <a:endParaRPr/>
          </a:p>
          <a:p>
            <a:pPr marL="422275" lvl="0" indent="-422275" algn="l" rtl="0">
              <a:lnSpc>
                <a:spcPct val="100000"/>
              </a:lnSpc>
              <a:spcBef>
                <a:spcPts val="3900"/>
              </a:spcBef>
              <a:spcAft>
                <a:spcPts val="0"/>
              </a:spcAft>
              <a:buSzPts val="4350"/>
              <a:buFont typeface="Helvetica Neue"/>
              <a:buChar char="•"/>
            </a:pPr>
            <a:r>
              <a:rPr lang="en-US"/>
              <a:t>There are other statistics for SDMs—do some research to interpret them properly and make sure they are appropriate for your study, and consider using multiple statistics</a:t>
            </a:r>
            <a:endParaRPr/>
          </a:p>
          <a:p>
            <a:pPr marL="422275" lvl="0" indent="-422275" algn="l" rtl="0">
              <a:lnSpc>
                <a:spcPct val="100000"/>
              </a:lnSpc>
              <a:spcBef>
                <a:spcPts val="3900"/>
              </a:spcBef>
              <a:spcAft>
                <a:spcPts val="0"/>
              </a:spcAft>
              <a:buSzPts val="4350"/>
              <a:buFont typeface="Helvetica Neue"/>
              <a:buChar char="•"/>
            </a:pPr>
            <a:r>
              <a:rPr lang="en-US"/>
              <a:t>Always remember: “Garbage in, Garbage out”. Just because you can get a map does not mean it is correct, trustworthy, or even appropriate</a:t>
            </a:r>
            <a:endParaRPr/>
          </a:p>
        </p:txBody>
      </p:sp>
      <p:sp>
        <p:nvSpPr>
          <p:cNvPr id="206" name="Google Shape;206;p16"/>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rmAutofit/>
          </a:bodyPr>
          <a:lstStyle/>
          <a:p>
            <a:pPr marL="0" lvl="0" indent="0" algn="ctr" rtl="0">
              <a:lnSpc>
                <a:spcPct val="100000"/>
              </a:lnSpc>
              <a:spcBef>
                <a:spcPts val="0"/>
              </a:spcBef>
              <a:spcAft>
                <a:spcPts val="0"/>
              </a:spcAft>
              <a:buClr>
                <a:srgbClr val="FFFFFF"/>
              </a:buClr>
              <a:buSzPts val="8000"/>
              <a:buFont typeface="Helvetica Neue"/>
              <a:buNone/>
            </a:pPr>
            <a:r>
              <a:rPr lang="en-US"/>
              <a:t>Evaluating models</a:t>
            </a:r>
            <a:endParaRPr/>
          </a:p>
        </p:txBody>
      </p:sp>
    </p:spTree>
  </p:cSld>
  <p:clrMapOvr>
    <a:masterClrMapping/>
  </p:clrMapOvr>
</p:sld>
</file>

<file path=ppt/theme/theme1.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108367FCDB4D47B5E8E54D64157753" ma:contentTypeVersion="17" ma:contentTypeDescription="Create a new document." ma:contentTypeScope="" ma:versionID="89ad6e55dd034a63fada300300833fd8">
  <xsd:schema xmlns:xsd="http://www.w3.org/2001/XMLSchema" xmlns:xs="http://www.w3.org/2001/XMLSchema" xmlns:p="http://schemas.microsoft.com/office/2006/metadata/properties" xmlns:ns2="07cd00b6-9c38-42c0-af70-5d8006d91a8f" xmlns:ns3="c789ccf0-1666-411a-a555-39fa7b68a59a" targetNamespace="http://schemas.microsoft.com/office/2006/metadata/properties" ma:root="true" ma:fieldsID="f079f9a9198ad2b6684649c05101704b" ns2:_="" ns3:_="">
    <xsd:import namespace="07cd00b6-9c38-42c0-af70-5d8006d91a8f"/>
    <xsd:import namespace="c789ccf0-1666-411a-a555-39fa7b68a59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LengthInSeconds" minOccurs="0"/>
                <xsd:element ref="ns2:MediaServiceOCR" minOccurs="0"/>
                <xsd:element ref="ns2:MediaServiceLocation" minOccurs="0"/>
                <xsd:element ref="ns2:lcf76f155ced4ddcb4097134ff3c332f" minOccurs="0"/>
                <xsd:element ref="ns3:TaxCatchAll"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cd00b6-9c38-42c0-af70-5d8006d91a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fb3fc297-59b7-4dce-adfa-f654e45c772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789ccf0-1666-411a-a555-39fa7b68a59a"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23d555bf-7095-481d-a767-a5e3213ffcfc}" ma:internalName="TaxCatchAll" ma:showField="CatchAllData" ma:web="c789ccf0-1666-411a-a555-39fa7b68a59a">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7cd00b6-9c38-42c0-af70-5d8006d91a8f">
      <Terms xmlns="http://schemas.microsoft.com/office/infopath/2007/PartnerControls"/>
    </lcf76f155ced4ddcb4097134ff3c332f>
    <TaxCatchAll xmlns="c789ccf0-1666-411a-a555-39fa7b68a59a" xsi:nil="true"/>
  </documentManagement>
</p:properties>
</file>

<file path=customXml/itemProps1.xml><?xml version="1.0" encoding="utf-8"?>
<ds:datastoreItem xmlns:ds="http://schemas.openxmlformats.org/officeDocument/2006/customXml" ds:itemID="{C01AE528-80EA-457E-8004-50370839EA0C}"/>
</file>

<file path=customXml/itemProps2.xml><?xml version="1.0" encoding="utf-8"?>
<ds:datastoreItem xmlns:ds="http://schemas.openxmlformats.org/officeDocument/2006/customXml" ds:itemID="{A0BDEDB3-87B7-4265-9B2A-AB7A8C99F42A}"/>
</file>

<file path=customXml/itemProps3.xml><?xml version="1.0" encoding="utf-8"?>
<ds:datastoreItem xmlns:ds="http://schemas.openxmlformats.org/officeDocument/2006/customXml" ds:itemID="{D3C3752A-45D5-4B51-AFBB-4FA35145657E}"/>
</file>

<file path=docProps/app.xml><?xml version="1.0" encoding="utf-8"?>
<Properties xmlns="http://schemas.openxmlformats.org/officeDocument/2006/extended-properties" xmlns:vt="http://schemas.openxmlformats.org/officeDocument/2006/docPropsVTypes">
  <TotalTime>0</TotalTime>
  <Words>1143</Words>
  <Application>Microsoft Macintosh PowerPoint</Application>
  <PresentationFormat>Custom</PresentationFormat>
  <Paragraphs>112</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Helvetica Neue</vt:lpstr>
      <vt:lpstr>Helvetica Neue Light</vt:lpstr>
      <vt:lpstr>Arial</vt:lpstr>
      <vt:lpstr>Calibri</vt:lpstr>
      <vt:lpstr>Black</vt:lpstr>
      <vt:lpstr>Evaluating SDMs: A Critical Reading</vt:lpstr>
      <vt:lpstr>The data</vt:lpstr>
      <vt:lpstr>The data</vt:lpstr>
      <vt:lpstr>Evaluating models</vt:lpstr>
      <vt:lpstr>Evaluating models from organismal expertise</vt:lpstr>
      <vt:lpstr>The models: Data &amp; congruence with the questions</vt:lpstr>
      <vt:lpstr>The models: statistical evaluation</vt:lpstr>
      <vt:lpstr>The models: statistical evaluation</vt:lpstr>
      <vt:lpstr>The models: statistical evaluation</vt:lpstr>
      <vt:lpstr>The models: statistical evaluation</vt:lpstr>
      <vt:lpstr>The models: statistical evaluation</vt:lpstr>
      <vt:lpstr>The models: statistical evaluation</vt:lpstr>
      <vt:lpstr>The models: statistical evaluation</vt:lpstr>
      <vt:lpstr>Was the model good or bad?</vt:lpstr>
      <vt:lpstr>Was the model good or bad?</vt:lpstr>
      <vt:lpstr>Evaluating models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SDMs: A Critical Reading</dc:title>
  <cp:lastModifiedBy>Kristin Douglas</cp:lastModifiedBy>
  <cp:revision>1</cp:revision>
  <dcterms:modified xsi:type="dcterms:W3CDTF">2024-01-07T04:54:52Z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0x01010084108367FCDB4D47B5E8E54D64157753</vt:lpwstr>
  </property>
</Properties>
</file>