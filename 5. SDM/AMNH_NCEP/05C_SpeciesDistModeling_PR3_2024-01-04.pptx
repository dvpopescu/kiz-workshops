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comments/comment1.xml" ContentType="application/vnd.openxmlformats-officedocument.presentationml.comments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3004800" cy="9753600"/>
  <p:notesSz cx="6858000" cy="9144000"/>
  <p:embeddedFontLst>
    <p:embeddedFont>
      <p:font typeface="Century Gothic" panose="020B0502020202020204" pitchFamily="34" charset="0"/>
      <p:regular r:id="rId29"/>
      <p:bold r:id="rId30"/>
      <p:italic r:id="rId31"/>
      <p:boldItalic r:id="rId32"/>
    </p:embeddedFont>
    <p:embeddedFont>
      <p:font typeface="Helvetica Neue" panose="02000503000000020004" pitchFamily="2" charset="0"/>
      <p:regular r:id="rId33"/>
      <p:bold r:id="rId34"/>
      <p:italic r:id="rId35"/>
      <p:boldItalic r:id="rId36"/>
    </p:embeddedFont>
    <p:embeddedFont>
      <p:font typeface="Helvetica Neue Light" panose="02000403000000020004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iHTeJFGSA2MyJ4DW+/4IKTcLBNs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allace EcoMod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97"/>
    <p:restoredTop sz="57373"/>
  </p:normalViewPr>
  <p:slideViewPr>
    <p:cSldViewPr snapToGrid="0">
      <p:cViewPr varScale="1">
        <p:scale>
          <a:sx n="43" d="100"/>
          <a:sy n="43" d="100"/>
        </p:scale>
        <p:origin x="10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customschemas.google.com/relationships/presentationmetadata" Target="metadata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11-29T15:49:05.226" idx="1">
    <p:pos x="3368" y="2743"/>
    <p:text>https://cce.nasa.gov/biodiversity/pdf/meetings/bio2019/tues/1345_Blair_NASA-BEF_052119-converted.pdf and also https://doi.org/10.1093/jmammal/gyy012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A9_Wx57Q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Image credit: Adapted by A. Paz from A. Paz, Z. Spanos, J.L. Brown, M. Lyra, C. Haddad, M. Rodrigues, and A. Carnaval. 2019. </a:t>
            </a:r>
            <a:r>
              <a:rPr lang="en-US" sz="1900" dirty="0" err="1"/>
              <a:t>Phylogeography</a:t>
            </a:r>
            <a:r>
              <a:rPr lang="en-US" sz="1900" dirty="0"/>
              <a:t> of Atlantic Forest </a:t>
            </a:r>
            <a:r>
              <a:rPr lang="en-US" sz="1900" dirty="0" err="1"/>
              <a:t>glassfrogs</a:t>
            </a:r>
            <a:r>
              <a:rPr lang="en-US" sz="1900" dirty="0"/>
              <a:t> (</a:t>
            </a:r>
            <a:r>
              <a:rPr lang="en-US" sz="1900" dirty="0" err="1"/>
              <a:t>Vitreorana</a:t>
            </a:r>
            <a:r>
              <a:rPr lang="en-US" sz="1900" dirty="0"/>
              <a:t>): when geography, climate dynamics and rivers matter. Heredity 122:545–557.</a:t>
            </a:r>
            <a:endParaRPr sz="1900" dirty="0"/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 source: Maxent. 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 credit: Wallace </a:t>
            </a:r>
            <a:r>
              <a:rPr lang="en-US" dirty="0" err="1"/>
              <a:t>EcoMod</a:t>
            </a:r>
            <a:r>
              <a:rPr lang="en-US" dirty="0"/>
              <a:t>. 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credit: screenshot of Wallace journal articles.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Helvetica Neue"/>
                <a:ea typeface="Helvetica Neue"/>
                <a:cs typeface="Helvetica Neue"/>
                <a:sym typeface="Helvetica Neue"/>
              </a:rPr>
              <a:t>Image credits: screenshots from Wallace.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Helvetica Neue"/>
                <a:ea typeface="Helvetica Neue"/>
                <a:cs typeface="Helvetica Neue"/>
                <a:sym typeface="Helvetica Neue"/>
              </a:rPr>
              <a:t>Wallace is flexible at every step of the process allows for multiple default options and in some cases for user options. </a:t>
            </a:r>
            <a:endParaRPr dirty="0"/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Helvetica Neue"/>
                <a:ea typeface="Helvetica Neue"/>
                <a:cs typeface="Helvetica Neue"/>
                <a:sym typeface="Helvetica Neue"/>
              </a:rPr>
              <a:t>Here an example on choosing the background extent user can select from default options, draw a polygon or load a polygon from their computer. </a:t>
            </a:r>
            <a:endParaRPr sz="22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2200" dirty="0">
                <a:latin typeface="Helvetica Neue"/>
                <a:ea typeface="Helvetica Neue"/>
                <a:cs typeface="Helvetica Neue"/>
                <a:sym typeface="Helvetica Neue"/>
              </a:rPr>
              <a:t>Image credit: screenshots from Wallace.</a:t>
            </a:r>
            <a:endParaRPr lang="en-US" dirty="0"/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credits: screenshots from Wallace.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credits: screenshots from Wallace and RMD.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From here on only use if you will be working with the development version (or if V3 has been released)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 credits: Adapted from Gerstner, B., J. </a:t>
            </a:r>
            <a:r>
              <a:rPr lang="en-US" dirty="0" err="1"/>
              <a:t>Kass</a:t>
            </a:r>
            <a:r>
              <a:rPr lang="en-US" dirty="0"/>
              <a:t>, R. Kays, K. </a:t>
            </a:r>
            <a:r>
              <a:rPr lang="en-US" dirty="0" err="1"/>
              <a:t>Helgen</a:t>
            </a:r>
            <a:r>
              <a:rPr lang="en-US" dirty="0"/>
              <a:t>, and R. Anderson. 2018. Revised distributional estimates for the recently discovered olinguito (</a:t>
            </a:r>
            <a:r>
              <a:rPr lang="en-US" i="1" dirty="0" err="1"/>
              <a:t>Bassaricyon</a:t>
            </a:r>
            <a:r>
              <a:rPr lang="en-US" i="1" dirty="0"/>
              <a:t> </a:t>
            </a:r>
            <a:r>
              <a:rPr lang="en-US" i="1" dirty="0" err="1"/>
              <a:t>neblina</a:t>
            </a:r>
            <a:r>
              <a:rPr lang="en-US" dirty="0"/>
              <a:t>), using museum and citizen science records. Journal of Mammalogy 99:321–332.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7" name="Google Shape;27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credit: Adapted from Gerstner, B., J.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Kass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 Kays, K.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Helgen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R. Anderson. 2018. Revised distributional estimates for the recently discovered olinguito (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Bassaricyon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neblina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using museum and citizen science records. Journal of Mammalogy 99:321–332.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6" name="Google Shape;28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 credits: screenshots from Wallace of the diversity component results for a mockup example.</a:t>
            </a:r>
            <a:endParaRPr dirty="0"/>
          </a:p>
        </p:txBody>
      </p:sp>
      <p:sp>
        <p:nvSpPr>
          <p:cNvPr id="295" name="Google Shape;29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>
            <a:spLocks noGrp="1"/>
          </p:cNvSpPr>
          <p:nvPr>
            <p:ph type="pic" idx="2"/>
          </p:nvPr>
        </p:nvSpPr>
        <p:spPr>
          <a:xfrm>
            <a:off x="-647700" y="508000"/>
            <a:ext cx="12369801" cy="6142538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31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1"/>
          <p:cNvSpPr txBox="1">
            <a:spLocks noGrp="1"/>
          </p:cNvSpPr>
          <p:nvPr>
            <p:ph type="body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1"/>
          <p:cNvSpPr txBox="1">
            <a:spLocks noGrp="1"/>
          </p:cNvSpPr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2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>
            <a:spLocks noGrp="1"/>
          </p:cNvSpPr>
          <p:nvPr>
            <p:ph type="pic" idx="2"/>
          </p:nvPr>
        </p:nvSpPr>
        <p:spPr>
          <a:xfrm>
            <a:off x="2451058" y="-138499"/>
            <a:ext cx="13525502" cy="9017002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33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3"/>
          <p:cNvSpPr txBox="1">
            <a:spLocks noGrp="1"/>
          </p:cNvSpPr>
          <p:nvPr>
            <p:ph type="body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  <a:defRPr sz="3700"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4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4"/>
          <p:cNvSpPr txBox="1">
            <a:spLocks noGrp="1"/>
          </p:cNvSpPr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>
            <a:spLocks noGrp="1"/>
          </p:cNvSpPr>
          <p:nvPr>
            <p:ph type="pic" idx="2"/>
          </p:nvPr>
        </p:nvSpPr>
        <p:spPr>
          <a:xfrm>
            <a:off x="4473575" y="2032000"/>
            <a:ext cx="10287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35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5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48641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4060"/>
              <a:buFont typeface="Helvetica Neue"/>
              <a:buChar char="•"/>
              <a:defRPr sz="2800"/>
            </a:lvl1pPr>
            <a:lvl2pPr marL="914400" lvl="1" indent="-48641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4060"/>
              <a:buFont typeface="Helvetica Neue"/>
              <a:buChar char="•"/>
              <a:defRPr sz="2800"/>
            </a:lvl2pPr>
            <a:lvl3pPr marL="1371600" lvl="2" indent="-48641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4060"/>
              <a:buFont typeface="Helvetica Neue"/>
              <a:buChar char="•"/>
              <a:defRPr sz="2800"/>
            </a:lvl3pPr>
            <a:lvl4pPr marL="1828800" lvl="3" indent="-48641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4060"/>
              <a:buFont typeface="Helvetica Neue"/>
              <a:buChar char="•"/>
              <a:defRPr sz="2800"/>
            </a:lvl4pPr>
            <a:lvl5pPr marL="2286000" lvl="4" indent="-48641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4060"/>
              <a:buFont typeface="Helvetica Neue"/>
              <a:buChar char="•"/>
              <a:defRPr sz="2800"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>
            <a:spLocks noGrp="1"/>
          </p:cNvSpPr>
          <p:nvPr>
            <p:ph type="pic" idx="2"/>
          </p:nvPr>
        </p:nvSpPr>
        <p:spPr>
          <a:xfrm>
            <a:off x="6426200" y="4965700"/>
            <a:ext cx="5886450" cy="39243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37"/>
          <p:cNvSpPr>
            <a:spLocks noGrp="1"/>
          </p:cNvSpPr>
          <p:nvPr>
            <p:ph type="pic" idx="3"/>
          </p:nvPr>
        </p:nvSpPr>
        <p:spPr>
          <a:xfrm>
            <a:off x="6737350" y="639233"/>
            <a:ext cx="5880100" cy="3920067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37"/>
          <p:cNvSpPr>
            <a:spLocks noGrp="1"/>
          </p:cNvSpPr>
          <p:nvPr>
            <p:ph type="pic" idx="4"/>
          </p:nvPr>
        </p:nvSpPr>
        <p:spPr>
          <a:xfrm>
            <a:off x="-3400425" y="-127000"/>
            <a:ext cx="13525500" cy="90170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37"/>
          <p:cNvSpPr txBox="1">
            <a:spLocks noGrp="1"/>
          </p:cNvSpPr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8"/>
          <p:cNvSpPr txBox="1">
            <a:spLocks noGrp="1"/>
          </p:cNvSpPr>
          <p:nvPr>
            <p:ph type="body" idx="1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  <a:defRPr sz="2400" i="1"/>
            </a:lvl1pPr>
            <a:lvl2pPr marL="914400" lvl="1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8"/>
          <p:cNvSpPr txBox="1">
            <a:spLocks noGrp="1"/>
          </p:cNvSpPr>
          <p:nvPr>
            <p:ph type="body" idx="2"/>
          </p:nvPr>
        </p:nvSpPr>
        <p:spPr>
          <a:xfrm>
            <a:off x="1270000" y="4308599"/>
            <a:ext cx="10464800" cy="609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Helvetica Neue"/>
              <a:buNone/>
              <a:defRPr sz="3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8"/>
          <p:cNvSpPr txBox="1">
            <a:spLocks noGrp="1"/>
          </p:cNvSpPr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9"/>
          <p:cNvSpPr>
            <a:spLocks noGrp="1"/>
          </p:cNvSpPr>
          <p:nvPr>
            <p:ph type="pic" idx="2"/>
          </p:nvPr>
        </p:nvSpPr>
        <p:spPr>
          <a:xfrm>
            <a:off x="-929606" y="-12700"/>
            <a:ext cx="16551777" cy="11034518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39"/>
          <p:cNvSpPr txBox="1">
            <a:spLocks noGrp="1"/>
          </p:cNvSpPr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0"/>
          <p:cNvSpPr txBox="1">
            <a:spLocks noGrp="1"/>
          </p:cNvSpPr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1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1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40957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Helvetica Neue Light"/>
              <a:buChar char="•"/>
              <a:defRPr sz="3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40957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Helvetica Neue Light"/>
              <a:buChar char="•"/>
              <a:defRPr sz="3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lvl="2" indent="-40957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Helvetica Neue Light"/>
              <a:buChar char="•"/>
              <a:defRPr sz="3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lvl="3" indent="-40957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Helvetica Neue Light"/>
              <a:buChar char="•"/>
              <a:defRPr sz="3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lvl="4" indent="-40957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Helvetica Neue Light"/>
              <a:buChar char="•"/>
              <a:defRPr sz="3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41"/>
          <p:cNvSpPr txBox="1">
            <a:spLocks noGrp="1"/>
          </p:cNvSpPr>
          <p:nvPr>
            <p:ph type="sldNum" idx="12"/>
          </p:nvPr>
        </p:nvSpPr>
        <p:spPr>
          <a:xfrm>
            <a:off x="6311798" y="92583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u="none" strike="noStrike" cap="none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  <a:defRPr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  <a:defRPr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  <a:defRPr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  <a:defRPr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  <a:defRPr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  <a:defRPr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  <a:defRPr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  <a:defRPr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  <a:defRPr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marR="0" lvl="0" indent="-52324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52324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523239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523239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523239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523239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523239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523239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52324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/>
              <a:buNone/>
              <a:defRPr sz="1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8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hyperlink" Target="https://wallaceecomod.github.io/" TargetMode="External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wallaceecomod/wallace" TargetMode="External"/><Relationship Id="rId5" Type="http://schemas.openxmlformats.org/officeDocument/2006/relationships/hyperlink" Target="mailto:wallaceecomod@gmail.com" TargetMode="External"/><Relationship Id="rId4" Type="http://schemas.openxmlformats.org/officeDocument/2006/relationships/hyperlink" Target="https://groups.google.com/forum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>
            <a:spLocks noGrp="1"/>
          </p:cNvSpPr>
          <p:nvPr>
            <p:ph type="ctrTitle" idx="4294967295"/>
          </p:nvPr>
        </p:nvSpPr>
        <p:spPr>
          <a:xfrm>
            <a:off x="1270000" y="2540000"/>
            <a:ext cx="10464800" cy="304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19"/>
              <a:buFont typeface="Helvetica Neue"/>
              <a:buNone/>
            </a:pPr>
            <a:r>
              <a:rPr lang="en-US" sz="5119" b="0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Wallace: </a:t>
            </a:r>
            <a:r>
              <a:rPr lang="en-US" sz="5119" dirty="0"/>
              <a:t>A</a:t>
            </a:r>
            <a:r>
              <a:rPr lang="en-US" sz="5119" b="0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119" dirty="0"/>
              <a:t>S</a:t>
            </a:r>
            <a:r>
              <a:rPr lang="en-US" sz="5119" b="0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oftware to </a:t>
            </a:r>
            <a:r>
              <a:rPr lang="en-US" sz="5119" dirty="0"/>
              <a:t>E</a:t>
            </a:r>
            <a:r>
              <a:rPr lang="en-US" sz="5119" b="0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stimate </a:t>
            </a:r>
            <a:r>
              <a:rPr lang="en-US" sz="5119" dirty="0"/>
              <a:t>S</a:t>
            </a:r>
            <a:r>
              <a:rPr lang="en-US" sz="5119" b="0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pecies </a:t>
            </a:r>
            <a:r>
              <a:rPr lang="en-US" sz="5119" dirty="0"/>
              <a:t>D</a:t>
            </a:r>
            <a:r>
              <a:rPr lang="en-US" sz="5119" b="0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istributions and </a:t>
            </a:r>
            <a:r>
              <a:rPr lang="en-US" sz="5119" dirty="0"/>
              <a:t>Q</a:t>
            </a:r>
            <a:r>
              <a:rPr lang="en-US" sz="5119" b="0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uantify </a:t>
            </a:r>
            <a:r>
              <a:rPr lang="en-US" sz="5119" dirty="0"/>
              <a:t>B</a:t>
            </a:r>
            <a:r>
              <a:rPr lang="en-US" sz="5119" b="0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iodiversity </a:t>
            </a:r>
            <a:r>
              <a:rPr lang="en-US" sz="5119" dirty="0"/>
              <a:t>C</a:t>
            </a:r>
            <a:r>
              <a:rPr lang="en-US" sz="5119" b="0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hanges</a:t>
            </a:r>
            <a:endParaRPr dirty="0"/>
          </a:p>
        </p:txBody>
      </p:sp>
      <p:sp>
        <p:nvSpPr>
          <p:cNvPr id="64" name="Google Shape;64;p1"/>
          <p:cNvSpPr txBox="1"/>
          <p:nvPr/>
        </p:nvSpPr>
        <p:spPr>
          <a:xfrm>
            <a:off x="1270000" y="5505086"/>
            <a:ext cx="10464800" cy="168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/>
          <a:p>
            <a:pPr marL="0" marR="0" lvl="0" indent="0" algn="ctr" rtl="0">
              <a:lnSpc>
                <a:spcPct val="15509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66"/>
              <a:buFont typeface="Helvetica Neue"/>
              <a:buNone/>
            </a:pPr>
            <a:r>
              <a:rPr lang="en-US" sz="2966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Wallace team</a:t>
            </a:r>
            <a:endParaRPr/>
          </a:p>
        </p:txBody>
      </p:sp>
      <p:pic>
        <p:nvPicPr>
          <p:cNvPr id="65" name="Google Shape;65;p1" descr="r2 v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74577" y="5902376"/>
            <a:ext cx="3796058" cy="3796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40"/>
              <a:buFont typeface="Helvetica Neue"/>
              <a:buNone/>
            </a:pPr>
            <a:r>
              <a:rPr lang="en-US" sz="6640" dirty="0"/>
              <a:t>Correlative models hyper-summarized </a:t>
            </a:r>
            <a:endParaRPr dirty="0"/>
          </a:p>
        </p:txBody>
      </p:sp>
      <p:pic>
        <p:nvPicPr>
          <p:cNvPr id="71" name="Google Shape;71;p2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6500" y="3441700"/>
            <a:ext cx="1557882" cy="1557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2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52942" y="6305550"/>
            <a:ext cx="1014174" cy="1740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29967" y="4376727"/>
            <a:ext cx="3211636" cy="33645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74;p2"/>
          <p:cNvCxnSpPr/>
          <p:nvPr/>
        </p:nvCxnSpPr>
        <p:spPr>
          <a:xfrm>
            <a:off x="2851100" y="4216312"/>
            <a:ext cx="1548903" cy="1548903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75" name="Google Shape;75;p2"/>
          <p:cNvCxnSpPr/>
          <p:nvPr/>
        </p:nvCxnSpPr>
        <p:spPr>
          <a:xfrm rot="10800000" flipH="1">
            <a:off x="2519747" y="6032422"/>
            <a:ext cx="1989014" cy="831772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76" name="Google Shape;76;p2"/>
          <p:cNvCxnSpPr/>
          <p:nvPr/>
        </p:nvCxnSpPr>
        <p:spPr>
          <a:xfrm>
            <a:off x="4375910" y="5932012"/>
            <a:ext cx="4074420" cy="1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77" name="Google Shape;77;p2"/>
          <p:cNvSpPr txBox="1"/>
          <p:nvPr/>
        </p:nvSpPr>
        <p:spPr>
          <a:xfrm>
            <a:off x="414934" y="8318499"/>
            <a:ext cx="3090190" cy="43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 Light"/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Environmental variables</a:t>
            </a:r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1079488" y="5118316"/>
            <a:ext cx="1557883" cy="68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Helvetica Neue Light"/>
              <a:buNone/>
            </a:pPr>
            <a:r>
              <a:rPr lang="en-US" sz="1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Presence localities</a:t>
            </a:r>
            <a:endParaRPr/>
          </a:p>
        </p:txBody>
      </p:sp>
      <p:sp>
        <p:nvSpPr>
          <p:cNvPr id="79" name="Google Shape;79;p2"/>
          <p:cNvSpPr txBox="1"/>
          <p:nvPr/>
        </p:nvSpPr>
        <p:spPr>
          <a:xfrm>
            <a:off x="5537188" y="5225464"/>
            <a:ext cx="1557883" cy="393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Helvetica Neue Light"/>
              <a:buNone/>
            </a:pPr>
            <a:r>
              <a:rPr lang="en-US" sz="1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Algorithm</a:t>
            </a:r>
            <a:endParaRPr/>
          </a:p>
        </p:txBody>
      </p:sp>
      <p:sp>
        <p:nvSpPr>
          <p:cNvPr id="80" name="Google Shape;80;p2"/>
          <p:cNvSpPr txBox="1"/>
          <p:nvPr/>
        </p:nvSpPr>
        <p:spPr>
          <a:xfrm>
            <a:off x="9156688" y="7835313"/>
            <a:ext cx="1557883" cy="68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Helvetica Neue Light"/>
              <a:buNone/>
            </a:pPr>
            <a:r>
              <a:rPr lang="en-US" sz="1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Suitability map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40"/>
              <a:buFont typeface="Helvetica Neue"/>
              <a:buNone/>
            </a:pPr>
            <a:r>
              <a:rPr lang="en-US" sz="6640" dirty="0"/>
              <a:t>The problem with graphical interfaces</a:t>
            </a:r>
            <a:endParaRPr dirty="0"/>
          </a:p>
        </p:txBody>
      </p:sp>
      <p:pic>
        <p:nvPicPr>
          <p:cNvPr id="86" name="Google Shape;86;p3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9700" y="3257550"/>
            <a:ext cx="6143212" cy="516385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/>
        </p:nvSpPr>
        <p:spPr>
          <a:xfrm>
            <a:off x="425259" y="4661116"/>
            <a:ext cx="1557883" cy="68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Helvetica Neue Light"/>
              <a:buNone/>
            </a:pPr>
            <a:r>
              <a:rPr lang="en-US" sz="1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Presence localities</a:t>
            </a:r>
            <a:endParaRPr/>
          </a:p>
        </p:txBody>
      </p:sp>
      <p:sp>
        <p:nvSpPr>
          <p:cNvPr id="88" name="Google Shape;88;p3"/>
          <p:cNvSpPr txBox="1"/>
          <p:nvPr/>
        </p:nvSpPr>
        <p:spPr>
          <a:xfrm>
            <a:off x="9716089" y="4660899"/>
            <a:ext cx="3090190" cy="43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 Light"/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Environmental variables</a:t>
            </a:r>
            <a:endParaRPr/>
          </a:p>
        </p:txBody>
      </p:sp>
      <p:sp>
        <p:nvSpPr>
          <p:cNvPr id="89" name="Google Shape;89;p3"/>
          <p:cNvSpPr txBox="1"/>
          <p:nvPr/>
        </p:nvSpPr>
        <p:spPr>
          <a:xfrm>
            <a:off x="2904897" y="8987662"/>
            <a:ext cx="1557883" cy="634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Helvetica Neue"/>
              <a:buNone/>
            </a:pPr>
            <a:r>
              <a:rPr lang="en-US" sz="35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1961554" y="4947245"/>
            <a:ext cx="929448" cy="316905"/>
          </a:xfrm>
          <a:prstGeom prst="rightArrow">
            <a:avLst>
              <a:gd name="adj1" fmla="val 17236"/>
              <a:gd name="adj2" fmla="val 78762"/>
            </a:avLst>
          </a:prstGeom>
          <a:solidFill>
            <a:srgbClr val="00A1FE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3"/>
          <p:cNvSpPr/>
          <p:nvPr/>
        </p:nvSpPr>
        <p:spPr>
          <a:xfrm rot="10800000">
            <a:off x="8529786" y="4718347"/>
            <a:ext cx="1282716" cy="316906"/>
          </a:xfrm>
          <a:prstGeom prst="rightArrow">
            <a:avLst>
              <a:gd name="adj1" fmla="val 17236"/>
              <a:gd name="adj2" fmla="val 78762"/>
            </a:avLst>
          </a:prstGeom>
          <a:solidFill>
            <a:srgbClr val="00A1FE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p3"/>
          <p:cNvSpPr/>
          <p:nvPr/>
        </p:nvSpPr>
        <p:spPr>
          <a:xfrm rot="-5400000">
            <a:off x="3219115" y="8376245"/>
            <a:ext cx="929448" cy="316905"/>
          </a:xfrm>
          <a:prstGeom prst="rightArrow">
            <a:avLst>
              <a:gd name="adj1" fmla="val 17236"/>
              <a:gd name="adj2" fmla="val 78762"/>
            </a:avLst>
          </a:prstGeom>
          <a:solidFill>
            <a:srgbClr val="00A1FE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4" descr="Image"/>
          <p:cNvPicPr preferRelativeResize="0"/>
          <p:nvPr/>
        </p:nvPicPr>
        <p:blipFill rotWithShape="1">
          <a:blip r:embed="rId3">
            <a:alphaModFix amt="41478"/>
          </a:blip>
          <a:srcRect/>
          <a:stretch/>
        </p:blipFill>
        <p:spPr>
          <a:xfrm>
            <a:off x="1249200" y="3181350"/>
            <a:ext cx="6143212" cy="516385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3309050" y="4822435"/>
            <a:ext cx="1881688" cy="188168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4833" y="0"/>
                  <a:pt x="0" y="4833"/>
                  <a:pt x="0" y="10800"/>
                </a:cubicBezTo>
                <a:cubicBezTo>
                  <a:pt x="0" y="16767"/>
                  <a:pt x="4833" y="21600"/>
                  <a:pt x="10800" y="21600"/>
                </a:cubicBezTo>
                <a:cubicBezTo>
                  <a:pt x="16767" y="21600"/>
                  <a:pt x="21600" y="16767"/>
                  <a:pt x="21600" y="10800"/>
                </a:cubicBezTo>
                <a:cubicBezTo>
                  <a:pt x="21600" y="4833"/>
                  <a:pt x="16762" y="0"/>
                  <a:pt x="10800" y="0"/>
                </a:cubicBezTo>
                <a:close/>
                <a:moveTo>
                  <a:pt x="10800" y="1188"/>
                </a:moveTo>
                <a:cubicBezTo>
                  <a:pt x="16108" y="1188"/>
                  <a:pt x="20412" y="5492"/>
                  <a:pt x="20412" y="10800"/>
                </a:cubicBezTo>
                <a:cubicBezTo>
                  <a:pt x="20412" y="16108"/>
                  <a:pt x="16103" y="20412"/>
                  <a:pt x="10800" y="20412"/>
                </a:cubicBezTo>
                <a:cubicBezTo>
                  <a:pt x="5492" y="20412"/>
                  <a:pt x="1188" y="16108"/>
                  <a:pt x="1188" y="10800"/>
                </a:cubicBezTo>
                <a:cubicBezTo>
                  <a:pt x="1188" y="5492"/>
                  <a:pt x="5492" y="1188"/>
                  <a:pt x="10800" y="1188"/>
                </a:cubicBezTo>
                <a:close/>
                <a:moveTo>
                  <a:pt x="6635" y="3704"/>
                </a:moveTo>
                <a:cubicBezTo>
                  <a:pt x="6635" y="3704"/>
                  <a:pt x="2472" y="5287"/>
                  <a:pt x="2472" y="10849"/>
                </a:cubicBezTo>
                <a:lnTo>
                  <a:pt x="7769" y="10849"/>
                </a:lnTo>
                <a:cubicBezTo>
                  <a:pt x="7769" y="10838"/>
                  <a:pt x="7769" y="10822"/>
                  <a:pt x="7769" y="10800"/>
                </a:cubicBezTo>
                <a:cubicBezTo>
                  <a:pt x="7769" y="9693"/>
                  <a:pt x="8364" y="8727"/>
                  <a:pt x="9249" y="8198"/>
                </a:cubicBezTo>
                <a:lnTo>
                  <a:pt x="6635" y="3704"/>
                </a:lnTo>
                <a:close/>
                <a:moveTo>
                  <a:pt x="14958" y="3709"/>
                </a:moveTo>
                <a:lnTo>
                  <a:pt x="12344" y="8203"/>
                </a:lnTo>
                <a:cubicBezTo>
                  <a:pt x="13230" y="8732"/>
                  <a:pt x="13824" y="9698"/>
                  <a:pt x="13824" y="10805"/>
                </a:cubicBezTo>
                <a:cubicBezTo>
                  <a:pt x="13824" y="10821"/>
                  <a:pt x="13824" y="10843"/>
                  <a:pt x="13824" y="10859"/>
                </a:cubicBezTo>
                <a:lnTo>
                  <a:pt x="19121" y="10859"/>
                </a:lnTo>
                <a:cubicBezTo>
                  <a:pt x="19121" y="5292"/>
                  <a:pt x="14958" y="3709"/>
                  <a:pt x="14958" y="3709"/>
                </a:cubicBezTo>
                <a:close/>
                <a:moveTo>
                  <a:pt x="10800" y="8758"/>
                </a:moveTo>
                <a:cubicBezTo>
                  <a:pt x="10278" y="8758"/>
                  <a:pt x="9754" y="8959"/>
                  <a:pt x="9356" y="9357"/>
                </a:cubicBezTo>
                <a:cubicBezTo>
                  <a:pt x="8558" y="10154"/>
                  <a:pt x="8558" y="11446"/>
                  <a:pt x="9356" y="12243"/>
                </a:cubicBezTo>
                <a:cubicBezTo>
                  <a:pt x="10153" y="13040"/>
                  <a:pt x="11446" y="13040"/>
                  <a:pt x="12243" y="12243"/>
                </a:cubicBezTo>
                <a:cubicBezTo>
                  <a:pt x="13040" y="11446"/>
                  <a:pt x="13040" y="10154"/>
                  <a:pt x="12243" y="9357"/>
                </a:cubicBezTo>
                <a:cubicBezTo>
                  <a:pt x="11844" y="8959"/>
                  <a:pt x="11322" y="8758"/>
                  <a:pt x="10800" y="8758"/>
                </a:cubicBezTo>
                <a:close/>
                <a:moveTo>
                  <a:pt x="9293" y="13424"/>
                </a:moveTo>
                <a:lnTo>
                  <a:pt x="6684" y="17977"/>
                </a:lnTo>
                <a:cubicBezTo>
                  <a:pt x="6684" y="17977"/>
                  <a:pt x="8315" y="19218"/>
                  <a:pt x="10810" y="19202"/>
                </a:cubicBezTo>
                <a:cubicBezTo>
                  <a:pt x="13305" y="19218"/>
                  <a:pt x="14936" y="17977"/>
                  <a:pt x="14936" y="17977"/>
                </a:cubicBezTo>
                <a:lnTo>
                  <a:pt x="12327" y="13424"/>
                </a:lnTo>
                <a:cubicBezTo>
                  <a:pt x="11879" y="13683"/>
                  <a:pt x="11361" y="13829"/>
                  <a:pt x="10810" y="13824"/>
                </a:cubicBezTo>
                <a:cubicBezTo>
                  <a:pt x="10259" y="13824"/>
                  <a:pt x="9741" y="13678"/>
                  <a:pt x="9293" y="134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175000" y="7397750"/>
            <a:ext cx="2291613" cy="1270000"/>
          </a:xfrm>
          <a:prstGeom prst="ellipse">
            <a:avLst/>
          </a:prstGeom>
          <a:noFill/>
          <a:ln w="25400" cap="flat" cmpd="sng">
            <a:solidFill>
              <a:srgbClr val="FF26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7584810" y="3327272"/>
            <a:ext cx="4747468" cy="5816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2286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Helvetica Neue"/>
              <a:buChar char="•"/>
            </a:pPr>
            <a:r>
              <a:rPr lang="en-US" sz="35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Default options might not be the best</a:t>
            </a:r>
            <a:endParaRPr/>
          </a:p>
          <a:p>
            <a:pPr marL="2286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Helvetica Neue"/>
              <a:buChar char="•"/>
            </a:pPr>
            <a:r>
              <a:rPr lang="en-US" sz="35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Even if it runs it does not mean it is a good model</a:t>
            </a:r>
            <a:endParaRPr/>
          </a:p>
          <a:p>
            <a:pPr marL="2286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Helvetica Neue"/>
              <a:buChar char="•"/>
            </a:pPr>
            <a:r>
              <a:rPr lang="en-US" sz="35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all options are available in these interfaces </a:t>
            </a:r>
            <a:endParaRPr/>
          </a:p>
          <a:p>
            <a:pPr marL="2286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Helvetica Neue"/>
              <a:buChar char="•"/>
            </a:pPr>
            <a:r>
              <a:rPr lang="en-US" sz="35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They require the use of multiple softwares</a:t>
            </a:r>
            <a:endParaRPr/>
          </a:p>
        </p:txBody>
      </p:sp>
      <p:sp>
        <p:nvSpPr>
          <p:cNvPr id="101" name="Google Shape;101;p4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40"/>
              <a:buFont typeface="Helvetica Neue"/>
              <a:buNone/>
            </a:pPr>
            <a:r>
              <a:rPr lang="en-US" sz="6640"/>
              <a:t>The problem with graphical interfaces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5" descr="Screen Shot 2022-06-21 at 10.02.26 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496" y="3644766"/>
            <a:ext cx="13004801" cy="246406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40"/>
              <a:buFont typeface="Helvetica Neue"/>
              <a:buNone/>
            </a:pPr>
            <a:r>
              <a:rPr lang="en-US" sz="6640" dirty="0"/>
              <a:t>Modeling is not just CLICK CLICK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sooo coding?</a:t>
            </a:r>
            <a:endParaRPr/>
          </a:p>
        </p:txBody>
      </p:sp>
      <p:pic>
        <p:nvPicPr>
          <p:cNvPr id="114" name="Google Shape;114;p6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400" y="3818303"/>
            <a:ext cx="10942378" cy="326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 txBox="1"/>
          <p:nvPr/>
        </p:nvSpPr>
        <p:spPr>
          <a:xfrm>
            <a:off x="3033318" y="7491070"/>
            <a:ext cx="5566564" cy="15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Limits access by several researchers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Prone to mistakes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Case specific</a:t>
            </a:r>
            <a:endParaRPr/>
          </a:p>
        </p:txBody>
      </p:sp>
      <p:pic>
        <p:nvPicPr>
          <p:cNvPr id="116" name="Google Shape;116;p6" descr="giphy.gi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94117" y="2447528"/>
            <a:ext cx="3810001" cy="381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did we want?</a:t>
            </a:r>
            <a:endParaRPr/>
          </a:p>
        </p:txBody>
      </p:sp>
      <p:sp>
        <p:nvSpPr>
          <p:cNvPr id="122" name="Google Shape;122;p7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Helvetica Neue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software allowing for balance between automation (easy use) and supervision: </a:t>
            </a:r>
            <a:endParaRPr/>
          </a:p>
          <a:p>
            <a:pPr marL="444500" lvl="0" indent="-4445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</a:pPr>
            <a:r>
              <a:rPr lang="en-US"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Automate repetitive aspects</a:t>
            </a:r>
            <a:endParaRPr/>
          </a:p>
          <a:p>
            <a:pPr marL="444500" lvl="0" indent="-4445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</a:pPr>
            <a:r>
              <a:rPr lang="en-US"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Users have to make informed methodological decisions  (software y biology). </a:t>
            </a:r>
            <a:endParaRPr/>
          </a:p>
          <a:p>
            <a:pPr marL="444500" lvl="0" indent="-4445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</a:pPr>
            <a:r>
              <a:rPr lang="en-US"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flexible and general graphical user interface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Wallace EcoMod</a:t>
            </a:r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2230943" y="2419820"/>
            <a:ext cx="10347550" cy="41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graphical interface with a workflow for species distribution modeling</a:t>
            </a:r>
            <a:endParaRPr/>
          </a:p>
        </p:txBody>
      </p:sp>
      <p:pic>
        <p:nvPicPr>
          <p:cNvPr id="130" name="Google Shape;130;p8" descr="orientation_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8143" y="3089154"/>
            <a:ext cx="9433150" cy="6016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9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19669" y="2717800"/>
            <a:ext cx="7005100" cy="1982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9"/>
          <p:cNvSpPr txBox="1"/>
          <p:nvPr/>
        </p:nvSpPr>
        <p:spPr>
          <a:xfrm>
            <a:off x="1665179" y="3593468"/>
            <a:ext cx="3954490" cy="3606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775847" marR="0" lvl="0" indent="-775847" algn="l" rtl="0">
              <a:lnSpc>
                <a:spcPct val="2384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33"/>
              <a:buFont typeface="Helvetica Neue"/>
              <a:buAutoNum type="arabicPeriod"/>
            </a:pPr>
            <a:r>
              <a:rPr lang="en-US" sz="3733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</a:t>
            </a:r>
            <a:endParaRPr sz="1200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marL="775847" marR="0" lvl="0" indent="-775847" algn="l" rtl="0">
              <a:lnSpc>
                <a:spcPct val="2384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33"/>
              <a:buFont typeface="Helvetica Neue"/>
              <a:buAutoNum type="arabicPeriod"/>
            </a:pPr>
            <a:r>
              <a:rPr lang="en-US" sz="3733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Instructive</a:t>
            </a:r>
            <a:endParaRPr sz="1200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marL="775847" marR="0" lvl="0" indent="-775847" algn="l" rtl="0">
              <a:lnSpc>
                <a:spcPct val="2384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33"/>
              <a:buFont typeface="Helvetica Neue"/>
              <a:buAutoNum type="arabicPeriod"/>
            </a:pPr>
            <a:r>
              <a:rPr lang="en-US" sz="3733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Flexible </a:t>
            </a:r>
            <a:endParaRPr sz="1200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marL="775847" marR="0" lvl="0" indent="-775847" algn="l" rtl="0">
              <a:lnSpc>
                <a:spcPct val="2384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33"/>
              <a:buFont typeface="Helvetica Neue"/>
              <a:buAutoNum type="arabicPeriod"/>
            </a:pPr>
            <a:r>
              <a:rPr lang="en-US" sz="3733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Interactive</a:t>
            </a:r>
            <a:endParaRPr sz="1200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marL="775847" marR="0" lvl="0" indent="-775847" algn="l" rtl="0">
              <a:lnSpc>
                <a:spcPct val="2384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33"/>
              <a:buFont typeface="Helvetica Neue"/>
              <a:buAutoNum type="arabicPeriod"/>
            </a:pPr>
            <a:r>
              <a:rPr lang="en-US" sz="3733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Reproducible</a:t>
            </a:r>
            <a:endParaRPr sz="1200" b="1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marL="775847" marR="0" lvl="0" indent="-775847" algn="l" rtl="0">
              <a:lnSpc>
                <a:spcPct val="2384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33"/>
              <a:buFont typeface="Helvetica Neue"/>
              <a:buAutoNum type="arabicPeriod"/>
            </a:pPr>
            <a:r>
              <a:rPr lang="en-US" sz="3733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Expandable</a:t>
            </a:r>
            <a:endParaRPr/>
          </a:p>
        </p:txBody>
      </p:sp>
      <p:sp>
        <p:nvSpPr>
          <p:cNvPr id="138" name="Google Shape;138;p9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Helvetica Neue"/>
              <a:buNone/>
            </a:pPr>
            <a:r>
              <a:rPr lang="en-US" sz="7600"/>
              <a:t>Wallace EcoMod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Helvetica Neue"/>
              <a:buNone/>
            </a:pPr>
            <a:r>
              <a:rPr lang="en-US" sz="5700"/>
              <a:t>Characteristics</a:t>
            </a:r>
            <a:endParaRPr/>
          </a:p>
        </p:txBody>
      </p:sp>
      <p:pic>
        <p:nvPicPr>
          <p:cNvPr id="139" name="Google Shape;139;p9" descr="Screenshot 2023-02-14 at 10.33.13 A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667" y="5181599"/>
            <a:ext cx="6878707" cy="3199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44450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</a:pPr>
            <a:r>
              <a:rPr lang="en-US"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Wallace code is open and free</a:t>
            </a:r>
            <a:endParaRPr/>
          </a:p>
          <a:p>
            <a:pPr marL="889000" lvl="1" indent="-4445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4640"/>
              <a:buFont typeface="Helvetica Neue"/>
              <a:buChar char="•"/>
            </a:pPr>
            <a:r>
              <a:rPr lang="en-US"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can get it from CRAN V.2: install.packages(“wallace”)</a:t>
            </a:r>
            <a:endParaRPr/>
          </a:p>
          <a:p>
            <a:pPr marL="889000" lvl="1" indent="-4445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4640"/>
              <a:buFont typeface="Helvetica Neue"/>
              <a:buChar char="•"/>
            </a:pPr>
            <a:r>
              <a:rPr lang="en-US"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Github the development version (soon V.3)</a:t>
            </a:r>
            <a:endParaRPr/>
          </a:p>
        </p:txBody>
      </p:sp>
      <p:sp>
        <p:nvSpPr>
          <p:cNvPr id="145" name="Google Shape;145;p10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Helvetica Neue"/>
              <a:buNone/>
            </a:pPr>
            <a:r>
              <a:rPr lang="en-US" sz="7600"/>
              <a:t>Wallace EcoMod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Helvetica Neue"/>
              <a:buNone/>
            </a:pPr>
            <a:r>
              <a:rPr lang="en-US" sz="5700"/>
              <a:t>Open</a:t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10266598" y="2942129"/>
            <a:ext cx="1217563" cy="184796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6292" y="0"/>
                  <a:pt x="2626" y="2414"/>
                  <a:pt x="2626" y="5384"/>
                </a:cubicBezTo>
                <a:lnTo>
                  <a:pt x="2626" y="9831"/>
                </a:lnTo>
                <a:cubicBezTo>
                  <a:pt x="989" y="11082"/>
                  <a:pt x="0" y="12705"/>
                  <a:pt x="0" y="14484"/>
                </a:cubicBezTo>
                <a:cubicBezTo>
                  <a:pt x="0" y="18414"/>
                  <a:pt x="4835" y="21600"/>
                  <a:pt x="10800" y="21600"/>
                </a:cubicBezTo>
                <a:cubicBezTo>
                  <a:pt x="16765" y="21600"/>
                  <a:pt x="21600" y="18414"/>
                  <a:pt x="21600" y="14484"/>
                </a:cubicBezTo>
                <a:cubicBezTo>
                  <a:pt x="21600" y="12705"/>
                  <a:pt x="20611" y="11082"/>
                  <a:pt x="18974" y="9831"/>
                </a:cubicBezTo>
                <a:lnTo>
                  <a:pt x="18974" y="5384"/>
                </a:lnTo>
                <a:cubicBezTo>
                  <a:pt x="18974" y="2414"/>
                  <a:pt x="15308" y="0"/>
                  <a:pt x="10800" y="0"/>
                </a:cubicBezTo>
                <a:close/>
                <a:moveTo>
                  <a:pt x="10800" y="2700"/>
                </a:moveTo>
                <a:cubicBezTo>
                  <a:pt x="13050" y="2700"/>
                  <a:pt x="14883" y="3908"/>
                  <a:pt x="14883" y="5391"/>
                </a:cubicBezTo>
                <a:lnTo>
                  <a:pt x="14883" y="7897"/>
                </a:lnTo>
                <a:cubicBezTo>
                  <a:pt x="13623" y="7558"/>
                  <a:pt x="12248" y="7368"/>
                  <a:pt x="10800" y="7368"/>
                </a:cubicBezTo>
                <a:cubicBezTo>
                  <a:pt x="9352" y="7368"/>
                  <a:pt x="7977" y="7558"/>
                  <a:pt x="6717" y="7897"/>
                </a:cubicBezTo>
                <a:lnTo>
                  <a:pt x="6717" y="5391"/>
                </a:lnTo>
                <a:cubicBezTo>
                  <a:pt x="6717" y="3908"/>
                  <a:pt x="8550" y="2700"/>
                  <a:pt x="10800" y="2700"/>
                </a:cubicBezTo>
                <a:close/>
                <a:moveTo>
                  <a:pt x="10800" y="10711"/>
                </a:moveTo>
                <a:cubicBezTo>
                  <a:pt x="13966" y="10711"/>
                  <a:pt x="16527" y="12398"/>
                  <a:pt x="16527" y="14484"/>
                </a:cubicBezTo>
                <a:cubicBezTo>
                  <a:pt x="16527" y="16570"/>
                  <a:pt x="13966" y="18258"/>
                  <a:pt x="10800" y="18258"/>
                </a:cubicBezTo>
                <a:cubicBezTo>
                  <a:pt x="7634" y="18258"/>
                  <a:pt x="5073" y="16570"/>
                  <a:pt x="5073" y="14484"/>
                </a:cubicBezTo>
                <a:cubicBezTo>
                  <a:pt x="5073" y="12398"/>
                  <a:pt x="7634" y="10711"/>
                  <a:pt x="10800" y="10711"/>
                </a:cubicBezTo>
                <a:close/>
                <a:moveTo>
                  <a:pt x="10800" y="11336"/>
                </a:moveTo>
                <a:cubicBezTo>
                  <a:pt x="9577" y="11336"/>
                  <a:pt x="8355" y="11644"/>
                  <a:pt x="7422" y="12259"/>
                </a:cubicBezTo>
                <a:cubicBezTo>
                  <a:pt x="5556" y="13488"/>
                  <a:pt x="5556" y="15480"/>
                  <a:pt x="7422" y="16710"/>
                </a:cubicBezTo>
                <a:cubicBezTo>
                  <a:pt x="9288" y="17939"/>
                  <a:pt x="12312" y="17939"/>
                  <a:pt x="14178" y="16710"/>
                </a:cubicBezTo>
                <a:cubicBezTo>
                  <a:pt x="16044" y="15480"/>
                  <a:pt x="16044" y="13488"/>
                  <a:pt x="14178" y="12259"/>
                </a:cubicBezTo>
                <a:cubicBezTo>
                  <a:pt x="13245" y="11644"/>
                  <a:pt x="12023" y="11336"/>
                  <a:pt x="10800" y="11336"/>
                </a:cubicBezTo>
                <a:close/>
              </a:path>
            </a:pathLst>
          </a:custGeom>
          <a:solidFill>
            <a:srgbClr val="A9A9A9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9286199" y="3650237"/>
            <a:ext cx="1531701" cy="58622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046" y="0"/>
                </a:moveTo>
                <a:cubicBezTo>
                  <a:pt x="1367" y="0"/>
                  <a:pt x="0" y="4839"/>
                  <a:pt x="0" y="10802"/>
                </a:cubicBezTo>
                <a:cubicBezTo>
                  <a:pt x="0" y="16765"/>
                  <a:pt x="1361" y="21600"/>
                  <a:pt x="3046" y="21600"/>
                </a:cubicBezTo>
                <a:cubicBezTo>
                  <a:pt x="4451" y="21600"/>
                  <a:pt x="5635" y="18226"/>
                  <a:pt x="5984" y="13641"/>
                </a:cubicBezTo>
                <a:cubicBezTo>
                  <a:pt x="6017" y="13191"/>
                  <a:pt x="6174" y="12868"/>
                  <a:pt x="6346" y="12868"/>
                </a:cubicBezTo>
                <a:lnTo>
                  <a:pt x="6953" y="12868"/>
                </a:lnTo>
                <a:lnTo>
                  <a:pt x="6953" y="13193"/>
                </a:lnTo>
                <a:cubicBezTo>
                  <a:pt x="6953" y="13643"/>
                  <a:pt x="7094" y="14006"/>
                  <a:pt x="7266" y="14006"/>
                </a:cubicBezTo>
                <a:cubicBezTo>
                  <a:pt x="7438" y="14006"/>
                  <a:pt x="7579" y="13643"/>
                  <a:pt x="7579" y="13193"/>
                </a:cubicBezTo>
                <a:lnTo>
                  <a:pt x="7579" y="12868"/>
                </a:lnTo>
                <a:lnTo>
                  <a:pt x="15679" y="12868"/>
                </a:lnTo>
                <a:lnTo>
                  <a:pt x="15679" y="13193"/>
                </a:lnTo>
                <a:cubicBezTo>
                  <a:pt x="15679" y="13643"/>
                  <a:pt x="15818" y="14006"/>
                  <a:pt x="15991" y="14006"/>
                </a:cubicBezTo>
                <a:cubicBezTo>
                  <a:pt x="16163" y="14006"/>
                  <a:pt x="16303" y="13643"/>
                  <a:pt x="16303" y="13193"/>
                </a:cubicBezTo>
                <a:lnTo>
                  <a:pt x="16303" y="12868"/>
                </a:lnTo>
                <a:lnTo>
                  <a:pt x="17901" y="12868"/>
                </a:lnTo>
                <a:cubicBezTo>
                  <a:pt x="17966" y="12868"/>
                  <a:pt x="18021" y="13011"/>
                  <a:pt x="18021" y="13180"/>
                </a:cubicBezTo>
                <a:lnTo>
                  <a:pt x="18021" y="16287"/>
                </a:lnTo>
                <a:cubicBezTo>
                  <a:pt x="18021" y="16456"/>
                  <a:pt x="17966" y="16594"/>
                  <a:pt x="17901" y="16594"/>
                </a:cubicBezTo>
                <a:lnTo>
                  <a:pt x="17810" y="16594"/>
                </a:lnTo>
                <a:cubicBezTo>
                  <a:pt x="17746" y="16594"/>
                  <a:pt x="17691" y="16738"/>
                  <a:pt x="17691" y="16906"/>
                </a:cubicBezTo>
                <a:lnTo>
                  <a:pt x="17691" y="18717"/>
                </a:lnTo>
                <a:cubicBezTo>
                  <a:pt x="17691" y="18886"/>
                  <a:pt x="17746" y="19029"/>
                  <a:pt x="17810" y="19029"/>
                </a:cubicBezTo>
                <a:lnTo>
                  <a:pt x="18618" y="19029"/>
                </a:lnTo>
                <a:cubicBezTo>
                  <a:pt x="18682" y="19029"/>
                  <a:pt x="18736" y="18886"/>
                  <a:pt x="18736" y="18717"/>
                </a:cubicBezTo>
                <a:lnTo>
                  <a:pt x="18736" y="17649"/>
                </a:lnTo>
                <a:cubicBezTo>
                  <a:pt x="18736" y="17480"/>
                  <a:pt x="18790" y="17342"/>
                  <a:pt x="18855" y="17342"/>
                </a:cubicBezTo>
                <a:lnTo>
                  <a:pt x="19237" y="17342"/>
                </a:lnTo>
                <a:cubicBezTo>
                  <a:pt x="19301" y="17342"/>
                  <a:pt x="19355" y="17480"/>
                  <a:pt x="19355" y="17649"/>
                </a:cubicBezTo>
                <a:lnTo>
                  <a:pt x="19355" y="18717"/>
                </a:lnTo>
                <a:cubicBezTo>
                  <a:pt x="19355" y="18886"/>
                  <a:pt x="19409" y="19029"/>
                  <a:pt x="19474" y="19029"/>
                </a:cubicBezTo>
                <a:lnTo>
                  <a:pt x="20281" y="19029"/>
                </a:lnTo>
                <a:cubicBezTo>
                  <a:pt x="20346" y="19029"/>
                  <a:pt x="20399" y="18886"/>
                  <a:pt x="20399" y="18717"/>
                </a:cubicBezTo>
                <a:lnTo>
                  <a:pt x="20399" y="16906"/>
                </a:lnTo>
                <a:cubicBezTo>
                  <a:pt x="20399" y="16738"/>
                  <a:pt x="20346" y="16594"/>
                  <a:pt x="20281" y="16594"/>
                </a:cubicBezTo>
                <a:lnTo>
                  <a:pt x="20189" y="16594"/>
                </a:lnTo>
                <a:cubicBezTo>
                  <a:pt x="20124" y="16594"/>
                  <a:pt x="20071" y="16456"/>
                  <a:pt x="20071" y="16287"/>
                </a:cubicBezTo>
                <a:lnTo>
                  <a:pt x="20071" y="13180"/>
                </a:lnTo>
                <a:cubicBezTo>
                  <a:pt x="20071" y="13011"/>
                  <a:pt x="20124" y="12868"/>
                  <a:pt x="20189" y="12868"/>
                </a:cubicBezTo>
                <a:lnTo>
                  <a:pt x="21324" y="12868"/>
                </a:lnTo>
                <a:cubicBezTo>
                  <a:pt x="21475" y="12868"/>
                  <a:pt x="21600" y="12545"/>
                  <a:pt x="21600" y="12151"/>
                </a:cubicBezTo>
                <a:lnTo>
                  <a:pt x="21600" y="9453"/>
                </a:lnTo>
                <a:cubicBezTo>
                  <a:pt x="21589" y="9059"/>
                  <a:pt x="21465" y="8732"/>
                  <a:pt x="21314" y="8732"/>
                </a:cubicBezTo>
                <a:lnTo>
                  <a:pt x="16303" y="8732"/>
                </a:lnTo>
                <a:lnTo>
                  <a:pt x="16303" y="8411"/>
                </a:lnTo>
                <a:cubicBezTo>
                  <a:pt x="16303" y="7961"/>
                  <a:pt x="16163" y="7594"/>
                  <a:pt x="15991" y="7594"/>
                </a:cubicBezTo>
                <a:cubicBezTo>
                  <a:pt x="15818" y="7594"/>
                  <a:pt x="15679" y="7961"/>
                  <a:pt x="15679" y="8411"/>
                </a:cubicBezTo>
                <a:lnTo>
                  <a:pt x="15679" y="8732"/>
                </a:lnTo>
                <a:lnTo>
                  <a:pt x="7579" y="8732"/>
                </a:lnTo>
                <a:lnTo>
                  <a:pt x="7579" y="8411"/>
                </a:lnTo>
                <a:cubicBezTo>
                  <a:pt x="7579" y="7961"/>
                  <a:pt x="7438" y="7594"/>
                  <a:pt x="7266" y="7594"/>
                </a:cubicBezTo>
                <a:cubicBezTo>
                  <a:pt x="7094" y="7594"/>
                  <a:pt x="6953" y="7961"/>
                  <a:pt x="6953" y="8411"/>
                </a:cubicBezTo>
                <a:lnTo>
                  <a:pt x="6953" y="8732"/>
                </a:lnTo>
                <a:lnTo>
                  <a:pt x="6346" y="8732"/>
                </a:lnTo>
                <a:cubicBezTo>
                  <a:pt x="6174" y="8732"/>
                  <a:pt x="6017" y="8409"/>
                  <a:pt x="5984" y="7959"/>
                </a:cubicBezTo>
                <a:cubicBezTo>
                  <a:pt x="5635" y="3374"/>
                  <a:pt x="4451" y="0"/>
                  <a:pt x="3046" y="0"/>
                </a:cubicBezTo>
                <a:close/>
                <a:moveTo>
                  <a:pt x="3041" y="3054"/>
                </a:moveTo>
                <a:cubicBezTo>
                  <a:pt x="3843" y="3054"/>
                  <a:pt x="4494" y="5062"/>
                  <a:pt x="4494" y="7537"/>
                </a:cubicBezTo>
                <a:cubicBezTo>
                  <a:pt x="4494" y="8521"/>
                  <a:pt x="4392" y="9438"/>
                  <a:pt x="4220" y="10169"/>
                </a:cubicBezTo>
                <a:cubicBezTo>
                  <a:pt x="4129" y="10549"/>
                  <a:pt x="4129" y="11054"/>
                  <a:pt x="4220" y="11448"/>
                </a:cubicBezTo>
                <a:cubicBezTo>
                  <a:pt x="4392" y="12194"/>
                  <a:pt x="4494" y="13092"/>
                  <a:pt x="4494" y="14076"/>
                </a:cubicBezTo>
                <a:cubicBezTo>
                  <a:pt x="4494" y="16551"/>
                  <a:pt x="3843" y="18563"/>
                  <a:pt x="3041" y="18563"/>
                </a:cubicBezTo>
                <a:cubicBezTo>
                  <a:pt x="2239" y="18563"/>
                  <a:pt x="1588" y="16551"/>
                  <a:pt x="1588" y="14076"/>
                </a:cubicBezTo>
                <a:cubicBezTo>
                  <a:pt x="1588" y="13092"/>
                  <a:pt x="1690" y="12179"/>
                  <a:pt x="1862" y="11448"/>
                </a:cubicBezTo>
                <a:cubicBezTo>
                  <a:pt x="1953" y="11054"/>
                  <a:pt x="1953" y="10563"/>
                  <a:pt x="1862" y="10169"/>
                </a:cubicBezTo>
                <a:cubicBezTo>
                  <a:pt x="1690" y="9424"/>
                  <a:pt x="1588" y="8521"/>
                  <a:pt x="1588" y="7537"/>
                </a:cubicBezTo>
                <a:cubicBezTo>
                  <a:pt x="1588" y="5062"/>
                  <a:pt x="2239" y="3054"/>
                  <a:pt x="3041" y="3054"/>
                </a:cubicBezTo>
                <a:close/>
              </a:path>
            </a:pathLst>
          </a:custGeom>
          <a:solidFill>
            <a:srgbClr val="FFD479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Helvetica Neue"/>
              <a:buNone/>
            </a:pPr>
            <a:r>
              <a:rPr lang="en-US" sz="7600"/>
              <a:t>Wallace EcoMod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Helvetica Neue"/>
              <a:buNone/>
            </a:pPr>
            <a:r>
              <a:rPr lang="en-US" sz="5700"/>
              <a:t>Instructive</a:t>
            </a:r>
            <a:endParaRPr/>
          </a:p>
        </p:txBody>
      </p:sp>
      <p:pic>
        <p:nvPicPr>
          <p:cNvPr id="153" name="Google Shape;153;p11" descr="occs_1.png"/>
          <p:cNvPicPr preferRelativeResize="0"/>
          <p:nvPr/>
        </p:nvPicPr>
        <p:blipFill rotWithShape="1">
          <a:blip r:embed="rId3">
            <a:alphaModFix/>
          </a:blip>
          <a:srcRect l="32278" t="20735" r="16768" b="23242"/>
          <a:stretch/>
        </p:blipFill>
        <p:spPr>
          <a:xfrm>
            <a:off x="560317" y="4669773"/>
            <a:ext cx="5695218" cy="3913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1" descr="occs_2.png"/>
          <p:cNvPicPr preferRelativeResize="0"/>
          <p:nvPr/>
        </p:nvPicPr>
        <p:blipFill rotWithShape="1">
          <a:blip r:embed="rId4">
            <a:alphaModFix/>
          </a:blip>
          <a:srcRect l="32786" t="20682" r="16292" b="23313"/>
          <a:stretch/>
        </p:blipFill>
        <p:spPr>
          <a:xfrm>
            <a:off x="6768833" y="4669177"/>
            <a:ext cx="5695017" cy="391476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1"/>
          <p:cNvSpPr/>
          <p:nvPr/>
        </p:nvSpPr>
        <p:spPr>
          <a:xfrm>
            <a:off x="2685143" y="4630633"/>
            <a:ext cx="2832244" cy="648549"/>
          </a:xfrm>
          <a:prstGeom prst="rect">
            <a:avLst/>
          </a:prstGeom>
          <a:noFill/>
          <a:ln w="114300" cap="flat" cmpd="sng">
            <a:solidFill>
              <a:srgbClr val="FF26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8931747" y="4630633"/>
            <a:ext cx="2832244" cy="648549"/>
          </a:xfrm>
          <a:prstGeom prst="rect">
            <a:avLst/>
          </a:prstGeom>
          <a:noFill/>
          <a:ln w="114300" cap="flat" cmpd="sng">
            <a:solidFill>
              <a:srgbClr val="FF26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Helvetica Neue"/>
              <a:buNone/>
            </a:pPr>
            <a:r>
              <a:rPr lang="en-US" sz="7600"/>
              <a:t>Wallace EcoMod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Helvetica Neue"/>
              <a:buNone/>
            </a:pPr>
            <a:r>
              <a:rPr lang="en-US" sz="5700"/>
              <a:t>Flexible</a:t>
            </a:r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737615" y="4512920"/>
            <a:ext cx="2777781" cy="1197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 default options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User options</a:t>
            </a:r>
            <a:endParaRPr/>
          </a:p>
        </p:txBody>
      </p:sp>
      <p:pic>
        <p:nvPicPr>
          <p:cNvPr id="163" name="Google Shape;163;p12" descr="penvs_1.png"/>
          <p:cNvPicPr preferRelativeResize="0"/>
          <p:nvPr/>
        </p:nvPicPr>
        <p:blipFill rotWithShape="1">
          <a:blip r:embed="rId3">
            <a:alphaModFix/>
          </a:blip>
          <a:srcRect b="30952"/>
          <a:stretch/>
        </p:blipFill>
        <p:spPr>
          <a:xfrm>
            <a:off x="4274679" y="2596671"/>
            <a:ext cx="7947944" cy="5814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Helvetica Neue"/>
              <a:buNone/>
            </a:pPr>
            <a:r>
              <a:rPr lang="en-US" sz="7600"/>
              <a:t>Wallace EcoMod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Helvetica Neue"/>
              <a:buNone/>
            </a:pPr>
            <a:r>
              <a:rPr lang="en-US" sz="5700"/>
              <a:t>Interactive</a:t>
            </a:r>
            <a:endParaRPr/>
          </a:p>
        </p:txBody>
      </p:sp>
      <p:pic>
        <p:nvPicPr>
          <p:cNvPr id="169" name="Google Shape;169;p13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000" y="3517900"/>
            <a:ext cx="3279343" cy="4703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3" descr="Screen Shot 2021-01-23 at 2.53.22 PM.png"/>
          <p:cNvPicPr preferRelativeResize="0"/>
          <p:nvPr/>
        </p:nvPicPr>
        <p:blipFill rotWithShape="1">
          <a:blip r:embed="rId4">
            <a:alphaModFix/>
          </a:blip>
          <a:srcRect t="14671" r="36588"/>
          <a:stretch/>
        </p:blipFill>
        <p:spPr>
          <a:xfrm>
            <a:off x="4262177" y="4280767"/>
            <a:ext cx="4009690" cy="3177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3" descr="Screen Shot 2021-01-23 at 3.01.19 PM.png"/>
          <p:cNvPicPr preferRelativeResize="0"/>
          <p:nvPr/>
        </p:nvPicPr>
        <p:blipFill rotWithShape="1">
          <a:blip r:embed="rId5">
            <a:alphaModFix/>
          </a:blip>
          <a:srcRect l="1543" t="12488" r="50255" b="3652"/>
          <a:stretch/>
        </p:blipFill>
        <p:spPr>
          <a:xfrm>
            <a:off x="8746640" y="4199209"/>
            <a:ext cx="3532176" cy="3340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Helvetica Neue"/>
              <a:buNone/>
            </a:pPr>
            <a:r>
              <a:rPr lang="en-US" sz="7600"/>
              <a:t>Wallace EcoMod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Helvetica Neue"/>
              <a:buNone/>
            </a:pPr>
            <a:r>
              <a:rPr lang="en-US" sz="5700"/>
              <a:t>Reproducible</a:t>
            </a:r>
            <a:endParaRPr/>
          </a:p>
        </p:txBody>
      </p:sp>
      <p:pic>
        <p:nvPicPr>
          <p:cNvPr id="177" name="Google Shape;177;p14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21100" y="2717800"/>
            <a:ext cx="5562600" cy="622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4"/>
          <p:cNvSpPr txBox="1"/>
          <p:nvPr/>
        </p:nvSpPr>
        <p:spPr>
          <a:xfrm>
            <a:off x="636015" y="5141570"/>
            <a:ext cx="2777781" cy="1197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Wallace provides the workflow in the form of code</a:t>
            </a:r>
            <a:endParaRPr/>
          </a:p>
        </p:txBody>
      </p:sp>
      <p:pic>
        <p:nvPicPr>
          <p:cNvPr id="179" name="Google Shape;179;p14" descr="giphy.gi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5405" y="2697785"/>
            <a:ext cx="2159001" cy="215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4"/>
          <p:cNvSpPr txBox="1"/>
          <p:nvPr/>
        </p:nvSpPr>
        <p:spPr>
          <a:xfrm>
            <a:off x="9591004" y="6024220"/>
            <a:ext cx="2777781" cy="1197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Wallace allows for storing your work and restart later</a:t>
            </a:r>
            <a:endParaRPr/>
          </a:p>
        </p:txBody>
      </p:sp>
      <p:pic>
        <p:nvPicPr>
          <p:cNvPr id="181" name="Google Shape;181;p14" descr="reprod_1a.png"/>
          <p:cNvPicPr preferRelativeResize="0"/>
          <p:nvPr/>
        </p:nvPicPr>
        <p:blipFill rotWithShape="1">
          <a:blip r:embed="rId5">
            <a:alphaModFix/>
          </a:blip>
          <a:srcRect t="6832" r="67077" b="41153"/>
          <a:stretch/>
        </p:blipFill>
        <p:spPr>
          <a:xfrm>
            <a:off x="493563" y="6432492"/>
            <a:ext cx="3062825" cy="3024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4" descr="save_1.png"/>
          <p:cNvPicPr preferRelativeResize="0"/>
          <p:nvPr/>
        </p:nvPicPr>
        <p:blipFill rotWithShape="1">
          <a:blip r:embed="rId6">
            <a:alphaModFix/>
          </a:blip>
          <a:srcRect l="33454" r="29665" b="62758"/>
          <a:stretch/>
        </p:blipFill>
        <p:spPr>
          <a:xfrm>
            <a:off x="9412238" y="3887390"/>
            <a:ext cx="3135197" cy="1978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 txBox="1">
            <a:spLocks noGrp="1"/>
          </p:cNvSpPr>
          <p:nvPr>
            <p:ph type="title"/>
          </p:nvPr>
        </p:nvSpPr>
        <p:spPr>
          <a:xfrm>
            <a:off x="952500" y="3429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Helvetica Neue"/>
              <a:buNone/>
            </a:pPr>
            <a:r>
              <a:rPr lang="en-US" sz="7600"/>
              <a:t>Wallace EcoMod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Helvetica Neue"/>
              <a:buNone/>
            </a:pPr>
            <a:r>
              <a:rPr lang="en-US" sz="5700"/>
              <a:t>Expandable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227990" y="3655670"/>
            <a:ext cx="1982420" cy="461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Components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640181" y="5509870"/>
            <a:ext cx="1361238" cy="461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Modules</a:t>
            </a:r>
            <a:endParaRPr/>
          </a:p>
        </p:txBody>
      </p:sp>
      <p:pic>
        <p:nvPicPr>
          <p:cNvPr id="190" name="Google Shape;190;p15" descr="fig2_v2MS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5364" y="3324169"/>
            <a:ext cx="10096560" cy="4436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40"/>
              <a:buFont typeface="Helvetica Neue"/>
              <a:buNone/>
            </a:pPr>
            <a:r>
              <a:rPr lang="en-US" sz="6640"/>
              <a:t>&amp; speaking of expandable…</a:t>
            </a:r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44450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</a:pPr>
            <a:r>
              <a:rPr lang="en-US"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Wallace’s future V.3</a:t>
            </a:r>
            <a:r>
              <a:rPr lang="en-US"/>
              <a:t>…</a:t>
            </a:r>
            <a:endParaRPr/>
          </a:p>
          <a:p>
            <a:pPr marL="444500" lvl="0" indent="-4445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</a:pPr>
            <a:r>
              <a:rPr lang="en-US"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have added options to work with multiple species at the time and improved downloading and saving options (V.2)</a:t>
            </a:r>
            <a:endParaRPr/>
          </a:p>
        </p:txBody>
      </p:sp>
      <p:pic>
        <p:nvPicPr>
          <p:cNvPr id="197" name="Google Shape;197;p16" descr="v1_component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7132" y="2154196"/>
            <a:ext cx="9930536" cy="44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6" descr="v2_component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6696" y="2890330"/>
            <a:ext cx="11251353" cy="44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6" descr="v3_component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3362" y="3581220"/>
            <a:ext cx="13011524" cy="449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40"/>
              <a:buFont typeface="Helvetica Neue"/>
              <a:buNone/>
            </a:pPr>
            <a:r>
              <a:rPr lang="en-US" sz="6640"/>
              <a:t>New components and modules!</a:t>
            </a:r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body" idx="1"/>
          </p:nvPr>
        </p:nvSpPr>
        <p:spPr>
          <a:xfrm>
            <a:off x="952500" y="3537375"/>
            <a:ext cx="11099700" cy="5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 fontScale="92500" lnSpcReduction="10000"/>
          </a:bodyPr>
          <a:lstStyle/>
          <a:p>
            <a:pPr marL="373379" lvl="0" indent="-35481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Font typeface="Helvetica Neue"/>
              <a:buChar char="•"/>
            </a:pPr>
            <a:r>
              <a:rPr lang="en-US" sz="2688"/>
              <a:t>New databases can be accessed through Wallace (BIEN)</a:t>
            </a:r>
            <a:endParaRPr/>
          </a:p>
          <a:p>
            <a:pPr marL="373379" lvl="0" indent="-354816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SzPct val="145000"/>
              <a:buFont typeface="Helvetica Neue"/>
              <a:buChar char="•"/>
            </a:pPr>
            <a:r>
              <a:rPr lang="en-US" sz="2688"/>
              <a:t>A module allowing for GBIF downloads with more information (DOI, sources)</a:t>
            </a:r>
            <a:endParaRPr/>
          </a:p>
          <a:p>
            <a:pPr marL="373379" lvl="0" indent="-354816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SzPct val="145000"/>
              <a:buFont typeface="Helvetica Neue"/>
              <a:buChar char="•"/>
            </a:pPr>
            <a:r>
              <a:rPr lang="en-US" sz="2688"/>
              <a:t>In collaboration with several researchers we now have added modules to download climatic data past and present from EcoClim.</a:t>
            </a:r>
            <a:endParaRPr/>
          </a:p>
          <a:p>
            <a:pPr marL="373379" lvl="0" indent="-354816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SzPct val="145000"/>
              <a:buFont typeface="Helvetica Neue"/>
              <a:buChar char="•"/>
            </a:pPr>
            <a:r>
              <a:rPr lang="en-US" sz="2688"/>
              <a:t>New component for niche comparisons between species (Env Space)</a:t>
            </a:r>
            <a:endParaRPr/>
          </a:p>
          <a:p>
            <a:pPr marL="373379" lvl="0" indent="-354816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SzPct val="145000"/>
              <a:buFont typeface="Helvetica Neue"/>
              <a:buChar char="•"/>
            </a:pPr>
            <a:r>
              <a:rPr lang="en-US" sz="2688"/>
              <a:t>New component for reproducing results (both outside and inside Wallace)</a:t>
            </a: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983381" y="7320111"/>
            <a:ext cx="339900" cy="2850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983381" y="3861965"/>
            <a:ext cx="339900" cy="285000"/>
          </a:xfrm>
          <a:prstGeom prst="rect">
            <a:avLst/>
          </a:prstGeom>
          <a:noFill/>
          <a:ln w="38100" cap="flat" cmpd="sng">
            <a:solidFill>
              <a:srgbClr val="008F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983381" y="6023421"/>
            <a:ext cx="339900" cy="285000"/>
          </a:xfrm>
          <a:prstGeom prst="rect">
            <a:avLst/>
          </a:prstGeom>
          <a:noFill/>
          <a:ln w="38100" cap="flat" cmpd="sng">
            <a:solidFill>
              <a:srgbClr val="00A1FE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983381" y="4796854"/>
            <a:ext cx="339900" cy="285000"/>
          </a:xfrm>
          <a:prstGeom prst="rect">
            <a:avLst/>
          </a:prstGeom>
          <a:noFill/>
          <a:ln w="38100" cap="flat" cmpd="sng">
            <a:solidFill>
              <a:srgbClr val="008F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0" name="Google Shape;210;p17" descr="v2_component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8175" y="2704870"/>
            <a:ext cx="13101118" cy="5174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7"/>
          <p:cNvSpPr/>
          <p:nvPr/>
        </p:nvSpPr>
        <p:spPr>
          <a:xfrm>
            <a:off x="5592338" y="2573918"/>
            <a:ext cx="857065" cy="751624"/>
          </a:xfrm>
          <a:prstGeom prst="rect">
            <a:avLst/>
          </a:prstGeom>
          <a:noFill/>
          <a:ln w="101600" cap="flat" cmpd="sng">
            <a:solidFill>
              <a:srgbClr val="FF26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1408575" y="2573918"/>
            <a:ext cx="759451" cy="751624"/>
          </a:xfrm>
          <a:prstGeom prst="rect">
            <a:avLst/>
          </a:prstGeom>
          <a:noFill/>
          <a:ln w="101600" cap="flat" cmpd="sng">
            <a:solidFill>
              <a:srgbClr val="008F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2290155" y="2573918"/>
            <a:ext cx="857066" cy="751624"/>
          </a:xfrm>
          <a:prstGeom prst="rect">
            <a:avLst/>
          </a:prstGeom>
          <a:noFill/>
          <a:ln w="101600" cap="flat" cmpd="sng">
            <a:solidFill>
              <a:srgbClr val="00A1FE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10357993" y="2587821"/>
            <a:ext cx="857065" cy="751624"/>
          </a:xfrm>
          <a:prstGeom prst="rect">
            <a:avLst/>
          </a:prstGeom>
          <a:noFill/>
          <a:ln w="101600" cap="flat" cmpd="sng">
            <a:solidFill>
              <a:srgbClr val="FF26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983381" y="8261077"/>
            <a:ext cx="339900" cy="2850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Helvetica Neue"/>
              <a:buNone/>
            </a:pPr>
            <a:r>
              <a:rPr lang="en-US" sz="7600"/>
              <a:t>Wallace EcoMod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Helvetica Neue"/>
              <a:buNone/>
            </a:pPr>
            <a:r>
              <a:rPr lang="en-US" sz="5700"/>
              <a:t>Components</a:t>
            </a:r>
            <a:endParaRPr/>
          </a:p>
        </p:txBody>
      </p:sp>
      <p:pic>
        <p:nvPicPr>
          <p:cNvPr id="221" name="Google Shape;221;p18" descr="foQe4gundpg4Tg4wImKTBbVL6oa95iA2AP7aQeJKQgEPB3Ffek5_cdV6zZrSXIh7iVpBKB3EwZregnKfK01hzIUFvWa18bipK_cUeI_X28RFnplPGa37F5pjcS-GMRiKteJSBjjjiVUKPCK4UdrCuBkcVJDyiyKG-wLQIBhuIhmB9ppv_s58aRL5v0dKmlQpyrVGL8N_Lw.png"/>
          <p:cNvPicPr preferRelativeResize="0"/>
          <p:nvPr/>
        </p:nvPicPr>
        <p:blipFill rotWithShape="1">
          <a:blip r:embed="rId3">
            <a:alphaModFix/>
          </a:blip>
          <a:srcRect r="13310" b="94290"/>
          <a:stretch/>
        </p:blipFill>
        <p:spPr>
          <a:xfrm>
            <a:off x="706437" y="3313993"/>
            <a:ext cx="11591856" cy="47715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8"/>
          <p:cNvSpPr txBox="1"/>
          <p:nvPr/>
        </p:nvSpPr>
        <p:spPr>
          <a:xfrm>
            <a:off x="914400" y="4352950"/>
            <a:ext cx="3865169" cy="48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AutoNum type="arabicPeriod"/>
            </a:pPr>
            <a:r>
              <a:rPr lang="en-US"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Obtain Occurrence Data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AutoNum type="arabicPeriod"/>
            </a:pPr>
            <a:r>
              <a:rPr lang="en-US"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Obtain Environmental Data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AutoNum type="arabicPeriod"/>
            </a:pPr>
            <a:r>
              <a:rPr lang="en-US"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Occurrence Data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AutoNum type="arabicPeriod"/>
            </a:pPr>
            <a:r>
              <a:rPr lang="en-US"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Environmental Data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AutoNum type="arabicPeriod"/>
            </a:pPr>
            <a:r>
              <a:rPr lang="en-US"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Characterize Environmental Space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AutoNum type="arabicPeriod"/>
            </a:pPr>
            <a:r>
              <a:rPr lang="en-US"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Partition Occurrence Data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AutoNum type="arabicPeriod"/>
            </a:pPr>
            <a:r>
              <a:rPr lang="en-US"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 and Evaluate Niche Model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AutoNum type="arabicPeriod"/>
            </a:pPr>
            <a:r>
              <a:rPr lang="en-US"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Visualize Model Results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AutoNum type="arabicPeriod"/>
            </a:pPr>
            <a:r>
              <a:rPr lang="en-US"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Transfer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AutoNum type="arabicPeriod"/>
            </a:pPr>
            <a:r>
              <a:rPr lang="en-US"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Reproduce</a:t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2169467" y="2875402"/>
            <a:ext cx="415281" cy="372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224" name="Google Shape;224;p18"/>
          <p:cNvSpPr/>
          <p:nvPr/>
        </p:nvSpPr>
        <p:spPr>
          <a:xfrm>
            <a:off x="2994967" y="2875402"/>
            <a:ext cx="415281" cy="372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>
            <a:off x="3922067" y="2875402"/>
            <a:ext cx="415281" cy="372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4950767" y="2875402"/>
            <a:ext cx="415281" cy="372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>
            <a:off x="5890567" y="2875402"/>
            <a:ext cx="415281" cy="372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6906567" y="2875402"/>
            <a:ext cx="415281" cy="372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7795567" y="2875402"/>
            <a:ext cx="415281" cy="372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8532167" y="2875402"/>
            <a:ext cx="415281" cy="372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9268767" y="2875402"/>
            <a:ext cx="415281" cy="372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10157767" y="2875402"/>
            <a:ext cx="415281" cy="372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</a:pPr>
            <a:r>
              <a:rPr lang="en-US"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Wallace Team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1390294" y="5692899"/>
            <a:ext cx="10224212" cy="2812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Helvetica Neue"/>
              <a:buNone/>
            </a:pPr>
            <a:r>
              <a:rPr lang="en-US" sz="31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Contact us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Website: </a:t>
            </a:r>
            <a:r>
              <a:rPr lang="en-US" sz="2400" b="0" i="0" u="sng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https://wallaceecomod.github.io/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Google Group: </a:t>
            </a:r>
            <a:r>
              <a:rPr lang="en-US" sz="2400" b="0" i="0" u="sng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https://groups.google.com/forum/#!forum/wallaceecomod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Email: </a:t>
            </a:r>
            <a:r>
              <a:rPr lang="en-US" sz="2400" b="0" i="0" u="sng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wallaceecomod@gmail.com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GitHub: </a:t>
            </a:r>
            <a:r>
              <a:rPr lang="en-US" sz="2400" b="0" i="0" u="sng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https://github.com/wallaceecomod/wallace</a:t>
            </a:r>
            <a:endParaRPr sz="12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803724" y="3902174"/>
            <a:ext cx="11397300" cy="19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Gothic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Jamie M. Kass, Andrea Paz , Gonzalo E. Pinilla-Buitrago, Bethany A. Johnson,</a:t>
            </a:r>
            <a:endParaRPr sz="1200" b="0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Gothic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Valentina Grisales-Betancur, Sarah I. Meenan, Dean Attali, Mary E. Blair, </a:t>
            </a:r>
            <a:endParaRPr sz="1200" b="0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Gothic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Olivier Broennimann, Peter J. Galante, Brian S. Maitner, </a:t>
            </a:r>
            <a:endParaRPr sz="1200" b="0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Gothic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Hannah L. Owens, Sara Varela, Matthew E. Aiello-Lammens, Cory Merow, </a:t>
            </a:r>
            <a:endParaRPr sz="1200" b="0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Gothic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Robert P. Anderson</a:t>
            </a:r>
            <a:endParaRPr sz="1200" b="0" i="0" u="none" strike="noStrike" cap="non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40" name="Google Shape;240;p19" descr="Imag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0050" y="3075580"/>
            <a:ext cx="12204700" cy="98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9" descr="Imag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4850" y="8578850"/>
            <a:ext cx="11772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9" descr="Image"/>
          <p:cNvPicPr preferRelativeResize="0"/>
          <p:nvPr/>
        </p:nvPicPr>
        <p:blipFill rotWithShape="1">
          <a:blip r:embed="rId7">
            <a:alphaModFix/>
          </a:blip>
          <a:srcRect l="19174" r="74507"/>
          <a:stretch/>
        </p:blipFill>
        <p:spPr>
          <a:xfrm>
            <a:off x="3541678" y="3075580"/>
            <a:ext cx="771121" cy="98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9" descr="Image"/>
          <p:cNvPicPr preferRelativeResize="0"/>
          <p:nvPr/>
        </p:nvPicPr>
        <p:blipFill rotWithShape="1">
          <a:blip r:embed="rId7">
            <a:alphaModFix/>
          </a:blip>
          <a:srcRect l="25691" r="67989"/>
          <a:stretch/>
        </p:blipFill>
        <p:spPr>
          <a:xfrm>
            <a:off x="2744010" y="3075580"/>
            <a:ext cx="771120" cy="98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352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Helvetica Neue"/>
              <a:buNone/>
            </a:pPr>
            <a:r>
              <a:rPr lang="en-US" sz="6400"/>
              <a:t>Slides about V3 expansion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40"/>
              <a:buFont typeface="Helvetica Neue"/>
              <a:buNone/>
            </a:pPr>
            <a:r>
              <a:rPr lang="en-US" sz="6640"/>
              <a:t>&amp; speaking of expandable…</a:t>
            </a:r>
            <a:endParaRPr/>
          </a:p>
        </p:txBody>
      </p:sp>
      <p:sp>
        <p:nvSpPr>
          <p:cNvPr id="254" name="Google Shape;254;p21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44450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</a:pPr>
            <a:r>
              <a:rPr lang="en-US"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Today we will take a peak at Wallace’s future V.3</a:t>
            </a:r>
            <a:endParaRPr/>
          </a:p>
          <a:p>
            <a:pPr marL="444500" lvl="0" indent="-44450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/>
              <a:buChar char="•"/>
            </a:pPr>
            <a:r>
              <a:rPr lang="en-US"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have added options to work with multiple species at the time and improved downloading and saving options (V.2)</a:t>
            </a:r>
            <a:endParaRPr/>
          </a:p>
        </p:txBody>
      </p:sp>
      <p:pic>
        <p:nvPicPr>
          <p:cNvPr id="255" name="Google Shape;255;p21" descr="v1_component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7132" y="2154196"/>
            <a:ext cx="9930536" cy="44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v2_component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6696" y="2890330"/>
            <a:ext cx="11251353" cy="44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 descr="v3_component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3362" y="3581220"/>
            <a:ext cx="13011524" cy="449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40"/>
              <a:buFont typeface="Helvetica Neue"/>
              <a:buNone/>
            </a:pPr>
            <a:r>
              <a:rPr lang="en-US" sz="7040"/>
              <a:t>Conservation components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451002" y="5098033"/>
            <a:ext cx="11487690" cy="2173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2286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Char char="•"/>
            </a:pPr>
            <a:r>
              <a:rPr lang="en-US" sz="3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Based on two R packages developed by our team to post-process SDMs</a:t>
            </a:r>
            <a:endParaRPr/>
          </a:p>
          <a:p>
            <a:pPr marL="228600" marR="0" lvl="0" indent="-228600" algn="ctr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Char char="•"/>
            </a:pPr>
            <a:r>
              <a:rPr lang="en-US" sz="3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These packages are MaskRangeR and ChangeRangeR and are both available on CRAN </a:t>
            </a:r>
            <a:endParaRPr/>
          </a:p>
        </p:txBody>
      </p:sp>
      <p:pic>
        <p:nvPicPr>
          <p:cNvPr id="264" name="Google Shape;264;p22" descr="v3_components.png"/>
          <p:cNvPicPr preferRelativeResize="0"/>
          <p:nvPr/>
        </p:nvPicPr>
        <p:blipFill rotWithShape="1">
          <a:blip r:embed="rId3">
            <a:alphaModFix/>
          </a:blip>
          <a:srcRect l="4719"/>
          <a:stretch/>
        </p:blipFill>
        <p:spPr>
          <a:xfrm>
            <a:off x="0" y="3050964"/>
            <a:ext cx="13004800" cy="47137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/>
          <p:nvPr/>
        </p:nvSpPr>
        <p:spPr>
          <a:xfrm>
            <a:off x="8313142" y="2942332"/>
            <a:ext cx="2274445" cy="688752"/>
          </a:xfrm>
          <a:prstGeom prst="rect">
            <a:avLst/>
          </a:prstGeom>
          <a:noFill/>
          <a:ln w="76200" cap="flat" cmpd="sng">
            <a:solidFill>
              <a:srgbClr val="FAE13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40"/>
              <a:buFont typeface="Helvetica Neue"/>
              <a:buNone/>
            </a:pPr>
            <a:r>
              <a:rPr lang="en-US" sz="7040"/>
              <a:t>Conservation components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451002" y="4691633"/>
            <a:ext cx="6337348" cy="146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2286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Char char="•"/>
            </a:pPr>
            <a:r>
              <a:rPr lang="en-US" sz="3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Upload a raster prediction built outside of Wallace or from a previous session</a:t>
            </a:r>
            <a:endParaRPr/>
          </a:p>
        </p:txBody>
      </p:sp>
      <p:pic>
        <p:nvPicPr>
          <p:cNvPr id="272" name="Google Shape;272;p23" descr="v3_components.png"/>
          <p:cNvPicPr preferRelativeResize="0"/>
          <p:nvPr/>
        </p:nvPicPr>
        <p:blipFill rotWithShape="1">
          <a:blip r:embed="rId3">
            <a:alphaModFix/>
          </a:blip>
          <a:srcRect l="4719"/>
          <a:stretch/>
        </p:blipFill>
        <p:spPr>
          <a:xfrm>
            <a:off x="0" y="3050964"/>
            <a:ext cx="13004800" cy="47137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/>
          <p:nvPr/>
        </p:nvSpPr>
        <p:spPr>
          <a:xfrm>
            <a:off x="8313142" y="2942332"/>
            <a:ext cx="575650" cy="688752"/>
          </a:xfrm>
          <a:prstGeom prst="rect">
            <a:avLst/>
          </a:prstGeom>
          <a:noFill/>
          <a:ln w="76200" cap="flat" cmpd="sng">
            <a:solidFill>
              <a:srgbClr val="FAE13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4" name="Google Shape;274;p23" descr="user_sd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2295" y="4160415"/>
            <a:ext cx="4998953" cy="5010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 txBox="1"/>
          <p:nvPr/>
        </p:nvSpPr>
        <p:spPr>
          <a:xfrm>
            <a:off x="527202" y="4677396"/>
            <a:ext cx="4460918" cy="3980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rPr lang="en-US" sz="3000" b="1" i="0" u="sng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Post-processing models</a:t>
            </a:r>
            <a:endParaRPr/>
          </a:p>
          <a:p>
            <a:pPr marL="361156" marR="0" lvl="0" indent="-361156" algn="ctr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3770"/>
              <a:buFont typeface="Helvetica Neue"/>
              <a:buChar char="•"/>
            </a:pPr>
            <a:r>
              <a:rPr lang="en-US" sz="26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Based on user expertise: </a:t>
            </a:r>
            <a:r>
              <a:rPr lang="en-US" sz="26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or remove areas of presence </a:t>
            </a:r>
            <a:endParaRPr/>
          </a:p>
          <a:p>
            <a:pPr marL="361156" marR="0" lvl="0" indent="-361156" algn="ctr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3770"/>
              <a:buFont typeface="Helvetica Neue"/>
              <a:buChar char="•"/>
            </a:pPr>
            <a:r>
              <a:rPr lang="en-US" sz="26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GIS data: </a:t>
            </a:r>
            <a:r>
              <a:rPr lang="en-US" sz="26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Cut with a raster or polygon (e.g deforestation)</a:t>
            </a:r>
            <a:endParaRPr/>
          </a:p>
        </p:txBody>
      </p:sp>
      <p:pic>
        <p:nvPicPr>
          <p:cNvPr id="280" name="Google Shape;280;p24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47334" y="4356099"/>
            <a:ext cx="7017059" cy="491490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40"/>
              <a:buFont typeface="Helvetica Neue"/>
              <a:buNone/>
            </a:pPr>
            <a:r>
              <a:rPr lang="en-US" sz="7040"/>
              <a:t>Conservation components</a:t>
            </a:r>
            <a:endParaRPr/>
          </a:p>
        </p:txBody>
      </p:sp>
      <p:pic>
        <p:nvPicPr>
          <p:cNvPr id="282" name="Google Shape;282;p24" descr="v3_components.png"/>
          <p:cNvPicPr preferRelativeResize="0"/>
          <p:nvPr/>
        </p:nvPicPr>
        <p:blipFill rotWithShape="1">
          <a:blip r:embed="rId4">
            <a:alphaModFix/>
          </a:blip>
          <a:srcRect l="4719"/>
          <a:stretch/>
        </p:blipFill>
        <p:spPr>
          <a:xfrm>
            <a:off x="0" y="3025564"/>
            <a:ext cx="13004800" cy="47137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/>
          <p:nvPr/>
        </p:nvSpPr>
        <p:spPr>
          <a:xfrm>
            <a:off x="8293723" y="2916932"/>
            <a:ext cx="623623" cy="688752"/>
          </a:xfrm>
          <a:prstGeom prst="rect">
            <a:avLst/>
          </a:prstGeom>
          <a:noFill/>
          <a:ln w="76200" cap="flat" cmpd="sng">
            <a:solidFill>
              <a:srgbClr val="FAE13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"/>
          <p:cNvSpPr txBox="1"/>
          <p:nvPr/>
        </p:nvSpPr>
        <p:spPr>
          <a:xfrm>
            <a:off x="527202" y="4144822"/>
            <a:ext cx="4460918" cy="5045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rPr lang="en-US" sz="3000" b="1" i="0" u="sng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Estimating areas and area changes</a:t>
            </a:r>
            <a:endParaRPr/>
          </a:p>
          <a:p>
            <a:pPr marL="361156" marR="0" lvl="0" indent="-361156" algn="ctr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3770"/>
              <a:buFont typeface="Helvetica Neue"/>
              <a:buChar char="•"/>
            </a:pPr>
            <a:r>
              <a:rPr lang="en-US" sz="26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Range, AOO-EOO (UICN)</a:t>
            </a:r>
            <a:endParaRPr/>
          </a:p>
          <a:p>
            <a:pPr marL="361156" marR="0" lvl="0" indent="-361156" algn="ctr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3770"/>
              <a:buFont typeface="Helvetica Neue"/>
              <a:buChar char="•"/>
            </a:pPr>
            <a:r>
              <a:rPr lang="en-US" sz="26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Area change according to GIS data (deforestation, mining etc.)</a:t>
            </a:r>
            <a:endParaRPr/>
          </a:p>
          <a:p>
            <a:pPr marL="361156" marR="0" lvl="0" indent="-361156" algn="ctr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3770"/>
              <a:buFont typeface="Helvetica Neue"/>
              <a:buChar char="•"/>
            </a:pPr>
            <a:r>
              <a:rPr lang="en-US" sz="26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Percentage of distribution given a certain category (NP, mining concessions etc.)</a:t>
            </a:r>
            <a:endParaRPr/>
          </a:p>
        </p:txBody>
      </p:sp>
      <p:pic>
        <p:nvPicPr>
          <p:cNvPr id="289" name="Google Shape;289;p25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10450" y="4349750"/>
            <a:ext cx="3289300" cy="463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40"/>
              <a:buFont typeface="Helvetica Neue"/>
              <a:buNone/>
            </a:pPr>
            <a:r>
              <a:rPr lang="en-US" sz="7040"/>
              <a:t>Conservation components</a:t>
            </a:r>
            <a:endParaRPr/>
          </a:p>
        </p:txBody>
      </p:sp>
      <p:pic>
        <p:nvPicPr>
          <p:cNvPr id="291" name="Google Shape;291;p25" descr="v3_components.png"/>
          <p:cNvPicPr preferRelativeResize="0"/>
          <p:nvPr/>
        </p:nvPicPr>
        <p:blipFill rotWithShape="1">
          <a:blip r:embed="rId4">
            <a:alphaModFix/>
          </a:blip>
          <a:srcRect l="4719"/>
          <a:stretch/>
        </p:blipFill>
        <p:spPr>
          <a:xfrm>
            <a:off x="0" y="3025564"/>
            <a:ext cx="13004800" cy="47137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/>
          <p:nvPr/>
        </p:nvSpPr>
        <p:spPr>
          <a:xfrm>
            <a:off x="8898446" y="2916932"/>
            <a:ext cx="822162" cy="688752"/>
          </a:xfrm>
          <a:prstGeom prst="rect">
            <a:avLst/>
          </a:prstGeom>
          <a:noFill/>
          <a:ln w="76200" cap="flat" cmpd="sng">
            <a:solidFill>
              <a:srgbClr val="FAE13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 txBox="1"/>
          <p:nvPr/>
        </p:nvSpPr>
        <p:spPr>
          <a:xfrm>
            <a:off x="527202" y="5210911"/>
            <a:ext cx="3961352" cy="2913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rPr lang="en-US" sz="2200" b="1" i="0" u="sng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Diversity maps based on distribution models: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richness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Endemism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/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(in the future, phylogenetic measures)</a:t>
            </a:r>
            <a:endParaRPr/>
          </a:p>
        </p:txBody>
      </p:sp>
      <p:pic>
        <p:nvPicPr>
          <p:cNvPr id="298" name="Google Shape;298;p26" descr="Screen Shot 2021-01-23 at 3.40.30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0569" y="5835416"/>
            <a:ext cx="3744217" cy="3484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6" descr="Screen Shot 2021-01-23 at 3.39.45 PM.png"/>
          <p:cNvPicPr preferRelativeResize="0"/>
          <p:nvPr/>
        </p:nvPicPr>
        <p:blipFill rotWithShape="1">
          <a:blip r:embed="rId4">
            <a:alphaModFix/>
          </a:blip>
          <a:srcRect l="5177"/>
          <a:stretch/>
        </p:blipFill>
        <p:spPr>
          <a:xfrm>
            <a:off x="4435871" y="4102099"/>
            <a:ext cx="4132921" cy="3484809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6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40"/>
              <a:buFont typeface="Helvetica Neue"/>
              <a:buNone/>
            </a:pPr>
            <a:r>
              <a:rPr lang="en-US" sz="7040"/>
              <a:t>Conservation components</a:t>
            </a:r>
            <a:endParaRPr/>
          </a:p>
        </p:txBody>
      </p:sp>
      <p:pic>
        <p:nvPicPr>
          <p:cNvPr id="301" name="Google Shape;301;p26" descr="v3_components.png"/>
          <p:cNvPicPr preferRelativeResize="0"/>
          <p:nvPr/>
        </p:nvPicPr>
        <p:blipFill rotWithShape="1">
          <a:blip r:embed="rId5">
            <a:alphaModFix/>
          </a:blip>
          <a:srcRect l="4719"/>
          <a:stretch/>
        </p:blipFill>
        <p:spPr>
          <a:xfrm>
            <a:off x="0" y="3025564"/>
            <a:ext cx="13004800" cy="471378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6"/>
          <p:cNvSpPr/>
          <p:nvPr/>
        </p:nvSpPr>
        <p:spPr>
          <a:xfrm>
            <a:off x="9756763" y="2916932"/>
            <a:ext cx="822161" cy="688752"/>
          </a:xfrm>
          <a:prstGeom prst="rect">
            <a:avLst/>
          </a:prstGeom>
          <a:noFill/>
          <a:ln w="76200" cap="flat" cmpd="sng">
            <a:solidFill>
              <a:srgbClr val="FAE13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108367FCDB4D47B5E8E54D64157753" ma:contentTypeVersion="17" ma:contentTypeDescription="Create a new document." ma:contentTypeScope="" ma:versionID="89ad6e55dd034a63fada300300833fd8">
  <xsd:schema xmlns:xsd="http://www.w3.org/2001/XMLSchema" xmlns:xs="http://www.w3.org/2001/XMLSchema" xmlns:p="http://schemas.microsoft.com/office/2006/metadata/properties" xmlns:ns2="07cd00b6-9c38-42c0-af70-5d8006d91a8f" xmlns:ns3="c789ccf0-1666-411a-a555-39fa7b68a59a" targetNamespace="http://schemas.microsoft.com/office/2006/metadata/properties" ma:root="true" ma:fieldsID="f079f9a9198ad2b6684649c05101704b" ns2:_="" ns3:_="">
    <xsd:import namespace="07cd00b6-9c38-42c0-af70-5d8006d91a8f"/>
    <xsd:import namespace="c789ccf0-1666-411a-a555-39fa7b68a5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cd00b6-9c38-42c0-af70-5d8006d91a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b3fc297-59b7-4dce-adfa-f654e45c77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89ccf0-1666-411a-a555-39fa7b68a59a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23d555bf-7095-481d-a767-a5e3213ffcfc}" ma:internalName="TaxCatchAll" ma:showField="CatchAllData" ma:web="c789ccf0-1666-411a-a555-39fa7b68a5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7cd00b6-9c38-42c0-af70-5d8006d91a8f">
      <Terms xmlns="http://schemas.microsoft.com/office/infopath/2007/PartnerControls"/>
    </lcf76f155ced4ddcb4097134ff3c332f>
    <TaxCatchAll xmlns="c789ccf0-1666-411a-a555-39fa7b68a59a" xsi:nil="true"/>
  </documentManagement>
</p:properties>
</file>

<file path=customXml/itemProps1.xml><?xml version="1.0" encoding="utf-8"?>
<ds:datastoreItem xmlns:ds="http://schemas.openxmlformats.org/officeDocument/2006/customXml" ds:itemID="{54395CB3-CBBE-4F37-AE17-92A6D61BCB8F}"/>
</file>

<file path=customXml/itemProps2.xml><?xml version="1.0" encoding="utf-8"?>
<ds:datastoreItem xmlns:ds="http://schemas.openxmlformats.org/officeDocument/2006/customXml" ds:itemID="{3669F3B8-495F-4FD6-B740-2CE5B209BA00}"/>
</file>

<file path=customXml/itemProps3.xml><?xml version="1.0" encoding="utf-8"?>
<ds:datastoreItem xmlns:ds="http://schemas.openxmlformats.org/officeDocument/2006/customXml" ds:itemID="{5ACDDC0C-3964-478A-B535-2898A19F650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978</Words>
  <Application>Microsoft Macintosh PowerPoint</Application>
  <PresentationFormat>Custom</PresentationFormat>
  <Paragraphs>138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Helvetica Neue</vt:lpstr>
      <vt:lpstr>Helvetica Neue Light</vt:lpstr>
      <vt:lpstr>Arial</vt:lpstr>
      <vt:lpstr>Century Gothic</vt:lpstr>
      <vt:lpstr>Calibri</vt:lpstr>
      <vt:lpstr>Times</vt:lpstr>
      <vt:lpstr>Black</vt:lpstr>
      <vt:lpstr>Wallace: A Software to Estimate Species Distributions and Quantify Biodiversity Changes</vt:lpstr>
      <vt:lpstr>Correlative models hyper-summarized </vt:lpstr>
      <vt:lpstr>The problem with graphical interfaces</vt:lpstr>
      <vt:lpstr>The problem with graphical interfaces</vt:lpstr>
      <vt:lpstr>Modeling is not just CLICK CLICK</vt:lpstr>
      <vt:lpstr>sooo coding?</vt:lpstr>
      <vt:lpstr>What did we want?</vt:lpstr>
      <vt:lpstr>Wallace EcoMod</vt:lpstr>
      <vt:lpstr>Wallace EcoMod Characteristics</vt:lpstr>
      <vt:lpstr>Wallace EcoMod Open</vt:lpstr>
      <vt:lpstr>Wallace EcoMod Instructive</vt:lpstr>
      <vt:lpstr>Wallace EcoMod Flexible</vt:lpstr>
      <vt:lpstr>Wallace EcoMod Interactive</vt:lpstr>
      <vt:lpstr>Wallace EcoMod Reproducible</vt:lpstr>
      <vt:lpstr>Wallace EcoMod Expandable</vt:lpstr>
      <vt:lpstr>&amp; speaking of expandable…</vt:lpstr>
      <vt:lpstr>New components and modules!</vt:lpstr>
      <vt:lpstr>Wallace EcoMod Components</vt:lpstr>
      <vt:lpstr>The Wallace Team</vt:lpstr>
      <vt:lpstr>PowerPoint Presentation</vt:lpstr>
      <vt:lpstr>&amp; speaking of expandable…</vt:lpstr>
      <vt:lpstr>Conservation components</vt:lpstr>
      <vt:lpstr>Conservation components</vt:lpstr>
      <vt:lpstr>Conservation components</vt:lpstr>
      <vt:lpstr>Conservation components</vt:lpstr>
      <vt:lpstr>Conservation components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Wallace: A Software to Estimate Species Distributions and Quantify Biodiversity Changes</dc:title>
  <cp:lastModifiedBy>Kristin Douglas</cp:lastModifiedBy>
  <cp:revision>1</cp:revision>
  <dcterms:modified xsi:type="dcterms:W3CDTF">2024-01-07T03:24:03Z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0x01010084108367FCDB4D47B5E8E54D64157753</vt:lpwstr>
  </property>
  <property fmtid="{D5CDD505-2E9C-101B-9397-08002B2CF9AE}" pid="3" name="MediaServiceImageTags">
    <vt:lpwstr/>
  </property>
</Properties>
</file>