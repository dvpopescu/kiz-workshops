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comment2.xml" ContentType="application/vnd.openxmlformats-officedocument.presentationml.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45"/>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Lst>
  <p:sldSz cx="13004800" cy="9753600"/>
  <p:notesSz cx="6858000" cy="9144000"/>
  <p:embeddedFontLst>
    <p:embeddedFont>
      <p:font typeface="Helvetica Neue" panose="02000503000000020004" pitchFamily="2" charset="0"/>
      <p:regular r:id="rId46"/>
      <p:bold r:id="rId47"/>
      <p:italic r:id="rId48"/>
      <p:boldItalic r:id="rId49"/>
    </p:embeddedFont>
    <p:embeddedFont>
      <p:font typeface="Helvetica Neue Light" panose="02000403000000020004" pitchFamily="2" charset="0"/>
      <p:regular r:id="rId50"/>
      <p:bold r:id="rId51"/>
      <p:italic r:id="rId52"/>
      <p:boldItalic r:id="rId53"/>
    </p:embeddedFont>
    <p:embeddedFont>
      <p:font typeface="roboto condensed" panose="020F0502020204030204" pitchFamily="3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j98eLYd3C5Rg/1qwqVIcrsd0MPL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aron Goodman" initials="" lastIdx="9" clrIdx="0"/>
  <p:cmAuthor id="1" name="Bethany Johnson" initials="" lastIdx="4"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51"/>
    <p:restoredTop sz="76037"/>
  </p:normalViewPr>
  <p:slideViewPr>
    <p:cSldViewPr snapToGrid="0">
      <p:cViewPr varScale="1">
        <p:scale>
          <a:sx n="59" d="100"/>
          <a:sy n="59" d="100"/>
        </p:scale>
        <p:origin x="7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font" Target="fonts/font8.fntdata"/><Relationship Id="rId58" Type="http://customschemas.google.com/relationships/presentationmetadata" Target="metadata"/><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59"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9.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7.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9T20:03:11.289" idx="1">
    <p:pos x="6585" y="3563"/>
    <p:text>I replaced dora with this stock photo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9EmpePY"/>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9T20:43:18.043" idx="3">
    <p:pos x="360" y="4575"/>
    <p:text>Photo cred: Ryan Schain
eBird S32885440
Macaulay Library ML 41866011
Can we use this or no?</p:text>
    <p:extLst>
      <p:ext uri="{C676402C-5697-4E1C-873F-D02D1690AC5C}">
        <p15:threadingInfo xmlns:p15="http://schemas.microsoft.com/office/powerpoint/2012/main" timeZoneBias="0"/>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commentPostId="AAAA9Emqxn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1pPr>
            <a:lvl2pPr marL="914400" marR="0" lvl="1"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2pPr>
            <a:lvl3pPr marL="1371600" marR="0" lvl="2"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3pPr>
            <a:lvl4pPr marL="1828800" marR="0" lvl="3"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4pPr>
            <a:lvl5pPr marL="2286000" marR="0" lvl="4"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rspatial.org/raster/sdm/index.html"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damariszurell.github.io/EEC-MGC/b6_SDM_algorithms.html"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amariszurell.github.io/EEC-MGC/b6_SDM_algorithms.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damariszurell.github.io/EEC-MGC/b6_SDM_algorithms.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support.bccvl.org.au/support/solutions/articles/6000083217-random-forest"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damariszurell.github.io/EEC-MGC/b6_SDM_algorithms.html" TargetMode="Externa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support.bccvl.org.au/support/solutions/articles/6000083217-random-forest"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damariszurell.github.io/EEC-MGC/b6_SDM_algorithms.html"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damariszurell.github.io/EEC-MGC/b6_SDM_algorithms.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doi.org/10.1890/07-2153.1"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doi.org/10.1890/07-2153.1"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doi.org/10.1890/07-2153.1"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a967ea5d19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a967ea5d19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99" name="Google Shape;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130" name="Google Shape;13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137" name="Google Shape;13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Image credit: </a:t>
            </a:r>
            <a:r>
              <a:rPr lang="en-US" dirty="0" err="1"/>
              <a:t>Worldclim</a:t>
            </a:r>
            <a:r>
              <a:rPr lang="en-US" dirty="0"/>
              <a:t> [open-access]</a:t>
            </a:r>
            <a:endParaRPr dirty="0"/>
          </a:p>
        </p:txBody>
      </p:sp>
      <p:sp>
        <p:nvSpPr>
          <p:cNvPr id="145" name="Google Shape;14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159" name="Google Shape;15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a:p>
            <a:pPr marL="0" lvl="0" indent="0" algn="l" rtl="0">
              <a:lnSpc>
                <a:spcPct val="117999"/>
              </a:lnSpc>
              <a:spcBef>
                <a:spcPts val="0"/>
              </a:spcBef>
              <a:spcAft>
                <a:spcPts val="0"/>
              </a:spcAft>
              <a:buSzPts val="1400"/>
              <a:buNone/>
            </a:pPr>
            <a:r>
              <a:rPr lang="en-US" dirty="0"/>
              <a:t>Image credit: Andrea Paz. </a:t>
            </a:r>
            <a:endParaRPr dirty="0"/>
          </a:p>
        </p:txBody>
      </p:sp>
      <p:sp>
        <p:nvSpPr>
          <p:cNvPr id="166" name="Google Shape;16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When planning on doing transfers in time there are some further constraints on the variables that can be used to select the model. </a:t>
            </a:r>
          </a:p>
          <a:p>
            <a:pPr marL="0" lvl="0" indent="0" algn="l" rtl="0">
              <a:lnSpc>
                <a:spcPct val="117999"/>
              </a:lnSpc>
              <a:spcBef>
                <a:spcPts val="0"/>
              </a:spcBef>
              <a:spcAft>
                <a:spcPts val="0"/>
              </a:spcAft>
              <a:buSzPts val="1400"/>
              <a:buNone/>
            </a:pPr>
            <a:endParaRPr lang="en-US" dirty="0"/>
          </a:p>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b="0" dirty="0"/>
              <a:t>Image credit: Ken Lane/Flickr [</a:t>
            </a:r>
            <a:r>
              <a:rPr lang="en-US" b="0" i="0" cap="all" dirty="0">
                <a:solidFill>
                  <a:srgbClr val="000000"/>
                </a:solidFill>
                <a:effectLst/>
                <a:latin typeface="roboto condensed" panose="020F0502020204030204" pitchFamily="34" charset="0"/>
              </a:rPr>
              <a:t>CC BY-NC-SA 2.0 DEED]</a:t>
            </a:r>
          </a:p>
          <a:p>
            <a:pPr marL="0" lvl="0" indent="0" algn="l" rtl="0">
              <a:lnSpc>
                <a:spcPct val="117999"/>
              </a:lnSpc>
              <a:spcBef>
                <a:spcPts val="0"/>
              </a:spcBef>
              <a:spcAft>
                <a:spcPts val="0"/>
              </a:spcAft>
              <a:buSzPts val="1400"/>
              <a:buNone/>
            </a:pPr>
            <a:endParaRPr dirty="0"/>
          </a:p>
        </p:txBody>
      </p:sp>
      <p:sp>
        <p:nvSpPr>
          <p:cNvPr id="176" name="Google Shape;17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184" name="Google Shape;18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a967ea5d19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a967ea5d19_0_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197" name="Google Shape;19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203" name="Google Shape;203;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209" name="Google Shape;20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215" name="Google Shape;21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221" name="Google Shape;22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227" name="Google Shape;22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credits: Left: R.J.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Hijmans</a:t>
            </a:r>
            <a:r>
              <a:rPr lang="en-US" sz="1800" dirty="0">
                <a:effectLst/>
                <a:latin typeface="Arial" panose="020B0604020202020204" pitchFamily="34" charset="0"/>
                <a:ea typeface="Calibri" panose="020F0502020204030204" pitchFamily="34" charset="0"/>
                <a:cs typeface="Times New Roman" panose="02020603050405020304" pitchFamily="18" charset="0"/>
              </a:rPr>
              <a:t> and J.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Elith</a:t>
            </a:r>
            <a:r>
              <a:rPr lang="en-US" sz="1800" dirty="0">
                <a:effectLst/>
                <a:latin typeface="Arial" panose="020B0604020202020204" pitchFamily="34" charset="0"/>
                <a:ea typeface="Calibri" panose="020F0502020204030204" pitchFamily="34" charset="0"/>
                <a:cs typeface="Times New Roman" panose="02020603050405020304" pitchFamily="18" charset="0"/>
              </a:rPr>
              <a:t>. Species distribution modeling. Available from: </a:t>
            </a:r>
            <a:r>
              <a:rPr lang="en-US" sz="1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https://rspatial.org/raster/sdm/index.html</a:t>
            </a:r>
            <a:r>
              <a:rPr lang="en-US" sz="1800" dirty="0">
                <a:effectLst/>
                <a:latin typeface="Arial" panose="020B0604020202020204" pitchFamily="34" charset="0"/>
                <a:ea typeface="Calibri" panose="020F0502020204030204" pitchFamily="34" charset="0"/>
                <a:cs typeface="Times New Roman" panose="02020603050405020304" pitchFamily="18" charset="0"/>
              </a:rPr>
              <a:t>  [CC BY-SA 4.0]. Right: D.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Zurell</a:t>
            </a:r>
            <a:r>
              <a:rPr lang="en-US" sz="1800" dirty="0">
                <a:effectLst/>
                <a:latin typeface="Arial" panose="020B0604020202020204" pitchFamily="34" charset="0"/>
                <a:ea typeface="Calibri" panose="020F0502020204030204" pitchFamily="34" charset="0"/>
                <a:cs typeface="Times New Roman" panose="02020603050405020304" pitchFamily="18" charset="0"/>
              </a:rPr>
              <a:t>. 2022. SDM algorithms. Available from: </a:t>
            </a:r>
            <a:r>
              <a:rPr lang="en-US" sz="1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4"/>
              </a:rPr>
              <a:t>https://damariszurell.github.io/EEC-MGC/b6_SDM_algorithms.html</a:t>
            </a:r>
            <a:r>
              <a:rPr lang="en-US" sz="1800" dirty="0">
                <a:effectLst/>
                <a:latin typeface="Arial" panose="020B0604020202020204" pitchFamily="34" charset="0"/>
                <a:ea typeface="Calibri" panose="020F0502020204030204" pitchFamily="34" charset="0"/>
                <a:cs typeface="Times New Roman" panose="02020603050405020304" pitchFamily="18" charset="0"/>
              </a:rPr>
              <a:t> [CC BY 4.0].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3" name="Google Shape;23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17999"/>
              </a:lnSpc>
              <a:spcBef>
                <a:spcPts val="0"/>
              </a:spcBef>
              <a:spcAft>
                <a:spcPts val="0"/>
              </a:spcAft>
              <a:buClr>
                <a:schemeClr val="dk1"/>
              </a:buClr>
              <a:buSzPts val="1400"/>
              <a:buFont typeface="Arial"/>
              <a:buNone/>
              <a:tabLst/>
              <a:defRPr/>
            </a:pPr>
            <a:r>
              <a:rPr lang="en-US" dirty="0">
                <a:solidFill>
                  <a:schemeClr val="dk1"/>
                </a:solidFill>
              </a:rPr>
              <a:t>Image credits: </a:t>
            </a:r>
            <a:r>
              <a:rPr lang="en-US" sz="1800" dirty="0">
                <a:effectLst/>
                <a:latin typeface="Arial" panose="020B0604020202020204" pitchFamily="34" charset="0"/>
                <a:ea typeface="Calibri" panose="020F0502020204030204" pitchFamily="34" charset="0"/>
                <a:cs typeface="Times New Roman" panose="02020603050405020304" pitchFamily="18" charset="0"/>
              </a:rPr>
              <a:t>D.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Zurell</a:t>
            </a:r>
            <a:r>
              <a:rPr lang="en-US" sz="1800" dirty="0">
                <a:effectLst/>
                <a:latin typeface="Arial" panose="020B0604020202020204" pitchFamily="34" charset="0"/>
                <a:ea typeface="Calibri" panose="020F0502020204030204" pitchFamily="34" charset="0"/>
                <a:cs typeface="Times New Roman" panose="02020603050405020304" pitchFamily="18" charset="0"/>
              </a:rPr>
              <a:t>. 2022. SDM algorithms. Available from: </a:t>
            </a:r>
            <a:r>
              <a:rPr lang="en-US" sz="1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https://damariszurell.github.io/EEC-MGC/b6_SDM_algorithms.html</a:t>
            </a:r>
            <a:r>
              <a:rPr lang="en-US" sz="1800" dirty="0">
                <a:effectLst/>
                <a:latin typeface="Arial" panose="020B0604020202020204" pitchFamily="34" charset="0"/>
                <a:ea typeface="Calibri" panose="020F0502020204030204" pitchFamily="34" charset="0"/>
                <a:cs typeface="Times New Roman" panose="02020603050405020304" pitchFamily="18" charset="0"/>
              </a:rPr>
              <a:t> [CC BY 4.0].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spcBef>
                <a:spcPts val="0"/>
              </a:spcBef>
              <a:spcAft>
                <a:spcPts val="0"/>
              </a:spcAft>
              <a:buClr>
                <a:schemeClr val="dk1"/>
              </a:buClr>
              <a:buSzPts val="1400"/>
              <a:buFont typeface="Arial"/>
              <a:buNone/>
            </a:pPr>
            <a:endParaRPr dirty="0">
              <a:solidFill>
                <a:schemeClr val="dk1"/>
              </a:solidFill>
            </a:endParaRPr>
          </a:p>
          <a:p>
            <a:pPr marL="0" lvl="0" indent="0" algn="l" rtl="0">
              <a:lnSpc>
                <a:spcPct val="117999"/>
              </a:lnSpc>
              <a:spcBef>
                <a:spcPts val="0"/>
              </a:spcBef>
              <a:spcAft>
                <a:spcPts val="0"/>
              </a:spcAft>
              <a:buSzPts val="1400"/>
              <a:buNone/>
            </a:pPr>
            <a:endParaRPr dirty="0"/>
          </a:p>
        </p:txBody>
      </p:sp>
      <p:sp>
        <p:nvSpPr>
          <p:cNvPr id="243" name="Google Shape;24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D.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Zurell</a:t>
            </a:r>
            <a:r>
              <a:rPr lang="en-US" sz="1800" dirty="0">
                <a:effectLst/>
                <a:latin typeface="Arial" panose="020B0604020202020204" pitchFamily="34" charset="0"/>
                <a:ea typeface="Calibri" panose="020F0502020204030204" pitchFamily="34" charset="0"/>
                <a:cs typeface="Times New Roman" panose="02020603050405020304" pitchFamily="18" charset="0"/>
              </a:rPr>
              <a:t>. 2022. SDM algorithms. Available from: </a:t>
            </a:r>
            <a:r>
              <a:rPr lang="en-US" sz="1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https://damariszurell.github.io/EEC-MGC/b6_SDM_algorithms.html</a:t>
            </a:r>
            <a:r>
              <a:rPr lang="en-US" sz="1800" dirty="0">
                <a:effectLst/>
                <a:latin typeface="Arial" panose="020B0604020202020204" pitchFamily="34" charset="0"/>
                <a:ea typeface="Calibri" panose="020F0502020204030204" pitchFamily="34" charset="0"/>
                <a:cs typeface="Times New Roman" panose="02020603050405020304" pitchFamily="18" charset="0"/>
              </a:rPr>
              <a:t> [CC BY 4.0].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253" name="Google Shape;25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22860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2400" dirty="0">
                <a:effectLst/>
                <a:latin typeface="Arial" panose="020B0604020202020204" pitchFamily="34" charset="0"/>
                <a:ea typeface="Calibri" panose="020F0502020204030204" pitchFamily="34" charset="0"/>
                <a:cs typeface="Times New Roman" panose="02020603050405020304" pitchFamily="18" charset="0"/>
              </a:rPr>
              <a:t>Image credit: Left: </a:t>
            </a:r>
            <a:r>
              <a:rPr lang="en-US" sz="1800" dirty="0">
                <a:effectLst/>
                <a:latin typeface="Arial" panose="020B0604020202020204" pitchFamily="34" charset="0"/>
                <a:ea typeface="Calibri" panose="020F0502020204030204" pitchFamily="34" charset="0"/>
                <a:cs typeface="Times New Roman" panose="02020603050405020304" pitchFamily="18" charset="0"/>
              </a:rPr>
              <a:t>Random Forest. 2021. </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Biodiversity and Climate Change Virtual Laboratory</a:t>
            </a:r>
            <a:r>
              <a:rPr lang="en-US" sz="1800" dirty="0">
                <a:effectLst/>
                <a:latin typeface="Arial" panose="020B0604020202020204" pitchFamily="34" charset="0"/>
                <a:ea typeface="Calibri" panose="020F0502020204030204" pitchFamily="34" charset="0"/>
                <a:cs typeface="Times New Roman" panose="02020603050405020304" pitchFamily="18" charset="0"/>
              </a:rPr>
              <a:t>. Available from: </a:t>
            </a:r>
            <a:r>
              <a:rPr lang="en-US" sz="1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https://support.bccvl.org.au/support/solutions/articles/6000083217-random-forest</a:t>
            </a:r>
            <a:r>
              <a:rPr lang="en-US" sz="18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Right: D.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Zurell</a:t>
            </a:r>
            <a:r>
              <a:rPr lang="en-US" sz="2400" dirty="0">
                <a:effectLst/>
                <a:latin typeface="Arial" panose="020B0604020202020204" pitchFamily="34" charset="0"/>
                <a:ea typeface="Calibri" panose="020F0502020204030204" pitchFamily="34" charset="0"/>
                <a:cs typeface="Times New Roman" panose="02020603050405020304" pitchFamily="18" charset="0"/>
              </a:rPr>
              <a:t>. 2022. SDM algorithms. Available from: </a:t>
            </a:r>
            <a:r>
              <a:rPr lang="en-US" sz="24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4"/>
              </a:rPr>
              <a:t>https://damariszurell.github.io/EEC-MGC/b6_SDM_algorithms.html</a:t>
            </a:r>
            <a:r>
              <a:rPr lang="en-US" sz="2400" dirty="0">
                <a:effectLst/>
                <a:latin typeface="Arial" panose="020B0604020202020204" pitchFamily="34" charset="0"/>
                <a:ea typeface="Calibri" panose="020F0502020204030204" pitchFamily="34" charset="0"/>
                <a:cs typeface="Times New Roman" panose="02020603050405020304" pitchFamily="18" charset="0"/>
              </a:rPr>
              <a:t> [CC BY 4.0].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lang="en-US" dirty="0"/>
          </a:p>
          <a:p>
            <a:pPr marL="0" lvl="0" indent="0" algn="l" rtl="0">
              <a:lnSpc>
                <a:spcPct val="117999"/>
              </a:lnSpc>
              <a:spcBef>
                <a:spcPts val="0"/>
              </a:spcBef>
              <a:spcAft>
                <a:spcPts val="0"/>
              </a:spcAft>
              <a:buSzPts val="1400"/>
              <a:buNone/>
            </a:pPr>
            <a:endParaRPr dirty="0"/>
          </a:p>
        </p:txBody>
      </p:sp>
      <p:sp>
        <p:nvSpPr>
          <p:cNvPr id="264" name="Google Shape;26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22860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3200" dirty="0">
                <a:effectLst/>
                <a:latin typeface="Arial" panose="020B0604020202020204" pitchFamily="34" charset="0"/>
                <a:ea typeface="Calibri" panose="020F0502020204030204" pitchFamily="34" charset="0"/>
                <a:cs typeface="Times New Roman" panose="02020603050405020304" pitchFamily="18" charset="0"/>
              </a:rPr>
              <a:t>Image credit: Left: </a:t>
            </a:r>
            <a:r>
              <a:rPr lang="en-US" sz="2400" dirty="0">
                <a:effectLst/>
                <a:latin typeface="Arial" panose="020B0604020202020204" pitchFamily="34" charset="0"/>
                <a:ea typeface="Calibri" panose="020F0502020204030204" pitchFamily="34" charset="0"/>
                <a:cs typeface="Times New Roman" panose="02020603050405020304" pitchFamily="18" charset="0"/>
              </a:rPr>
              <a:t>Random Forest. 2021. </a:t>
            </a:r>
            <a:r>
              <a:rPr lang="en-US" sz="24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Biodiversity and Climate Change Virtual Laboratory</a:t>
            </a:r>
            <a:r>
              <a:rPr lang="en-US" sz="2400" dirty="0">
                <a:effectLst/>
                <a:latin typeface="Arial" panose="020B0604020202020204" pitchFamily="34" charset="0"/>
                <a:ea typeface="Calibri" panose="020F0502020204030204" pitchFamily="34" charset="0"/>
                <a:cs typeface="Times New Roman" panose="02020603050405020304" pitchFamily="18" charset="0"/>
              </a:rPr>
              <a:t>. Available from: </a:t>
            </a:r>
            <a:r>
              <a:rPr lang="en-US" sz="24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https://support.bccvl.org.au/support/solutions/articles/6000083217-random-forest</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3200" dirty="0">
                <a:effectLst/>
                <a:latin typeface="Arial" panose="020B0604020202020204" pitchFamily="34" charset="0"/>
                <a:ea typeface="Calibri" panose="020F0502020204030204" pitchFamily="34" charset="0"/>
                <a:cs typeface="Times New Roman" panose="02020603050405020304" pitchFamily="18" charset="0"/>
              </a:rPr>
              <a:t>Right: D. </a:t>
            </a:r>
            <a:r>
              <a:rPr lang="en-US" sz="3200" dirty="0" err="1">
                <a:effectLst/>
                <a:latin typeface="Arial" panose="020B0604020202020204" pitchFamily="34" charset="0"/>
                <a:ea typeface="Calibri" panose="020F0502020204030204" pitchFamily="34" charset="0"/>
                <a:cs typeface="Times New Roman" panose="02020603050405020304" pitchFamily="18" charset="0"/>
              </a:rPr>
              <a:t>Zurell</a:t>
            </a:r>
            <a:r>
              <a:rPr lang="en-US" sz="3200" dirty="0">
                <a:effectLst/>
                <a:latin typeface="Arial" panose="020B0604020202020204" pitchFamily="34" charset="0"/>
                <a:ea typeface="Calibri" panose="020F0502020204030204" pitchFamily="34" charset="0"/>
                <a:cs typeface="Times New Roman" panose="02020603050405020304" pitchFamily="18" charset="0"/>
              </a:rPr>
              <a:t>. 2022. SDM algorithms. Available from: </a:t>
            </a:r>
            <a:r>
              <a:rPr lang="en-US" sz="32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4"/>
              </a:rPr>
              <a:t>https://damariszurell.github.io/EEC-MGC/b6_SDM_algorithms.html</a:t>
            </a:r>
            <a:r>
              <a:rPr lang="en-US" sz="3200" dirty="0">
                <a:effectLst/>
                <a:latin typeface="Arial" panose="020B0604020202020204" pitchFamily="34" charset="0"/>
                <a:ea typeface="Calibri" panose="020F0502020204030204" pitchFamily="34" charset="0"/>
                <a:cs typeface="Times New Roman" panose="02020603050405020304" pitchFamily="18" charset="0"/>
              </a:rPr>
              <a:t> [CC BY 4.0].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lang="en-US" dirty="0"/>
          </a:p>
          <a:p>
            <a:pPr marL="0" lvl="0" indent="0" algn="l" rtl="0">
              <a:lnSpc>
                <a:spcPct val="117999"/>
              </a:lnSpc>
              <a:spcBef>
                <a:spcPts val="0"/>
              </a:spcBef>
              <a:spcAft>
                <a:spcPts val="0"/>
              </a:spcAft>
              <a:buSzPts val="1400"/>
              <a:buNone/>
            </a:pPr>
            <a:endParaRPr lang="en-US" dirty="0"/>
          </a:p>
          <a:p>
            <a:pPr marL="0" lvl="0" indent="0" algn="l" rtl="0">
              <a:lnSpc>
                <a:spcPct val="117999"/>
              </a:lnSpc>
              <a:spcBef>
                <a:spcPts val="0"/>
              </a:spcBef>
              <a:spcAft>
                <a:spcPts val="0"/>
              </a:spcAft>
              <a:buSzPts val="1400"/>
              <a:buNone/>
            </a:pPr>
            <a:endParaRPr dirty="0"/>
          </a:p>
        </p:txBody>
      </p:sp>
      <p:sp>
        <p:nvSpPr>
          <p:cNvPr id="275" name="Google Shape;27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286" name="Google Shape;28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22860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2800" dirty="0">
                <a:effectLst/>
                <a:latin typeface="Arial" panose="020B0604020202020204" pitchFamily="34" charset="0"/>
                <a:ea typeface="Calibri" panose="020F0502020204030204" pitchFamily="34" charset="0"/>
                <a:cs typeface="Times New Roman" panose="02020603050405020304" pitchFamily="18" charset="0"/>
              </a:rPr>
              <a:t>Image credit: Left: </a:t>
            </a:r>
            <a:r>
              <a:rPr lang="en-US" sz="2000" dirty="0">
                <a:effectLst/>
                <a:latin typeface="Arial" panose="020B0604020202020204" pitchFamily="34" charset="0"/>
                <a:ea typeface="Calibri" panose="020F0502020204030204" pitchFamily="34" charset="0"/>
                <a:cs typeface="Times New Roman" panose="02020603050405020304" pitchFamily="18" charset="0"/>
              </a:rPr>
              <a:t>Maxent. 2021. </a:t>
            </a:r>
            <a:r>
              <a:rPr lang="en-US" sz="20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Biodiversity and Climate Change Virtual Laboratory</a:t>
            </a:r>
            <a:r>
              <a:rPr lang="en-US" sz="2000" dirty="0">
                <a:effectLst/>
                <a:latin typeface="Arial" panose="020B0604020202020204" pitchFamily="34" charset="0"/>
                <a:ea typeface="Calibri" panose="020F0502020204030204" pitchFamily="34" charset="0"/>
                <a:cs typeface="Times New Roman" panose="02020603050405020304" pitchFamily="18" charset="0"/>
              </a:rPr>
              <a:t>. Available from: </a:t>
            </a:r>
            <a:r>
              <a:rPr lang="en-US" sz="2000" b="0" i="0" u="none" strike="noStrike" cap="none" dirty="0">
                <a:solidFill>
                  <a:srgbClr val="FFFFFF"/>
                </a:solidFill>
                <a:latin typeface="Helvetica Neue"/>
                <a:ea typeface="Helvetica Neue"/>
                <a:cs typeface="Helvetica Neue"/>
                <a:sym typeface="Helvetica Neue"/>
              </a:rPr>
              <a:t>https://</a:t>
            </a:r>
            <a:r>
              <a:rPr lang="en-US" sz="2000" b="0" i="0" u="none" strike="noStrike" cap="none" dirty="0" err="1">
                <a:solidFill>
                  <a:srgbClr val="FFFFFF"/>
                </a:solidFill>
                <a:latin typeface="Helvetica Neue"/>
                <a:ea typeface="Helvetica Neue"/>
                <a:cs typeface="Helvetica Neue"/>
                <a:sym typeface="Helvetica Neue"/>
              </a:rPr>
              <a:t>support.bccvl.org.au</a:t>
            </a:r>
            <a:r>
              <a:rPr lang="en-US" sz="2000" b="0" i="0" u="none" strike="noStrike" cap="none" dirty="0">
                <a:solidFill>
                  <a:srgbClr val="FFFFFF"/>
                </a:solidFill>
                <a:latin typeface="Helvetica Neue"/>
                <a:ea typeface="Helvetica Neue"/>
                <a:cs typeface="Helvetica Neue"/>
                <a:sym typeface="Helvetica Neue"/>
              </a:rPr>
              <a:t>/support/solutions/articles/6000083216-maxent</a:t>
            </a:r>
            <a:r>
              <a:rPr lang="en-US" sz="2000" dirty="0">
                <a:effectLst/>
                <a:latin typeface="Arial" panose="020B0604020202020204" pitchFamily="34" charset="0"/>
                <a:ea typeface="Calibri" panose="020F0502020204030204" pitchFamily="34" charset="0"/>
                <a:cs typeface="Times New Roman" panose="02020603050405020304" pitchFamily="18" charset="0"/>
              </a:rPr>
              <a:t>. </a:t>
            </a:r>
            <a:r>
              <a:rPr lang="en-US" sz="2800" dirty="0">
                <a:effectLst/>
                <a:latin typeface="Arial" panose="020B0604020202020204" pitchFamily="34" charset="0"/>
                <a:ea typeface="Calibri" panose="020F0502020204030204" pitchFamily="34" charset="0"/>
                <a:cs typeface="Times New Roman" panose="02020603050405020304" pitchFamily="18" charset="0"/>
              </a:rPr>
              <a:t>Right: D. </a:t>
            </a:r>
            <a:r>
              <a:rPr lang="en-US" sz="2800" dirty="0" err="1">
                <a:effectLst/>
                <a:latin typeface="Arial" panose="020B0604020202020204" pitchFamily="34" charset="0"/>
                <a:ea typeface="Calibri" panose="020F0502020204030204" pitchFamily="34" charset="0"/>
                <a:cs typeface="Times New Roman" panose="02020603050405020304" pitchFamily="18" charset="0"/>
              </a:rPr>
              <a:t>Zurell</a:t>
            </a:r>
            <a:r>
              <a:rPr lang="en-US" sz="2800" dirty="0">
                <a:effectLst/>
                <a:latin typeface="Arial" panose="020B0604020202020204" pitchFamily="34" charset="0"/>
                <a:ea typeface="Calibri" panose="020F0502020204030204" pitchFamily="34" charset="0"/>
                <a:cs typeface="Times New Roman" panose="02020603050405020304" pitchFamily="18" charset="0"/>
              </a:rPr>
              <a:t>. 2022. SDM algorithms. Available from: </a:t>
            </a:r>
            <a:r>
              <a:rPr lang="en-US" sz="2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https://damariszurell.github.io/EEC-MGC/b6_SDM_algorithms.html</a:t>
            </a:r>
            <a:r>
              <a:rPr lang="en-US" sz="2800" dirty="0">
                <a:effectLst/>
                <a:latin typeface="Arial" panose="020B0604020202020204" pitchFamily="34" charset="0"/>
                <a:ea typeface="Calibri" panose="020F0502020204030204" pitchFamily="34" charset="0"/>
                <a:cs typeface="Times New Roman" panose="02020603050405020304" pitchFamily="18" charset="0"/>
              </a:rPr>
              <a:t> [CC BY 4.0]. </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lang="en-US" dirty="0"/>
          </a:p>
          <a:p>
            <a:pPr marL="0" lvl="0" indent="0" algn="l" rtl="0">
              <a:lnSpc>
                <a:spcPct val="117999"/>
              </a:lnSpc>
              <a:spcBef>
                <a:spcPts val="0"/>
              </a:spcBef>
              <a:spcAft>
                <a:spcPts val="0"/>
              </a:spcAft>
              <a:buSzPts val="1400"/>
              <a:buNone/>
            </a:pPr>
            <a:endParaRPr lang="en-US" dirty="0"/>
          </a:p>
          <a:p>
            <a:pPr marL="0" lvl="0" indent="0" algn="l" rtl="0">
              <a:lnSpc>
                <a:spcPct val="117999"/>
              </a:lnSpc>
              <a:spcBef>
                <a:spcPts val="0"/>
              </a:spcBef>
              <a:spcAft>
                <a:spcPts val="0"/>
              </a:spcAft>
              <a:buSzPts val="1400"/>
              <a:buNone/>
            </a:pPr>
            <a:endParaRPr lang="en-US" dirty="0"/>
          </a:p>
          <a:p>
            <a:pPr marL="0" lvl="0" indent="0" algn="l" rtl="0">
              <a:lnSpc>
                <a:spcPct val="117999"/>
              </a:lnSpc>
              <a:spcBef>
                <a:spcPts val="0"/>
              </a:spcBef>
              <a:spcAft>
                <a:spcPts val="0"/>
              </a:spcAft>
              <a:buSzPts val="1400"/>
              <a:buNone/>
            </a:pPr>
            <a:endParaRPr dirty="0"/>
          </a:p>
        </p:txBody>
      </p:sp>
      <p:sp>
        <p:nvSpPr>
          <p:cNvPr id="292" name="Google Shape;29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303" name="Google Shape;30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Image credits: A. Paz.</a:t>
            </a:r>
            <a:endParaRPr dirty="0"/>
          </a:p>
        </p:txBody>
      </p:sp>
      <p:sp>
        <p:nvSpPr>
          <p:cNvPr id="310" name="Google Shape;31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Image credit: Peterson et al. 2011</a:t>
            </a:r>
            <a:endParaRPr dirty="0"/>
          </a:p>
        </p:txBody>
      </p:sp>
      <p:sp>
        <p:nvSpPr>
          <p:cNvPr id="324" name="Google Shape;324;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332" name="Google Shape;33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solidFill>
                  <a:schemeClr val="dk1"/>
                </a:solidFill>
              </a:rPr>
              <a:t>Image credit: Modified by A. Paz </a:t>
            </a:r>
            <a:r>
              <a:rPr lang="en-US" sz="2400" b="0" i="0" u="none" strike="noStrike" cap="none" dirty="0">
                <a:solidFill>
                  <a:srgbClr val="000000"/>
                </a:solidFill>
                <a:latin typeface="Helvetica Neue"/>
                <a:ea typeface="Helvetica Neue"/>
                <a:cs typeface="Helvetica Neue"/>
                <a:sym typeface="Helvetica Neue"/>
              </a:rPr>
              <a:t>from course materials by Peterson, </a:t>
            </a:r>
            <a:r>
              <a:rPr lang="en-US" sz="2400" b="0" i="0" u="none" strike="noStrike" cap="none" dirty="0" err="1">
                <a:solidFill>
                  <a:srgbClr val="000000"/>
                </a:solidFill>
                <a:latin typeface="Helvetica Neue"/>
                <a:ea typeface="Helvetica Neue"/>
                <a:cs typeface="Helvetica Neue"/>
                <a:sym typeface="Helvetica Neue"/>
              </a:rPr>
              <a:t>Soberon</a:t>
            </a:r>
            <a:r>
              <a:rPr lang="en-US" sz="2400" b="0" i="0" u="none" strike="noStrike" cap="none" dirty="0">
                <a:solidFill>
                  <a:srgbClr val="000000"/>
                </a:solidFill>
                <a:latin typeface="Helvetica Neue"/>
                <a:ea typeface="Helvetica Neue"/>
                <a:cs typeface="Helvetica Neue"/>
                <a:sym typeface="Helvetica Neue"/>
              </a:rPr>
              <a:t> &amp; Martinez-Meyer, 2013.</a:t>
            </a:r>
          </a:p>
          <a:p>
            <a:pPr marL="0" lvl="0" indent="0" algn="l" rtl="0">
              <a:lnSpc>
                <a:spcPct val="117999"/>
              </a:lnSpc>
              <a:spcBef>
                <a:spcPts val="0"/>
              </a:spcBef>
              <a:spcAft>
                <a:spcPts val="0"/>
              </a:spcAft>
              <a:buSzPts val="1400"/>
              <a:buNone/>
            </a:pPr>
            <a:endParaRPr dirty="0"/>
          </a:p>
        </p:txBody>
      </p:sp>
      <p:sp>
        <p:nvSpPr>
          <p:cNvPr id="339" name="Google Shape;33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Modified by A. Paz from course materials by Peterson,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Soberon</a:t>
            </a:r>
            <a:r>
              <a:rPr lang="en-US" sz="1800" dirty="0">
                <a:effectLst/>
                <a:latin typeface="Arial" panose="020B0604020202020204" pitchFamily="34" charset="0"/>
                <a:ea typeface="Calibri" panose="020F0502020204030204" pitchFamily="34" charset="0"/>
                <a:cs typeface="Times New Roman" panose="02020603050405020304" pitchFamily="18" charset="0"/>
              </a:rPr>
              <a:t> &amp; Martinez-Meyer, 2013.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347" name="Google Shape;347;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Modified by A. Paz from course materials by Peterson,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Soberon</a:t>
            </a:r>
            <a:r>
              <a:rPr lang="en-US" sz="1800" dirty="0">
                <a:effectLst/>
                <a:latin typeface="Arial" panose="020B0604020202020204" pitchFamily="34" charset="0"/>
                <a:ea typeface="Calibri" panose="020F0502020204030204" pitchFamily="34" charset="0"/>
                <a:cs typeface="Times New Roman" panose="02020603050405020304" pitchFamily="18" charset="0"/>
              </a:rPr>
              <a:t> &amp; Martinez-Meyer. 2013.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355" name="Google Shape;35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from M.E. Aiello-</a:t>
            </a:r>
            <a:r>
              <a:rPr lang="en-US" sz="1800" dirty="0" err="1">
                <a:effectLst/>
                <a:latin typeface="Arial" panose="020B0604020202020204" pitchFamily="34" charset="0"/>
                <a:ea typeface="Calibri" panose="020F0502020204030204" pitchFamily="34" charset="0"/>
                <a:cs typeface="Times New Roman" panose="02020603050405020304" pitchFamily="18" charset="0"/>
              </a:rPr>
              <a:t>Lammens</a:t>
            </a:r>
            <a:r>
              <a:rPr lang="en-US" sz="1800" dirty="0">
                <a:effectLst/>
                <a:latin typeface="Arial" panose="020B0604020202020204" pitchFamily="34" charset="0"/>
                <a:ea typeface="Calibri" panose="020F0502020204030204" pitchFamily="34" charset="0"/>
                <a:cs typeface="Times New Roman" panose="02020603050405020304" pitchFamily="18" charset="0"/>
              </a:rPr>
              <a:t>, R.A.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Boria</a:t>
            </a:r>
            <a:r>
              <a:rPr lang="en-US" sz="1800" dirty="0">
                <a:effectLst/>
                <a:latin typeface="Arial" panose="020B0604020202020204" pitchFamily="34" charset="0"/>
                <a:ea typeface="Calibri" panose="020F0502020204030204" pitchFamily="34" charset="0"/>
                <a:cs typeface="Times New Roman" panose="02020603050405020304" pitchFamily="18" charset="0"/>
              </a:rPr>
              <a:t>, A. Radosavljevic, B. Vilela, and R.P. Anderson. 2015.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spThin</a:t>
            </a:r>
            <a:r>
              <a:rPr lang="en-US" sz="1800" dirty="0">
                <a:effectLst/>
                <a:latin typeface="Arial" panose="020B0604020202020204" pitchFamily="34" charset="0"/>
                <a:ea typeface="Calibri" panose="020F0502020204030204" pitchFamily="34" charset="0"/>
                <a:cs typeface="Times New Roman" panose="02020603050405020304" pitchFamily="18" charset="0"/>
              </a:rPr>
              <a:t>: an R package for spatial thinning of species occurrence records for use in ecological niche models.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Ecography</a:t>
            </a:r>
            <a:r>
              <a:rPr lang="en-US" sz="1800" dirty="0">
                <a:effectLst/>
                <a:latin typeface="Arial" panose="020B0604020202020204" pitchFamily="34" charset="0"/>
                <a:ea typeface="Calibri" panose="020F0502020204030204" pitchFamily="34" charset="0"/>
                <a:cs typeface="Times New Roman" panose="02020603050405020304" pitchFamily="18" charset="0"/>
              </a:rPr>
              <a:t> 38:541-545. https://</a:t>
            </a:r>
            <a:r>
              <a:rPr lang="en-US" sz="1800" dirty="0" err="1">
                <a:effectLst/>
                <a:latin typeface="Arial" panose="020B0604020202020204" pitchFamily="34" charset="0"/>
                <a:ea typeface="Calibri" panose="020F0502020204030204" pitchFamily="34" charset="0"/>
                <a:cs typeface="Times New Roman" panose="02020603050405020304" pitchFamily="18" charset="0"/>
              </a:rPr>
              <a:t>doi.org</a:t>
            </a:r>
            <a:r>
              <a:rPr lang="en-US" sz="1800" dirty="0">
                <a:effectLst/>
                <a:latin typeface="Arial" panose="020B0604020202020204" pitchFamily="34" charset="0"/>
                <a:ea typeface="Calibri" panose="020F0502020204030204" pitchFamily="34" charset="0"/>
                <a:cs typeface="Times New Roman" panose="02020603050405020304" pitchFamily="18" charset="0"/>
              </a:rPr>
              <a:t>/10.1111/ecog.01132.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solidFill>
                <a:schemeClr val="dk1"/>
              </a:solidFill>
            </a:endParaRPr>
          </a:p>
          <a:p>
            <a:pPr marL="0" lvl="0" indent="0" algn="l" rtl="0">
              <a:lnSpc>
                <a:spcPct val="117999"/>
              </a:lnSpc>
              <a:spcBef>
                <a:spcPts val="0"/>
              </a:spcBef>
              <a:spcAft>
                <a:spcPts val="0"/>
              </a:spcAft>
              <a:buSzPts val="1400"/>
              <a:buNone/>
            </a:pPr>
            <a:endParaRPr dirty="0"/>
          </a:p>
        </p:txBody>
      </p:sp>
      <p:sp>
        <p:nvSpPr>
          <p:cNvPr id="363" name="Google Shape;363;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from S.J. Phillips, M.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Dudík</a:t>
            </a:r>
            <a:r>
              <a:rPr lang="en-US" sz="1800" dirty="0">
                <a:effectLst/>
                <a:latin typeface="Arial" panose="020B0604020202020204" pitchFamily="34" charset="0"/>
                <a:ea typeface="Calibri" panose="020F0502020204030204" pitchFamily="34" charset="0"/>
                <a:cs typeface="Times New Roman" panose="02020603050405020304" pitchFamily="18" charset="0"/>
              </a:rPr>
              <a:t>, J.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Elith</a:t>
            </a:r>
            <a:r>
              <a:rPr lang="en-US" sz="1800" dirty="0">
                <a:effectLst/>
                <a:latin typeface="Arial" panose="020B0604020202020204" pitchFamily="34" charset="0"/>
                <a:ea typeface="Calibri" panose="020F0502020204030204" pitchFamily="34" charset="0"/>
                <a:cs typeface="Times New Roman" panose="02020603050405020304" pitchFamily="18" charset="0"/>
              </a:rPr>
              <a:t>, C.H. Graham, A. Lehmann, J.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Leathwick</a:t>
            </a:r>
            <a:r>
              <a:rPr lang="en-US" sz="1800" dirty="0">
                <a:effectLst/>
                <a:latin typeface="Arial" panose="020B0604020202020204" pitchFamily="34" charset="0"/>
                <a:ea typeface="Calibri" panose="020F0502020204030204" pitchFamily="34" charset="0"/>
                <a:cs typeface="Times New Roman" panose="02020603050405020304" pitchFamily="18" charset="0"/>
              </a:rPr>
              <a:t>, and S. Ferrier. 2009. Sample selection bias and presence-only distribution models: implications for background and pseudo-absence data. Ecological Applications 19:181-197. </a:t>
            </a:r>
            <a:r>
              <a:rPr lang="en-US" sz="1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https://doi.org/10.1890/07-2153.1</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p>
          <a:p>
            <a:pPr marL="0" marR="0">
              <a:spcBef>
                <a:spcPts val="0"/>
              </a:spcBef>
              <a:spcAft>
                <a:spcPts val="0"/>
              </a:spcAft>
            </a:pP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Golden-crowned kinglet. Barbara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Schelkle</a:t>
            </a:r>
            <a:r>
              <a:rPr lang="en-US" sz="1800" dirty="0">
                <a:effectLst/>
                <a:latin typeface="Arial" panose="020B0604020202020204" pitchFamily="34" charset="0"/>
                <a:ea typeface="Calibri" panose="020F0502020204030204" pitchFamily="34" charset="0"/>
                <a:cs typeface="Times New Roman" panose="02020603050405020304" pitchFamily="18" charset="0"/>
              </a:rPr>
              <a:t>/ Wikimedia Commons [CC BY-SA 4.0}</a:t>
            </a:r>
            <a:endParaRPr dirty="0"/>
          </a:p>
        </p:txBody>
      </p:sp>
      <p:sp>
        <p:nvSpPr>
          <p:cNvPr id="370" name="Google Shape;37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Models created without and with target group background [target group being the sampling density for all birds in the province as shown in the upper right]. These models were built using Maxent.</a:t>
            </a:r>
            <a:endParaRPr dirty="0"/>
          </a:p>
          <a:p>
            <a:pPr marL="0" lvl="0" indent="0" algn="l" rtl="0">
              <a:lnSpc>
                <a:spcPct val="117999"/>
              </a:lnSpc>
              <a:spcBef>
                <a:spcPts val="0"/>
              </a:spcBef>
              <a:spcAft>
                <a:spcPts val="0"/>
              </a:spcAft>
              <a:buSzPts val="1400"/>
              <a:buNone/>
            </a:pPr>
            <a:endParaRPr dirty="0"/>
          </a:p>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from S.J. Phillips, M.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Dudík</a:t>
            </a:r>
            <a:r>
              <a:rPr lang="en-US" sz="1800" dirty="0">
                <a:effectLst/>
                <a:latin typeface="Arial" panose="020B0604020202020204" pitchFamily="34" charset="0"/>
                <a:ea typeface="Calibri" panose="020F0502020204030204" pitchFamily="34" charset="0"/>
                <a:cs typeface="Times New Roman" panose="02020603050405020304" pitchFamily="18" charset="0"/>
              </a:rPr>
              <a:t>, J.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Elith</a:t>
            </a:r>
            <a:r>
              <a:rPr lang="en-US" sz="1800" dirty="0">
                <a:effectLst/>
                <a:latin typeface="Arial" panose="020B0604020202020204" pitchFamily="34" charset="0"/>
                <a:ea typeface="Calibri" panose="020F0502020204030204" pitchFamily="34" charset="0"/>
                <a:cs typeface="Times New Roman" panose="02020603050405020304" pitchFamily="18" charset="0"/>
              </a:rPr>
              <a:t>, C.H. Graham, A. Lehmann, J.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Leathwick</a:t>
            </a:r>
            <a:r>
              <a:rPr lang="en-US" sz="1800" dirty="0">
                <a:effectLst/>
                <a:latin typeface="Arial" panose="020B0604020202020204" pitchFamily="34" charset="0"/>
                <a:ea typeface="Calibri" panose="020F0502020204030204" pitchFamily="34" charset="0"/>
                <a:cs typeface="Times New Roman" panose="02020603050405020304" pitchFamily="18" charset="0"/>
              </a:rPr>
              <a:t>, and S. Ferrier. 2009. Sample selection bias and presence-only distribution models: implications for background and pseudo-absence data. Ecological Applications 19:181-197. </a:t>
            </a:r>
            <a:r>
              <a:rPr lang="en-US" sz="18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https://doi.org/10.1890/07-2153.1</a:t>
            </a:r>
            <a:r>
              <a:rPr lang="en-US" sz="1800" dirty="0">
                <a:effectLst/>
                <a:latin typeface="Arial" panose="020B060402020202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lang="en-US" dirty="0"/>
          </a:p>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2400" dirty="0">
                <a:effectLst/>
                <a:latin typeface="Arial" panose="020B0604020202020204" pitchFamily="34" charset="0"/>
                <a:ea typeface="Calibri" panose="020F0502020204030204" pitchFamily="34" charset="0"/>
                <a:cs typeface="Times New Roman" panose="02020603050405020304" pitchFamily="18" charset="0"/>
              </a:rPr>
              <a:t>Image credit: Golden-crowned kinglet. Barbara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Schelkle</a:t>
            </a:r>
            <a:r>
              <a:rPr lang="en-US" sz="2400" dirty="0">
                <a:effectLst/>
                <a:latin typeface="Arial" panose="020B0604020202020204" pitchFamily="34" charset="0"/>
                <a:ea typeface="Calibri" panose="020F0502020204030204" pitchFamily="34" charset="0"/>
                <a:cs typeface="Times New Roman" panose="02020603050405020304" pitchFamily="18" charset="0"/>
              </a:rPr>
              <a:t>/ Wikimedia Commons [CC BY-SA 4.0]</a:t>
            </a:r>
            <a:endParaRPr lang="en-US" dirty="0"/>
          </a:p>
          <a:p>
            <a:pPr marL="0" lvl="0" indent="0" algn="l" rtl="0">
              <a:lnSpc>
                <a:spcPct val="117999"/>
              </a:lnSpc>
              <a:spcBef>
                <a:spcPts val="0"/>
              </a:spcBef>
              <a:spcAft>
                <a:spcPts val="0"/>
              </a:spcAft>
              <a:buSzPts val="1400"/>
              <a:buNone/>
            </a:pPr>
            <a:endParaRPr dirty="0"/>
          </a:p>
        </p:txBody>
      </p:sp>
      <p:sp>
        <p:nvSpPr>
          <p:cNvPr id="381" name="Google Shape;381;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Image credit: Adapted from S.J. Phillips, M.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Dudík</a:t>
            </a:r>
            <a:r>
              <a:rPr lang="en-US" sz="2400" dirty="0">
                <a:effectLst/>
                <a:latin typeface="Arial" panose="020B0604020202020204" pitchFamily="34" charset="0"/>
                <a:ea typeface="Calibri" panose="020F0502020204030204" pitchFamily="34" charset="0"/>
                <a:cs typeface="Times New Roman" panose="02020603050405020304" pitchFamily="18" charset="0"/>
              </a:rPr>
              <a:t>, J.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Elith</a:t>
            </a:r>
            <a:r>
              <a:rPr lang="en-US" sz="2400" dirty="0">
                <a:effectLst/>
                <a:latin typeface="Arial" panose="020B0604020202020204" pitchFamily="34" charset="0"/>
                <a:ea typeface="Calibri" panose="020F0502020204030204" pitchFamily="34" charset="0"/>
                <a:cs typeface="Times New Roman" panose="02020603050405020304" pitchFamily="18" charset="0"/>
              </a:rPr>
              <a:t>, C.H. Graham, A. Lehmann, J.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Leathwick</a:t>
            </a:r>
            <a:r>
              <a:rPr lang="en-US" sz="2400" dirty="0">
                <a:effectLst/>
                <a:latin typeface="Arial" panose="020B0604020202020204" pitchFamily="34" charset="0"/>
                <a:ea typeface="Calibri" panose="020F0502020204030204" pitchFamily="34" charset="0"/>
                <a:cs typeface="Times New Roman" panose="02020603050405020304" pitchFamily="18" charset="0"/>
              </a:rPr>
              <a:t>, and S. Ferrier. 2009. Sample selection bias and presence-only distribution models: implications for background and pseudo-absence data. Ecological Applications 19:181-197. </a:t>
            </a:r>
            <a:r>
              <a:rPr lang="en-US" sz="24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3"/>
              </a:rPr>
              <a:t>https://doi.org/10.1890/07-2153.1</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lang="en-US" dirty="0"/>
          </a:p>
          <a:p>
            <a:pPr marL="0" marR="0" lvl="0" indent="0" algn="l" defTabSz="914400" rtl="0" eaLnBrk="1" fontAlgn="auto" latinLnBrk="0" hangingPunct="1">
              <a:lnSpc>
                <a:spcPct val="117999"/>
              </a:lnSpc>
              <a:spcBef>
                <a:spcPts val="0"/>
              </a:spcBef>
              <a:spcAft>
                <a:spcPts val="0"/>
              </a:spcAft>
              <a:buClr>
                <a:srgbClr val="000000"/>
              </a:buClr>
              <a:buSzPts val="1400"/>
              <a:buFont typeface="Arial"/>
              <a:buNone/>
              <a:tabLst/>
              <a:defRPr/>
            </a:pPr>
            <a:r>
              <a:rPr lang="en-US" sz="3200" dirty="0">
                <a:effectLst/>
                <a:latin typeface="Arial" panose="020B0604020202020204" pitchFamily="34" charset="0"/>
                <a:ea typeface="Calibri" panose="020F0502020204030204" pitchFamily="34" charset="0"/>
                <a:cs typeface="Times New Roman" panose="02020603050405020304" pitchFamily="18" charset="0"/>
              </a:rPr>
              <a:t>Image credit: Golden-crowned kinglet. Barbara </a:t>
            </a:r>
            <a:r>
              <a:rPr lang="en-US" sz="3200" dirty="0" err="1">
                <a:effectLst/>
                <a:latin typeface="Arial" panose="020B0604020202020204" pitchFamily="34" charset="0"/>
                <a:ea typeface="Calibri" panose="020F0502020204030204" pitchFamily="34" charset="0"/>
                <a:cs typeface="Times New Roman" panose="02020603050405020304" pitchFamily="18" charset="0"/>
              </a:rPr>
              <a:t>Schelkle</a:t>
            </a:r>
            <a:r>
              <a:rPr lang="en-US" sz="3200" dirty="0">
                <a:effectLst/>
                <a:latin typeface="Arial" panose="020B0604020202020204" pitchFamily="34" charset="0"/>
                <a:ea typeface="Calibri" panose="020F0502020204030204" pitchFamily="34" charset="0"/>
                <a:cs typeface="Times New Roman" panose="02020603050405020304" pitchFamily="18" charset="0"/>
              </a:rPr>
              <a:t>/ Wikimedia Commons [CC BY-SA 4.0]</a:t>
            </a:r>
            <a:endParaRPr lang="en-US" dirty="0"/>
          </a:p>
          <a:p>
            <a:pPr marL="0" lvl="0" indent="0" algn="l" rtl="0">
              <a:lnSpc>
                <a:spcPct val="117999"/>
              </a:lnSpc>
              <a:spcBef>
                <a:spcPts val="0"/>
              </a:spcBef>
              <a:spcAft>
                <a:spcPts val="0"/>
              </a:spcAft>
              <a:buSzPts val="1400"/>
              <a:buNone/>
            </a:pPr>
            <a:endParaRPr dirty="0"/>
          </a:p>
        </p:txBody>
      </p:sp>
      <p:sp>
        <p:nvSpPr>
          <p:cNvPr id="394" name="Google Shape;394;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Worldclim</a:t>
            </a:r>
            <a:r>
              <a:rPr lang="en-US" sz="1800" dirty="0">
                <a:effectLst/>
                <a:latin typeface="Arial" panose="020B0604020202020204" pitchFamily="34" charset="0"/>
                <a:ea typeface="Calibri" panose="020F0502020204030204" pitchFamily="34" charset="0"/>
                <a:cs typeface="Times New Roman" panose="02020603050405020304" pitchFamily="18" charset="0"/>
              </a:rPr>
              <a:t> – Global Climate Data. Available from: https://</a:t>
            </a:r>
            <a:r>
              <a:rPr lang="en-US" sz="1800" dirty="0" err="1">
                <a:effectLst/>
                <a:latin typeface="Arial" panose="020B0604020202020204" pitchFamily="34" charset="0"/>
                <a:ea typeface="Calibri" panose="020F0502020204030204" pitchFamily="34" charset="0"/>
                <a:cs typeface="Times New Roman" panose="02020603050405020304" pitchFamily="18" charset="0"/>
              </a:rPr>
              <a:t>www.worldclim.com</a:t>
            </a:r>
            <a:r>
              <a:rPr lang="en-US" sz="1800" dirty="0">
                <a:effectLst/>
                <a:latin typeface="Arial" panose="020B0604020202020204" pitchFamily="34" charset="0"/>
                <a:ea typeface="Calibri" panose="020F0502020204030204" pitchFamily="34" charset="0"/>
                <a:cs typeface="Times New Roman" panose="02020603050405020304" pitchFamily="18" charset="0"/>
              </a:rPr>
              <a:t>/methods1.</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09" name="Google Shape;40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r>
              <a:rPr lang="en-US" dirty="0"/>
              <a:t>Using correlated variables for modelling might change present models slightly but more importantly will dramatically change future predictions. In this study areas in red are areas that were predicted by all variables. Areas in dark green by only one. So again some decisions matter most for some questions.</a:t>
            </a:r>
            <a:endParaRPr dirty="0"/>
          </a:p>
          <a:p>
            <a:pPr marL="0" lvl="0" indent="0" algn="l" rtl="0">
              <a:lnSpc>
                <a:spcPct val="117999"/>
              </a:lnSpc>
              <a:spcBef>
                <a:spcPts val="0"/>
              </a:spcBef>
              <a:spcAft>
                <a:spcPts val="0"/>
              </a:spcAft>
              <a:buSzPts val="1400"/>
              <a:buNone/>
            </a:pPr>
            <a:endParaRPr dirty="0"/>
          </a:p>
          <a:p>
            <a:pPr marL="0" lvl="0" indent="0" algn="l" rtl="0">
              <a:spcBef>
                <a:spcPts val="0"/>
              </a:spcBef>
              <a:spcAft>
                <a:spcPts val="0"/>
              </a:spcAft>
              <a:buClr>
                <a:schemeClr val="dk1"/>
              </a:buClr>
              <a:buSzPts val="1400"/>
              <a:buFont typeface="Arial"/>
              <a:buNone/>
            </a:pPr>
            <a:r>
              <a:rPr lang="en-US" dirty="0">
                <a:solidFill>
                  <a:schemeClr val="dk1"/>
                </a:solidFill>
              </a:rPr>
              <a:t>Image credit: A. Paz. </a:t>
            </a:r>
            <a:endParaRPr dirty="0">
              <a:solidFill>
                <a:schemeClr val="dk1"/>
              </a:solidFill>
            </a:endParaRPr>
          </a:p>
          <a:p>
            <a:pPr marL="0" lvl="0" indent="0" algn="l" rtl="0">
              <a:lnSpc>
                <a:spcPct val="117999"/>
              </a:lnSpc>
              <a:spcBef>
                <a:spcPts val="0"/>
              </a:spcBef>
              <a:spcAft>
                <a:spcPts val="0"/>
              </a:spcAft>
              <a:buSzPts val="1400"/>
              <a:buNone/>
            </a:pPr>
            <a:endParaRPr dirty="0"/>
          </a:p>
        </p:txBody>
      </p:sp>
      <p:sp>
        <p:nvSpPr>
          <p:cNvPr id="421" name="Google Shape;421;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by A. Paz from course materials by Peterson,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Soberon</a:t>
            </a:r>
            <a:r>
              <a:rPr lang="en-US" sz="1800" dirty="0">
                <a:effectLst/>
                <a:latin typeface="Arial" panose="020B0604020202020204" pitchFamily="34" charset="0"/>
                <a:ea typeface="Calibri" panose="020F0502020204030204" pitchFamily="34" charset="0"/>
                <a:cs typeface="Times New Roman" panose="02020603050405020304" pitchFamily="18" charset="0"/>
              </a:rPr>
              <a:t>, and Martinez-Meyer. 2013.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432" name="Google Shape;43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a:spcBef>
                <a:spcPts val="0"/>
              </a:spcBef>
              <a:spcAft>
                <a:spcPts val="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Image credit: Adapted by A. Paz from course materials by Peterson,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Soberon</a:t>
            </a:r>
            <a:r>
              <a:rPr lang="en-US" sz="1800" dirty="0">
                <a:effectLst/>
                <a:latin typeface="Arial" panose="020B0604020202020204" pitchFamily="34" charset="0"/>
                <a:ea typeface="Calibri" panose="020F0502020204030204" pitchFamily="34" charset="0"/>
                <a:cs typeface="Times New Roman" panose="02020603050405020304" pitchFamily="18" charset="0"/>
              </a:rPr>
              <a:t>, and Martinez-Meyer. 2013.</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gn="l" rtl="0">
              <a:lnSpc>
                <a:spcPct val="117999"/>
              </a:lnSpc>
              <a:spcBef>
                <a:spcPts val="0"/>
              </a:spcBef>
              <a:spcAft>
                <a:spcPts val="0"/>
              </a:spcAft>
              <a:buSzPts val="1400"/>
              <a:buNone/>
            </a:pPr>
            <a:endParaRPr dirty="0"/>
          </a:p>
        </p:txBody>
      </p:sp>
      <p:sp>
        <p:nvSpPr>
          <p:cNvPr id="441" name="Google Shape;441;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dirty="0"/>
          </a:p>
        </p:txBody>
      </p:sp>
      <p:sp>
        <p:nvSpPr>
          <p:cNvPr id="454" name="Google Shape;454;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40"/>
          <p:cNvSpPr txBox="1">
            <a:spLocks noGrp="1"/>
          </p:cNvSpPr>
          <p:nvPr>
            <p:ph type="body" idx="1"/>
          </p:nvPr>
        </p:nvSpPr>
        <p:spPr>
          <a:xfrm>
            <a:off x="643465" y="7533359"/>
            <a:ext cx="11717870" cy="339723"/>
          </a:xfrm>
          <a:prstGeom prst="rect">
            <a:avLst/>
          </a:prstGeom>
          <a:noFill/>
          <a:ln>
            <a:noFill/>
          </a:ln>
        </p:spPr>
        <p:txBody>
          <a:bodyPr spcFirstLastPara="1" wrap="square" lIns="24375" tIns="24375" rIns="24375" bIns="24375" anchor="b" anchorCtr="0">
            <a:normAutofit/>
          </a:bodyPr>
          <a:lstStyle>
            <a:lvl1pPr marL="457200" lvl="0" indent="-228600" algn="l">
              <a:lnSpc>
                <a:spcPct val="100000"/>
              </a:lnSpc>
              <a:spcBef>
                <a:spcPts val="0"/>
              </a:spcBef>
              <a:spcAft>
                <a:spcPts val="0"/>
              </a:spcAft>
              <a:buClr>
                <a:srgbClr val="FFFFFF"/>
              </a:buClr>
              <a:buSzPts val="1992"/>
              <a:buFont typeface="Helvetica Neue"/>
              <a:buNone/>
              <a:defRPr sz="1992"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11" name="Google Shape;11;p40"/>
          <p:cNvSpPr txBox="1">
            <a:spLocks noGrp="1"/>
          </p:cNvSpPr>
          <p:nvPr>
            <p:ph type="title"/>
          </p:nvPr>
        </p:nvSpPr>
        <p:spPr>
          <a:xfrm>
            <a:off x="643464" y="2592528"/>
            <a:ext cx="11717870" cy="2479041"/>
          </a:xfrm>
          <a:prstGeom prst="rect">
            <a:avLst/>
          </a:prstGeom>
          <a:noFill/>
          <a:ln>
            <a:noFill/>
          </a:ln>
        </p:spPr>
        <p:txBody>
          <a:bodyPr spcFirstLastPara="1" wrap="square" lIns="27075" tIns="27075" rIns="27075" bIns="27075" anchor="b" anchorCtr="0">
            <a:normAutofit/>
          </a:bodyPr>
          <a:lstStyle>
            <a:lvl1pPr lvl="0" algn="l">
              <a:lnSpc>
                <a:spcPct val="80000"/>
              </a:lnSpc>
              <a:spcBef>
                <a:spcPts val="0"/>
              </a:spcBef>
              <a:spcAft>
                <a:spcPts val="0"/>
              </a:spcAft>
              <a:buClr>
                <a:srgbClr val="FFFFFF"/>
              </a:buClr>
              <a:buSzPts val="8200"/>
              <a:buFont typeface="Helvetica Neue"/>
              <a:buNone/>
              <a:defRPr sz="8200" b="1">
                <a:latin typeface="Helvetica Neue"/>
                <a:ea typeface="Helvetica Neue"/>
                <a:cs typeface="Helvetica Neue"/>
                <a:sym typeface="Helvetica Neu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12" name="Google Shape;12;p40"/>
          <p:cNvSpPr txBox="1">
            <a:spLocks noGrp="1"/>
          </p:cNvSpPr>
          <p:nvPr>
            <p:ph type="body" idx="2"/>
          </p:nvPr>
        </p:nvSpPr>
        <p:spPr>
          <a:xfrm>
            <a:off x="643466" y="5057528"/>
            <a:ext cx="11717868" cy="1016001"/>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0"/>
              </a:spcBef>
              <a:spcAft>
                <a:spcPts val="0"/>
              </a:spcAft>
              <a:buClr>
                <a:srgbClr val="FFFFFF"/>
              </a:buClr>
              <a:buSzPts val="3800"/>
              <a:buFont typeface="Helvetica Neue"/>
              <a:buNone/>
              <a:defRPr sz="3800" b="1"/>
            </a:lvl1pPr>
            <a:lvl2pPr marL="914400" lvl="1" indent="-228600" algn="l">
              <a:lnSpc>
                <a:spcPct val="100000"/>
              </a:lnSpc>
              <a:spcBef>
                <a:spcPts val="0"/>
              </a:spcBef>
              <a:spcAft>
                <a:spcPts val="0"/>
              </a:spcAft>
              <a:buClr>
                <a:srgbClr val="FFFFFF"/>
              </a:buClr>
              <a:buSzPts val="3800"/>
              <a:buFont typeface="Helvetica Neue"/>
              <a:buNone/>
              <a:defRPr sz="3800" b="1"/>
            </a:lvl2pPr>
            <a:lvl3pPr marL="1371600" lvl="2" indent="-228600" algn="l">
              <a:lnSpc>
                <a:spcPct val="100000"/>
              </a:lnSpc>
              <a:spcBef>
                <a:spcPts val="0"/>
              </a:spcBef>
              <a:spcAft>
                <a:spcPts val="0"/>
              </a:spcAft>
              <a:buClr>
                <a:srgbClr val="FFFFFF"/>
              </a:buClr>
              <a:buSzPts val="3800"/>
              <a:buFont typeface="Helvetica Neue"/>
              <a:buNone/>
              <a:defRPr sz="3800" b="1"/>
            </a:lvl3pPr>
            <a:lvl4pPr marL="1828800" lvl="3" indent="-228600" algn="l">
              <a:lnSpc>
                <a:spcPct val="100000"/>
              </a:lnSpc>
              <a:spcBef>
                <a:spcPts val="0"/>
              </a:spcBef>
              <a:spcAft>
                <a:spcPts val="0"/>
              </a:spcAft>
              <a:buClr>
                <a:srgbClr val="FFFFFF"/>
              </a:buClr>
              <a:buSzPts val="3800"/>
              <a:buFont typeface="Helvetica Neue"/>
              <a:buNone/>
              <a:defRPr sz="3800" b="1"/>
            </a:lvl4pPr>
            <a:lvl5pPr marL="2286000" lvl="4" indent="-228600" algn="l">
              <a:lnSpc>
                <a:spcPct val="100000"/>
              </a:lnSpc>
              <a:spcBef>
                <a:spcPts val="0"/>
              </a:spcBef>
              <a:spcAft>
                <a:spcPts val="0"/>
              </a:spcAft>
              <a:buClr>
                <a:srgbClr val="FFFFFF"/>
              </a:buClr>
              <a:buSzPts val="3800"/>
              <a:buFont typeface="Helvetica Neue"/>
              <a:buNone/>
              <a:defRPr sz="3800" b="1"/>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13" name="Google Shape;13;p40"/>
          <p:cNvSpPr txBox="1">
            <a:spLocks noGrp="1"/>
          </p:cNvSpPr>
          <p:nvPr>
            <p:ph type="sldNum" idx="12"/>
          </p:nvPr>
        </p:nvSpPr>
        <p:spPr>
          <a:xfrm>
            <a:off x="6384222" y="8167799"/>
            <a:ext cx="236356"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14"/>
        <p:cNvGrpSpPr/>
        <p:nvPr/>
      </p:nvGrpSpPr>
      <p:grpSpPr>
        <a:xfrm>
          <a:off x="0" y="0"/>
          <a:ext cx="0" cy="0"/>
          <a:chOff x="0" y="0"/>
          <a:chExt cx="0" cy="0"/>
        </a:xfrm>
      </p:grpSpPr>
      <p:sp>
        <p:nvSpPr>
          <p:cNvPr id="15" name="Google Shape;15;p41"/>
          <p:cNvSpPr txBox="1">
            <a:spLocks noGrp="1"/>
          </p:cNvSpPr>
          <p:nvPr>
            <p:ph type="title"/>
          </p:nvPr>
        </p:nvSpPr>
        <p:spPr>
          <a:xfrm>
            <a:off x="643466" y="1727199"/>
            <a:ext cx="11717868" cy="764355"/>
          </a:xfrm>
          <a:prstGeom prst="rect">
            <a:avLst/>
          </a:prstGeom>
          <a:noFill/>
          <a:ln>
            <a:noFill/>
          </a:ln>
        </p:spPr>
        <p:txBody>
          <a:bodyPr spcFirstLastPara="1" wrap="square" lIns="27075" tIns="27075" rIns="27075" bIns="27075" anchor="t" anchorCtr="0">
            <a:normAutofit/>
          </a:bodyPr>
          <a:lstStyle>
            <a:lvl1pPr lvl="0" algn="l">
              <a:lnSpc>
                <a:spcPct val="80000"/>
              </a:lnSpc>
              <a:spcBef>
                <a:spcPts val="0"/>
              </a:spcBef>
              <a:spcAft>
                <a:spcPts val="0"/>
              </a:spcAft>
              <a:buClr>
                <a:srgbClr val="FFFFFF"/>
              </a:buClr>
              <a:buSzPts val="6000"/>
              <a:buFont typeface="Helvetica Neue"/>
              <a:buNone/>
              <a:defRPr sz="6000" b="1">
                <a:latin typeface="Helvetica Neue"/>
                <a:ea typeface="Helvetica Neue"/>
                <a:cs typeface="Helvetica Neue"/>
                <a:sym typeface="Helvetica Neu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16" name="Google Shape;16;p41"/>
          <p:cNvSpPr txBox="1">
            <a:spLocks noGrp="1"/>
          </p:cNvSpPr>
          <p:nvPr>
            <p:ph type="body" idx="1"/>
          </p:nvPr>
        </p:nvSpPr>
        <p:spPr>
          <a:xfrm>
            <a:off x="643466" y="2417046"/>
            <a:ext cx="11717868" cy="498550"/>
          </a:xfrm>
          <a:prstGeom prst="rect">
            <a:avLst/>
          </a:prstGeom>
          <a:noFill/>
          <a:ln>
            <a:noFill/>
          </a:ln>
        </p:spPr>
        <p:txBody>
          <a:bodyPr spcFirstLastPara="1" wrap="square" lIns="24375" tIns="24375" rIns="24375" bIns="24375" anchor="t" anchorCtr="0">
            <a:normAutofit/>
          </a:bodyPr>
          <a:lstStyle>
            <a:lvl1pPr marL="457200" lvl="0" indent="-228600" algn="l">
              <a:lnSpc>
                <a:spcPct val="100000"/>
              </a:lnSpc>
              <a:spcBef>
                <a:spcPts val="0"/>
              </a:spcBef>
              <a:spcAft>
                <a:spcPts val="0"/>
              </a:spcAft>
              <a:buClr>
                <a:srgbClr val="FFFFFF"/>
              </a:buClr>
              <a:buSzPts val="2964"/>
              <a:buFont typeface="Helvetica Neue"/>
              <a:buNone/>
              <a:defRPr sz="2964"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17" name="Google Shape;17;p41"/>
          <p:cNvSpPr txBox="1">
            <a:spLocks noGrp="1"/>
          </p:cNvSpPr>
          <p:nvPr>
            <p:ph type="body" idx="2"/>
          </p:nvPr>
        </p:nvSpPr>
        <p:spPr>
          <a:xfrm>
            <a:off x="643466" y="3485069"/>
            <a:ext cx="11717868" cy="4403207"/>
          </a:xfrm>
          <a:prstGeom prst="rect">
            <a:avLst/>
          </a:prstGeom>
          <a:noFill/>
          <a:ln>
            <a:noFill/>
          </a:ln>
        </p:spPr>
        <p:txBody>
          <a:bodyPr spcFirstLastPara="1" wrap="square" lIns="27075" tIns="27075" rIns="27075" bIns="27075" anchor="t" anchorCtr="0">
            <a:normAutofit/>
          </a:bodyPr>
          <a:lstStyle>
            <a:lvl1pPr marL="457200" lvl="0" indent="-494157" algn="l">
              <a:lnSpc>
                <a:spcPct val="90000"/>
              </a:lnSpc>
              <a:spcBef>
                <a:spcPts val="3200"/>
              </a:spcBef>
              <a:spcAft>
                <a:spcPts val="0"/>
              </a:spcAft>
              <a:buClr>
                <a:srgbClr val="FFFFFF"/>
              </a:buClr>
              <a:buSzPts val="4182"/>
              <a:buFont typeface="Helvetica Neue"/>
              <a:buChar char="•"/>
              <a:defRPr sz="3400"/>
            </a:lvl1pPr>
            <a:lvl2pPr marL="914400" lvl="1" indent="-494157" algn="l">
              <a:lnSpc>
                <a:spcPct val="90000"/>
              </a:lnSpc>
              <a:spcBef>
                <a:spcPts val="3200"/>
              </a:spcBef>
              <a:spcAft>
                <a:spcPts val="0"/>
              </a:spcAft>
              <a:buClr>
                <a:srgbClr val="FFFFFF"/>
              </a:buClr>
              <a:buSzPts val="4182"/>
              <a:buFont typeface="Helvetica Neue"/>
              <a:buChar char="•"/>
              <a:defRPr sz="3400"/>
            </a:lvl2pPr>
            <a:lvl3pPr marL="1371600" lvl="2" indent="-494157" algn="l">
              <a:lnSpc>
                <a:spcPct val="90000"/>
              </a:lnSpc>
              <a:spcBef>
                <a:spcPts val="3200"/>
              </a:spcBef>
              <a:spcAft>
                <a:spcPts val="0"/>
              </a:spcAft>
              <a:buClr>
                <a:srgbClr val="FFFFFF"/>
              </a:buClr>
              <a:buSzPts val="4182"/>
              <a:buFont typeface="Helvetica Neue"/>
              <a:buChar char="•"/>
              <a:defRPr sz="3400"/>
            </a:lvl3pPr>
            <a:lvl4pPr marL="1828800" lvl="3" indent="-494157" algn="l">
              <a:lnSpc>
                <a:spcPct val="90000"/>
              </a:lnSpc>
              <a:spcBef>
                <a:spcPts val="3200"/>
              </a:spcBef>
              <a:spcAft>
                <a:spcPts val="0"/>
              </a:spcAft>
              <a:buClr>
                <a:srgbClr val="FFFFFF"/>
              </a:buClr>
              <a:buSzPts val="4182"/>
              <a:buFont typeface="Helvetica Neue"/>
              <a:buChar char="•"/>
              <a:defRPr sz="3400"/>
            </a:lvl4pPr>
            <a:lvl5pPr marL="2286000" lvl="4" indent="-494157" algn="l">
              <a:lnSpc>
                <a:spcPct val="90000"/>
              </a:lnSpc>
              <a:spcBef>
                <a:spcPts val="3200"/>
              </a:spcBef>
              <a:spcAft>
                <a:spcPts val="0"/>
              </a:spcAft>
              <a:buClr>
                <a:srgbClr val="FFFFFF"/>
              </a:buClr>
              <a:buSzPts val="4182"/>
              <a:buFont typeface="Helvetica Neue"/>
              <a:buChar char="•"/>
              <a:defRPr sz="3400"/>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18" name="Google Shape;18;p41"/>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9"/>
        <p:cNvGrpSpPr/>
        <p:nvPr/>
      </p:nvGrpSpPr>
      <p:grpSpPr>
        <a:xfrm>
          <a:off x="0" y="0"/>
          <a:ext cx="0" cy="0"/>
          <a:chOff x="0" y="0"/>
          <a:chExt cx="0" cy="0"/>
        </a:xfrm>
      </p:grpSpPr>
      <p:sp>
        <p:nvSpPr>
          <p:cNvPr id="20" name="Google Shape;20;p42"/>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21" name="Google Shape;21;p42"/>
          <p:cNvSpPr txBox="1">
            <a:spLocks noGrp="1"/>
          </p:cNvSpPr>
          <p:nvPr>
            <p:ph type="body" idx="1"/>
          </p:nvPr>
        </p:nvSpPr>
        <p:spPr>
          <a:xfrm>
            <a:off x="952500" y="2590800"/>
            <a:ext cx="11099800" cy="6286500"/>
          </a:xfrm>
          <a:prstGeom prst="rect">
            <a:avLst/>
          </a:prstGeom>
          <a:noFill/>
          <a:ln>
            <a:noFill/>
          </a:ln>
        </p:spPr>
        <p:txBody>
          <a:bodyPr spcFirstLastPara="1" wrap="square" lIns="50800" tIns="50800" rIns="50800" bIns="50800" anchor="ctr" anchorCtr="0">
            <a:normAutofit/>
          </a:bodyPr>
          <a:lstStyle>
            <a:lvl1pPr marL="457200" lvl="0" indent="-394335" algn="l">
              <a:lnSpc>
                <a:spcPct val="100000"/>
              </a:lnSpc>
              <a:spcBef>
                <a:spcPts val="4200"/>
              </a:spcBef>
              <a:spcAft>
                <a:spcPts val="0"/>
              </a:spcAft>
              <a:buClr>
                <a:srgbClr val="FFFFFF"/>
              </a:buClr>
              <a:buSzPts val="2610"/>
              <a:buChar char="•"/>
              <a:defRPr/>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22" name="Google Shape;22;p42"/>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mp; Bullets">
  <p:cSld name="Title &amp; Bullets 2">
    <p:bg>
      <p:bgPr>
        <a:solidFill>
          <a:srgbClr val="FFFFFF"/>
        </a:solidFill>
        <a:effectLst/>
      </p:bgPr>
    </p:bg>
    <p:spTree>
      <p:nvGrpSpPr>
        <p:cNvPr id="1" name="Shape 23"/>
        <p:cNvGrpSpPr/>
        <p:nvPr/>
      </p:nvGrpSpPr>
      <p:grpSpPr>
        <a:xfrm>
          <a:off x="0" y="0"/>
          <a:ext cx="0" cy="0"/>
          <a:chOff x="0" y="0"/>
          <a:chExt cx="0" cy="0"/>
        </a:xfrm>
      </p:grpSpPr>
      <p:cxnSp>
        <p:nvCxnSpPr>
          <p:cNvPr id="24" name="Google Shape;24;p43"/>
          <p:cNvCxnSpPr/>
          <p:nvPr/>
        </p:nvCxnSpPr>
        <p:spPr>
          <a:xfrm>
            <a:off x="647700" y="1968500"/>
            <a:ext cx="11709400" cy="127"/>
          </a:xfrm>
          <a:prstGeom prst="straightConnector1">
            <a:avLst/>
          </a:prstGeom>
          <a:noFill/>
          <a:ln w="12700" cap="flat" cmpd="sng">
            <a:solidFill>
              <a:srgbClr val="9A9A9A"/>
            </a:solidFill>
            <a:prstDash val="solid"/>
            <a:miter lim="400000"/>
            <a:headEnd type="none" w="sm" len="sm"/>
            <a:tailEnd type="none" w="sm" len="sm"/>
          </a:ln>
        </p:spPr>
      </p:cxnSp>
      <p:sp>
        <p:nvSpPr>
          <p:cNvPr id="25" name="Google Shape;25;p43"/>
          <p:cNvSpPr txBox="1">
            <a:spLocks noGrp="1"/>
          </p:cNvSpPr>
          <p:nvPr>
            <p:ph type="title"/>
          </p:nvPr>
        </p:nvSpPr>
        <p:spPr>
          <a:xfrm>
            <a:off x="571500" y="330200"/>
            <a:ext cx="11861800" cy="1397000"/>
          </a:xfrm>
          <a:prstGeom prst="rect">
            <a:avLst/>
          </a:prstGeom>
          <a:noFill/>
          <a:ln>
            <a:noFill/>
          </a:ln>
        </p:spPr>
        <p:txBody>
          <a:bodyPr spcFirstLastPara="1" wrap="square" lIns="50800" tIns="50800" rIns="50800" bIns="50800" anchor="b" anchorCtr="0">
            <a:noAutofit/>
          </a:bodyPr>
          <a:lstStyle>
            <a:lvl1pPr lvl="0" algn="l">
              <a:lnSpc>
                <a:spcPct val="100000"/>
              </a:lnSpc>
              <a:spcBef>
                <a:spcPts val="0"/>
              </a:spcBef>
              <a:spcAft>
                <a:spcPts val="0"/>
              </a:spcAft>
              <a:buClr>
                <a:srgbClr val="000000"/>
              </a:buClr>
              <a:buSzPts val="4200"/>
              <a:buFont typeface="Helvetica Neue Light"/>
              <a:buNone/>
              <a:defRPr sz="4200">
                <a:solidFill>
                  <a:srgbClr val="000000"/>
                </a:solidFill>
                <a:latin typeface="Helvetica Neue Light"/>
                <a:ea typeface="Helvetica Neue Light"/>
                <a:cs typeface="Helvetica Neue Light"/>
                <a:sym typeface="Helvetica Neue Light"/>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26" name="Google Shape;26;p43"/>
          <p:cNvSpPr txBox="1">
            <a:spLocks noGrp="1"/>
          </p:cNvSpPr>
          <p:nvPr>
            <p:ph type="body" idx="1"/>
          </p:nvPr>
        </p:nvSpPr>
        <p:spPr>
          <a:xfrm>
            <a:off x="571500" y="2324100"/>
            <a:ext cx="11861800" cy="6565900"/>
          </a:xfrm>
          <a:prstGeom prst="rect">
            <a:avLst/>
          </a:prstGeom>
          <a:noFill/>
          <a:ln>
            <a:noFill/>
          </a:ln>
        </p:spPr>
        <p:txBody>
          <a:bodyPr spcFirstLastPara="1" wrap="square" lIns="50800" tIns="50800" rIns="50800" bIns="50800" anchor="t" anchorCtr="0">
            <a:noAutofit/>
          </a:bodyPr>
          <a:lstStyle>
            <a:lvl1pPr marL="457200" lvl="0" indent="-393700" algn="l">
              <a:lnSpc>
                <a:spcPct val="100000"/>
              </a:lnSpc>
              <a:spcBef>
                <a:spcPts val="4800"/>
              </a:spcBef>
              <a:spcAft>
                <a:spcPts val="0"/>
              </a:spcAft>
              <a:buClr>
                <a:srgbClr val="747474"/>
              </a:buClr>
              <a:buSzPts val="2600"/>
              <a:buFont typeface="Helvetica Neue"/>
              <a:buChar char="•"/>
              <a:defRPr sz="2600">
                <a:solidFill>
                  <a:srgbClr val="747474"/>
                </a:solidFill>
              </a:defRPr>
            </a:lvl1pPr>
            <a:lvl2pPr marL="914400" lvl="1" indent="-393700" algn="l">
              <a:lnSpc>
                <a:spcPct val="100000"/>
              </a:lnSpc>
              <a:spcBef>
                <a:spcPts val="4800"/>
              </a:spcBef>
              <a:spcAft>
                <a:spcPts val="0"/>
              </a:spcAft>
              <a:buClr>
                <a:srgbClr val="747474"/>
              </a:buClr>
              <a:buSzPts val="2600"/>
              <a:buFont typeface="Helvetica Neue"/>
              <a:buChar char="•"/>
              <a:defRPr sz="2600">
                <a:solidFill>
                  <a:srgbClr val="747474"/>
                </a:solidFill>
              </a:defRPr>
            </a:lvl2pPr>
            <a:lvl3pPr marL="1371600" lvl="2" indent="-393700" algn="l">
              <a:lnSpc>
                <a:spcPct val="100000"/>
              </a:lnSpc>
              <a:spcBef>
                <a:spcPts val="4800"/>
              </a:spcBef>
              <a:spcAft>
                <a:spcPts val="0"/>
              </a:spcAft>
              <a:buClr>
                <a:srgbClr val="747474"/>
              </a:buClr>
              <a:buSzPts val="2600"/>
              <a:buFont typeface="Helvetica Neue"/>
              <a:buChar char="•"/>
              <a:defRPr sz="2600">
                <a:solidFill>
                  <a:srgbClr val="747474"/>
                </a:solidFill>
              </a:defRPr>
            </a:lvl3pPr>
            <a:lvl4pPr marL="1828800" lvl="3" indent="-393700" algn="l">
              <a:lnSpc>
                <a:spcPct val="100000"/>
              </a:lnSpc>
              <a:spcBef>
                <a:spcPts val="4800"/>
              </a:spcBef>
              <a:spcAft>
                <a:spcPts val="0"/>
              </a:spcAft>
              <a:buClr>
                <a:srgbClr val="747474"/>
              </a:buClr>
              <a:buSzPts val="2600"/>
              <a:buFont typeface="Helvetica Neue"/>
              <a:buChar char="•"/>
              <a:defRPr sz="2600">
                <a:solidFill>
                  <a:srgbClr val="747474"/>
                </a:solidFill>
              </a:defRPr>
            </a:lvl4pPr>
            <a:lvl5pPr marL="2286000" lvl="4" indent="-393700" algn="l">
              <a:lnSpc>
                <a:spcPct val="100000"/>
              </a:lnSpc>
              <a:spcBef>
                <a:spcPts val="4800"/>
              </a:spcBef>
              <a:spcAft>
                <a:spcPts val="0"/>
              </a:spcAft>
              <a:buClr>
                <a:srgbClr val="747474"/>
              </a:buClr>
              <a:buSzPts val="2600"/>
              <a:buFont typeface="Helvetica Neue"/>
              <a:buChar char="•"/>
              <a:defRPr sz="2600">
                <a:solidFill>
                  <a:srgbClr val="747474"/>
                </a:solidFill>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27" name="Google Shape;27;p43"/>
          <p:cNvSpPr txBox="1">
            <a:spLocks noGrp="1"/>
          </p:cNvSpPr>
          <p:nvPr>
            <p:ph type="sldNum" idx="12"/>
          </p:nvPr>
        </p:nvSpPr>
        <p:spPr>
          <a:xfrm>
            <a:off x="12268199" y="9194800"/>
            <a:ext cx="312015" cy="299822"/>
          </a:xfrm>
          <a:prstGeom prst="rect">
            <a:avLst/>
          </a:prstGeom>
          <a:noFill/>
          <a:ln>
            <a:noFill/>
          </a:ln>
        </p:spPr>
        <p:txBody>
          <a:bodyPr spcFirstLastPara="1" wrap="square" lIns="50800" tIns="50800" rIns="50800" bIns="50800" anchor="t" anchorCtr="0">
            <a:spAutoFit/>
          </a:bodyPr>
          <a:lstStyle>
            <a:lvl1pPr marL="0" marR="0" lvl="0"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1pPr>
            <a:lvl2pPr marL="0" marR="0" lvl="1"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2pPr>
            <a:lvl3pPr marL="0" marR="0" lvl="2"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3pPr>
            <a:lvl4pPr marL="0" marR="0" lvl="3"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4pPr>
            <a:lvl5pPr marL="0" marR="0" lvl="4"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5pPr>
            <a:lvl6pPr marL="0" marR="0" lvl="5"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6pPr>
            <a:lvl7pPr marL="0" marR="0" lvl="6"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7pPr>
            <a:lvl8pPr marL="0" marR="0" lvl="7"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8pPr>
            <a:lvl9pPr marL="0" marR="0" lvl="8" indent="0" algn="r">
              <a:lnSpc>
                <a:spcPct val="100000"/>
              </a:lnSpc>
              <a:spcBef>
                <a:spcPts val="0"/>
              </a:spcBef>
              <a:spcAft>
                <a:spcPts val="0"/>
              </a:spcAft>
              <a:buClr>
                <a:srgbClr val="000000"/>
              </a:buClr>
              <a:buSzPts val="1400"/>
              <a:buFont typeface="Helvetica Neue"/>
              <a:buNone/>
              <a:defRPr sz="1400" b="0" i="0" u="none" strike="noStrike" cap="none">
                <a:solidFill>
                  <a:srgbClr val="000000"/>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mp; Subtitle">
  <p:cSld name="Title &amp; Subtitle">
    <p:spTree>
      <p:nvGrpSpPr>
        <p:cNvPr id="1" name="Shape 28"/>
        <p:cNvGrpSpPr/>
        <p:nvPr/>
      </p:nvGrpSpPr>
      <p:grpSpPr>
        <a:xfrm>
          <a:off x="0" y="0"/>
          <a:ext cx="0" cy="0"/>
          <a:chOff x="0" y="0"/>
          <a:chExt cx="0" cy="0"/>
        </a:xfrm>
      </p:grpSpPr>
      <p:sp>
        <p:nvSpPr>
          <p:cNvPr id="29" name="Google Shape;29;p44"/>
          <p:cNvSpPr txBox="1">
            <a:spLocks noGrp="1"/>
          </p:cNvSpPr>
          <p:nvPr>
            <p:ph type="title"/>
          </p:nvPr>
        </p:nvSpPr>
        <p:spPr>
          <a:xfrm>
            <a:off x="1270000" y="1638300"/>
            <a:ext cx="10464800" cy="3302000"/>
          </a:xfrm>
          <a:prstGeom prst="rect">
            <a:avLst/>
          </a:prstGeom>
          <a:noFill/>
          <a:ln>
            <a:noFill/>
          </a:ln>
        </p:spPr>
        <p:txBody>
          <a:bodyPr spcFirstLastPara="1" wrap="square" lIns="50800" tIns="50800" rIns="50800" bIns="50800" anchor="b" anchorCtr="0">
            <a:normAutofit/>
          </a:bodyPr>
          <a:lstStyle>
            <a:lvl1pPr lvl="0" algn="ctr">
              <a:lnSpc>
                <a:spcPct val="100000"/>
              </a:lnSpc>
              <a:spcBef>
                <a:spcPts val="0"/>
              </a:spcBef>
              <a:spcAft>
                <a:spcPts val="0"/>
              </a:spcAft>
              <a:buClr>
                <a:srgbClr val="FFFFFF"/>
              </a:buClr>
              <a:buSzPts val="1800"/>
              <a:buNon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30" name="Google Shape;30;p44"/>
          <p:cNvSpPr txBox="1">
            <a:spLocks noGrp="1"/>
          </p:cNvSpPr>
          <p:nvPr>
            <p:ph type="body" idx="1"/>
          </p:nvPr>
        </p:nvSpPr>
        <p:spPr>
          <a:xfrm>
            <a:off x="1270000" y="5029200"/>
            <a:ext cx="10464800" cy="1130300"/>
          </a:xfrm>
          <a:prstGeom prst="rect">
            <a:avLst/>
          </a:prstGeom>
          <a:noFill/>
          <a:ln>
            <a:noFill/>
          </a:ln>
        </p:spPr>
        <p:txBody>
          <a:bodyPr spcFirstLastPara="1" wrap="square" lIns="50800" tIns="50800" rIns="50800" bIns="50800" anchor="t" anchorCtr="0">
            <a:normAutofit/>
          </a:bodyPr>
          <a:lstStyle>
            <a:lvl1pPr marL="457200" lvl="0" indent="-228600" algn="ctr">
              <a:lnSpc>
                <a:spcPct val="100000"/>
              </a:lnSpc>
              <a:spcBef>
                <a:spcPts val="0"/>
              </a:spcBef>
              <a:spcAft>
                <a:spcPts val="0"/>
              </a:spcAft>
              <a:buClr>
                <a:srgbClr val="FFFFFF"/>
              </a:buClr>
              <a:buSzPts val="3700"/>
              <a:buFont typeface="Helvetica Neue"/>
              <a:buNone/>
              <a:defRPr sz="3700"/>
            </a:lvl1pPr>
            <a:lvl2pPr marL="914400" lvl="1" indent="-228600" algn="ctr">
              <a:lnSpc>
                <a:spcPct val="100000"/>
              </a:lnSpc>
              <a:spcBef>
                <a:spcPts val="0"/>
              </a:spcBef>
              <a:spcAft>
                <a:spcPts val="0"/>
              </a:spcAft>
              <a:buClr>
                <a:srgbClr val="FFFFFF"/>
              </a:buClr>
              <a:buSzPts val="3700"/>
              <a:buFont typeface="Helvetica Neue"/>
              <a:buNone/>
              <a:defRPr sz="3700"/>
            </a:lvl2pPr>
            <a:lvl3pPr marL="1371600" lvl="2" indent="-228600" algn="ctr">
              <a:lnSpc>
                <a:spcPct val="100000"/>
              </a:lnSpc>
              <a:spcBef>
                <a:spcPts val="0"/>
              </a:spcBef>
              <a:spcAft>
                <a:spcPts val="0"/>
              </a:spcAft>
              <a:buClr>
                <a:srgbClr val="FFFFFF"/>
              </a:buClr>
              <a:buSzPts val="3700"/>
              <a:buFont typeface="Helvetica Neue"/>
              <a:buNone/>
              <a:defRPr sz="3700"/>
            </a:lvl3pPr>
            <a:lvl4pPr marL="1828800" lvl="3" indent="-228600" algn="ctr">
              <a:lnSpc>
                <a:spcPct val="100000"/>
              </a:lnSpc>
              <a:spcBef>
                <a:spcPts val="0"/>
              </a:spcBef>
              <a:spcAft>
                <a:spcPts val="0"/>
              </a:spcAft>
              <a:buClr>
                <a:srgbClr val="FFFFFF"/>
              </a:buClr>
              <a:buSzPts val="3700"/>
              <a:buFont typeface="Helvetica Neue"/>
              <a:buNone/>
              <a:defRPr sz="3700"/>
            </a:lvl4pPr>
            <a:lvl5pPr marL="2286000" lvl="4" indent="-228600" algn="ctr">
              <a:lnSpc>
                <a:spcPct val="100000"/>
              </a:lnSpc>
              <a:spcBef>
                <a:spcPts val="0"/>
              </a:spcBef>
              <a:spcAft>
                <a:spcPts val="0"/>
              </a:spcAft>
              <a:buClr>
                <a:srgbClr val="FFFFFF"/>
              </a:buClr>
              <a:buSzPts val="3700"/>
              <a:buFont typeface="Helvetica Neue"/>
              <a:buNone/>
              <a:defRPr sz="3700"/>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31" name="Google Shape;31;p44"/>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mp; Photo">
  <p:cSld name="Title &amp; Photo">
    <p:spTree>
      <p:nvGrpSpPr>
        <p:cNvPr id="1" name="Shape 32"/>
        <p:cNvGrpSpPr/>
        <p:nvPr/>
      </p:nvGrpSpPr>
      <p:grpSpPr>
        <a:xfrm>
          <a:off x="0" y="0"/>
          <a:ext cx="0" cy="0"/>
          <a:chOff x="0" y="0"/>
          <a:chExt cx="0" cy="0"/>
        </a:xfrm>
      </p:grpSpPr>
      <p:sp>
        <p:nvSpPr>
          <p:cNvPr id="33" name="Google Shape;33;p45"/>
          <p:cNvSpPr>
            <a:spLocks noGrp="1"/>
          </p:cNvSpPr>
          <p:nvPr>
            <p:ph type="pic" idx="2"/>
          </p:nvPr>
        </p:nvSpPr>
        <p:spPr>
          <a:xfrm>
            <a:off x="-230294" y="-934721"/>
            <a:ext cx="15714135" cy="9618135"/>
          </a:xfrm>
          <a:prstGeom prst="rect">
            <a:avLst/>
          </a:prstGeom>
          <a:noFill/>
          <a:ln>
            <a:noFill/>
          </a:ln>
        </p:spPr>
      </p:sp>
      <p:sp>
        <p:nvSpPr>
          <p:cNvPr id="34" name="Google Shape;34;p45"/>
          <p:cNvSpPr txBox="1">
            <a:spLocks noGrp="1"/>
          </p:cNvSpPr>
          <p:nvPr>
            <p:ph type="title"/>
          </p:nvPr>
        </p:nvSpPr>
        <p:spPr>
          <a:xfrm>
            <a:off x="643466" y="5019040"/>
            <a:ext cx="11717868" cy="2479041"/>
          </a:xfrm>
          <a:prstGeom prst="rect">
            <a:avLst/>
          </a:prstGeom>
          <a:noFill/>
          <a:ln>
            <a:noFill/>
          </a:ln>
        </p:spPr>
        <p:txBody>
          <a:bodyPr spcFirstLastPara="1" wrap="square" lIns="27075" tIns="27075" rIns="27075" bIns="27075" anchor="b" anchorCtr="0">
            <a:normAutofit/>
          </a:bodyPr>
          <a:lstStyle>
            <a:lvl1pPr lvl="0" algn="l">
              <a:lnSpc>
                <a:spcPct val="80000"/>
              </a:lnSpc>
              <a:spcBef>
                <a:spcPts val="0"/>
              </a:spcBef>
              <a:spcAft>
                <a:spcPts val="0"/>
              </a:spcAft>
              <a:buClr>
                <a:srgbClr val="FFFFFF"/>
              </a:buClr>
              <a:buSzPts val="8200"/>
              <a:buFont typeface="Helvetica Neue"/>
              <a:buNone/>
              <a:defRPr sz="8200" b="1">
                <a:latin typeface="Helvetica Neue"/>
                <a:ea typeface="Helvetica Neue"/>
                <a:cs typeface="Helvetica Neue"/>
                <a:sym typeface="Helvetica Neu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35" name="Google Shape;35;p45"/>
          <p:cNvSpPr txBox="1">
            <a:spLocks noGrp="1"/>
          </p:cNvSpPr>
          <p:nvPr>
            <p:ph type="body" idx="1"/>
          </p:nvPr>
        </p:nvSpPr>
        <p:spPr>
          <a:xfrm>
            <a:off x="644101" y="1809140"/>
            <a:ext cx="11716599" cy="339722"/>
          </a:xfrm>
          <a:prstGeom prst="rect">
            <a:avLst/>
          </a:prstGeom>
          <a:noFill/>
          <a:ln>
            <a:noFill/>
          </a:ln>
        </p:spPr>
        <p:txBody>
          <a:bodyPr spcFirstLastPara="1" wrap="square" lIns="24375" tIns="24375" rIns="24375" bIns="24375" anchor="t" anchorCtr="0">
            <a:normAutofit/>
          </a:bodyPr>
          <a:lstStyle>
            <a:lvl1pPr marL="457200" lvl="0" indent="-228600" algn="l">
              <a:lnSpc>
                <a:spcPct val="100000"/>
              </a:lnSpc>
              <a:spcBef>
                <a:spcPts val="0"/>
              </a:spcBef>
              <a:spcAft>
                <a:spcPts val="0"/>
              </a:spcAft>
              <a:buClr>
                <a:srgbClr val="FFFFFF"/>
              </a:buClr>
              <a:buSzPts val="1992"/>
              <a:buFont typeface="Helvetica Neue"/>
              <a:buNone/>
              <a:defRPr sz="1992"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36" name="Google Shape;36;p45"/>
          <p:cNvSpPr txBox="1">
            <a:spLocks noGrp="1"/>
          </p:cNvSpPr>
          <p:nvPr>
            <p:ph type="body" idx="3"/>
          </p:nvPr>
        </p:nvSpPr>
        <p:spPr>
          <a:xfrm>
            <a:off x="643466" y="7411152"/>
            <a:ext cx="11717868" cy="610500"/>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0"/>
              </a:spcBef>
              <a:spcAft>
                <a:spcPts val="0"/>
              </a:spcAft>
              <a:buClr>
                <a:srgbClr val="FFFFFF"/>
              </a:buClr>
              <a:buSzPts val="3800"/>
              <a:buFont typeface="Helvetica Neue"/>
              <a:buNone/>
              <a:defRPr sz="3800" b="1"/>
            </a:lvl1pPr>
            <a:lvl2pPr marL="914400" lvl="1" indent="-228600" algn="l">
              <a:lnSpc>
                <a:spcPct val="100000"/>
              </a:lnSpc>
              <a:spcBef>
                <a:spcPts val="0"/>
              </a:spcBef>
              <a:spcAft>
                <a:spcPts val="0"/>
              </a:spcAft>
              <a:buClr>
                <a:srgbClr val="FFFFFF"/>
              </a:buClr>
              <a:buSzPts val="3800"/>
              <a:buFont typeface="Helvetica Neue"/>
              <a:buNone/>
              <a:defRPr sz="3800" b="1"/>
            </a:lvl2pPr>
            <a:lvl3pPr marL="1371600" lvl="2" indent="-228600" algn="l">
              <a:lnSpc>
                <a:spcPct val="100000"/>
              </a:lnSpc>
              <a:spcBef>
                <a:spcPts val="0"/>
              </a:spcBef>
              <a:spcAft>
                <a:spcPts val="0"/>
              </a:spcAft>
              <a:buClr>
                <a:srgbClr val="FFFFFF"/>
              </a:buClr>
              <a:buSzPts val="3800"/>
              <a:buFont typeface="Helvetica Neue"/>
              <a:buNone/>
              <a:defRPr sz="3800" b="1"/>
            </a:lvl3pPr>
            <a:lvl4pPr marL="1828800" lvl="3" indent="-228600" algn="l">
              <a:lnSpc>
                <a:spcPct val="100000"/>
              </a:lnSpc>
              <a:spcBef>
                <a:spcPts val="0"/>
              </a:spcBef>
              <a:spcAft>
                <a:spcPts val="0"/>
              </a:spcAft>
              <a:buClr>
                <a:srgbClr val="FFFFFF"/>
              </a:buClr>
              <a:buSzPts val="3800"/>
              <a:buFont typeface="Helvetica Neue"/>
              <a:buNone/>
              <a:defRPr sz="3800" b="1"/>
            </a:lvl4pPr>
            <a:lvl5pPr marL="2286000" lvl="4" indent="-228600" algn="l">
              <a:lnSpc>
                <a:spcPct val="100000"/>
              </a:lnSpc>
              <a:spcBef>
                <a:spcPts val="0"/>
              </a:spcBef>
              <a:spcAft>
                <a:spcPts val="0"/>
              </a:spcAft>
              <a:buClr>
                <a:srgbClr val="FFFFFF"/>
              </a:buClr>
              <a:buSzPts val="3800"/>
              <a:buFont typeface="Helvetica Neue"/>
              <a:buNone/>
              <a:defRPr sz="3800" b="1"/>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37" name="Google Shape;37;p45"/>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mp; Photo Alt">
  <p:cSld name="Title &amp; Photo Alt">
    <p:spTree>
      <p:nvGrpSpPr>
        <p:cNvPr id="1" name="Shape 38"/>
        <p:cNvGrpSpPr/>
        <p:nvPr/>
      </p:nvGrpSpPr>
      <p:grpSpPr>
        <a:xfrm>
          <a:off x="0" y="0"/>
          <a:ext cx="0" cy="0"/>
          <a:chOff x="0" y="0"/>
          <a:chExt cx="0" cy="0"/>
        </a:xfrm>
      </p:grpSpPr>
      <p:sp>
        <p:nvSpPr>
          <p:cNvPr id="39" name="Google Shape;39;p46"/>
          <p:cNvSpPr txBox="1">
            <a:spLocks noGrp="1"/>
          </p:cNvSpPr>
          <p:nvPr>
            <p:ph type="title"/>
          </p:nvPr>
        </p:nvSpPr>
        <p:spPr>
          <a:xfrm>
            <a:off x="643466" y="1896533"/>
            <a:ext cx="5215468" cy="3137213"/>
          </a:xfrm>
          <a:prstGeom prst="rect">
            <a:avLst/>
          </a:prstGeom>
          <a:noFill/>
          <a:ln>
            <a:noFill/>
          </a:ln>
        </p:spPr>
        <p:txBody>
          <a:bodyPr spcFirstLastPara="1" wrap="square" lIns="27075" tIns="27075" rIns="27075" bIns="27075" anchor="b" anchorCtr="0">
            <a:normAutofit/>
          </a:bodyPr>
          <a:lstStyle>
            <a:lvl1pPr lvl="0" algn="l">
              <a:lnSpc>
                <a:spcPct val="80000"/>
              </a:lnSpc>
              <a:spcBef>
                <a:spcPts val="0"/>
              </a:spcBef>
              <a:spcAft>
                <a:spcPts val="0"/>
              </a:spcAft>
              <a:buClr>
                <a:srgbClr val="FFFFFF"/>
              </a:buClr>
              <a:buSzPts val="6000"/>
              <a:buFont typeface="Helvetica Neue"/>
              <a:buNone/>
              <a:defRPr sz="6000" b="1">
                <a:latin typeface="Helvetica Neue"/>
                <a:ea typeface="Helvetica Neue"/>
                <a:cs typeface="Helvetica Neue"/>
                <a:sym typeface="Helvetica Neu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40" name="Google Shape;40;p46"/>
          <p:cNvSpPr txBox="1">
            <a:spLocks noGrp="1"/>
          </p:cNvSpPr>
          <p:nvPr>
            <p:ph type="body" idx="1"/>
          </p:nvPr>
        </p:nvSpPr>
        <p:spPr>
          <a:xfrm>
            <a:off x="643466" y="4984841"/>
            <a:ext cx="5215468" cy="2870615"/>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0"/>
              </a:spcBef>
              <a:spcAft>
                <a:spcPts val="0"/>
              </a:spcAft>
              <a:buClr>
                <a:srgbClr val="FFFFFF"/>
              </a:buClr>
              <a:buSzPts val="3800"/>
              <a:buFont typeface="Helvetica Neue"/>
              <a:buNone/>
              <a:defRPr sz="3800" b="1"/>
            </a:lvl1pPr>
            <a:lvl2pPr marL="914400" lvl="1" indent="-228600" algn="l">
              <a:lnSpc>
                <a:spcPct val="100000"/>
              </a:lnSpc>
              <a:spcBef>
                <a:spcPts val="0"/>
              </a:spcBef>
              <a:spcAft>
                <a:spcPts val="0"/>
              </a:spcAft>
              <a:buClr>
                <a:srgbClr val="FFFFFF"/>
              </a:buClr>
              <a:buSzPts val="3800"/>
              <a:buFont typeface="Helvetica Neue"/>
              <a:buNone/>
              <a:defRPr sz="3800" b="1"/>
            </a:lvl2pPr>
            <a:lvl3pPr marL="1371600" lvl="2" indent="-228600" algn="l">
              <a:lnSpc>
                <a:spcPct val="100000"/>
              </a:lnSpc>
              <a:spcBef>
                <a:spcPts val="0"/>
              </a:spcBef>
              <a:spcAft>
                <a:spcPts val="0"/>
              </a:spcAft>
              <a:buClr>
                <a:srgbClr val="FFFFFF"/>
              </a:buClr>
              <a:buSzPts val="3800"/>
              <a:buFont typeface="Helvetica Neue"/>
              <a:buNone/>
              <a:defRPr sz="3800" b="1"/>
            </a:lvl3pPr>
            <a:lvl4pPr marL="1828800" lvl="3" indent="-228600" algn="l">
              <a:lnSpc>
                <a:spcPct val="100000"/>
              </a:lnSpc>
              <a:spcBef>
                <a:spcPts val="0"/>
              </a:spcBef>
              <a:spcAft>
                <a:spcPts val="0"/>
              </a:spcAft>
              <a:buClr>
                <a:srgbClr val="FFFFFF"/>
              </a:buClr>
              <a:buSzPts val="3800"/>
              <a:buFont typeface="Helvetica Neue"/>
              <a:buNone/>
              <a:defRPr sz="3800" b="1"/>
            </a:lvl4pPr>
            <a:lvl5pPr marL="2286000" lvl="4" indent="-228600" algn="l">
              <a:lnSpc>
                <a:spcPct val="100000"/>
              </a:lnSpc>
              <a:spcBef>
                <a:spcPts val="0"/>
              </a:spcBef>
              <a:spcAft>
                <a:spcPts val="0"/>
              </a:spcAft>
              <a:buClr>
                <a:srgbClr val="FFFFFF"/>
              </a:buClr>
              <a:buSzPts val="3800"/>
              <a:buFont typeface="Helvetica Neue"/>
              <a:buNone/>
              <a:defRPr sz="3800" b="1"/>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41" name="Google Shape;41;p46"/>
          <p:cNvSpPr>
            <a:spLocks noGrp="1"/>
          </p:cNvSpPr>
          <p:nvPr>
            <p:ph type="pic" idx="2"/>
          </p:nvPr>
        </p:nvSpPr>
        <p:spPr>
          <a:xfrm>
            <a:off x="6427895" y="1896533"/>
            <a:ext cx="5967150" cy="5978608"/>
          </a:xfrm>
          <a:prstGeom prst="rect">
            <a:avLst/>
          </a:prstGeom>
          <a:noFill/>
          <a:ln>
            <a:noFill/>
          </a:ln>
        </p:spPr>
      </p:sp>
      <p:sp>
        <p:nvSpPr>
          <p:cNvPr id="42" name="Google Shape;42;p46"/>
          <p:cNvSpPr txBox="1">
            <a:spLocks noGrp="1"/>
          </p:cNvSpPr>
          <p:nvPr>
            <p:ph type="sldNum" idx="12"/>
          </p:nvPr>
        </p:nvSpPr>
        <p:spPr>
          <a:xfrm>
            <a:off x="6380889" y="8170057"/>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43"/>
        <p:cNvGrpSpPr/>
        <p:nvPr/>
      </p:nvGrpSpPr>
      <p:grpSpPr>
        <a:xfrm>
          <a:off x="0" y="0"/>
          <a:ext cx="0" cy="0"/>
          <a:chOff x="0" y="0"/>
          <a:chExt cx="0" cy="0"/>
        </a:xfrm>
      </p:grpSpPr>
      <p:sp>
        <p:nvSpPr>
          <p:cNvPr id="44" name="Google Shape;44;p47"/>
          <p:cNvSpPr txBox="1">
            <a:spLocks noGrp="1"/>
          </p:cNvSpPr>
          <p:nvPr>
            <p:ph type="body" idx="1"/>
          </p:nvPr>
        </p:nvSpPr>
        <p:spPr>
          <a:xfrm>
            <a:off x="643466" y="3485069"/>
            <a:ext cx="11717868" cy="4403207"/>
          </a:xfrm>
          <a:prstGeom prst="rect">
            <a:avLst/>
          </a:prstGeom>
          <a:noFill/>
          <a:ln>
            <a:noFill/>
          </a:ln>
        </p:spPr>
        <p:txBody>
          <a:bodyPr spcFirstLastPara="1" wrap="square" lIns="27075" tIns="27075" rIns="27075" bIns="27075" anchor="t" anchorCtr="0">
            <a:normAutofit/>
          </a:bodyPr>
          <a:lstStyle>
            <a:lvl1pPr marL="457200" lvl="0" indent="-494157" algn="l">
              <a:lnSpc>
                <a:spcPct val="90000"/>
              </a:lnSpc>
              <a:spcBef>
                <a:spcPts val="3200"/>
              </a:spcBef>
              <a:spcAft>
                <a:spcPts val="0"/>
              </a:spcAft>
              <a:buClr>
                <a:srgbClr val="FFFFFF"/>
              </a:buClr>
              <a:buSzPts val="4182"/>
              <a:buFont typeface="Helvetica Neue"/>
              <a:buChar char="•"/>
              <a:defRPr sz="3400"/>
            </a:lvl1pPr>
            <a:lvl2pPr marL="914400" lvl="1" indent="-494157" algn="l">
              <a:lnSpc>
                <a:spcPct val="90000"/>
              </a:lnSpc>
              <a:spcBef>
                <a:spcPts val="3200"/>
              </a:spcBef>
              <a:spcAft>
                <a:spcPts val="0"/>
              </a:spcAft>
              <a:buClr>
                <a:srgbClr val="FFFFFF"/>
              </a:buClr>
              <a:buSzPts val="4182"/>
              <a:buFont typeface="Helvetica Neue"/>
              <a:buChar char="•"/>
              <a:defRPr sz="3400"/>
            </a:lvl2pPr>
            <a:lvl3pPr marL="1371600" lvl="2" indent="-494157" algn="l">
              <a:lnSpc>
                <a:spcPct val="90000"/>
              </a:lnSpc>
              <a:spcBef>
                <a:spcPts val="3200"/>
              </a:spcBef>
              <a:spcAft>
                <a:spcPts val="0"/>
              </a:spcAft>
              <a:buClr>
                <a:srgbClr val="FFFFFF"/>
              </a:buClr>
              <a:buSzPts val="4182"/>
              <a:buFont typeface="Helvetica Neue"/>
              <a:buChar char="•"/>
              <a:defRPr sz="3400"/>
            </a:lvl3pPr>
            <a:lvl4pPr marL="1828800" lvl="3" indent="-494157" algn="l">
              <a:lnSpc>
                <a:spcPct val="90000"/>
              </a:lnSpc>
              <a:spcBef>
                <a:spcPts val="3200"/>
              </a:spcBef>
              <a:spcAft>
                <a:spcPts val="0"/>
              </a:spcAft>
              <a:buClr>
                <a:srgbClr val="FFFFFF"/>
              </a:buClr>
              <a:buSzPts val="4182"/>
              <a:buFont typeface="Helvetica Neue"/>
              <a:buChar char="•"/>
              <a:defRPr sz="3400"/>
            </a:lvl4pPr>
            <a:lvl5pPr marL="2286000" lvl="4" indent="-494157" algn="l">
              <a:lnSpc>
                <a:spcPct val="90000"/>
              </a:lnSpc>
              <a:spcBef>
                <a:spcPts val="3200"/>
              </a:spcBef>
              <a:spcAft>
                <a:spcPts val="0"/>
              </a:spcAft>
              <a:buClr>
                <a:srgbClr val="FFFFFF"/>
              </a:buClr>
              <a:buSzPts val="4182"/>
              <a:buFont typeface="Helvetica Neue"/>
              <a:buChar char="•"/>
              <a:defRPr sz="3400"/>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45" name="Google Shape;45;p47"/>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46"/>
        <p:cNvGrpSpPr/>
        <p:nvPr/>
      </p:nvGrpSpPr>
      <p:grpSpPr>
        <a:xfrm>
          <a:off x="0" y="0"/>
          <a:ext cx="0" cy="0"/>
          <a:chOff x="0" y="0"/>
          <a:chExt cx="0" cy="0"/>
        </a:xfrm>
      </p:grpSpPr>
      <p:sp>
        <p:nvSpPr>
          <p:cNvPr id="47" name="Google Shape;47;p48"/>
          <p:cNvSpPr txBox="1">
            <a:spLocks noGrp="1"/>
          </p:cNvSpPr>
          <p:nvPr>
            <p:ph type="title"/>
          </p:nvPr>
        </p:nvSpPr>
        <p:spPr>
          <a:xfrm>
            <a:off x="643466" y="1727199"/>
            <a:ext cx="5215468" cy="765388"/>
          </a:xfrm>
          <a:prstGeom prst="rect">
            <a:avLst/>
          </a:prstGeom>
          <a:noFill/>
          <a:ln>
            <a:noFill/>
          </a:ln>
        </p:spPr>
        <p:txBody>
          <a:bodyPr spcFirstLastPara="1" wrap="square" lIns="27075" tIns="27075" rIns="27075" bIns="27075" anchor="t" anchorCtr="0">
            <a:normAutofit/>
          </a:bodyPr>
          <a:lstStyle>
            <a:lvl1pPr lvl="0" algn="l">
              <a:lnSpc>
                <a:spcPct val="80000"/>
              </a:lnSpc>
              <a:spcBef>
                <a:spcPts val="0"/>
              </a:spcBef>
              <a:spcAft>
                <a:spcPts val="0"/>
              </a:spcAft>
              <a:buClr>
                <a:srgbClr val="FFFFFF"/>
              </a:buClr>
              <a:buSzPts val="6000"/>
              <a:buFont typeface="Helvetica Neue"/>
              <a:buNone/>
              <a:defRPr sz="6000" b="1">
                <a:latin typeface="Helvetica Neue"/>
                <a:ea typeface="Helvetica Neue"/>
                <a:cs typeface="Helvetica Neue"/>
                <a:sym typeface="Helvetica Neu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48" name="Google Shape;48;p48"/>
          <p:cNvSpPr txBox="1">
            <a:spLocks noGrp="1"/>
          </p:cNvSpPr>
          <p:nvPr>
            <p:ph type="body" idx="1"/>
          </p:nvPr>
        </p:nvSpPr>
        <p:spPr>
          <a:xfrm>
            <a:off x="643466" y="2417046"/>
            <a:ext cx="5215468" cy="498550"/>
          </a:xfrm>
          <a:prstGeom prst="rect">
            <a:avLst/>
          </a:prstGeom>
          <a:noFill/>
          <a:ln>
            <a:noFill/>
          </a:ln>
        </p:spPr>
        <p:txBody>
          <a:bodyPr spcFirstLastPara="1" wrap="square" lIns="24375" tIns="24375" rIns="24375" bIns="24375" anchor="t" anchorCtr="0">
            <a:normAutofit/>
          </a:bodyPr>
          <a:lstStyle>
            <a:lvl1pPr marL="457200" lvl="0" indent="-228600" algn="l">
              <a:lnSpc>
                <a:spcPct val="100000"/>
              </a:lnSpc>
              <a:spcBef>
                <a:spcPts val="0"/>
              </a:spcBef>
              <a:spcAft>
                <a:spcPts val="0"/>
              </a:spcAft>
              <a:buClr>
                <a:srgbClr val="FFFFFF"/>
              </a:buClr>
              <a:buSzPts val="2964"/>
              <a:buFont typeface="Helvetica Neue"/>
              <a:buNone/>
              <a:defRPr sz="2964"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49" name="Google Shape;49;p48"/>
          <p:cNvSpPr txBox="1">
            <a:spLocks noGrp="1"/>
          </p:cNvSpPr>
          <p:nvPr>
            <p:ph type="body" idx="2"/>
          </p:nvPr>
        </p:nvSpPr>
        <p:spPr>
          <a:xfrm>
            <a:off x="643466" y="3485069"/>
            <a:ext cx="5215468" cy="4403207"/>
          </a:xfrm>
          <a:prstGeom prst="rect">
            <a:avLst/>
          </a:prstGeom>
          <a:noFill/>
          <a:ln>
            <a:noFill/>
          </a:ln>
        </p:spPr>
        <p:txBody>
          <a:bodyPr spcFirstLastPara="1" wrap="square" lIns="27075" tIns="27075" rIns="27075" bIns="27075" anchor="t" anchorCtr="0">
            <a:normAutofit/>
          </a:bodyPr>
          <a:lstStyle>
            <a:lvl1pPr marL="457200" lvl="0" indent="-494157" algn="l">
              <a:lnSpc>
                <a:spcPct val="90000"/>
              </a:lnSpc>
              <a:spcBef>
                <a:spcPts val="3200"/>
              </a:spcBef>
              <a:spcAft>
                <a:spcPts val="0"/>
              </a:spcAft>
              <a:buClr>
                <a:srgbClr val="FFFFFF"/>
              </a:buClr>
              <a:buSzPts val="4182"/>
              <a:buFont typeface="Helvetica Neue"/>
              <a:buChar char="•"/>
              <a:defRPr sz="3400"/>
            </a:lvl1pPr>
            <a:lvl2pPr marL="914400" lvl="1" indent="-494157" algn="l">
              <a:lnSpc>
                <a:spcPct val="90000"/>
              </a:lnSpc>
              <a:spcBef>
                <a:spcPts val="3200"/>
              </a:spcBef>
              <a:spcAft>
                <a:spcPts val="0"/>
              </a:spcAft>
              <a:buClr>
                <a:srgbClr val="FFFFFF"/>
              </a:buClr>
              <a:buSzPts val="4182"/>
              <a:buFont typeface="Helvetica Neue"/>
              <a:buChar char="•"/>
              <a:defRPr sz="3400"/>
            </a:lvl2pPr>
            <a:lvl3pPr marL="1371600" lvl="2" indent="-494157" algn="l">
              <a:lnSpc>
                <a:spcPct val="90000"/>
              </a:lnSpc>
              <a:spcBef>
                <a:spcPts val="3200"/>
              </a:spcBef>
              <a:spcAft>
                <a:spcPts val="0"/>
              </a:spcAft>
              <a:buClr>
                <a:srgbClr val="FFFFFF"/>
              </a:buClr>
              <a:buSzPts val="4182"/>
              <a:buFont typeface="Helvetica Neue"/>
              <a:buChar char="•"/>
              <a:defRPr sz="3400"/>
            </a:lvl3pPr>
            <a:lvl4pPr marL="1828800" lvl="3" indent="-494157" algn="l">
              <a:lnSpc>
                <a:spcPct val="90000"/>
              </a:lnSpc>
              <a:spcBef>
                <a:spcPts val="3200"/>
              </a:spcBef>
              <a:spcAft>
                <a:spcPts val="0"/>
              </a:spcAft>
              <a:buClr>
                <a:srgbClr val="FFFFFF"/>
              </a:buClr>
              <a:buSzPts val="4182"/>
              <a:buFont typeface="Helvetica Neue"/>
              <a:buChar char="•"/>
              <a:defRPr sz="3400"/>
            </a:lvl4pPr>
            <a:lvl5pPr marL="2286000" lvl="4" indent="-494157" algn="l">
              <a:lnSpc>
                <a:spcPct val="90000"/>
              </a:lnSpc>
              <a:spcBef>
                <a:spcPts val="3200"/>
              </a:spcBef>
              <a:spcAft>
                <a:spcPts val="0"/>
              </a:spcAft>
              <a:buClr>
                <a:srgbClr val="FFFFFF"/>
              </a:buClr>
              <a:buSzPts val="4182"/>
              <a:buFont typeface="Helvetica Neue"/>
              <a:buChar char="•"/>
              <a:defRPr sz="3400"/>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50" name="Google Shape;50;p48"/>
          <p:cNvSpPr>
            <a:spLocks noGrp="1"/>
          </p:cNvSpPr>
          <p:nvPr>
            <p:ph type="pic" idx="3"/>
          </p:nvPr>
        </p:nvSpPr>
        <p:spPr>
          <a:xfrm>
            <a:off x="3402773" y="1893252"/>
            <a:ext cx="12015895" cy="5969852"/>
          </a:xfrm>
          <a:prstGeom prst="rect">
            <a:avLst/>
          </a:prstGeom>
          <a:noFill/>
          <a:ln>
            <a:noFill/>
          </a:ln>
        </p:spPr>
      </p:sp>
      <p:sp>
        <p:nvSpPr>
          <p:cNvPr id="51" name="Google Shape;51;p48"/>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52"/>
        <p:cNvGrpSpPr/>
        <p:nvPr/>
      </p:nvGrpSpPr>
      <p:grpSpPr>
        <a:xfrm>
          <a:off x="0" y="0"/>
          <a:ext cx="0" cy="0"/>
          <a:chOff x="0" y="0"/>
          <a:chExt cx="0" cy="0"/>
        </a:xfrm>
      </p:grpSpPr>
      <p:sp>
        <p:nvSpPr>
          <p:cNvPr id="53" name="Google Shape;53;p49"/>
          <p:cNvSpPr txBox="1">
            <a:spLocks noGrp="1"/>
          </p:cNvSpPr>
          <p:nvPr>
            <p:ph type="title"/>
          </p:nvPr>
        </p:nvSpPr>
        <p:spPr>
          <a:xfrm>
            <a:off x="643464" y="3637279"/>
            <a:ext cx="11717870" cy="2479042"/>
          </a:xfrm>
          <a:prstGeom prst="rect">
            <a:avLst/>
          </a:prstGeom>
          <a:noFill/>
          <a:ln>
            <a:noFill/>
          </a:ln>
        </p:spPr>
        <p:txBody>
          <a:bodyPr spcFirstLastPara="1" wrap="square" lIns="27075" tIns="27075" rIns="27075" bIns="27075" anchor="ctr" anchorCtr="0">
            <a:normAutofit/>
          </a:bodyPr>
          <a:lstStyle>
            <a:lvl1pPr lvl="0" algn="l">
              <a:lnSpc>
                <a:spcPct val="80000"/>
              </a:lnSpc>
              <a:spcBef>
                <a:spcPts val="0"/>
              </a:spcBef>
              <a:spcAft>
                <a:spcPts val="0"/>
              </a:spcAft>
              <a:buClr>
                <a:srgbClr val="FFFFFF"/>
              </a:buClr>
              <a:buSzPts val="8200"/>
              <a:buFont typeface="Helvetica Neue"/>
              <a:buNone/>
              <a:defRPr sz="8200"/>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54" name="Google Shape;54;p49"/>
          <p:cNvSpPr txBox="1">
            <a:spLocks noGrp="1"/>
          </p:cNvSpPr>
          <p:nvPr>
            <p:ph type="sldNum" idx="12"/>
          </p:nvPr>
        </p:nvSpPr>
        <p:spPr>
          <a:xfrm>
            <a:off x="6380889" y="8170057"/>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5"/>
        <p:cNvGrpSpPr/>
        <p:nvPr/>
      </p:nvGrpSpPr>
      <p:grpSpPr>
        <a:xfrm>
          <a:off x="0" y="0"/>
          <a:ext cx="0" cy="0"/>
          <a:chOff x="0" y="0"/>
          <a:chExt cx="0" cy="0"/>
        </a:xfrm>
      </p:grpSpPr>
      <p:sp>
        <p:nvSpPr>
          <p:cNvPr id="56" name="Google Shape;56;p50"/>
          <p:cNvSpPr txBox="1">
            <a:spLocks noGrp="1"/>
          </p:cNvSpPr>
          <p:nvPr>
            <p:ph type="title"/>
          </p:nvPr>
        </p:nvSpPr>
        <p:spPr>
          <a:xfrm>
            <a:off x="643466" y="1727199"/>
            <a:ext cx="11717868" cy="765307"/>
          </a:xfrm>
          <a:prstGeom prst="rect">
            <a:avLst/>
          </a:prstGeom>
          <a:noFill/>
          <a:ln>
            <a:noFill/>
          </a:ln>
        </p:spPr>
        <p:txBody>
          <a:bodyPr spcFirstLastPara="1" wrap="square" lIns="27075" tIns="27075" rIns="27075" bIns="27075" anchor="t" anchorCtr="0">
            <a:normAutofit/>
          </a:bodyPr>
          <a:lstStyle>
            <a:lvl1pPr lvl="0" algn="l">
              <a:lnSpc>
                <a:spcPct val="80000"/>
              </a:lnSpc>
              <a:spcBef>
                <a:spcPts val="0"/>
              </a:spcBef>
              <a:spcAft>
                <a:spcPts val="0"/>
              </a:spcAft>
              <a:buClr>
                <a:srgbClr val="FFFFFF"/>
              </a:buClr>
              <a:buSzPts val="6000"/>
              <a:buFont typeface="Helvetica Neue"/>
              <a:buNone/>
              <a:defRPr sz="6000" b="1">
                <a:latin typeface="Helvetica Neue"/>
                <a:ea typeface="Helvetica Neue"/>
                <a:cs typeface="Helvetica Neue"/>
                <a:sym typeface="Helvetica Neu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57" name="Google Shape;57;p50"/>
          <p:cNvSpPr txBox="1">
            <a:spLocks noGrp="1"/>
          </p:cNvSpPr>
          <p:nvPr>
            <p:ph type="body" idx="1"/>
          </p:nvPr>
        </p:nvSpPr>
        <p:spPr>
          <a:xfrm>
            <a:off x="643466" y="2417046"/>
            <a:ext cx="11717868" cy="498550"/>
          </a:xfrm>
          <a:prstGeom prst="rect">
            <a:avLst/>
          </a:prstGeom>
          <a:noFill/>
          <a:ln>
            <a:noFill/>
          </a:ln>
        </p:spPr>
        <p:txBody>
          <a:bodyPr spcFirstLastPara="1" wrap="square" lIns="24375" tIns="24375" rIns="24375" bIns="24375" anchor="t" anchorCtr="0">
            <a:normAutofit/>
          </a:bodyPr>
          <a:lstStyle>
            <a:lvl1pPr marL="457200" lvl="0" indent="-228600" algn="l">
              <a:lnSpc>
                <a:spcPct val="100000"/>
              </a:lnSpc>
              <a:spcBef>
                <a:spcPts val="0"/>
              </a:spcBef>
              <a:spcAft>
                <a:spcPts val="0"/>
              </a:spcAft>
              <a:buClr>
                <a:srgbClr val="FFFFFF"/>
              </a:buClr>
              <a:buSzPts val="2964"/>
              <a:buFont typeface="Helvetica Neue"/>
              <a:buNone/>
              <a:defRPr sz="2964"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58" name="Google Shape;58;p50"/>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9"/>
        <p:cNvGrpSpPr/>
        <p:nvPr/>
      </p:nvGrpSpPr>
      <p:grpSpPr>
        <a:xfrm>
          <a:off x="0" y="0"/>
          <a:ext cx="0" cy="0"/>
          <a:chOff x="0" y="0"/>
          <a:chExt cx="0" cy="0"/>
        </a:xfrm>
      </p:grpSpPr>
      <p:sp>
        <p:nvSpPr>
          <p:cNvPr id="60" name="Google Shape;60;p51"/>
          <p:cNvSpPr txBox="1">
            <a:spLocks noGrp="1"/>
          </p:cNvSpPr>
          <p:nvPr>
            <p:ph type="title"/>
          </p:nvPr>
        </p:nvSpPr>
        <p:spPr>
          <a:xfrm>
            <a:off x="643466" y="1727199"/>
            <a:ext cx="11717868" cy="765388"/>
          </a:xfrm>
          <a:prstGeom prst="rect">
            <a:avLst/>
          </a:prstGeom>
          <a:noFill/>
          <a:ln>
            <a:noFill/>
          </a:ln>
        </p:spPr>
        <p:txBody>
          <a:bodyPr spcFirstLastPara="1" wrap="square" lIns="27075" tIns="27075" rIns="27075" bIns="27075" anchor="t" anchorCtr="0">
            <a:normAutofit/>
          </a:bodyPr>
          <a:lstStyle>
            <a:lvl1pPr lvl="0" algn="l">
              <a:lnSpc>
                <a:spcPct val="80000"/>
              </a:lnSpc>
              <a:spcBef>
                <a:spcPts val="0"/>
              </a:spcBef>
              <a:spcAft>
                <a:spcPts val="0"/>
              </a:spcAft>
              <a:buClr>
                <a:srgbClr val="FFFFFF"/>
              </a:buClr>
              <a:buSzPts val="6000"/>
              <a:buFont typeface="Helvetica Neue"/>
              <a:buNone/>
              <a:defRPr sz="6000" b="1">
                <a:latin typeface="Helvetica Neue"/>
                <a:ea typeface="Helvetica Neue"/>
                <a:cs typeface="Helvetica Neue"/>
                <a:sym typeface="Helvetica Neue"/>
              </a:defRPr>
            </a:lvl1pPr>
            <a:lvl2pPr lvl="1" algn="ctr">
              <a:lnSpc>
                <a:spcPct val="100000"/>
              </a:lnSpc>
              <a:spcBef>
                <a:spcPts val="0"/>
              </a:spcBef>
              <a:spcAft>
                <a:spcPts val="0"/>
              </a:spcAft>
              <a:buClr>
                <a:srgbClr val="FFFFFF"/>
              </a:buClr>
              <a:buSzPts val="1800"/>
              <a:buNone/>
              <a:defRPr/>
            </a:lvl2pPr>
            <a:lvl3pPr lvl="2" algn="ctr">
              <a:lnSpc>
                <a:spcPct val="100000"/>
              </a:lnSpc>
              <a:spcBef>
                <a:spcPts val="0"/>
              </a:spcBef>
              <a:spcAft>
                <a:spcPts val="0"/>
              </a:spcAft>
              <a:buClr>
                <a:srgbClr val="FFFFFF"/>
              </a:buClr>
              <a:buSzPts val="1800"/>
              <a:buNone/>
              <a:defRPr/>
            </a:lvl3pPr>
            <a:lvl4pPr lvl="3" algn="ctr">
              <a:lnSpc>
                <a:spcPct val="100000"/>
              </a:lnSpc>
              <a:spcBef>
                <a:spcPts val="0"/>
              </a:spcBef>
              <a:spcAft>
                <a:spcPts val="0"/>
              </a:spcAft>
              <a:buClr>
                <a:srgbClr val="FFFFFF"/>
              </a:buClr>
              <a:buSzPts val="1800"/>
              <a:buNone/>
              <a:defRPr/>
            </a:lvl4pPr>
            <a:lvl5pPr lvl="4" algn="ctr">
              <a:lnSpc>
                <a:spcPct val="100000"/>
              </a:lnSpc>
              <a:spcBef>
                <a:spcPts val="0"/>
              </a:spcBef>
              <a:spcAft>
                <a:spcPts val="0"/>
              </a:spcAft>
              <a:buClr>
                <a:srgbClr val="FFFFFF"/>
              </a:buClr>
              <a:buSzPts val="1800"/>
              <a:buNone/>
              <a:defRPr/>
            </a:lvl5pPr>
            <a:lvl6pPr lvl="5" algn="ctr">
              <a:lnSpc>
                <a:spcPct val="100000"/>
              </a:lnSpc>
              <a:spcBef>
                <a:spcPts val="0"/>
              </a:spcBef>
              <a:spcAft>
                <a:spcPts val="0"/>
              </a:spcAft>
              <a:buClr>
                <a:srgbClr val="FFFFFF"/>
              </a:buClr>
              <a:buSzPts val="1800"/>
              <a:buNone/>
              <a:defRPr/>
            </a:lvl6pPr>
            <a:lvl7pPr lvl="6" algn="ctr">
              <a:lnSpc>
                <a:spcPct val="100000"/>
              </a:lnSpc>
              <a:spcBef>
                <a:spcPts val="0"/>
              </a:spcBef>
              <a:spcAft>
                <a:spcPts val="0"/>
              </a:spcAft>
              <a:buClr>
                <a:srgbClr val="FFFFFF"/>
              </a:buClr>
              <a:buSzPts val="1800"/>
              <a:buNone/>
              <a:defRPr/>
            </a:lvl7pPr>
            <a:lvl8pPr lvl="7" algn="ctr">
              <a:lnSpc>
                <a:spcPct val="100000"/>
              </a:lnSpc>
              <a:spcBef>
                <a:spcPts val="0"/>
              </a:spcBef>
              <a:spcAft>
                <a:spcPts val="0"/>
              </a:spcAft>
              <a:buClr>
                <a:srgbClr val="FFFFFF"/>
              </a:buClr>
              <a:buSzPts val="1800"/>
              <a:buNone/>
              <a:defRPr/>
            </a:lvl8pPr>
            <a:lvl9pPr lvl="8" algn="ctr">
              <a:lnSpc>
                <a:spcPct val="100000"/>
              </a:lnSpc>
              <a:spcBef>
                <a:spcPts val="0"/>
              </a:spcBef>
              <a:spcAft>
                <a:spcPts val="0"/>
              </a:spcAft>
              <a:buClr>
                <a:srgbClr val="FFFFFF"/>
              </a:buClr>
              <a:buSzPts val="1800"/>
              <a:buNone/>
              <a:defRPr/>
            </a:lvl9pPr>
          </a:lstStyle>
          <a:p>
            <a:endParaRPr/>
          </a:p>
        </p:txBody>
      </p:sp>
      <p:sp>
        <p:nvSpPr>
          <p:cNvPr id="61" name="Google Shape;61;p51"/>
          <p:cNvSpPr txBox="1">
            <a:spLocks noGrp="1"/>
          </p:cNvSpPr>
          <p:nvPr>
            <p:ph type="body" idx="1"/>
          </p:nvPr>
        </p:nvSpPr>
        <p:spPr>
          <a:xfrm>
            <a:off x="643466" y="2417046"/>
            <a:ext cx="11717868" cy="498550"/>
          </a:xfrm>
          <a:prstGeom prst="rect">
            <a:avLst/>
          </a:prstGeom>
          <a:noFill/>
          <a:ln>
            <a:noFill/>
          </a:ln>
        </p:spPr>
        <p:txBody>
          <a:bodyPr spcFirstLastPara="1" wrap="square" lIns="24375" tIns="24375" rIns="24375" bIns="24375" anchor="t" anchorCtr="0">
            <a:normAutofit/>
          </a:bodyPr>
          <a:lstStyle>
            <a:lvl1pPr marL="457200" lvl="0" indent="-228600" algn="l">
              <a:lnSpc>
                <a:spcPct val="100000"/>
              </a:lnSpc>
              <a:spcBef>
                <a:spcPts val="0"/>
              </a:spcBef>
              <a:spcAft>
                <a:spcPts val="0"/>
              </a:spcAft>
              <a:buClr>
                <a:srgbClr val="FFFFFF"/>
              </a:buClr>
              <a:buSzPts val="2964"/>
              <a:buFont typeface="Helvetica Neue"/>
              <a:buNone/>
              <a:defRPr sz="2964"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62" name="Google Shape;62;p51"/>
          <p:cNvSpPr txBox="1">
            <a:spLocks noGrp="1"/>
          </p:cNvSpPr>
          <p:nvPr>
            <p:ph type="body" idx="2"/>
          </p:nvPr>
        </p:nvSpPr>
        <p:spPr>
          <a:xfrm>
            <a:off x="643466" y="3485069"/>
            <a:ext cx="11717868" cy="4403207"/>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1200"/>
              </a:spcBef>
              <a:spcAft>
                <a:spcPts val="0"/>
              </a:spcAft>
              <a:buClr>
                <a:srgbClr val="FFFFFF"/>
              </a:buClr>
              <a:buSzPts val="3800"/>
              <a:buFont typeface="Helvetica Neue"/>
              <a:buNone/>
              <a:defRPr sz="3800"/>
            </a:lvl1pPr>
            <a:lvl2pPr marL="914400" lvl="1" indent="-228600" algn="l">
              <a:lnSpc>
                <a:spcPct val="100000"/>
              </a:lnSpc>
              <a:spcBef>
                <a:spcPts val="1200"/>
              </a:spcBef>
              <a:spcAft>
                <a:spcPts val="0"/>
              </a:spcAft>
              <a:buClr>
                <a:srgbClr val="FFFFFF"/>
              </a:buClr>
              <a:buSzPts val="3800"/>
              <a:buFont typeface="Helvetica Neue"/>
              <a:buNone/>
              <a:defRPr sz="3800"/>
            </a:lvl2pPr>
            <a:lvl3pPr marL="1371600" lvl="2" indent="-228600" algn="l">
              <a:lnSpc>
                <a:spcPct val="100000"/>
              </a:lnSpc>
              <a:spcBef>
                <a:spcPts val="1200"/>
              </a:spcBef>
              <a:spcAft>
                <a:spcPts val="0"/>
              </a:spcAft>
              <a:buClr>
                <a:srgbClr val="FFFFFF"/>
              </a:buClr>
              <a:buSzPts val="3800"/>
              <a:buFont typeface="Helvetica Neue"/>
              <a:buNone/>
              <a:defRPr sz="3800"/>
            </a:lvl3pPr>
            <a:lvl4pPr marL="1828800" lvl="3" indent="-228600" algn="l">
              <a:lnSpc>
                <a:spcPct val="100000"/>
              </a:lnSpc>
              <a:spcBef>
                <a:spcPts val="1200"/>
              </a:spcBef>
              <a:spcAft>
                <a:spcPts val="0"/>
              </a:spcAft>
              <a:buClr>
                <a:srgbClr val="FFFFFF"/>
              </a:buClr>
              <a:buSzPts val="3800"/>
              <a:buFont typeface="Helvetica Neue"/>
              <a:buNone/>
              <a:defRPr sz="3800"/>
            </a:lvl4pPr>
            <a:lvl5pPr marL="2286000" lvl="4" indent="-228600" algn="l">
              <a:lnSpc>
                <a:spcPct val="100000"/>
              </a:lnSpc>
              <a:spcBef>
                <a:spcPts val="1200"/>
              </a:spcBef>
              <a:spcAft>
                <a:spcPts val="0"/>
              </a:spcAft>
              <a:buClr>
                <a:srgbClr val="FFFFFF"/>
              </a:buClr>
              <a:buSzPts val="3800"/>
              <a:buFont typeface="Helvetica Neue"/>
              <a:buNone/>
              <a:defRPr sz="3800"/>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63" name="Google Shape;63;p51"/>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64"/>
        <p:cNvGrpSpPr/>
        <p:nvPr/>
      </p:nvGrpSpPr>
      <p:grpSpPr>
        <a:xfrm>
          <a:off x="0" y="0"/>
          <a:ext cx="0" cy="0"/>
          <a:chOff x="0" y="0"/>
          <a:chExt cx="0" cy="0"/>
        </a:xfrm>
      </p:grpSpPr>
      <p:sp>
        <p:nvSpPr>
          <p:cNvPr id="65" name="Google Shape;65;p52"/>
          <p:cNvSpPr txBox="1">
            <a:spLocks noGrp="1"/>
          </p:cNvSpPr>
          <p:nvPr>
            <p:ph type="body" idx="1"/>
          </p:nvPr>
        </p:nvSpPr>
        <p:spPr>
          <a:xfrm>
            <a:off x="643466" y="3843649"/>
            <a:ext cx="11717868" cy="2066302"/>
          </a:xfrm>
          <a:prstGeom prst="rect">
            <a:avLst/>
          </a:prstGeom>
          <a:noFill/>
          <a:ln>
            <a:noFill/>
          </a:ln>
        </p:spPr>
        <p:txBody>
          <a:bodyPr spcFirstLastPara="1" wrap="square" lIns="27075" tIns="27075" rIns="27075" bIns="27075" anchor="ctr" anchorCtr="0">
            <a:normAutofit/>
          </a:bodyPr>
          <a:lstStyle>
            <a:lvl1pPr marL="457200" lvl="0" indent="-228600" algn="ctr">
              <a:lnSpc>
                <a:spcPct val="80000"/>
              </a:lnSpc>
              <a:spcBef>
                <a:spcPts val="0"/>
              </a:spcBef>
              <a:spcAft>
                <a:spcPts val="0"/>
              </a:spcAft>
              <a:buClr>
                <a:srgbClr val="FFFFFF"/>
              </a:buClr>
              <a:buSzPts val="8200"/>
              <a:buFont typeface="Helvetica Neue"/>
              <a:buNone/>
              <a:defRPr sz="8200">
                <a:latin typeface="Helvetica Neue"/>
                <a:ea typeface="Helvetica Neue"/>
                <a:cs typeface="Helvetica Neue"/>
                <a:sym typeface="Helvetica Neue"/>
              </a:defRPr>
            </a:lvl1pPr>
            <a:lvl2pPr marL="914400" lvl="1" indent="-228600" algn="ctr">
              <a:lnSpc>
                <a:spcPct val="80000"/>
              </a:lnSpc>
              <a:spcBef>
                <a:spcPts val="0"/>
              </a:spcBef>
              <a:spcAft>
                <a:spcPts val="0"/>
              </a:spcAft>
              <a:buClr>
                <a:srgbClr val="FFFFFF"/>
              </a:buClr>
              <a:buSzPts val="8200"/>
              <a:buFont typeface="Helvetica Neue"/>
              <a:buNone/>
              <a:defRPr sz="8200">
                <a:latin typeface="Helvetica Neue"/>
                <a:ea typeface="Helvetica Neue"/>
                <a:cs typeface="Helvetica Neue"/>
                <a:sym typeface="Helvetica Neue"/>
              </a:defRPr>
            </a:lvl2pPr>
            <a:lvl3pPr marL="1371600" lvl="2" indent="-228600" algn="ctr">
              <a:lnSpc>
                <a:spcPct val="80000"/>
              </a:lnSpc>
              <a:spcBef>
                <a:spcPts val="0"/>
              </a:spcBef>
              <a:spcAft>
                <a:spcPts val="0"/>
              </a:spcAft>
              <a:buClr>
                <a:srgbClr val="FFFFFF"/>
              </a:buClr>
              <a:buSzPts val="8200"/>
              <a:buFont typeface="Helvetica Neue"/>
              <a:buNone/>
              <a:defRPr sz="8200">
                <a:latin typeface="Helvetica Neue"/>
                <a:ea typeface="Helvetica Neue"/>
                <a:cs typeface="Helvetica Neue"/>
                <a:sym typeface="Helvetica Neue"/>
              </a:defRPr>
            </a:lvl3pPr>
            <a:lvl4pPr marL="1828800" lvl="3" indent="-228600" algn="ctr">
              <a:lnSpc>
                <a:spcPct val="80000"/>
              </a:lnSpc>
              <a:spcBef>
                <a:spcPts val="0"/>
              </a:spcBef>
              <a:spcAft>
                <a:spcPts val="0"/>
              </a:spcAft>
              <a:buClr>
                <a:srgbClr val="FFFFFF"/>
              </a:buClr>
              <a:buSzPts val="8200"/>
              <a:buFont typeface="Helvetica Neue"/>
              <a:buNone/>
              <a:defRPr sz="8200">
                <a:latin typeface="Helvetica Neue"/>
                <a:ea typeface="Helvetica Neue"/>
                <a:cs typeface="Helvetica Neue"/>
                <a:sym typeface="Helvetica Neue"/>
              </a:defRPr>
            </a:lvl4pPr>
            <a:lvl5pPr marL="2286000" lvl="4" indent="-228600" algn="ctr">
              <a:lnSpc>
                <a:spcPct val="80000"/>
              </a:lnSpc>
              <a:spcBef>
                <a:spcPts val="0"/>
              </a:spcBef>
              <a:spcAft>
                <a:spcPts val="0"/>
              </a:spcAft>
              <a:buClr>
                <a:srgbClr val="FFFFFF"/>
              </a:buClr>
              <a:buSzPts val="8200"/>
              <a:buFont typeface="Helvetica Neue"/>
              <a:buNone/>
              <a:defRPr sz="8200">
                <a:latin typeface="Helvetica Neue"/>
                <a:ea typeface="Helvetica Neue"/>
                <a:cs typeface="Helvetica Neue"/>
                <a:sym typeface="Helvetica Neue"/>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66" name="Google Shape;66;p52"/>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Fact">
  <p:cSld name="Big Fact">
    <p:spTree>
      <p:nvGrpSpPr>
        <p:cNvPr id="1" name="Shape 67"/>
        <p:cNvGrpSpPr/>
        <p:nvPr/>
      </p:nvGrpSpPr>
      <p:grpSpPr>
        <a:xfrm>
          <a:off x="0" y="0"/>
          <a:ext cx="0" cy="0"/>
          <a:chOff x="0" y="0"/>
          <a:chExt cx="0" cy="0"/>
        </a:xfrm>
      </p:grpSpPr>
      <p:sp>
        <p:nvSpPr>
          <p:cNvPr id="68" name="Google Shape;68;p53"/>
          <p:cNvSpPr txBox="1">
            <a:spLocks noGrp="1"/>
          </p:cNvSpPr>
          <p:nvPr>
            <p:ph type="body" idx="1"/>
          </p:nvPr>
        </p:nvSpPr>
        <p:spPr>
          <a:xfrm>
            <a:off x="643466" y="5625696"/>
            <a:ext cx="11717868" cy="498550"/>
          </a:xfrm>
          <a:prstGeom prst="rect">
            <a:avLst/>
          </a:prstGeom>
          <a:noFill/>
          <a:ln>
            <a:noFill/>
          </a:ln>
        </p:spPr>
        <p:txBody>
          <a:bodyPr spcFirstLastPara="1" wrap="square" lIns="24375" tIns="24375" rIns="24375" bIns="24375" anchor="t" anchorCtr="0">
            <a:normAutofit/>
          </a:bodyPr>
          <a:lstStyle>
            <a:lvl1pPr marL="457200" lvl="0" indent="-228600" algn="ctr">
              <a:lnSpc>
                <a:spcPct val="100000"/>
              </a:lnSpc>
              <a:spcBef>
                <a:spcPts val="0"/>
              </a:spcBef>
              <a:spcAft>
                <a:spcPts val="0"/>
              </a:spcAft>
              <a:buClr>
                <a:srgbClr val="FFFFFF"/>
              </a:buClr>
              <a:buSzPts val="2964"/>
              <a:buFont typeface="Helvetica Neue"/>
              <a:buNone/>
              <a:defRPr sz="2964"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69" name="Google Shape;69;p53"/>
          <p:cNvSpPr txBox="1">
            <a:spLocks noGrp="1"/>
          </p:cNvSpPr>
          <p:nvPr>
            <p:ph type="body" idx="2"/>
          </p:nvPr>
        </p:nvSpPr>
        <p:spPr>
          <a:xfrm>
            <a:off x="643466" y="1718004"/>
            <a:ext cx="11717868" cy="3924834"/>
          </a:xfrm>
          <a:prstGeom prst="rect">
            <a:avLst/>
          </a:prstGeom>
          <a:noFill/>
          <a:ln>
            <a:noFill/>
          </a:ln>
        </p:spPr>
        <p:txBody>
          <a:bodyPr spcFirstLastPara="1" wrap="square" lIns="27075" tIns="27075" rIns="27075" bIns="27075" anchor="b" anchorCtr="0">
            <a:normAutofit/>
          </a:bodyPr>
          <a:lstStyle>
            <a:lvl1pPr marL="457200" lvl="0" indent="-228600" algn="ctr">
              <a:lnSpc>
                <a:spcPct val="80000"/>
              </a:lnSpc>
              <a:spcBef>
                <a:spcPts val="0"/>
              </a:spcBef>
              <a:spcAft>
                <a:spcPts val="0"/>
              </a:spcAft>
              <a:buClr>
                <a:srgbClr val="FFFFFF"/>
              </a:buClr>
              <a:buSzPts val="17600"/>
              <a:buFont typeface="Helvetica Neue"/>
              <a:buNone/>
              <a:defRPr sz="17600" b="1"/>
            </a:lvl1pPr>
            <a:lvl2pPr marL="914400" lvl="1" indent="-228600" algn="ctr">
              <a:lnSpc>
                <a:spcPct val="80000"/>
              </a:lnSpc>
              <a:spcBef>
                <a:spcPts val="0"/>
              </a:spcBef>
              <a:spcAft>
                <a:spcPts val="0"/>
              </a:spcAft>
              <a:buClr>
                <a:srgbClr val="FFFFFF"/>
              </a:buClr>
              <a:buSzPts val="17600"/>
              <a:buFont typeface="Helvetica Neue"/>
              <a:buNone/>
              <a:defRPr sz="17600" b="1"/>
            </a:lvl2pPr>
            <a:lvl3pPr marL="1371600" lvl="2" indent="-228600" algn="ctr">
              <a:lnSpc>
                <a:spcPct val="80000"/>
              </a:lnSpc>
              <a:spcBef>
                <a:spcPts val="0"/>
              </a:spcBef>
              <a:spcAft>
                <a:spcPts val="0"/>
              </a:spcAft>
              <a:buClr>
                <a:srgbClr val="FFFFFF"/>
              </a:buClr>
              <a:buSzPts val="17600"/>
              <a:buFont typeface="Helvetica Neue"/>
              <a:buNone/>
              <a:defRPr sz="17600" b="1"/>
            </a:lvl3pPr>
            <a:lvl4pPr marL="1828800" lvl="3" indent="-228600" algn="ctr">
              <a:lnSpc>
                <a:spcPct val="80000"/>
              </a:lnSpc>
              <a:spcBef>
                <a:spcPts val="0"/>
              </a:spcBef>
              <a:spcAft>
                <a:spcPts val="0"/>
              </a:spcAft>
              <a:buClr>
                <a:srgbClr val="FFFFFF"/>
              </a:buClr>
              <a:buSzPts val="17600"/>
              <a:buFont typeface="Helvetica Neue"/>
              <a:buNone/>
              <a:defRPr sz="17600" b="1"/>
            </a:lvl4pPr>
            <a:lvl5pPr marL="2286000" lvl="4" indent="-228600" algn="ctr">
              <a:lnSpc>
                <a:spcPct val="80000"/>
              </a:lnSpc>
              <a:spcBef>
                <a:spcPts val="0"/>
              </a:spcBef>
              <a:spcAft>
                <a:spcPts val="0"/>
              </a:spcAft>
              <a:buClr>
                <a:srgbClr val="FFFFFF"/>
              </a:buClr>
              <a:buSzPts val="17600"/>
              <a:buFont typeface="Helvetica Neue"/>
              <a:buNone/>
              <a:defRPr sz="17600" b="1"/>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70" name="Google Shape;70;p53"/>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1"/>
        <p:cNvGrpSpPr/>
        <p:nvPr/>
      </p:nvGrpSpPr>
      <p:grpSpPr>
        <a:xfrm>
          <a:off x="0" y="0"/>
          <a:ext cx="0" cy="0"/>
          <a:chOff x="0" y="0"/>
          <a:chExt cx="0" cy="0"/>
        </a:xfrm>
      </p:grpSpPr>
      <p:sp>
        <p:nvSpPr>
          <p:cNvPr id="72" name="Google Shape;72;p54"/>
          <p:cNvSpPr txBox="1">
            <a:spLocks noGrp="1"/>
          </p:cNvSpPr>
          <p:nvPr>
            <p:ph type="body" idx="1"/>
          </p:nvPr>
        </p:nvSpPr>
        <p:spPr>
          <a:xfrm>
            <a:off x="1323106" y="6912775"/>
            <a:ext cx="10746268" cy="339723"/>
          </a:xfrm>
          <a:prstGeom prst="rect">
            <a:avLst/>
          </a:prstGeom>
          <a:noFill/>
          <a:ln>
            <a:noFill/>
          </a:ln>
        </p:spPr>
        <p:txBody>
          <a:bodyPr spcFirstLastPara="1" wrap="square" lIns="24375" tIns="24375" rIns="24375" bIns="24375" anchor="t" anchorCtr="0">
            <a:normAutofit/>
          </a:bodyPr>
          <a:lstStyle>
            <a:lvl1pPr marL="457200" lvl="0" indent="-228600" algn="l">
              <a:lnSpc>
                <a:spcPct val="100000"/>
              </a:lnSpc>
              <a:spcBef>
                <a:spcPts val="0"/>
              </a:spcBef>
              <a:spcAft>
                <a:spcPts val="0"/>
              </a:spcAft>
              <a:buClr>
                <a:srgbClr val="FFFFFF"/>
              </a:buClr>
              <a:buSzPts val="1992"/>
              <a:buFont typeface="Helvetica Neue"/>
              <a:buNone/>
              <a:defRPr sz="1992" b="1"/>
            </a:lvl1pPr>
            <a:lvl2pPr marL="914400" lvl="1" indent="-394335" algn="l">
              <a:lnSpc>
                <a:spcPct val="100000"/>
              </a:lnSpc>
              <a:spcBef>
                <a:spcPts val="4200"/>
              </a:spcBef>
              <a:spcAft>
                <a:spcPts val="0"/>
              </a:spcAft>
              <a:buClr>
                <a:srgbClr val="FFFFFF"/>
              </a:buClr>
              <a:buSzPts val="2610"/>
              <a:buChar char="•"/>
              <a:defRPr/>
            </a:lvl2pPr>
            <a:lvl3pPr marL="1371600" lvl="2" indent="-394335" algn="l">
              <a:lnSpc>
                <a:spcPct val="100000"/>
              </a:lnSpc>
              <a:spcBef>
                <a:spcPts val="4200"/>
              </a:spcBef>
              <a:spcAft>
                <a:spcPts val="0"/>
              </a:spcAft>
              <a:buClr>
                <a:srgbClr val="FFFFFF"/>
              </a:buClr>
              <a:buSzPts val="2610"/>
              <a:buChar char="•"/>
              <a:defRPr/>
            </a:lvl3pPr>
            <a:lvl4pPr marL="1828800" lvl="3" indent="-394335" algn="l">
              <a:lnSpc>
                <a:spcPct val="100000"/>
              </a:lnSpc>
              <a:spcBef>
                <a:spcPts val="4200"/>
              </a:spcBef>
              <a:spcAft>
                <a:spcPts val="0"/>
              </a:spcAft>
              <a:buClr>
                <a:srgbClr val="FFFFFF"/>
              </a:buClr>
              <a:buSzPts val="2610"/>
              <a:buChar char="•"/>
              <a:defRPr/>
            </a:lvl4pPr>
            <a:lvl5pPr marL="2286000" lvl="4" indent="-394335" algn="l">
              <a:lnSpc>
                <a:spcPct val="100000"/>
              </a:lnSpc>
              <a:spcBef>
                <a:spcPts val="4200"/>
              </a:spcBef>
              <a:spcAft>
                <a:spcPts val="0"/>
              </a:spcAft>
              <a:buClr>
                <a:srgbClr val="FFFFFF"/>
              </a:buClr>
              <a:buSzPts val="2610"/>
              <a:buChar char="•"/>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73" name="Google Shape;73;p54"/>
          <p:cNvSpPr txBox="1">
            <a:spLocks noGrp="1"/>
          </p:cNvSpPr>
          <p:nvPr>
            <p:ph type="body" idx="2"/>
          </p:nvPr>
        </p:nvSpPr>
        <p:spPr>
          <a:xfrm>
            <a:off x="935425" y="3853792"/>
            <a:ext cx="11133950" cy="2046016"/>
          </a:xfrm>
          <a:prstGeom prst="rect">
            <a:avLst/>
          </a:prstGeom>
          <a:noFill/>
          <a:ln>
            <a:noFill/>
          </a:ln>
        </p:spPr>
        <p:txBody>
          <a:bodyPr spcFirstLastPara="1" wrap="square" lIns="27075" tIns="27075" rIns="27075" bIns="27075" anchor="ctr" anchorCtr="0">
            <a:normAutofit/>
          </a:bodyPr>
          <a:lstStyle>
            <a:lvl1pPr marL="457200" lvl="0" indent="-228600" algn="l">
              <a:lnSpc>
                <a:spcPct val="90000"/>
              </a:lnSpc>
              <a:spcBef>
                <a:spcPts val="0"/>
              </a:spcBef>
              <a:spcAft>
                <a:spcPts val="0"/>
              </a:spcAft>
              <a:buClr>
                <a:srgbClr val="FFFFFF"/>
              </a:buClr>
              <a:buSzPts val="6000"/>
              <a:buFont typeface="Helvetica Neue"/>
              <a:buNone/>
              <a:defRPr sz="6000">
                <a:latin typeface="Helvetica Neue"/>
                <a:ea typeface="Helvetica Neue"/>
                <a:cs typeface="Helvetica Neue"/>
                <a:sym typeface="Helvetica Neue"/>
              </a:defRPr>
            </a:lvl1pPr>
            <a:lvl2pPr marL="914400" lvl="1" indent="-228600" algn="l">
              <a:lnSpc>
                <a:spcPct val="90000"/>
              </a:lnSpc>
              <a:spcBef>
                <a:spcPts val="0"/>
              </a:spcBef>
              <a:spcAft>
                <a:spcPts val="0"/>
              </a:spcAft>
              <a:buClr>
                <a:srgbClr val="FFFFFF"/>
              </a:buClr>
              <a:buSzPts val="6000"/>
              <a:buFont typeface="Helvetica Neue"/>
              <a:buNone/>
              <a:defRPr sz="6000">
                <a:latin typeface="Helvetica Neue"/>
                <a:ea typeface="Helvetica Neue"/>
                <a:cs typeface="Helvetica Neue"/>
                <a:sym typeface="Helvetica Neue"/>
              </a:defRPr>
            </a:lvl2pPr>
            <a:lvl3pPr marL="1371600" lvl="2" indent="-228600" algn="l">
              <a:lnSpc>
                <a:spcPct val="90000"/>
              </a:lnSpc>
              <a:spcBef>
                <a:spcPts val="0"/>
              </a:spcBef>
              <a:spcAft>
                <a:spcPts val="0"/>
              </a:spcAft>
              <a:buClr>
                <a:srgbClr val="FFFFFF"/>
              </a:buClr>
              <a:buSzPts val="6000"/>
              <a:buFont typeface="Helvetica Neue"/>
              <a:buNone/>
              <a:defRPr sz="6000">
                <a:latin typeface="Helvetica Neue"/>
                <a:ea typeface="Helvetica Neue"/>
                <a:cs typeface="Helvetica Neue"/>
                <a:sym typeface="Helvetica Neue"/>
              </a:defRPr>
            </a:lvl3pPr>
            <a:lvl4pPr marL="1828800" lvl="3" indent="-228600" algn="l">
              <a:lnSpc>
                <a:spcPct val="90000"/>
              </a:lnSpc>
              <a:spcBef>
                <a:spcPts val="0"/>
              </a:spcBef>
              <a:spcAft>
                <a:spcPts val="0"/>
              </a:spcAft>
              <a:buClr>
                <a:srgbClr val="FFFFFF"/>
              </a:buClr>
              <a:buSzPts val="6000"/>
              <a:buFont typeface="Helvetica Neue"/>
              <a:buNone/>
              <a:defRPr sz="6000">
                <a:latin typeface="Helvetica Neue"/>
                <a:ea typeface="Helvetica Neue"/>
                <a:cs typeface="Helvetica Neue"/>
                <a:sym typeface="Helvetica Neue"/>
              </a:defRPr>
            </a:lvl4pPr>
            <a:lvl5pPr marL="2286000" lvl="4" indent="-228600" algn="l">
              <a:lnSpc>
                <a:spcPct val="90000"/>
              </a:lnSpc>
              <a:spcBef>
                <a:spcPts val="0"/>
              </a:spcBef>
              <a:spcAft>
                <a:spcPts val="0"/>
              </a:spcAft>
              <a:buClr>
                <a:srgbClr val="FFFFFF"/>
              </a:buClr>
              <a:buSzPts val="6000"/>
              <a:buFont typeface="Helvetica Neue"/>
              <a:buNone/>
              <a:defRPr sz="6000">
                <a:latin typeface="Helvetica Neue"/>
                <a:ea typeface="Helvetica Neue"/>
                <a:cs typeface="Helvetica Neue"/>
                <a:sym typeface="Helvetica Neue"/>
              </a:defRPr>
            </a:lvl5pPr>
            <a:lvl6pPr marL="2743200" lvl="5" indent="-394335" algn="l">
              <a:lnSpc>
                <a:spcPct val="100000"/>
              </a:lnSpc>
              <a:spcBef>
                <a:spcPts val="4200"/>
              </a:spcBef>
              <a:spcAft>
                <a:spcPts val="0"/>
              </a:spcAft>
              <a:buClr>
                <a:srgbClr val="FFFFFF"/>
              </a:buClr>
              <a:buSzPts val="2610"/>
              <a:buChar char="•"/>
              <a:defRPr/>
            </a:lvl6pPr>
            <a:lvl7pPr marL="3200400" lvl="6" indent="-394335" algn="l">
              <a:lnSpc>
                <a:spcPct val="100000"/>
              </a:lnSpc>
              <a:spcBef>
                <a:spcPts val="4200"/>
              </a:spcBef>
              <a:spcAft>
                <a:spcPts val="0"/>
              </a:spcAft>
              <a:buClr>
                <a:srgbClr val="FFFFFF"/>
              </a:buClr>
              <a:buSzPts val="2610"/>
              <a:buChar char="•"/>
              <a:defRPr/>
            </a:lvl7pPr>
            <a:lvl8pPr marL="3657600" lvl="7" indent="-394334" algn="l">
              <a:lnSpc>
                <a:spcPct val="100000"/>
              </a:lnSpc>
              <a:spcBef>
                <a:spcPts val="4200"/>
              </a:spcBef>
              <a:spcAft>
                <a:spcPts val="0"/>
              </a:spcAft>
              <a:buClr>
                <a:srgbClr val="FFFFFF"/>
              </a:buClr>
              <a:buSzPts val="2610"/>
              <a:buChar char="•"/>
              <a:defRPr/>
            </a:lvl8pPr>
            <a:lvl9pPr marL="4114800" lvl="8" indent="-394334" algn="l">
              <a:lnSpc>
                <a:spcPct val="100000"/>
              </a:lnSpc>
              <a:spcBef>
                <a:spcPts val="4200"/>
              </a:spcBef>
              <a:spcAft>
                <a:spcPts val="0"/>
              </a:spcAft>
              <a:buClr>
                <a:srgbClr val="FFFFFF"/>
              </a:buClr>
              <a:buSzPts val="2610"/>
              <a:buChar char="•"/>
              <a:defRPr/>
            </a:lvl9pPr>
          </a:lstStyle>
          <a:p>
            <a:endParaRPr/>
          </a:p>
        </p:txBody>
      </p:sp>
      <p:sp>
        <p:nvSpPr>
          <p:cNvPr id="74" name="Google Shape;74;p54"/>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75"/>
        <p:cNvGrpSpPr/>
        <p:nvPr/>
      </p:nvGrpSpPr>
      <p:grpSpPr>
        <a:xfrm>
          <a:off x="0" y="0"/>
          <a:ext cx="0" cy="0"/>
          <a:chOff x="0" y="0"/>
          <a:chExt cx="0" cy="0"/>
        </a:xfrm>
      </p:grpSpPr>
      <p:sp>
        <p:nvSpPr>
          <p:cNvPr id="76" name="Google Shape;76;p55"/>
          <p:cNvSpPr>
            <a:spLocks noGrp="1"/>
          </p:cNvSpPr>
          <p:nvPr>
            <p:ph type="pic" idx="2"/>
          </p:nvPr>
        </p:nvSpPr>
        <p:spPr>
          <a:xfrm>
            <a:off x="8229600" y="4998084"/>
            <a:ext cx="4334934" cy="2885441"/>
          </a:xfrm>
          <a:prstGeom prst="rect">
            <a:avLst/>
          </a:prstGeom>
          <a:noFill/>
          <a:ln>
            <a:noFill/>
          </a:ln>
        </p:spPr>
      </p:sp>
      <p:sp>
        <p:nvSpPr>
          <p:cNvPr id="77" name="Google Shape;77;p55"/>
          <p:cNvSpPr>
            <a:spLocks noGrp="1"/>
          </p:cNvSpPr>
          <p:nvPr>
            <p:ph type="pic" idx="3"/>
          </p:nvPr>
        </p:nvSpPr>
        <p:spPr>
          <a:xfrm>
            <a:off x="-1564641" y="1896533"/>
            <a:ext cx="12106206" cy="6014721"/>
          </a:xfrm>
          <a:prstGeom prst="rect">
            <a:avLst/>
          </a:prstGeom>
          <a:noFill/>
          <a:ln>
            <a:noFill/>
          </a:ln>
        </p:spPr>
      </p:sp>
      <p:sp>
        <p:nvSpPr>
          <p:cNvPr id="78" name="Google Shape;78;p55"/>
          <p:cNvSpPr>
            <a:spLocks noGrp="1"/>
          </p:cNvSpPr>
          <p:nvPr>
            <p:ph type="pic" idx="4"/>
          </p:nvPr>
        </p:nvSpPr>
        <p:spPr>
          <a:xfrm>
            <a:off x="8229600" y="1896533"/>
            <a:ext cx="4334934" cy="2885441"/>
          </a:xfrm>
          <a:prstGeom prst="rect">
            <a:avLst/>
          </a:prstGeom>
          <a:noFill/>
          <a:ln>
            <a:noFill/>
          </a:ln>
        </p:spPr>
      </p:sp>
      <p:sp>
        <p:nvSpPr>
          <p:cNvPr id="79" name="Google Shape;79;p55"/>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80"/>
        <p:cNvGrpSpPr/>
        <p:nvPr/>
      </p:nvGrpSpPr>
      <p:grpSpPr>
        <a:xfrm>
          <a:off x="0" y="0"/>
          <a:ext cx="0" cy="0"/>
          <a:chOff x="0" y="0"/>
          <a:chExt cx="0" cy="0"/>
        </a:xfrm>
      </p:grpSpPr>
      <p:sp>
        <p:nvSpPr>
          <p:cNvPr id="81" name="Google Shape;81;p56"/>
          <p:cNvSpPr>
            <a:spLocks noGrp="1"/>
          </p:cNvSpPr>
          <p:nvPr>
            <p:ph type="pic" idx="2"/>
          </p:nvPr>
        </p:nvSpPr>
        <p:spPr>
          <a:xfrm>
            <a:off x="-806028" y="-765387"/>
            <a:ext cx="15206135" cy="10149463"/>
          </a:xfrm>
          <a:prstGeom prst="rect">
            <a:avLst/>
          </a:prstGeom>
          <a:noFill/>
          <a:ln>
            <a:noFill/>
          </a:ln>
        </p:spPr>
      </p:sp>
      <p:sp>
        <p:nvSpPr>
          <p:cNvPr id="82" name="Google Shape;82;p56"/>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3"/>
        <p:cNvGrpSpPr/>
        <p:nvPr/>
      </p:nvGrpSpPr>
      <p:grpSpPr>
        <a:xfrm>
          <a:off x="0" y="0"/>
          <a:ext cx="0" cy="0"/>
          <a:chOff x="0" y="0"/>
          <a:chExt cx="0" cy="0"/>
        </a:xfrm>
      </p:grpSpPr>
      <p:sp>
        <p:nvSpPr>
          <p:cNvPr id="84" name="Google Shape;84;p57"/>
          <p:cNvSpPr txBox="1">
            <a:spLocks noGrp="1"/>
          </p:cNvSpPr>
          <p:nvPr>
            <p:ph type="sldNum" idx="12"/>
          </p:nvPr>
        </p:nvSpPr>
        <p:spPr>
          <a:xfrm>
            <a:off x="6380889" y="8167799"/>
            <a:ext cx="236357" cy="227721"/>
          </a:xfrm>
          <a:prstGeom prst="rect">
            <a:avLst/>
          </a:prstGeom>
          <a:noFill/>
          <a:ln>
            <a:noFill/>
          </a:ln>
        </p:spPr>
        <p:txBody>
          <a:bodyPr spcFirstLastPara="1" wrap="square" lIns="27075" tIns="27075" rIns="27075" bIns="27075" anchor="b" anchorCtr="0">
            <a:spAutoFit/>
          </a:bodyPr>
          <a:lstStyle>
            <a:lvl1pPr marL="0" marR="0" lvl="0"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1pPr>
            <a:lvl2pPr marL="0" marR="0" lvl="1"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2pPr>
            <a:lvl3pPr marL="0" marR="0" lvl="2"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3pPr>
            <a:lvl4pPr marL="0" marR="0" lvl="3"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4pPr>
            <a:lvl5pPr marL="0" marR="0" lvl="4"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5pPr>
            <a:lvl6pPr marL="0" marR="0" lvl="5"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6pPr>
            <a:lvl7pPr marL="0" marR="0" lvl="6"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7pPr>
            <a:lvl8pPr marL="0" marR="0" lvl="7"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8pPr>
            <a:lvl9pPr marL="0" marR="0" lvl="8" indent="0" algn="ctr">
              <a:lnSpc>
                <a:spcPct val="100000"/>
              </a:lnSpc>
              <a:spcBef>
                <a:spcPts val="0"/>
              </a:spcBef>
              <a:spcAft>
                <a:spcPts val="0"/>
              </a:spcAft>
              <a:buClr>
                <a:srgbClr val="FFFFFF"/>
              </a:buClr>
              <a:buSzPts val="1200"/>
              <a:buFont typeface="Helvetica Neue"/>
              <a:buNone/>
              <a:defRPr sz="1200" b="0" i="0" u="none" strike="noStrike" cap="none">
                <a:solidFill>
                  <a:srgbClr val="FFFFFF"/>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952500" y="254000"/>
            <a:ext cx="11099800" cy="2159000"/>
          </a:xfrm>
          <a:prstGeom prst="rect">
            <a:avLst/>
          </a:prstGeom>
          <a:noFill/>
          <a:ln>
            <a:noFill/>
          </a:ln>
        </p:spPr>
        <p:txBody>
          <a:bodyPr spcFirstLastPara="1" wrap="square" lIns="50800" tIns="50800" rIns="50800" bIns="50800" anchor="ctr" anchorCtr="0">
            <a:normAutofit/>
          </a:bodyPr>
          <a:lstStyle>
            <a:lvl1pPr marR="0" lvl="0"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FFFFFF"/>
              </a:buClr>
              <a:buSzPts val="8000"/>
              <a:buFont typeface="Helvetica Neue"/>
              <a:buNone/>
              <a:defRPr sz="8000" b="0" i="0" u="none" strike="noStrike" cap="none">
                <a:solidFill>
                  <a:srgbClr val="FFFFFF"/>
                </a:solidFill>
                <a:latin typeface="Helvetica Neue"/>
                <a:ea typeface="Helvetica Neue"/>
                <a:cs typeface="Helvetica Neue"/>
                <a:sym typeface="Helvetica Neue"/>
              </a:defRPr>
            </a:lvl9pPr>
          </a:lstStyle>
          <a:p>
            <a:endParaRPr/>
          </a:p>
        </p:txBody>
      </p:sp>
      <p:sp>
        <p:nvSpPr>
          <p:cNvPr id="7" name="Google Shape;7;p39"/>
          <p:cNvSpPr txBox="1">
            <a:spLocks noGrp="1"/>
          </p:cNvSpPr>
          <p:nvPr>
            <p:ph type="body" idx="1"/>
          </p:nvPr>
        </p:nvSpPr>
        <p:spPr>
          <a:xfrm>
            <a:off x="952500" y="2590800"/>
            <a:ext cx="11099800" cy="6286500"/>
          </a:xfrm>
          <a:prstGeom prst="rect">
            <a:avLst/>
          </a:prstGeom>
          <a:noFill/>
          <a:ln>
            <a:noFill/>
          </a:ln>
        </p:spPr>
        <p:txBody>
          <a:bodyPr spcFirstLastPara="1" wrap="square" lIns="50800" tIns="50800" rIns="50800" bIns="50800" anchor="ctr" anchorCtr="0">
            <a:normAutofit/>
          </a:bodyPr>
          <a:lstStyle>
            <a:lvl1pPr marL="457200" marR="0" lvl="0" indent="-523240"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1pPr>
            <a:lvl2pPr marL="914400" marR="0" lvl="1" indent="-523240"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2pPr>
            <a:lvl3pPr marL="1371600" marR="0" lvl="2"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3pPr>
            <a:lvl4pPr marL="1828800" marR="0" lvl="3"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4pPr>
            <a:lvl5pPr marL="2286000" marR="0" lvl="4"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5pPr>
            <a:lvl6pPr marL="2743200" marR="0" lvl="5"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6pPr>
            <a:lvl7pPr marL="3200400" marR="0" lvl="6"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7pPr>
            <a:lvl8pPr marL="3657600" marR="0" lvl="7" indent="-523239"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8pPr>
            <a:lvl9pPr marL="4114800" marR="0" lvl="8" indent="-523240" algn="l" rtl="0">
              <a:lnSpc>
                <a:spcPct val="100000"/>
              </a:lnSpc>
              <a:spcBef>
                <a:spcPts val="4200"/>
              </a:spcBef>
              <a:spcAft>
                <a:spcPts val="0"/>
              </a:spcAft>
              <a:buClr>
                <a:srgbClr val="FFFFFF"/>
              </a:buClr>
              <a:buSzPts val="4640"/>
              <a:buFont typeface="Helvetica Neue"/>
              <a:buChar char="•"/>
              <a:defRPr sz="3200" b="0" i="0" u="none" strike="noStrike" cap="none">
                <a:solidFill>
                  <a:srgbClr val="FFFFFF"/>
                </a:solidFill>
                <a:latin typeface="Helvetica Neue"/>
                <a:ea typeface="Helvetica Neue"/>
                <a:cs typeface="Helvetica Neue"/>
                <a:sym typeface="Helvetica Neue"/>
              </a:defRPr>
            </a:lvl9pPr>
          </a:lstStyle>
          <a:p>
            <a:endParaRPr/>
          </a:p>
        </p:txBody>
      </p:sp>
      <p:sp>
        <p:nvSpPr>
          <p:cNvPr id="8" name="Google Shape;8;p39"/>
          <p:cNvSpPr txBox="1">
            <a:spLocks noGrp="1"/>
          </p:cNvSpPr>
          <p:nvPr>
            <p:ph type="sldNum" idx="12"/>
          </p:nvPr>
        </p:nvSpPr>
        <p:spPr>
          <a:xfrm>
            <a:off x="6328884" y="9296400"/>
            <a:ext cx="340259" cy="324306"/>
          </a:xfrm>
          <a:prstGeom prst="rect">
            <a:avLst/>
          </a:prstGeom>
          <a:noFill/>
          <a:ln>
            <a:noFill/>
          </a:ln>
        </p:spPr>
        <p:txBody>
          <a:bodyPr spcFirstLastPara="1" wrap="square" lIns="50800" tIns="50800" rIns="50800" bIns="50800" anchor="t" anchorCtr="0">
            <a:spAutoFit/>
          </a:bodyPr>
          <a:lstStyle>
            <a:lvl1pPr marL="0" marR="0" lvl="0"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FFFFFF"/>
              </a:buClr>
              <a:buSzPts val="1600"/>
              <a:buFont typeface="Helvetica Neue Light"/>
              <a:buNone/>
              <a:defRPr sz="1600" b="0" i="0" u="none" strike="noStrike" cap="none">
                <a:solidFill>
                  <a:srgbClr val="FFFFFF"/>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hyperlink" Target="http://www.herpnet.org" TargetMode="External"/><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image" Target="../media/image4.png"/><Relationship Id="rId15" Type="http://schemas.openxmlformats.org/officeDocument/2006/relationships/comments" Target="../comments/comment1.xml"/><Relationship Id="rId10" Type="http://schemas.openxmlformats.org/officeDocument/2006/relationships/hyperlink" Target="http://vertnet.org" TargetMode="External"/><Relationship Id="rId4" Type="http://schemas.openxmlformats.org/officeDocument/2006/relationships/image" Target="../media/image3.png"/><Relationship Id="rId9" Type="http://schemas.openxmlformats.org/officeDocument/2006/relationships/image" Target="../media/image7.png"/><Relationship Id="rId1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www.worldclim.org" TargetMode="External"/><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www.climatologylab.org/terraclimate.html" TargetMode="External"/><Relationship Id="rId5" Type="http://schemas.openxmlformats.org/officeDocument/2006/relationships/hyperlink" Target="https://www.ecoclimate.org/downloads/" TargetMode="External"/><Relationship Id="rId4" Type="http://schemas.openxmlformats.org/officeDocument/2006/relationships/hyperlink" Target="https://chelsa-climate.org/bioclim/" TargetMode="External"/><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jpg"/><Relationship Id="rId5" Type="http://schemas.openxmlformats.org/officeDocument/2006/relationships/image" Target="../media/image33.jpg"/><Relationship Id="rId4" Type="http://schemas.openxmlformats.org/officeDocument/2006/relationships/image" Target="../media/image32.jp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comments" Target="../comments/comment2.xml"/><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52.jpg"/><Relationship Id="rId4" Type="http://schemas.openxmlformats.org/officeDocument/2006/relationships/image" Target="../media/image51.jp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idx="4294967295"/>
          </p:nvPr>
        </p:nvSpPr>
        <p:spPr>
          <a:xfrm>
            <a:off x="389910" y="1127769"/>
            <a:ext cx="11718000" cy="4015200"/>
          </a:xfrm>
          <a:prstGeom prst="rect">
            <a:avLst/>
          </a:prstGeom>
          <a:noFill/>
          <a:ln>
            <a:noFill/>
          </a:ln>
        </p:spPr>
        <p:txBody>
          <a:bodyPr spcFirstLastPara="1" wrap="square" lIns="27075" tIns="27075" rIns="27075" bIns="27075" anchor="b" anchorCtr="0">
            <a:normAutofit/>
          </a:bodyPr>
          <a:lstStyle/>
          <a:p>
            <a:pPr marL="0" marR="0" lvl="0" indent="0" algn="ctr" rtl="0">
              <a:lnSpc>
                <a:spcPct val="80000"/>
              </a:lnSpc>
              <a:spcBef>
                <a:spcPts val="0"/>
              </a:spcBef>
              <a:spcAft>
                <a:spcPts val="0"/>
              </a:spcAft>
              <a:buClr>
                <a:srgbClr val="FFFFFF"/>
              </a:buClr>
              <a:buSzPts val="7626"/>
              <a:buFont typeface="Helvetica Neue"/>
              <a:buNone/>
            </a:pPr>
            <a:r>
              <a:rPr lang="en-US" sz="7626" b="1" i="0" u="none" strike="noStrike" cap="none">
                <a:solidFill>
                  <a:srgbClr val="FFFFFF"/>
                </a:solidFill>
                <a:latin typeface="Helvetica Neue"/>
                <a:ea typeface="Helvetica Neue"/>
                <a:cs typeface="Helvetica Neue"/>
                <a:sym typeface="Helvetica Neue"/>
              </a:rPr>
              <a:t>Species </a:t>
            </a:r>
            <a:r>
              <a:rPr lang="en-US" sz="7626" b="1"/>
              <a:t>D</a:t>
            </a:r>
            <a:r>
              <a:rPr lang="en-US" sz="7626" b="1" i="0" u="none" strike="noStrike" cap="none">
                <a:solidFill>
                  <a:srgbClr val="FFFFFF"/>
                </a:solidFill>
                <a:latin typeface="Helvetica Neue"/>
                <a:ea typeface="Helvetica Neue"/>
                <a:cs typeface="Helvetica Neue"/>
                <a:sym typeface="Helvetica Neue"/>
              </a:rPr>
              <a:t>istribution </a:t>
            </a:r>
            <a:r>
              <a:rPr lang="en-US" sz="7626" b="1"/>
              <a:t>M</a:t>
            </a:r>
            <a:r>
              <a:rPr lang="en-US" sz="7626" b="1" i="0" u="none" strike="noStrike" cap="none">
                <a:solidFill>
                  <a:srgbClr val="FFFFFF"/>
                </a:solidFill>
                <a:latin typeface="Helvetica Neue"/>
                <a:ea typeface="Helvetica Neue"/>
                <a:cs typeface="Helvetica Neue"/>
                <a:sym typeface="Helvetica Neue"/>
              </a:rPr>
              <a:t>odels: </a:t>
            </a:r>
            <a:r>
              <a:rPr lang="en-US" sz="7626" b="1"/>
              <a:t>D</a:t>
            </a:r>
            <a:r>
              <a:rPr lang="en-US" sz="7626" b="1" i="0" u="none" strike="noStrike" cap="none">
                <a:solidFill>
                  <a:srgbClr val="FFFFFF"/>
                </a:solidFill>
                <a:latin typeface="Helvetica Neue"/>
                <a:ea typeface="Helvetica Neue"/>
                <a:cs typeface="Helvetica Neue"/>
                <a:sym typeface="Helvetica Neue"/>
              </a:rPr>
              <a:t>ata </a:t>
            </a:r>
            <a:r>
              <a:rPr lang="en-US" sz="7626" b="1"/>
              <a:t>and</a:t>
            </a:r>
            <a:r>
              <a:rPr lang="en-US" sz="7626" b="1" i="0" u="none" strike="noStrike" cap="none">
                <a:solidFill>
                  <a:srgbClr val="FFFFFF"/>
                </a:solidFill>
                <a:latin typeface="Helvetica Neue"/>
                <a:ea typeface="Helvetica Neue"/>
                <a:cs typeface="Helvetica Neue"/>
                <a:sym typeface="Helvetica Neue"/>
              </a:rPr>
              <a:t> </a:t>
            </a:r>
            <a:r>
              <a:rPr lang="en-US" sz="7626" b="1"/>
              <a:t>A</a:t>
            </a:r>
            <a:r>
              <a:rPr lang="en-US" sz="7626" b="1" i="0" u="none" strike="noStrike" cap="none">
                <a:solidFill>
                  <a:srgbClr val="FFFFFF"/>
                </a:solidFill>
                <a:latin typeface="Helvetica Neue"/>
                <a:ea typeface="Helvetica Neue"/>
                <a:cs typeface="Helvetica Neue"/>
                <a:sym typeface="Helvetica Neue"/>
              </a:rPr>
              <a:t>lgorithms</a:t>
            </a:r>
            <a:endParaRPr sz="7626" b="1" i="1" u="none" strike="noStrike" cap="none">
              <a:solidFill>
                <a:srgbClr val="FFFFFF"/>
              </a:solidFill>
              <a:latin typeface="Helvetica Neue"/>
              <a:ea typeface="Helvetica Neue"/>
              <a:cs typeface="Helvetica Neue"/>
              <a:sym typeface="Helvetica Neue"/>
            </a:endParaRPr>
          </a:p>
        </p:txBody>
      </p:sp>
      <p:pic>
        <p:nvPicPr>
          <p:cNvPr id="90" name="Google Shape;90;p1" descr="r2 v1.png"/>
          <p:cNvPicPr preferRelativeResize="0"/>
          <p:nvPr/>
        </p:nvPicPr>
        <p:blipFill rotWithShape="1">
          <a:blip r:embed="rId3">
            <a:alphaModFix/>
          </a:blip>
          <a:srcRect/>
          <a:stretch/>
        </p:blipFill>
        <p:spPr>
          <a:xfrm>
            <a:off x="9444924" y="6180152"/>
            <a:ext cx="3438550" cy="3438550"/>
          </a:xfrm>
          <a:prstGeom prst="rect">
            <a:avLst/>
          </a:prstGeom>
          <a:noFill/>
          <a:ln>
            <a:noFill/>
          </a:ln>
        </p:spPr>
      </p:pic>
      <p:sp>
        <p:nvSpPr>
          <p:cNvPr id="91" name="Google Shape;91;p1"/>
          <p:cNvSpPr txBox="1"/>
          <p:nvPr/>
        </p:nvSpPr>
        <p:spPr>
          <a:xfrm>
            <a:off x="1722060" y="5850175"/>
            <a:ext cx="90537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3200" b="0" i="0" u="none" strike="noStrike" cap="none">
                <a:solidFill>
                  <a:schemeClr val="lt1"/>
                </a:solidFill>
                <a:latin typeface="Helvetica Neue"/>
                <a:ea typeface="Helvetica Neue"/>
                <a:cs typeface="Helvetica Neue"/>
                <a:sym typeface="Helvetica Neue"/>
              </a:rPr>
              <a:t>The Wallace team</a:t>
            </a:r>
            <a:endParaRPr sz="3200" b="0" i="0" u="none" strike="noStrike" cap="none">
              <a:solidFill>
                <a:schemeClr val="lt1"/>
              </a:solidFill>
              <a:latin typeface="Helvetica Neue"/>
              <a:ea typeface="Helvetica Neue"/>
              <a:cs typeface="Helvetica Neue"/>
              <a:sym typeface="Helvetica Neue"/>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Helvetica Neue"/>
                <a:ea typeface="Helvetica Neue"/>
                <a:cs typeface="Helvetica Neue"/>
                <a:sym typeface="Helvetica Neue"/>
              </a:rPr>
              <a:t>Slide deck lead by Andrea Paz and Jamie Kass</a:t>
            </a:r>
            <a:endParaRPr sz="2800" b="0" i="0" u="none" strike="noStrike" cap="none">
              <a:solidFill>
                <a:schemeClr val="lt1"/>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2a967ea5d19_0_0"/>
          <p:cNvSpPr txBox="1">
            <a:spLocks noGrp="1"/>
          </p:cNvSpPr>
          <p:nvPr>
            <p:ph type="title"/>
          </p:nvPr>
        </p:nvSpPr>
        <p:spPr>
          <a:xfrm>
            <a:off x="643406" y="4017988"/>
            <a:ext cx="11718000" cy="1126800"/>
          </a:xfrm>
          <a:prstGeom prst="rect">
            <a:avLst/>
          </a:prstGeom>
          <a:noFill/>
          <a:ln>
            <a:noFill/>
          </a:ln>
        </p:spPr>
        <p:txBody>
          <a:bodyPr spcFirstLastPara="1" wrap="square" lIns="27075" tIns="27075" rIns="27075" bIns="27075" anchor="t" anchorCtr="0">
            <a:normAutofit/>
          </a:bodyPr>
          <a:lstStyle/>
          <a:p>
            <a:pPr marL="0" lvl="0" indent="0" algn="ctr" rtl="0">
              <a:lnSpc>
                <a:spcPct val="80000"/>
              </a:lnSpc>
              <a:spcBef>
                <a:spcPts val="0"/>
              </a:spcBef>
              <a:spcAft>
                <a:spcPts val="0"/>
              </a:spcAft>
              <a:buClr>
                <a:srgbClr val="FFFFFF"/>
              </a:buClr>
              <a:buSzPts val="4800"/>
              <a:buFont typeface="Helvetica Neue"/>
              <a:buNone/>
            </a:pPr>
            <a:r>
              <a:rPr lang="en-US"/>
              <a:t>Part 1: Data</a:t>
            </a:r>
            <a:endParaRPr i="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491806" y="551838"/>
            <a:ext cx="11717869" cy="1126817"/>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Biodiversity data</a:t>
            </a:r>
            <a:endParaRPr i="1"/>
          </a:p>
        </p:txBody>
      </p:sp>
      <p:sp>
        <p:nvSpPr>
          <p:cNvPr id="102" name="Google Shape;102;p2"/>
          <p:cNvSpPr txBox="1">
            <a:spLocks noGrp="1"/>
          </p:cNvSpPr>
          <p:nvPr>
            <p:ph type="body" idx="1"/>
          </p:nvPr>
        </p:nvSpPr>
        <p:spPr>
          <a:xfrm>
            <a:off x="491806" y="1414546"/>
            <a:ext cx="11718000" cy="498600"/>
          </a:xfrm>
          <a:prstGeom prst="rect">
            <a:avLst/>
          </a:prstGeom>
          <a:noFill/>
          <a:ln>
            <a:noFill/>
          </a:ln>
        </p:spPr>
        <p:txBody>
          <a:bodyPr spcFirstLastPara="1" wrap="square" lIns="24375" tIns="24375" rIns="24375" bIns="24375" anchor="t" anchorCtr="0">
            <a:normAutofit lnSpcReduction="10000"/>
          </a:bodyPr>
          <a:lstStyle/>
          <a:p>
            <a:pPr marL="0" lvl="0" indent="0" algn="l" rtl="0">
              <a:lnSpc>
                <a:spcPct val="100000"/>
              </a:lnSpc>
              <a:spcBef>
                <a:spcPts val="0"/>
              </a:spcBef>
              <a:spcAft>
                <a:spcPts val="0"/>
              </a:spcAft>
              <a:buClr>
                <a:srgbClr val="FFFFFF"/>
              </a:buClr>
              <a:buSzPts val="3000"/>
              <a:buFont typeface="Helvetica Neue"/>
              <a:buNone/>
            </a:pPr>
            <a:r>
              <a:rPr lang="en-US" sz="3000" b="0" i="0" u="none" strike="noStrike" cap="none">
                <a:solidFill>
                  <a:srgbClr val="FFFFFF"/>
                </a:solidFill>
                <a:latin typeface="Helvetica Neue"/>
                <a:ea typeface="Helvetica Neue"/>
                <a:cs typeface="Helvetica Neue"/>
                <a:sym typeface="Helvetica Neue"/>
              </a:rPr>
              <a:t>Species Presences</a:t>
            </a:r>
            <a:endParaRPr sz="3000" b="0" i="1" u="none" strike="noStrike" cap="none">
              <a:solidFill>
                <a:srgbClr val="FFFFFF"/>
              </a:solidFill>
              <a:latin typeface="Helvetica Neue"/>
              <a:ea typeface="Helvetica Neue"/>
              <a:cs typeface="Helvetica Neue"/>
              <a:sym typeface="Helvetica Neue"/>
            </a:endParaRPr>
          </a:p>
        </p:txBody>
      </p:sp>
      <p:grpSp>
        <p:nvGrpSpPr>
          <p:cNvPr id="103" name="Google Shape;103;p2"/>
          <p:cNvGrpSpPr/>
          <p:nvPr/>
        </p:nvGrpSpPr>
        <p:grpSpPr>
          <a:xfrm>
            <a:off x="3148108" y="3438951"/>
            <a:ext cx="3257735" cy="4528199"/>
            <a:chOff x="0" y="0"/>
            <a:chExt cx="3257734" cy="4528198"/>
          </a:xfrm>
        </p:grpSpPr>
        <p:sp>
          <p:nvSpPr>
            <p:cNvPr id="104" name="Google Shape;104;p2"/>
            <p:cNvSpPr txBox="1"/>
            <p:nvPr/>
          </p:nvSpPr>
          <p:spPr>
            <a:xfrm>
              <a:off x="50800" y="38100"/>
              <a:ext cx="3156134" cy="4375798"/>
            </a:xfrm>
            <a:prstGeom prst="rect">
              <a:avLst/>
            </a:prstGeom>
            <a:noFill/>
            <a:ln>
              <a:noFill/>
            </a:ln>
          </p:spPr>
          <p:txBody>
            <a:bodyPr spcFirstLastPara="1" wrap="square" lIns="50800" tIns="50800" rIns="50800" bIns="50800" anchor="t" anchorCtr="0">
              <a:noAutofit/>
            </a:bodyPr>
            <a:lstStyle/>
            <a:p>
              <a:pPr marL="0" marR="0" lvl="0" indent="0" algn="ctr" rtl="0">
                <a:lnSpc>
                  <a:spcPct val="100000"/>
                </a:lnSpc>
                <a:spcBef>
                  <a:spcPts val="0"/>
                </a:spcBef>
                <a:spcAft>
                  <a:spcPts val="0"/>
                </a:spcAft>
                <a:buClr>
                  <a:srgbClr val="747474"/>
                </a:buClr>
                <a:buSzPts val="2000"/>
                <a:buFont typeface="Helvetica Neue"/>
                <a:buNone/>
              </a:pPr>
              <a:r>
                <a:rPr lang="en-US" sz="2000" b="0" i="0" u="none" strike="noStrike" cap="none">
                  <a:solidFill>
                    <a:srgbClr val="747474"/>
                  </a:solidFill>
                  <a:latin typeface="Helvetica Neue"/>
                  <a:ea typeface="Helvetica Neue"/>
                  <a:cs typeface="Helvetica Neue"/>
                  <a:sym typeface="Helvetica Neue"/>
                </a:rPr>
                <a:t>Taxon-specific databases</a:t>
              </a:r>
              <a:endParaRPr sz="1400" b="0" i="0" u="none" strike="noStrike" cap="none">
                <a:solidFill>
                  <a:srgbClr val="000000"/>
                </a:solidFill>
                <a:latin typeface="Arial"/>
                <a:ea typeface="Arial"/>
                <a:cs typeface="Arial"/>
                <a:sym typeface="Arial"/>
              </a:endParaRPr>
            </a:p>
          </p:txBody>
        </p:sp>
        <p:pic>
          <p:nvPicPr>
            <p:cNvPr id="105" name="Google Shape;105;p2" descr="Taxon-specific databases Taxon-specific databases"/>
            <p:cNvPicPr preferRelativeResize="0"/>
            <p:nvPr/>
          </p:nvPicPr>
          <p:blipFill rotWithShape="1">
            <a:blip r:embed="rId3">
              <a:alphaModFix/>
            </a:blip>
            <a:srcRect/>
            <a:stretch/>
          </p:blipFill>
          <p:spPr>
            <a:xfrm>
              <a:off x="0" y="0"/>
              <a:ext cx="3257734" cy="4528198"/>
            </a:xfrm>
            <a:prstGeom prst="rect">
              <a:avLst/>
            </a:prstGeom>
            <a:noFill/>
            <a:ln>
              <a:noFill/>
            </a:ln>
          </p:spPr>
        </p:pic>
      </p:grpSp>
      <p:grpSp>
        <p:nvGrpSpPr>
          <p:cNvPr id="106" name="Google Shape;106;p2"/>
          <p:cNvGrpSpPr/>
          <p:nvPr/>
        </p:nvGrpSpPr>
        <p:grpSpPr>
          <a:xfrm>
            <a:off x="281683" y="3438951"/>
            <a:ext cx="2466311" cy="4528199"/>
            <a:chOff x="0" y="0"/>
            <a:chExt cx="2466309" cy="4528198"/>
          </a:xfrm>
        </p:grpSpPr>
        <p:sp>
          <p:nvSpPr>
            <p:cNvPr id="107" name="Google Shape;107;p2"/>
            <p:cNvSpPr txBox="1"/>
            <p:nvPr/>
          </p:nvSpPr>
          <p:spPr>
            <a:xfrm>
              <a:off x="50800" y="38100"/>
              <a:ext cx="2364709" cy="4375798"/>
            </a:xfrm>
            <a:prstGeom prst="rect">
              <a:avLst/>
            </a:prstGeom>
            <a:noFill/>
            <a:ln>
              <a:noFill/>
            </a:ln>
          </p:spPr>
          <p:txBody>
            <a:bodyPr spcFirstLastPara="1" wrap="square" lIns="50800" tIns="50800" rIns="50800" bIns="50800" anchor="t" anchorCtr="0">
              <a:noAutofit/>
            </a:bodyPr>
            <a:lstStyle/>
            <a:p>
              <a:pPr marL="0" marR="0" lvl="0" indent="0" algn="l" rtl="0">
                <a:lnSpc>
                  <a:spcPct val="100000"/>
                </a:lnSpc>
                <a:spcBef>
                  <a:spcPts val="0"/>
                </a:spcBef>
                <a:spcAft>
                  <a:spcPts val="0"/>
                </a:spcAft>
                <a:buClr>
                  <a:srgbClr val="747474"/>
                </a:buClr>
                <a:buSzPts val="2000"/>
                <a:buFont typeface="Helvetica Neue"/>
                <a:buNone/>
              </a:pPr>
              <a:r>
                <a:rPr lang="en-US" sz="2000" b="0" i="0" u="none" strike="noStrike" cap="none">
                  <a:solidFill>
                    <a:srgbClr val="747474"/>
                  </a:solidFill>
                  <a:latin typeface="Helvetica Neue"/>
                  <a:ea typeface="Helvetica Neue"/>
                  <a:cs typeface="Helvetica Neue"/>
                  <a:sym typeface="Helvetica Neue"/>
                </a:rPr>
                <a:t>General databases</a:t>
              </a:r>
              <a:endParaRPr sz="1400" b="0" i="0" u="none" strike="noStrike" cap="none">
                <a:solidFill>
                  <a:srgbClr val="000000"/>
                </a:solidFill>
                <a:latin typeface="Arial"/>
                <a:ea typeface="Arial"/>
                <a:cs typeface="Arial"/>
                <a:sym typeface="Arial"/>
              </a:endParaRPr>
            </a:p>
          </p:txBody>
        </p:sp>
        <p:pic>
          <p:nvPicPr>
            <p:cNvPr id="108" name="Google Shape;108;p2" descr="General databases General databases"/>
            <p:cNvPicPr preferRelativeResize="0"/>
            <p:nvPr/>
          </p:nvPicPr>
          <p:blipFill rotWithShape="1">
            <a:blip r:embed="rId4">
              <a:alphaModFix/>
            </a:blip>
            <a:srcRect/>
            <a:stretch/>
          </p:blipFill>
          <p:spPr>
            <a:xfrm>
              <a:off x="0" y="0"/>
              <a:ext cx="2466309" cy="4528198"/>
            </a:xfrm>
            <a:prstGeom prst="rect">
              <a:avLst/>
            </a:prstGeom>
            <a:noFill/>
            <a:ln>
              <a:noFill/>
            </a:ln>
          </p:spPr>
        </p:pic>
      </p:grpSp>
      <p:pic>
        <p:nvPicPr>
          <p:cNvPr id="109" name="Google Shape;109;p2" descr="Screen shot 2011-10-08 at 12.32.56 PM.png"/>
          <p:cNvPicPr preferRelativeResize="0"/>
          <p:nvPr/>
        </p:nvPicPr>
        <p:blipFill rotWithShape="1">
          <a:blip r:embed="rId5">
            <a:alphaModFix/>
          </a:blip>
          <a:srcRect/>
          <a:stretch/>
        </p:blipFill>
        <p:spPr>
          <a:xfrm>
            <a:off x="374274" y="5079072"/>
            <a:ext cx="2263110" cy="1577049"/>
          </a:xfrm>
          <a:prstGeom prst="rect">
            <a:avLst/>
          </a:prstGeom>
          <a:noFill/>
          <a:ln>
            <a:noFill/>
          </a:ln>
        </p:spPr>
      </p:pic>
      <p:pic>
        <p:nvPicPr>
          <p:cNvPr id="110" name="Google Shape;110;p2" descr="Screen shot 2011-10-08 at 12.39.19 PM.png"/>
          <p:cNvPicPr preferRelativeResize="0"/>
          <p:nvPr/>
        </p:nvPicPr>
        <p:blipFill rotWithShape="1">
          <a:blip r:embed="rId6">
            <a:alphaModFix/>
          </a:blip>
          <a:srcRect/>
          <a:stretch/>
        </p:blipFill>
        <p:spPr>
          <a:xfrm>
            <a:off x="3769440" y="5411169"/>
            <a:ext cx="1756488" cy="912855"/>
          </a:xfrm>
          <a:prstGeom prst="rect">
            <a:avLst/>
          </a:prstGeom>
          <a:noFill/>
          <a:ln>
            <a:noFill/>
          </a:ln>
        </p:spPr>
      </p:pic>
      <p:sp>
        <p:nvSpPr>
          <p:cNvPr id="111" name="Google Shape;111;p2"/>
          <p:cNvSpPr txBox="1"/>
          <p:nvPr/>
        </p:nvSpPr>
        <p:spPr>
          <a:xfrm>
            <a:off x="3295122" y="6217500"/>
            <a:ext cx="2762975" cy="393701"/>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7A7A7A"/>
              </a:buClr>
              <a:buSzPts val="1600"/>
              <a:buFont typeface="Helvetica Neue Light"/>
              <a:buNone/>
            </a:pPr>
            <a:r>
              <a:rPr lang="en-US" sz="1600" b="0" i="0" u="sng" strike="noStrike" cap="none">
                <a:solidFill>
                  <a:schemeClr val="hlink"/>
                </a:solidFill>
                <a:latin typeface="Helvetica Neue Light"/>
                <a:ea typeface="Helvetica Neue Light"/>
                <a:cs typeface="Helvetica Neue Light"/>
                <a:sym typeface="Helvetica Neue Light"/>
                <a:hlinkClick r:id="rId7"/>
              </a:rPr>
              <a:t>http://www.herpnet.org</a:t>
            </a:r>
            <a:r>
              <a:rPr lang="en-US" sz="1600" b="0" i="0" u="none" strike="noStrike" cap="none">
                <a:solidFill>
                  <a:srgbClr val="7A7A7A"/>
                </a:solidFill>
                <a:latin typeface="Helvetica Neue Light"/>
                <a:ea typeface="Helvetica Neue Light"/>
                <a:cs typeface="Helvetica Neue Light"/>
                <a:sym typeface="Helvetica Neue Light"/>
              </a:rPr>
              <a:t>/</a:t>
            </a:r>
            <a:endParaRPr sz="1400" b="0" i="0" u="none" strike="noStrike" cap="none">
              <a:solidFill>
                <a:srgbClr val="000000"/>
              </a:solidFill>
              <a:latin typeface="Arial"/>
              <a:ea typeface="Arial"/>
              <a:cs typeface="Arial"/>
              <a:sym typeface="Arial"/>
            </a:endParaRPr>
          </a:p>
        </p:txBody>
      </p:sp>
      <p:grpSp>
        <p:nvGrpSpPr>
          <p:cNvPr id="112" name="Google Shape;112;p2"/>
          <p:cNvGrpSpPr/>
          <p:nvPr/>
        </p:nvGrpSpPr>
        <p:grpSpPr>
          <a:xfrm>
            <a:off x="6822085" y="4000112"/>
            <a:ext cx="2745538" cy="3987801"/>
            <a:chOff x="0" y="0"/>
            <a:chExt cx="2745537" cy="3987800"/>
          </a:xfrm>
        </p:grpSpPr>
        <p:sp>
          <p:nvSpPr>
            <p:cNvPr id="113" name="Google Shape;113;p2"/>
            <p:cNvSpPr txBox="1"/>
            <p:nvPr/>
          </p:nvSpPr>
          <p:spPr>
            <a:xfrm>
              <a:off x="50800" y="38100"/>
              <a:ext cx="2643937" cy="3835400"/>
            </a:xfrm>
            <a:prstGeom prst="rect">
              <a:avLst/>
            </a:prstGeom>
            <a:noFill/>
            <a:ln>
              <a:noFill/>
            </a:ln>
          </p:spPr>
          <p:txBody>
            <a:bodyPr spcFirstLastPara="1" wrap="square" lIns="50800" tIns="50800" rIns="50800" bIns="50800" anchor="t" anchorCtr="0">
              <a:noAutofit/>
            </a:bodyPr>
            <a:lstStyle/>
            <a:p>
              <a:pPr marL="0" marR="0" lvl="0" indent="0" algn="l" rtl="0">
                <a:lnSpc>
                  <a:spcPct val="100000"/>
                </a:lnSpc>
                <a:spcBef>
                  <a:spcPts val="0"/>
                </a:spcBef>
                <a:spcAft>
                  <a:spcPts val="0"/>
                </a:spcAft>
                <a:buClr>
                  <a:srgbClr val="747474"/>
                </a:buClr>
                <a:buSzPts val="2000"/>
                <a:buFont typeface="Helvetica Neue"/>
                <a:buNone/>
              </a:pPr>
              <a:r>
                <a:rPr lang="en-US" sz="2000" b="0" i="0" u="none" strike="noStrike" cap="none">
                  <a:solidFill>
                    <a:srgbClr val="747474"/>
                  </a:solidFill>
                  <a:latin typeface="Helvetica Neue"/>
                  <a:ea typeface="Helvetica Neue"/>
                  <a:cs typeface="Helvetica Neue"/>
                  <a:sym typeface="Helvetica Neue"/>
                </a:rPr>
                <a:t>Country and region specific databases </a:t>
              </a:r>
              <a:r>
                <a:rPr lang="en-US" sz="1300" b="0" i="0" u="none" strike="noStrike" cap="none">
                  <a:solidFill>
                    <a:srgbClr val="747474"/>
                  </a:solidFill>
                  <a:latin typeface="Helvetica Neue"/>
                  <a:ea typeface="Helvetica Neue"/>
                  <a:cs typeface="Helvetica Neue"/>
                  <a:sym typeface="Helvetica Neue"/>
                </a:rPr>
                <a:t>(only recommended as complementary data or for endemics)</a:t>
              </a:r>
              <a:endParaRPr sz="1400" b="0" i="0" u="none" strike="noStrike" cap="none">
                <a:solidFill>
                  <a:srgbClr val="000000"/>
                </a:solidFill>
                <a:latin typeface="Arial"/>
                <a:ea typeface="Arial"/>
                <a:cs typeface="Arial"/>
                <a:sym typeface="Arial"/>
              </a:endParaRPr>
            </a:p>
          </p:txBody>
        </p:sp>
        <p:pic>
          <p:nvPicPr>
            <p:cNvPr id="114" name="Google Shape;114;p2" descr="Country and region specific databases (only recommended as complementary data or for endemics) Country and region specific databases (only recommended as complementary data or for endemics)"/>
            <p:cNvPicPr preferRelativeResize="0"/>
            <p:nvPr/>
          </p:nvPicPr>
          <p:blipFill rotWithShape="1">
            <a:blip r:embed="rId8">
              <a:alphaModFix/>
            </a:blip>
            <a:srcRect/>
            <a:stretch/>
          </p:blipFill>
          <p:spPr>
            <a:xfrm>
              <a:off x="0" y="0"/>
              <a:ext cx="2745537" cy="3987800"/>
            </a:xfrm>
            <a:prstGeom prst="rect">
              <a:avLst/>
            </a:prstGeom>
            <a:noFill/>
            <a:ln>
              <a:noFill/>
            </a:ln>
          </p:spPr>
        </p:pic>
      </p:grpSp>
      <p:pic>
        <p:nvPicPr>
          <p:cNvPr id="115" name="Google Shape;115;p2" descr="Screen Shot 2021-07-26 at 1.34.53 PM.png"/>
          <p:cNvPicPr preferRelativeResize="0"/>
          <p:nvPr/>
        </p:nvPicPr>
        <p:blipFill rotWithShape="1">
          <a:blip r:embed="rId9">
            <a:alphaModFix/>
          </a:blip>
          <a:srcRect/>
          <a:stretch/>
        </p:blipFill>
        <p:spPr>
          <a:xfrm>
            <a:off x="3655504" y="6737038"/>
            <a:ext cx="2157093" cy="778734"/>
          </a:xfrm>
          <a:prstGeom prst="rect">
            <a:avLst/>
          </a:prstGeom>
          <a:noFill/>
          <a:ln>
            <a:noFill/>
          </a:ln>
        </p:spPr>
      </p:pic>
      <p:sp>
        <p:nvSpPr>
          <p:cNvPr id="116" name="Google Shape;116;p2"/>
          <p:cNvSpPr txBox="1"/>
          <p:nvPr/>
        </p:nvSpPr>
        <p:spPr>
          <a:xfrm>
            <a:off x="3266197" y="7392259"/>
            <a:ext cx="2762975" cy="393701"/>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7A7A7A"/>
              </a:buClr>
              <a:buSzPts val="1600"/>
              <a:buFont typeface="Helvetica Neue Light"/>
              <a:buNone/>
            </a:pPr>
            <a:r>
              <a:rPr lang="en-US" sz="1600" b="0" i="0" u="sng" strike="noStrike" cap="none">
                <a:solidFill>
                  <a:schemeClr val="hlink"/>
                </a:solidFill>
                <a:latin typeface="Helvetica Neue Light"/>
                <a:ea typeface="Helvetica Neue Light"/>
                <a:cs typeface="Helvetica Neue Light"/>
                <a:sym typeface="Helvetica Neue Light"/>
                <a:hlinkClick r:id="rId10"/>
              </a:rPr>
              <a:t>vertnet.org</a:t>
            </a:r>
            <a:endParaRPr sz="1400" b="0" i="0" u="none" strike="noStrike" cap="none">
              <a:solidFill>
                <a:srgbClr val="000000"/>
              </a:solidFill>
              <a:latin typeface="Arial"/>
              <a:ea typeface="Arial"/>
              <a:cs typeface="Arial"/>
              <a:sym typeface="Arial"/>
            </a:endParaRPr>
          </a:p>
        </p:txBody>
      </p:sp>
      <p:pic>
        <p:nvPicPr>
          <p:cNvPr id="117" name="Google Shape;117;p2" descr="Screen Shot 2021-07-26 at 1.38.37 PM.png"/>
          <p:cNvPicPr preferRelativeResize="0"/>
          <p:nvPr/>
        </p:nvPicPr>
        <p:blipFill rotWithShape="1">
          <a:blip r:embed="rId11">
            <a:alphaModFix/>
          </a:blip>
          <a:srcRect/>
          <a:stretch/>
        </p:blipFill>
        <p:spPr>
          <a:xfrm>
            <a:off x="3883740" y="4297684"/>
            <a:ext cx="1756488" cy="709983"/>
          </a:xfrm>
          <a:prstGeom prst="rect">
            <a:avLst/>
          </a:prstGeom>
          <a:noFill/>
          <a:ln>
            <a:noFill/>
          </a:ln>
        </p:spPr>
      </p:pic>
      <p:sp>
        <p:nvSpPr>
          <p:cNvPr id="118" name="Google Shape;118;p2"/>
          <p:cNvSpPr txBox="1"/>
          <p:nvPr/>
        </p:nvSpPr>
        <p:spPr>
          <a:xfrm>
            <a:off x="3249515" y="4984292"/>
            <a:ext cx="3075738" cy="393701"/>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7A7A7A"/>
              </a:buClr>
              <a:buSzPts val="1600"/>
              <a:buFont typeface="Helvetica Neue Light"/>
              <a:buNone/>
            </a:pPr>
            <a:r>
              <a:rPr lang="en-US" sz="1600" b="0" i="0" u="none" strike="noStrike" cap="none">
                <a:solidFill>
                  <a:srgbClr val="7A7A7A"/>
                </a:solidFill>
                <a:latin typeface="Helvetica Neue Light"/>
                <a:ea typeface="Helvetica Neue Light"/>
                <a:cs typeface="Helvetica Neue Light"/>
                <a:sym typeface="Helvetica Neue Light"/>
              </a:rPr>
              <a:t>https://bien.nceas.ucsb.edu/bien/</a:t>
            </a:r>
            <a:endParaRPr sz="1400" b="0" i="0" u="none" strike="noStrike" cap="none">
              <a:solidFill>
                <a:srgbClr val="000000"/>
              </a:solidFill>
              <a:latin typeface="Arial"/>
              <a:ea typeface="Arial"/>
              <a:cs typeface="Arial"/>
              <a:sym typeface="Arial"/>
            </a:endParaRPr>
          </a:p>
        </p:txBody>
      </p:sp>
      <p:pic>
        <p:nvPicPr>
          <p:cNvPr id="119" name="Google Shape;119;p2" descr="Screen Shot 2021-07-26 at 1.46.00 PM.png"/>
          <p:cNvPicPr preferRelativeResize="0"/>
          <p:nvPr/>
        </p:nvPicPr>
        <p:blipFill rotWithShape="1">
          <a:blip r:embed="rId12">
            <a:alphaModFix/>
          </a:blip>
          <a:srcRect/>
          <a:stretch/>
        </p:blipFill>
        <p:spPr>
          <a:xfrm>
            <a:off x="7173100" y="6796557"/>
            <a:ext cx="1803401" cy="736601"/>
          </a:xfrm>
          <a:prstGeom prst="rect">
            <a:avLst/>
          </a:prstGeom>
          <a:noFill/>
          <a:ln>
            <a:noFill/>
          </a:ln>
        </p:spPr>
      </p:pic>
      <p:sp>
        <p:nvSpPr>
          <p:cNvPr id="120" name="Google Shape;120;p2"/>
          <p:cNvSpPr txBox="1"/>
          <p:nvPr/>
        </p:nvSpPr>
        <p:spPr>
          <a:xfrm>
            <a:off x="6706013" y="7434712"/>
            <a:ext cx="2762975" cy="393701"/>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7A7A7A"/>
              </a:buClr>
              <a:buSzPts val="1600"/>
              <a:buFont typeface="Helvetica Neue Light"/>
              <a:buNone/>
            </a:pPr>
            <a:r>
              <a:rPr lang="en-US" sz="1600" b="0" i="0" u="none" strike="noStrike" cap="none">
                <a:solidFill>
                  <a:srgbClr val="7A7A7A"/>
                </a:solidFill>
                <a:latin typeface="Helvetica Neue Light"/>
                <a:ea typeface="Helvetica Neue Light"/>
                <a:cs typeface="Helvetica Neue Light"/>
                <a:sym typeface="Helvetica Neue Light"/>
              </a:rPr>
              <a:t>https://bison.usgs.gov/</a:t>
            </a:r>
            <a:endParaRPr sz="1400" b="0" i="0" u="none" strike="noStrike" cap="none">
              <a:solidFill>
                <a:srgbClr val="000000"/>
              </a:solidFill>
              <a:latin typeface="Arial"/>
              <a:ea typeface="Arial"/>
              <a:cs typeface="Arial"/>
              <a:sym typeface="Arial"/>
            </a:endParaRPr>
          </a:p>
        </p:txBody>
      </p:sp>
      <p:pic>
        <p:nvPicPr>
          <p:cNvPr id="121" name="Google Shape;121;p2" descr="Screen Shot 2021-07-26 at 1.47.47 PM.png"/>
          <p:cNvPicPr preferRelativeResize="0"/>
          <p:nvPr/>
        </p:nvPicPr>
        <p:blipFill rotWithShape="1">
          <a:blip r:embed="rId13">
            <a:alphaModFix/>
          </a:blip>
          <a:srcRect/>
          <a:stretch/>
        </p:blipFill>
        <p:spPr>
          <a:xfrm>
            <a:off x="7244051" y="5606757"/>
            <a:ext cx="1422401" cy="723901"/>
          </a:xfrm>
          <a:prstGeom prst="rect">
            <a:avLst/>
          </a:prstGeom>
          <a:noFill/>
          <a:ln>
            <a:noFill/>
          </a:ln>
        </p:spPr>
      </p:pic>
      <p:sp>
        <p:nvSpPr>
          <p:cNvPr id="122" name="Google Shape;122;p2"/>
          <p:cNvSpPr txBox="1"/>
          <p:nvPr/>
        </p:nvSpPr>
        <p:spPr>
          <a:xfrm>
            <a:off x="6640857" y="6336329"/>
            <a:ext cx="2762975" cy="393701"/>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7A7A7A"/>
              </a:buClr>
              <a:buSzPts val="1600"/>
              <a:buFont typeface="Helvetica Neue Light"/>
              <a:buNone/>
            </a:pPr>
            <a:r>
              <a:rPr lang="en-US" sz="1600" b="0" i="0" u="none" strike="noStrike" cap="none">
                <a:solidFill>
                  <a:srgbClr val="7A7A7A"/>
                </a:solidFill>
                <a:latin typeface="Helvetica Neue Light"/>
                <a:ea typeface="Helvetica Neue Light"/>
                <a:cs typeface="Helvetica Neue Light"/>
                <a:sym typeface="Helvetica Neue Light"/>
              </a:rPr>
              <a:t>https://sibcolombia.net</a:t>
            </a:r>
            <a:endParaRPr sz="1400" b="0" i="0" u="none" strike="noStrike" cap="none">
              <a:solidFill>
                <a:srgbClr val="000000"/>
              </a:solidFill>
              <a:latin typeface="Arial"/>
              <a:ea typeface="Arial"/>
              <a:cs typeface="Arial"/>
              <a:sym typeface="Arial"/>
            </a:endParaRPr>
          </a:p>
        </p:txBody>
      </p:sp>
      <p:sp>
        <p:nvSpPr>
          <p:cNvPr id="123" name="Google Shape;123;p2"/>
          <p:cNvSpPr txBox="1"/>
          <p:nvPr/>
        </p:nvSpPr>
        <p:spPr>
          <a:xfrm>
            <a:off x="48142" y="7107354"/>
            <a:ext cx="2762975" cy="393701"/>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7A7A7A"/>
              </a:buClr>
              <a:buSzPts val="1600"/>
              <a:buFont typeface="Helvetica Neue Light"/>
              <a:buNone/>
            </a:pPr>
            <a:r>
              <a:rPr lang="en-US" sz="1600" b="0" i="0" u="none" strike="noStrike" cap="none">
                <a:solidFill>
                  <a:srgbClr val="7A7A7A"/>
                </a:solidFill>
                <a:latin typeface="Helvetica Neue Light"/>
                <a:ea typeface="Helvetica Neue Light"/>
                <a:cs typeface="Helvetica Neue Light"/>
                <a:sym typeface="Helvetica Neue Light"/>
              </a:rPr>
              <a:t>https://www.gbif.org</a:t>
            </a:r>
            <a:endParaRPr sz="1400" b="0" i="0" u="none" strike="noStrike" cap="none">
              <a:solidFill>
                <a:srgbClr val="000000"/>
              </a:solidFill>
              <a:latin typeface="Arial"/>
              <a:ea typeface="Arial"/>
              <a:cs typeface="Arial"/>
              <a:sym typeface="Arial"/>
            </a:endParaRPr>
          </a:p>
        </p:txBody>
      </p:sp>
      <p:grpSp>
        <p:nvGrpSpPr>
          <p:cNvPr id="124" name="Google Shape;124;p2"/>
          <p:cNvGrpSpPr/>
          <p:nvPr/>
        </p:nvGrpSpPr>
        <p:grpSpPr>
          <a:xfrm>
            <a:off x="9982768" y="4000112"/>
            <a:ext cx="2745538" cy="3986784"/>
            <a:chOff x="0" y="0"/>
            <a:chExt cx="2745537" cy="3986783"/>
          </a:xfrm>
        </p:grpSpPr>
        <p:sp>
          <p:nvSpPr>
            <p:cNvPr id="125" name="Google Shape;125;p2"/>
            <p:cNvSpPr txBox="1"/>
            <p:nvPr/>
          </p:nvSpPr>
          <p:spPr>
            <a:xfrm>
              <a:off x="50800" y="38100"/>
              <a:ext cx="2643937" cy="3835400"/>
            </a:xfrm>
            <a:prstGeom prst="rect">
              <a:avLst/>
            </a:prstGeom>
            <a:noFill/>
            <a:ln>
              <a:noFill/>
            </a:ln>
          </p:spPr>
          <p:txBody>
            <a:bodyPr spcFirstLastPara="1" wrap="square" lIns="50800" tIns="50800" rIns="50800" bIns="50800" anchor="t" anchorCtr="0">
              <a:noAutofit/>
            </a:bodyPr>
            <a:lstStyle/>
            <a:p>
              <a:pPr marL="0" marR="0" lvl="0" indent="0" algn="l" rtl="0">
                <a:lnSpc>
                  <a:spcPct val="100000"/>
                </a:lnSpc>
                <a:spcBef>
                  <a:spcPts val="0"/>
                </a:spcBef>
                <a:spcAft>
                  <a:spcPts val="0"/>
                </a:spcAft>
                <a:buClr>
                  <a:srgbClr val="747474"/>
                </a:buClr>
                <a:buSzPts val="2200"/>
                <a:buFont typeface="Helvetica Neue"/>
                <a:buNone/>
              </a:pPr>
              <a:r>
                <a:rPr lang="en-US" sz="2200" b="0" i="0" u="none" strike="noStrike" cap="none">
                  <a:solidFill>
                    <a:srgbClr val="747474"/>
                  </a:solidFill>
                  <a:latin typeface="Helvetica Neue"/>
                  <a:ea typeface="Helvetica Neue"/>
                  <a:cs typeface="Helvetica Neue"/>
                  <a:sym typeface="Helvetica Neue"/>
                </a:rPr>
                <a:t>Expert information:</a:t>
              </a:r>
              <a:r>
                <a:rPr lang="en-US" sz="2000" b="0" i="0" u="none" strike="noStrike" cap="none">
                  <a:solidFill>
                    <a:srgbClr val="747474"/>
                  </a:solidFill>
                  <a:latin typeface="Helvetica Neue"/>
                  <a:ea typeface="Helvetica Neue"/>
                  <a:cs typeface="Helvetica Neue"/>
                  <a:sym typeface="Helvetica Neue"/>
                </a:rPr>
                <a:t> field notes and/or non-public collection data</a:t>
              </a:r>
              <a:endParaRPr sz="1400" b="0" i="0" u="none" strike="noStrike" cap="none">
                <a:solidFill>
                  <a:srgbClr val="000000"/>
                </a:solidFill>
                <a:latin typeface="Arial"/>
                <a:ea typeface="Arial"/>
                <a:cs typeface="Arial"/>
                <a:sym typeface="Arial"/>
              </a:endParaRPr>
            </a:p>
          </p:txBody>
        </p:sp>
        <p:pic>
          <p:nvPicPr>
            <p:cNvPr id="126" name="Google Shape;126;p2" descr="Expert information: field notes and/or non-public collection data Expert information: field notes and/or non-public collection data"/>
            <p:cNvPicPr preferRelativeResize="0"/>
            <p:nvPr/>
          </p:nvPicPr>
          <p:blipFill rotWithShape="1">
            <a:blip r:embed="rId8">
              <a:alphaModFix/>
            </a:blip>
            <a:srcRect/>
            <a:stretch/>
          </p:blipFill>
          <p:spPr>
            <a:xfrm>
              <a:off x="0" y="0"/>
              <a:ext cx="2745537" cy="3986783"/>
            </a:xfrm>
            <a:prstGeom prst="rect">
              <a:avLst/>
            </a:prstGeom>
            <a:noFill/>
            <a:ln>
              <a:noFill/>
            </a:ln>
          </p:spPr>
        </p:pic>
      </p:grpSp>
      <p:pic>
        <p:nvPicPr>
          <p:cNvPr id="127" name="Google Shape;127;p2"/>
          <p:cNvPicPr preferRelativeResize="0"/>
          <p:nvPr/>
        </p:nvPicPr>
        <p:blipFill rotWithShape="1">
          <a:blip r:embed="rId14"/>
          <a:srcRect l="18828" t="3738" r="377" b="15467"/>
          <a:stretch/>
        </p:blipFill>
        <p:spPr>
          <a:xfrm>
            <a:off x="10453837" y="5930617"/>
            <a:ext cx="1803400" cy="136245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3"/>
          <p:cNvSpPr txBox="1">
            <a:spLocks noGrp="1"/>
          </p:cNvSpPr>
          <p:nvPr>
            <p:ph type="body" idx="2"/>
          </p:nvPr>
        </p:nvSpPr>
        <p:spPr>
          <a:xfrm>
            <a:off x="272395" y="3153775"/>
            <a:ext cx="12296400" cy="5924100"/>
          </a:xfrm>
          <a:prstGeom prst="rect">
            <a:avLst/>
          </a:prstGeom>
          <a:noFill/>
          <a:ln>
            <a:noFill/>
          </a:ln>
        </p:spPr>
        <p:txBody>
          <a:bodyPr spcFirstLastPara="1" wrap="square" lIns="27075" tIns="27075" rIns="27075" bIns="27075" anchor="t" anchorCtr="0">
            <a:normAutofit/>
          </a:bodyPr>
          <a:lstStyle/>
          <a:p>
            <a:pPr marL="379984" lvl="0" indent="-379984" algn="l" rtl="0">
              <a:lnSpc>
                <a:spcPct val="100000"/>
              </a:lnSpc>
              <a:spcBef>
                <a:spcPts val="0"/>
              </a:spcBef>
              <a:spcAft>
                <a:spcPts val="0"/>
              </a:spcAft>
              <a:buClr>
                <a:srgbClr val="FFFFFF"/>
              </a:buClr>
              <a:buSzPts val="3567"/>
              <a:buFont typeface="Helvetica Neue"/>
              <a:buChar char="•"/>
            </a:pPr>
            <a:r>
              <a:rPr lang="en-US"/>
              <a:t>Is the species correctly identified?</a:t>
            </a:r>
            <a:endParaRPr/>
          </a:p>
          <a:p>
            <a:pPr marL="379984" lvl="0" indent="-379984" algn="l" rtl="0">
              <a:lnSpc>
                <a:spcPct val="100000"/>
              </a:lnSpc>
              <a:spcBef>
                <a:spcPts val="1000"/>
              </a:spcBef>
              <a:spcAft>
                <a:spcPts val="0"/>
              </a:spcAft>
              <a:buClr>
                <a:srgbClr val="FFFFFF"/>
              </a:buClr>
              <a:buSzPts val="3567"/>
              <a:buFont typeface="Helvetica Neue"/>
              <a:buChar char="•"/>
            </a:pPr>
            <a:r>
              <a:rPr lang="en-US"/>
              <a:t>Are coordinates provided? Is uncertainty provided?</a:t>
            </a:r>
            <a:endParaRPr/>
          </a:p>
          <a:p>
            <a:pPr marL="379984" lvl="0" indent="-379984" algn="l" rtl="0">
              <a:lnSpc>
                <a:spcPct val="100000"/>
              </a:lnSpc>
              <a:spcBef>
                <a:spcPts val="1000"/>
              </a:spcBef>
              <a:spcAft>
                <a:spcPts val="0"/>
              </a:spcAft>
              <a:buClr>
                <a:srgbClr val="FFFFFF"/>
              </a:buClr>
              <a:buSzPts val="3567"/>
              <a:buFont typeface="Helvetica Neue"/>
              <a:buChar char="•"/>
            </a:pPr>
            <a:r>
              <a:rPr lang="en-US"/>
              <a:t>Is there a detailed description of the locality?</a:t>
            </a:r>
            <a:endParaRPr/>
          </a:p>
          <a:p>
            <a:pPr marL="379984" lvl="0" indent="-379984" algn="l" rtl="0">
              <a:lnSpc>
                <a:spcPct val="100000"/>
              </a:lnSpc>
              <a:spcBef>
                <a:spcPts val="1000"/>
              </a:spcBef>
              <a:spcAft>
                <a:spcPts val="0"/>
              </a:spcAft>
              <a:buClr>
                <a:srgbClr val="FFFFFF"/>
              </a:buClr>
              <a:buSzPts val="3567"/>
              <a:buFont typeface="Helvetica Neue"/>
              <a:buChar char="•"/>
            </a:pPr>
            <a:r>
              <a:rPr lang="en-US"/>
              <a:t>Looking at the map, are they in the correct area, ecosystem, geographic region?</a:t>
            </a:r>
            <a:endParaRPr/>
          </a:p>
          <a:p>
            <a:pPr marL="379984" lvl="0" indent="-379984" algn="l" rtl="0">
              <a:lnSpc>
                <a:spcPct val="100000"/>
              </a:lnSpc>
              <a:spcBef>
                <a:spcPts val="1000"/>
              </a:spcBef>
              <a:spcAft>
                <a:spcPts val="0"/>
              </a:spcAft>
              <a:buClr>
                <a:srgbClr val="FFFFFF"/>
              </a:buClr>
              <a:buSzPts val="3567"/>
              <a:buFont typeface="Helvetica Neue"/>
              <a:buChar char="•"/>
            </a:pPr>
            <a:r>
              <a:rPr lang="en-US"/>
              <a:t>Are coordinates from a GPS or where they georeferenced? What is the error? Does it matter?</a:t>
            </a:r>
            <a:endParaRPr/>
          </a:p>
        </p:txBody>
      </p:sp>
      <p:sp>
        <p:nvSpPr>
          <p:cNvPr id="133" name="Google Shape;133;p3"/>
          <p:cNvSpPr txBox="1"/>
          <p:nvPr/>
        </p:nvSpPr>
        <p:spPr>
          <a:xfrm>
            <a:off x="491806" y="1426457"/>
            <a:ext cx="11718000" cy="498600"/>
          </a:xfrm>
          <a:prstGeom prst="rect">
            <a:avLst/>
          </a:prstGeom>
          <a:noFill/>
          <a:ln>
            <a:noFill/>
          </a:ln>
        </p:spPr>
        <p:txBody>
          <a:bodyPr spcFirstLastPara="1" wrap="square" lIns="24375" tIns="24375" rIns="24375" bIns="24375" anchor="t" anchorCtr="0">
            <a:normAutofit lnSpcReduction="10000"/>
          </a:bodyPr>
          <a:lstStyle/>
          <a:p>
            <a:pPr marL="0" marR="0" lvl="0" indent="0" algn="l" rtl="0">
              <a:lnSpc>
                <a:spcPct val="100000"/>
              </a:lnSpc>
              <a:spcBef>
                <a:spcPts val="0"/>
              </a:spcBef>
              <a:spcAft>
                <a:spcPts val="0"/>
              </a:spcAft>
              <a:buClr>
                <a:srgbClr val="FFFFFF"/>
              </a:buClr>
              <a:buSzPts val="2964"/>
              <a:buFont typeface="Helvetica Neue"/>
              <a:buNone/>
            </a:pPr>
            <a:r>
              <a:rPr lang="en-US" sz="2964" b="1" i="0" u="none" strike="noStrike" cap="none">
                <a:solidFill>
                  <a:srgbClr val="FFFFFF"/>
                </a:solidFill>
                <a:latin typeface="Helvetica Neue"/>
                <a:ea typeface="Helvetica Neue"/>
                <a:cs typeface="Helvetica Neue"/>
                <a:sym typeface="Helvetica Neue"/>
              </a:rPr>
              <a:t>Data quality</a:t>
            </a:r>
            <a:endParaRPr sz="2964" b="1" i="1" u="none" strike="noStrike" cap="none">
              <a:solidFill>
                <a:srgbClr val="FFFFFF"/>
              </a:solidFill>
              <a:latin typeface="Helvetica Neue"/>
              <a:ea typeface="Helvetica Neue"/>
              <a:cs typeface="Helvetica Neue"/>
              <a:sym typeface="Helvetica Neue"/>
            </a:endParaRPr>
          </a:p>
        </p:txBody>
      </p:sp>
      <p:sp>
        <p:nvSpPr>
          <p:cNvPr id="134" name="Google Shape;134;p3"/>
          <p:cNvSpPr txBox="1">
            <a:spLocks noGrp="1"/>
          </p:cNvSpPr>
          <p:nvPr>
            <p:ph type="title"/>
          </p:nvPr>
        </p:nvSpPr>
        <p:spPr>
          <a:xfrm>
            <a:off x="491806" y="551838"/>
            <a:ext cx="11717868" cy="1126817"/>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Biodiversity data</a:t>
            </a:r>
            <a:endParaRPr i="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4"/>
          <p:cNvSpPr txBox="1">
            <a:spLocks noGrp="1"/>
          </p:cNvSpPr>
          <p:nvPr>
            <p:ph type="body" idx="2"/>
          </p:nvPr>
        </p:nvSpPr>
        <p:spPr>
          <a:xfrm>
            <a:off x="491806" y="2302623"/>
            <a:ext cx="11718000" cy="591900"/>
          </a:xfrm>
          <a:prstGeom prst="rect">
            <a:avLst/>
          </a:prstGeom>
          <a:noFill/>
          <a:ln>
            <a:noFill/>
          </a:ln>
        </p:spPr>
        <p:txBody>
          <a:bodyPr spcFirstLastPara="1" wrap="square" lIns="27075" tIns="27075" rIns="27075" bIns="27075" anchor="t" anchorCtr="0">
            <a:normAutofit/>
          </a:bodyPr>
          <a:lstStyle/>
          <a:p>
            <a:pPr marL="0" lvl="0" indent="0" algn="l" rtl="0">
              <a:lnSpc>
                <a:spcPct val="90000"/>
              </a:lnSpc>
              <a:spcBef>
                <a:spcPts val="0"/>
              </a:spcBef>
              <a:spcAft>
                <a:spcPts val="0"/>
              </a:spcAft>
              <a:buClr>
                <a:srgbClr val="FFFFFF"/>
              </a:buClr>
              <a:buSzPts val="3400"/>
              <a:buFont typeface="Helvetica Neue"/>
              <a:buNone/>
            </a:pPr>
            <a:r>
              <a:rPr lang="en-US" sz="3400" b="0" i="0" u="none" strike="noStrike" cap="none">
                <a:solidFill>
                  <a:srgbClr val="FFFFFF"/>
                </a:solidFill>
                <a:latin typeface="Helvetica Neue"/>
                <a:ea typeface="Helvetica Neue"/>
                <a:cs typeface="Helvetica Neue"/>
                <a:sym typeface="Helvetica Neue"/>
              </a:rPr>
              <a:t>How would this look? </a:t>
            </a:r>
            <a:endParaRPr sz="3400" b="0" i="1" u="none" strike="noStrike" cap="none">
              <a:solidFill>
                <a:srgbClr val="FFFFFF"/>
              </a:solidFill>
              <a:latin typeface="Helvetica Neue"/>
              <a:ea typeface="Helvetica Neue"/>
              <a:cs typeface="Helvetica Neue"/>
              <a:sym typeface="Helvetica Neue"/>
            </a:endParaRPr>
          </a:p>
        </p:txBody>
      </p:sp>
      <p:pic>
        <p:nvPicPr>
          <p:cNvPr id="140" name="Google Shape;140;p4" descr="questions.png"/>
          <p:cNvPicPr preferRelativeResize="0"/>
          <p:nvPr/>
        </p:nvPicPr>
        <p:blipFill rotWithShape="1">
          <a:blip r:embed="rId3">
            <a:alphaModFix/>
          </a:blip>
          <a:srcRect/>
          <a:stretch/>
        </p:blipFill>
        <p:spPr>
          <a:xfrm>
            <a:off x="-1" y="2302624"/>
            <a:ext cx="13004802" cy="6705601"/>
          </a:xfrm>
          <a:prstGeom prst="rect">
            <a:avLst/>
          </a:prstGeom>
          <a:noFill/>
          <a:ln>
            <a:noFill/>
          </a:ln>
        </p:spPr>
      </p:pic>
      <p:sp>
        <p:nvSpPr>
          <p:cNvPr id="141" name="Google Shape;141;p4"/>
          <p:cNvSpPr txBox="1">
            <a:spLocks noGrp="1"/>
          </p:cNvSpPr>
          <p:nvPr>
            <p:ph type="title"/>
          </p:nvPr>
        </p:nvSpPr>
        <p:spPr>
          <a:xfrm>
            <a:off x="491806" y="551838"/>
            <a:ext cx="11717868" cy="1126817"/>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Biodiversity data</a:t>
            </a:r>
            <a:endParaRPr i="1"/>
          </a:p>
        </p:txBody>
      </p:sp>
      <p:sp>
        <p:nvSpPr>
          <p:cNvPr id="142" name="Google Shape;142;p4"/>
          <p:cNvSpPr txBox="1"/>
          <p:nvPr/>
        </p:nvSpPr>
        <p:spPr>
          <a:xfrm>
            <a:off x="491806" y="1305946"/>
            <a:ext cx="11718000" cy="498600"/>
          </a:xfrm>
          <a:prstGeom prst="rect">
            <a:avLst/>
          </a:prstGeom>
          <a:noFill/>
          <a:ln>
            <a:noFill/>
          </a:ln>
        </p:spPr>
        <p:txBody>
          <a:bodyPr spcFirstLastPara="1" wrap="square" lIns="24375" tIns="24375" rIns="24375" bIns="24375" anchor="t" anchorCtr="0">
            <a:normAutofit lnSpcReduction="10000"/>
          </a:bodyPr>
          <a:lstStyle/>
          <a:p>
            <a:pPr marL="0" marR="0" lvl="0" indent="0" algn="l" rtl="0">
              <a:lnSpc>
                <a:spcPct val="100000"/>
              </a:lnSpc>
              <a:spcBef>
                <a:spcPts val="0"/>
              </a:spcBef>
              <a:spcAft>
                <a:spcPts val="0"/>
              </a:spcAft>
              <a:buClr>
                <a:srgbClr val="FFFFFF"/>
              </a:buClr>
              <a:buSzPts val="3000"/>
              <a:buFont typeface="Helvetica Neue"/>
              <a:buNone/>
            </a:pPr>
            <a:r>
              <a:rPr lang="en-US" sz="3000" b="0" i="0" u="none" strike="noStrike" cap="none">
                <a:solidFill>
                  <a:srgbClr val="FFFFFF"/>
                </a:solidFill>
                <a:latin typeface="Helvetica Neue"/>
                <a:ea typeface="Helvetica Neue"/>
                <a:cs typeface="Helvetica Neue"/>
                <a:sym typeface="Helvetica Neue"/>
              </a:rPr>
              <a:t>Species Absences </a:t>
            </a:r>
            <a:endParaRPr sz="3000" b="0" i="1"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5"/>
          <p:cNvSpPr txBox="1"/>
          <p:nvPr/>
        </p:nvSpPr>
        <p:spPr>
          <a:xfrm>
            <a:off x="479243" y="1253403"/>
            <a:ext cx="11718000" cy="498600"/>
          </a:xfrm>
          <a:prstGeom prst="rect">
            <a:avLst/>
          </a:prstGeom>
          <a:noFill/>
          <a:ln>
            <a:noFill/>
          </a:ln>
        </p:spPr>
        <p:txBody>
          <a:bodyPr spcFirstLastPara="1" wrap="square" lIns="24375" tIns="24375" rIns="24375" bIns="24375" anchor="t" anchorCtr="0">
            <a:normAutofit lnSpcReduction="10000"/>
          </a:bodyPr>
          <a:lstStyle/>
          <a:p>
            <a:pPr marL="0" marR="0" lvl="0" indent="0" algn="l" rtl="0">
              <a:lnSpc>
                <a:spcPct val="100000"/>
              </a:lnSpc>
              <a:spcBef>
                <a:spcPts val="0"/>
              </a:spcBef>
              <a:spcAft>
                <a:spcPts val="0"/>
              </a:spcAft>
              <a:buClr>
                <a:srgbClr val="FFFFFF"/>
              </a:buClr>
              <a:buSzPts val="2964"/>
              <a:buFont typeface="Helvetica Neue"/>
              <a:buNone/>
            </a:pPr>
            <a:r>
              <a:rPr lang="en-US" sz="2964" b="1" i="0" u="none" strike="noStrike" cap="none">
                <a:solidFill>
                  <a:srgbClr val="FFFFFF"/>
                </a:solidFill>
                <a:latin typeface="Helvetica Neue"/>
                <a:ea typeface="Helvetica Neue"/>
                <a:cs typeface="Helvetica Neue"/>
                <a:sym typeface="Helvetica Neue"/>
              </a:rPr>
              <a:t>Some examples</a:t>
            </a:r>
            <a:endParaRPr sz="1400" b="0" i="0" u="none" strike="noStrike" cap="none">
              <a:solidFill>
                <a:srgbClr val="000000"/>
              </a:solidFill>
              <a:latin typeface="Arial"/>
              <a:ea typeface="Arial"/>
              <a:cs typeface="Arial"/>
              <a:sym typeface="Arial"/>
            </a:endParaRPr>
          </a:p>
        </p:txBody>
      </p:sp>
      <p:grpSp>
        <p:nvGrpSpPr>
          <p:cNvPr id="148" name="Google Shape;148;p5"/>
          <p:cNvGrpSpPr/>
          <p:nvPr/>
        </p:nvGrpSpPr>
        <p:grpSpPr>
          <a:xfrm>
            <a:off x="725145" y="2533516"/>
            <a:ext cx="5612958" cy="7059168"/>
            <a:chOff x="0" y="0"/>
            <a:chExt cx="5612956" cy="7059166"/>
          </a:xfrm>
        </p:grpSpPr>
        <p:sp>
          <p:nvSpPr>
            <p:cNvPr id="149" name="Google Shape;149;p5"/>
            <p:cNvSpPr txBox="1"/>
            <p:nvPr/>
          </p:nvSpPr>
          <p:spPr>
            <a:xfrm>
              <a:off x="215900" y="139700"/>
              <a:ext cx="5181156" cy="6503128"/>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FFFFFF"/>
                </a:buClr>
                <a:buSzPts val="1700"/>
                <a:buFont typeface="Helvetica Neue"/>
                <a:buNone/>
              </a:pPr>
              <a:r>
                <a:rPr lang="en-US" sz="1700" b="1" i="0" u="none" strike="noStrike" cap="none">
                  <a:solidFill>
                    <a:srgbClr val="FFFFFF"/>
                  </a:solidFill>
                  <a:latin typeface="Helvetica Neue"/>
                  <a:ea typeface="Helvetica Neue"/>
                  <a:cs typeface="Helvetica Neue"/>
                  <a:sym typeface="Helvetica Neue"/>
                </a:rPr>
                <a:t>Pre-calculated bioclimatic data (19 &amp; more)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600"/>
                <a:buFont typeface="Helvetica Neue"/>
                <a:buNone/>
              </a:pPr>
              <a:endParaRPr sz="16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500"/>
                <a:buFont typeface="Helvetica Neue"/>
                <a:buNone/>
              </a:pPr>
              <a:r>
                <a:rPr lang="en-US" sz="1500" b="1" i="0" u="none" strike="noStrike" cap="none">
                  <a:solidFill>
                    <a:srgbClr val="FFFFFF"/>
                  </a:solidFill>
                  <a:latin typeface="Helvetica Neue"/>
                  <a:ea typeface="Helvetica Neue"/>
                  <a:cs typeface="Helvetica Neue"/>
                  <a:sym typeface="Helvetica Neue"/>
                </a:rPr>
                <a:t>Worldclim: </a:t>
              </a:r>
              <a:r>
                <a:rPr lang="en-US" sz="1500" b="0" i="0" u="sng" strike="noStrike" cap="none">
                  <a:solidFill>
                    <a:schemeClr val="hlink"/>
                  </a:solidFill>
                  <a:latin typeface="Helvetica Neue"/>
                  <a:ea typeface="Helvetica Neue"/>
                  <a:cs typeface="Helvetica Neue"/>
                  <a:sym typeface="Helvetica Neue"/>
                  <a:hlinkClick r:id="rId3"/>
                </a:rPr>
                <a:t>http://www.worldclim.org</a:t>
              </a:r>
              <a:r>
                <a:rPr lang="en-US" sz="1500" b="0" i="0" u="none" strike="noStrike" cap="none">
                  <a:solidFill>
                    <a:srgbClr val="FFFFFF"/>
                  </a:solidFill>
                  <a:latin typeface="Helvetica Neue"/>
                  <a:ea typeface="Helvetica Neue"/>
                  <a:cs typeface="Helvetica Neue"/>
                  <a:sym typeface="Helvetica Neue"/>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500"/>
                <a:buFont typeface="Helvetica Neue"/>
                <a:buNone/>
              </a:pPr>
              <a:r>
                <a:rPr lang="en-US" sz="1500" b="1" i="0" u="none" strike="noStrike" cap="none">
                  <a:solidFill>
                    <a:srgbClr val="FFFFFF"/>
                  </a:solidFill>
                  <a:latin typeface="Helvetica Neue"/>
                  <a:ea typeface="Helvetica Neue"/>
                  <a:cs typeface="Helvetica Neue"/>
                  <a:sym typeface="Helvetica Neue"/>
                </a:rPr>
                <a:t>Chelsa: </a:t>
              </a:r>
              <a:r>
                <a:rPr lang="en-US" sz="1500" b="0" i="0" u="sng" strike="noStrike" cap="none">
                  <a:solidFill>
                    <a:schemeClr val="hlink"/>
                  </a:solidFill>
                  <a:latin typeface="Helvetica Neue"/>
                  <a:ea typeface="Helvetica Neue"/>
                  <a:cs typeface="Helvetica Neue"/>
                  <a:sym typeface="Helvetica Neue"/>
                  <a:hlinkClick r:id="rId4"/>
                </a:rPr>
                <a:t>https://chelsa-climate.org/bioclim/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500"/>
                <a:buFont typeface="Helvetica Neue"/>
                <a:buNone/>
              </a:pPr>
              <a:r>
                <a:rPr lang="en-US" sz="1500" b="1" i="0" u="none" strike="noStrike" cap="none">
                  <a:solidFill>
                    <a:srgbClr val="FFFFFF"/>
                  </a:solidFill>
                  <a:latin typeface="Helvetica Neue"/>
                  <a:ea typeface="Helvetica Neue"/>
                  <a:cs typeface="Helvetica Neue"/>
                  <a:sym typeface="Helvetica Neue"/>
                </a:rPr>
                <a:t>Ecoclimate: </a:t>
              </a:r>
              <a:r>
                <a:rPr lang="en-US" sz="1500" b="0" i="0" u="sng" strike="noStrike" cap="none">
                  <a:solidFill>
                    <a:schemeClr val="hlink"/>
                  </a:solidFill>
                  <a:latin typeface="Helvetica Neue"/>
                  <a:ea typeface="Helvetica Neue"/>
                  <a:cs typeface="Helvetica Neue"/>
                  <a:sym typeface="Helvetica Neue"/>
                  <a:hlinkClick r:id="rId5"/>
                </a:rPr>
                <a:t>https://www.ecoclimate.org/downloads/</a:t>
              </a:r>
              <a:endParaRPr sz="16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500"/>
                <a:buFont typeface="Helvetica Neue"/>
                <a:buNone/>
              </a:pPr>
              <a:r>
                <a:rPr lang="en-US" sz="1500" b="1" i="0" u="none" strike="noStrike" cap="none">
                  <a:solidFill>
                    <a:srgbClr val="FFFFFF"/>
                  </a:solidFill>
                  <a:latin typeface="Helvetica Neue"/>
                  <a:ea typeface="Helvetica Neue"/>
                  <a:cs typeface="Helvetica Neue"/>
                  <a:sym typeface="Helvetica Neue"/>
                </a:rPr>
                <a:t>TerraClimate: </a:t>
              </a:r>
              <a:r>
                <a:rPr lang="en-US" sz="1500" b="0" i="0" u="sng" strike="noStrike" cap="none">
                  <a:solidFill>
                    <a:schemeClr val="hlink"/>
                  </a:solidFill>
                  <a:latin typeface="Helvetica Neue"/>
                  <a:ea typeface="Helvetica Neue"/>
                  <a:cs typeface="Helvetica Neue"/>
                  <a:sym typeface="Helvetica Neue"/>
                  <a:hlinkClick r:id="rId6"/>
                </a:rPr>
                <a:t>http://www.climatologylab.org/terraclimate.html</a:t>
              </a:r>
              <a:endParaRPr sz="16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500"/>
                <a:buFont typeface="Helvetica Neue"/>
                <a:buNone/>
              </a:pPr>
              <a:r>
                <a:rPr lang="en-US" sz="1500" b="1" i="0" u="none" strike="noStrike" cap="none">
                  <a:solidFill>
                    <a:srgbClr val="FFFFFF"/>
                  </a:solidFill>
                  <a:latin typeface="Helvetica Neue"/>
                  <a:ea typeface="Helvetica Neue"/>
                  <a:cs typeface="Helvetica Neue"/>
                  <a:sym typeface="Helvetica Neue"/>
                </a:rPr>
                <a:t>Remote sensing:</a:t>
              </a:r>
              <a:r>
                <a:rPr lang="en-US" sz="1500" b="0" i="0" u="none" strike="noStrike" cap="none">
                  <a:solidFill>
                    <a:srgbClr val="FFFFFF"/>
                  </a:solidFill>
                  <a:latin typeface="Helvetica Neue"/>
                  <a:ea typeface="Helvetica Neue"/>
                  <a:cs typeface="Helvetica Neue"/>
                  <a:sym typeface="Helvetica Neue"/>
                </a:rPr>
                <a:t> https://vdeblauwe.wordpress.com/</a:t>
              </a:r>
              <a:endParaRPr sz="18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606060"/>
                </a:buClr>
                <a:buSzPts val="1600"/>
                <a:buFont typeface="Helvetica Neue"/>
                <a:buNone/>
              </a:pPr>
              <a:endParaRPr sz="16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BIO1 = Annual Mean Temperature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BIO2 = Mean Diurnal Range (Mean of monthly (max temp - min temp))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BIO3 = Isothermality (BIO2/BIO7) (×100)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BIO4 = Temperature Seasonality (standard deviation ×100)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BIO5 = Max Temperature of Warmest Month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BIO6 = Min Temperature of Coldest Month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BIO7 = Temperature Annual Range (BIO5-BIO6)</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BIO8 = Mean Temperature of Wettest Quarter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BIO9 = Mean Temperature of Driest Quarter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BIO10 = Mean Temperature of Warmest Quarter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5"/>
                </a:buClr>
                <a:buSzPts val="1300"/>
                <a:buFont typeface="Helvetica Neue"/>
                <a:buNone/>
              </a:pPr>
              <a:r>
                <a:rPr lang="en-US" sz="1300" b="0" i="0" u="none" strike="noStrike" cap="none">
                  <a:solidFill>
                    <a:schemeClr val="accent5"/>
                  </a:solidFill>
                  <a:latin typeface="Helvetica Neue"/>
                  <a:ea typeface="Helvetica Neue"/>
                  <a:cs typeface="Helvetica Neue"/>
                  <a:sym typeface="Helvetica Neue"/>
                </a:rPr>
                <a:t>BIO11 = Mean Temperature of Coldest Quarter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BIO12 = Annual Precipitation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BIO13 = Precipitation of Wettest Month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BIO14 = Precipitation of Driest Month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BIO15 = Precipitation Seasonality (Coefficient of Variation)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BIO16 = Precipitation of Wettest Quarter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BIO17 = Precipitation of Driest Quarter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BIO18 = Precipitation of Warmest Quarter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accent1"/>
                </a:buClr>
                <a:buSzPts val="1300"/>
                <a:buFont typeface="Helvetica Neue"/>
                <a:buNone/>
              </a:pPr>
              <a:r>
                <a:rPr lang="en-US" sz="1300" b="0" i="0" u="none" strike="noStrike" cap="none">
                  <a:solidFill>
                    <a:schemeClr val="accent1"/>
                  </a:solidFill>
                  <a:latin typeface="Helvetica Neue"/>
                  <a:ea typeface="Helvetica Neue"/>
                  <a:cs typeface="Helvetica Neue"/>
                  <a:sym typeface="Helvetica Neue"/>
                </a:rPr>
                <a:t>BIO19 = Precipitation of Coldest Quarter</a:t>
              </a:r>
              <a:endParaRPr sz="1400" b="0" i="0" u="none" strike="noStrike" cap="none">
                <a:solidFill>
                  <a:srgbClr val="000000"/>
                </a:solidFill>
                <a:latin typeface="Arial"/>
                <a:ea typeface="Arial"/>
                <a:cs typeface="Arial"/>
                <a:sym typeface="Arial"/>
              </a:endParaRPr>
            </a:p>
          </p:txBody>
        </p:sp>
        <p:pic>
          <p:nvPicPr>
            <p:cNvPr id="150" name="Google Shape;150;p5" descr="Pre-calculated bioclimatic data (19 &amp; more)… Pre-calculated bioclimatic data (19 &amp; more)Worldclim: http://www.worldclim.org/Chelsa: https://chelsa-climate.org/bioclim/Ecoclimate: https://www.ecoclimate.org/downloads/TerraClimate: http://www.climatologylab.org/terraclimate.htmlRemote sensing: https://vdeblauwe.wordpress.com/BIO1 = Annual Mean TemperatureBIO2 = Mean Diurnal Range (Mean of monthly (max temp - min temp))BIO3 = Isothermality (BIO2/BIO7) (×100)BIO4 = Temperature Seasonality (standard deviation ×100)BIO5 = Max Temperature of Warmest MonthBIO6 = Min Temperature of Coldest MonthBIO7 = Temperature Annual Range (BIO5-BIO6)BIO8 = Mean Temperature of Wettest QuarterBIO9 = Mean Temperature of Driest QuarterBIO10 = Mean Temperature of Warmest QuarterBIO11 = Mean Temperature of Coldest QuarterBIO12 = Annual PrecipitationBIO13 = Precipitation of Wettest MonthBIO14 = Precipitation of Driest MonthBIO15 = Precipitation Seasonality (Coefficient of Variation)BIO16 = Precipitation of Wettest QuarterBIO17 = Precipitation of Driest QuarterBIO18 = Precipitation of Warmest QuarterBIO19 = Precipitation of Coldest Quarter"/>
            <p:cNvPicPr preferRelativeResize="0"/>
            <p:nvPr/>
          </p:nvPicPr>
          <p:blipFill rotWithShape="1">
            <a:blip r:embed="rId7">
              <a:alphaModFix/>
            </a:blip>
            <a:srcRect/>
            <a:stretch/>
          </p:blipFill>
          <p:spPr>
            <a:xfrm>
              <a:off x="0" y="0"/>
              <a:ext cx="5612956" cy="7059166"/>
            </a:xfrm>
            <a:prstGeom prst="rect">
              <a:avLst/>
            </a:prstGeom>
            <a:noFill/>
            <a:ln>
              <a:noFill/>
            </a:ln>
          </p:spPr>
        </p:pic>
      </p:grpSp>
      <p:grpSp>
        <p:nvGrpSpPr>
          <p:cNvPr id="151" name="Google Shape;151;p5"/>
          <p:cNvGrpSpPr/>
          <p:nvPr/>
        </p:nvGrpSpPr>
        <p:grpSpPr>
          <a:xfrm>
            <a:off x="6805954" y="2584069"/>
            <a:ext cx="5257801" cy="7011377"/>
            <a:chOff x="0" y="-1"/>
            <a:chExt cx="5257800" cy="7011376"/>
          </a:xfrm>
        </p:grpSpPr>
        <p:sp>
          <p:nvSpPr>
            <p:cNvPr id="152" name="Google Shape;152;p5"/>
            <p:cNvSpPr txBox="1"/>
            <p:nvPr/>
          </p:nvSpPr>
          <p:spPr>
            <a:xfrm>
              <a:off x="215900" y="139700"/>
              <a:ext cx="4826000" cy="6452575"/>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FFFFFF"/>
                </a:buClr>
                <a:buSzPts val="1700"/>
                <a:buFont typeface="Helvetica Neue"/>
                <a:buNone/>
              </a:pPr>
              <a:r>
                <a:rPr lang="en-US" sz="1700" b="1" i="0" u="none" strike="noStrike" cap="none">
                  <a:solidFill>
                    <a:srgbClr val="FFFFFF"/>
                  </a:solidFill>
                  <a:latin typeface="Helvetica Neue"/>
                  <a:ea typeface="Helvetica Neue"/>
                  <a:cs typeface="Helvetica Neue"/>
                  <a:sym typeface="Helvetica Neue"/>
                </a:rPr>
                <a:t>Climatic data to process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800"/>
                <a:buFont typeface="Helvetica Neue"/>
                <a:buNone/>
              </a:pPr>
              <a:endParaRPr sz="18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600"/>
                <a:buFont typeface="Helvetica Neue"/>
                <a:buNone/>
              </a:pPr>
              <a:endParaRPr sz="1600" b="0" i="0" u="none" strike="noStrike" cap="none">
                <a:solidFill>
                  <a:srgbClr val="FFFFFF"/>
                </a:solidFill>
                <a:latin typeface="Helvetica Neue"/>
                <a:ea typeface="Helvetica Neue"/>
                <a:cs typeface="Helvetica Neue"/>
                <a:sym typeface="Helvetica Neue"/>
              </a:endParaRPr>
            </a:p>
            <a:p>
              <a:pPr marL="242886" marR="0" lvl="0" indent="-242886" algn="l" rtl="0">
                <a:lnSpc>
                  <a:spcPct val="100000"/>
                </a:lnSpc>
                <a:spcBef>
                  <a:spcPts val="0"/>
                </a:spcBef>
                <a:spcAft>
                  <a:spcPts val="0"/>
                </a:spcAft>
                <a:buClr>
                  <a:srgbClr val="FFFFFF"/>
                </a:buClr>
                <a:buSzPts val="1700"/>
                <a:buFont typeface="Helvetica Neue"/>
                <a:buChar char="•"/>
              </a:pPr>
              <a:r>
                <a:rPr lang="en-US" sz="1700" b="1" i="0" u="none" strike="noStrike" cap="none">
                  <a:solidFill>
                    <a:srgbClr val="FFFFFF"/>
                  </a:solidFill>
                  <a:latin typeface="Helvetica Neue"/>
                  <a:ea typeface="Helvetica Neue"/>
                  <a:cs typeface="Helvetica Neue"/>
                  <a:sym typeface="Helvetica Neue"/>
                </a:rPr>
                <a:t>From satellites </a:t>
              </a:r>
              <a:r>
                <a:rPr lang="en-US" sz="1700" b="0" i="0" u="none" strike="noStrike" cap="none">
                  <a:solidFill>
                    <a:srgbClr val="FFFFFF"/>
                  </a:solidFill>
                  <a:latin typeface="Helvetica Neue"/>
                  <a:ea typeface="Helvetica Neue"/>
                  <a:cs typeface="Helvetica Neue"/>
                  <a:sym typeface="Helvetica Neue"/>
                </a:rPr>
                <a:t>(several sources but a compilation on Google Earth Engine): MODIS, CHIRPS etc</a:t>
              </a:r>
              <a:endParaRPr sz="15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500"/>
                <a:buFont typeface="Helvetica Neue"/>
                <a:buNone/>
              </a:pPr>
              <a:endParaRPr sz="1500" b="0" i="0" u="none" strike="noStrike" cap="none">
                <a:solidFill>
                  <a:srgbClr val="FFFFFF"/>
                </a:solidFill>
                <a:latin typeface="Helvetica Neue"/>
                <a:ea typeface="Helvetica Neue"/>
                <a:cs typeface="Helvetica Neue"/>
                <a:sym typeface="Helvetica Neue"/>
              </a:endParaRPr>
            </a:p>
            <a:p>
              <a:pPr marL="259080" marR="0" lvl="1" indent="-259080" algn="l" rtl="0">
                <a:lnSpc>
                  <a:spcPct val="100000"/>
                </a:lnSpc>
                <a:spcBef>
                  <a:spcPts val="0"/>
                </a:spcBef>
                <a:spcAft>
                  <a:spcPts val="0"/>
                </a:spcAft>
                <a:buClr>
                  <a:srgbClr val="FFFFFF"/>
                </a:buClr>
                <a:buSzPts val="1700"/>
                <a:buFont typeface="Helvetica Neue"/>
                <a:buChar char="•"/>
              </a:pPr>
              <a:r>
                <a:rPr lang="en-US" sz="1700" b="1" i="0" u="none" strike="noStrike" cap="none">
                  <a:solidFill>
                    <a:srgbClr val="FFFFFF"/>
                  </a:solidFill>
                  <a:latin typeface="Helvetica Neue"/>
                  <a:ea typeface="Helvetica Neue"/>
                  <a:cs typeface="Helvetica Neue"/>
                  <a:sym typeface="Helvetica Neue"/>
                </a:rPr>
                <a:t>Local agencies </a:t>
              </a:r>
              <a:r>
                <a:rPr lang="en-US" sz="1500" b="0" i="0" u="none" strike="noStrike" cap="none">
                  <a:solidFill>
                    <a:srgbClr val="FFFFFF"/>
                  </a:solidFill>
                  <a:latin typeface="Helvetica Neue"/>
                  <a:ea typeface="Helvetica Neue"/>
                  <a:cs typeface="Helvetica Neue"/>
                  <a:sym typeface="Helvetica Neue"/>
                </a:rPr>
                <a:t>(Example: IDEAM)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500"/>
                <a:buFont typeface="Helvetica Neue"/>
                <a:buNone/>
              </a:pPr>
              <a:endParaRPr sz="15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700"/>
                <a:buFont typeface="Helvetica Neue"/>
                <a:buNone/>
              </a:pPr>
              <a:r>
                <a:rPr lang="en-US" sz="1700" b="1" i="0" u="none" strike="noStrike" cap="none">
                  <a:solidFill>
                    <a:srgbClr val="FFFFFF"/>
                  </a:solidFill>
                  <a:latin typeface="Helvetica Neue"/>
                  <a:ea typeface="Helvetica Neue"/>
                  <a:cs typeface="Helvetica Neue"/>
                  <a:sym typeface="Helvetica Neue"/>
                </a:rPr>
                <a:t>Soil information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700"/>
                <a:buFont typeface="Helvetica Neue"/>
                <a:buNone/>
              </a:pPr>
              <a:endParaRPr sz="1700" b="0" i="0" u="none" strike="noStrike" cap="none">
                <a:solidFill>
                  <a:srgbClr val="FFFFFF"/>
                </a:solidFill>
                <a:latin typeface="Helvetica Neue"/>
                <a:ea typeface="Helvetica Neue"/>
                <a:cs typeface="Helvetica Neue"/>
                <a:sym typeface="Helvetica Neue"/>
              </a:endParaRPr>
            </a:p>
            <a:p>
              <a:pPr marL="215616" marR="0" lvl="0" indent="-215616" algn="l" rtl="0">
                <a:lnSpc>
                  <a:spcPct val="100000"/>
                </a:lnSpc>
                <a:spcBef>
                  <a:spcPts val="0"/>
                </a:spcBef>
                <a:spcAft>
                  <a:spcPts val="0"/>
                </a:spcAft>
                <a:buClr>
                  <a:srgbClr val="FFFFFF"/>
                </a:buClr>
                <a:buSzPts val="1500"/>
                <a:buFont typeface="Helvetica Neue"/>
                <a:buChar char="•"/>
              </a:pPr>
              <a:r>
                <a:rPr lang="en-US" sz="1500" b="0" i="0" u="none" strike="noStrike" cap="none">
                  <a:solidFill>
                    <a:srgbClr val="FFFFFF"/>
                  </a:solidFill>
                  <a:latin typeface="Helvetica Neue"/>
                  <a:ea typeface="Helvetica Neue"/>
                  <a:cs typeface="Helvetica Neue"/>
                  <a:sym typeface="Helvetica Neue"/>
                </a:rPr>
                <a:t>SoilGrids.org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500"/>
                <a:buFont typeface="Helvetica Neue"/>
                <a:buNone/>
              </a:pPr>
              <a:endParaRPr sz="15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700"/>
                <a:buFont typeface="Helvetica Neue"/>
                <a:buNone/>
              </a:pPr>
              <a:r>
                <a:rPr lang="en-US" sz="1700" b="1" i="0" u="none" strike="noStrike" cap="none">
                  <a:solidFill>
                    <a:srgbClr val="FFFFFF"/>
                  </a:solidFill>
                  <a:latin typeface="Helvetica Neue"/>
                  <a:ea typeface="Helvetica Neue"/>
                  <a:cs typeface="Helvetica Neue"/>
                  <a:sym typeface="Helvetica Neue"/>
                </a:rPr>
                <a:t>Vegetation/Topography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700"/>
                <a:buFont typeface="Helvetica Neue"/>
                <a:buNone/>
              </a:pPr>
              <a:endParaRPr sz="1700" b="0" i="0" u="none" strike="noStrike" cap="none">
                <a:solidFill>
                  <a:srgbClr val="FFFFFF"/>
                </a:solidFill>
                <a:latin typeface="Helvetica Neue"/>
                <a:ea typeface="Helvetica Neue"/>
                <a:cs typeface="Helvetica Neue"/>
                <a:sym typeface="Helvetica Neue"/>
              </a:endParaRPr>
            </a:p>
            <a:p>
              <a:pPr marL="228600" marR="0" lvl="0" indent="-228600" algn="l" rtl="0">
                <a:lnSpc>
                  <a:spcPct val="100000"/>
                </a:lnSpc>
                <a:spcBef>
                  <a:spcPts val="0"/>
                </a:spcBef>
                <a:spcAft>
                  <a:spcPts val="0"/>
                </a:spcAft>
                <a:buClr>
                  <a:srgbClr val="FFFFFF"/>
                </a:buClr>
                <a:buSzPts val="1700"/>
                <a:buFont typeface="Helvetica Neue"/>
                <a:buChar char="•"/>
              </a:pPr>
              <a:r>
                <a:rPr lang="en-US" sz="1700" b="0" i="0" u="none" strike="noStrike" cap="none">
                  <a:solidFill>
                    <a:srgbClr val="FFFFFF"/>
                  </a:solidFill>
                  <a:latin typeface="Helvetica Neue"/>
                  <a:ea typeface="Helvetica Neue"/>
                  <a:cs typeface="Helvetica Neue"/>
                  <a:sym typeface="Helvetica Neue"/>
                </a:rPr>
                <a:t>Satellite based like NDVI &amp; EDVI available on GEE (from MODIS, LANDSAT etc)</a:t>
              </a:r>
              <a:endParaRPr sz="1400" b="0" i="0" u="none" strike="noStrike" cap="none">
                <a:solidFill>
                  <a:srgbClr val="000000"/>
                </a:solidFill>
                <a:latin typeface="Arial"/>
                <a:ea typeface="Arial"/>
                <a:cs typeface="Arial"/>
                <a:sym typeface="Arial"/>
              </a:endParaRPr>
            </a:p>
            <a:p>
              <a:pPr marL="416858" marR="0" lvl="0" indent="-308908" algn="l" rtl="0">
                <a:lnSpc>
                  <a:spcPct val="100000"/>
                </a:lnSpc>
                <a:spcBef>
                  <a:spcPts val="0"/>
                </a:spcBef>
                <a:spcAft>
                  <a:spcPts val="0"/>
                </a:spcAft>
                <a:buClr>
                  <a:srgbClr val="FFFFFF"/>
                </a:buClr>
                <a:buSzPts val="1700"/>
                <a:buFont typeface="Helvetica Neue"/>
                <a:buNone/>
              </a:pPr>
              <a:endParaRPr sz="17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700"/>
                <a:buFont typeface="Helvetica Neue"/>
                <a:buNone/>
              </a:pPr>
              <a:r>
                <a:rPr lang="en-US" sz="1700" b="1" i="0" u="none" strike="noStrike" cap="none">
                  <a:solidFill>
                    <a:srgbClr val="FFFFFF"/>
                  </a:solidFill>
                  <a:latin typeface="Helvetica Neue"/>
                  <a:ea typeface="Helvetica Neue"/>
                  <a:cs typeface="Helvetica Neue"/>
                  <a:sym typeface="Helvetica Neue"/>
                </a:rPr>
                <a:t>Others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700"/>
                <a:buFont typeface="Helvetica Neue"/>
                <a:buNone/>
              </a:pPr>
              <a:endParaRPr sz="1700" b="0"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1500"/>
                <a:buFont typeface="Helvetica Neue"/>
                <a:buNone/>
              </a:pPr>
              <a:r>
                <a:rPr lang="en-US" sz="1500" b="1" i="0" u="none" strike="noStrike" cap="none">
                  <a:solidFill>
                    <a:srgbClr val="FFFFFF"/>
                  </a:solidFill>
                  <a:latin typeface="Helvetica Neue"/>
                  <a:ea typeface="Helvetica Neue"/>
                  <a:cs typeface="Helvetica Neue"/>
                  <a:sym typeface="Helvetica Neue"/>
                </a:rPr>
                <a:t>EarthEnv: </a:t>
              </a:r>
              <a:r>
                <a:rPr lang="en-US" sz="1500" b="0" i="0" u="none" strike="noStrike" cap="none">
                  <a:solidFill>
                    <a:srgbClr val="FFFFFF"/>
                  </a:solidFill>
                  <a:latin typeface="Helvetica Neue"/>
                  <a:ea typeface="Helvetica Neue"/>
                  <a:cs typeface="Helvetica Neue"/>
                  <a:sym typeface="Helvetica Neue"/>
                </a:rPr>
                <a:t>clouds, habitat, topography, freshwater etc.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1500"/>
                <a:buFont typeface="Helvetica Neue"/>
                <a:buNone/>
              </a:pPr>
              <a:r>
                <a:rPr lang="en-US" sz="1500" b="1" i="0" u="none" strike="noStrike" cap="none">
                  <a:solidFill>
                    <a:srgbClr val="FFFFFF"/>
                  </a:solidFill>
                  <a:latin typeface="Helvetica Neue"/>
                  <a:ea typeface="Helvetica Neue"/>
                  <a:cs typeface="Helvetica Neue"/>
                  <a:sym typeface="Helvetica Neue"/>
                </a:rPr>
                <a:t>Marine:</a:t>
              </a:r>
              <a:r>
                <a:rPr lang="en-US" sz="1500" b="0" i="0" u="none" strike="noStrike" cap="none">
                  <a:solidFill>
                    <a:srgbClr val="FFFFFF"/>
                  </a:solidFill>
                  <a:latin typeface="Helvetica Neue"/>
                  <a:ea typeface="Helvetica Neue"/>
                  <a:cs typeface="Helvetica Neue"/>
                  <a:sym typeface="Helvetica Neue"/>
                </a:rPr>
                <a:t> Bio-Oracle, NOAA</a:t>
              </a:r>
              <a:endParaRPr sz="1700" b="0" i="0" u="none" strike="noStrike" cap="none">
                <a:solidFill>
                  <a:srgbClr val="FFFFFF"/>
                </a:solidFill>
                <a:latin typeface="Helvetica Neue"/>
                <a:ea typeface="Helvetica Neue"/>
                <a:cs typeface="Helvetica Neue"/>
                <a:sym typeface="Helvetica Neue"/>
              </a:endParaRPr>
            </a:p>
          </p:txBody>
        </p:sp>
        <p:pic>
          <p:nvPicPr>
            <p:cNvPr id="153" name="Google Shape;153;p5" descr="Climatic data to process… Climatic data to processFrom satellites (several sources but a compilation on Google Earth Engine): MODIS, CHIRPS etcLocal agencies (Example: IDEAM)Soil informationSoilGrids.orgVegetation/TopographySatellite based like NDVI &amp; EDVI available on GEE (from MODIS, LANDSAT etc)Others EarthEnv: clouds, habitat, topography, freshwater etc.Marine: Bio-Oracle, NOAA"/>
            <p:cNvPicPr preferRelativeResize="0"/>
            <p:nvPr/>
          </p:nvPicPr>
          <p:blipFill rotWithShape="1">
            <a:blip r:embed="rId8">
              <a:alphaModFix/>
            </a:blip>
            <a:srcRect/>
            <a:stretch/>
          </p:blipFill>
          <p:spPr>
            <a:xfrm>
              <a:off x="0" y="-1"/>
              <a:ext cx="5257800" cy="7011376"/>
            </a:xfrm>
            <a:prstGeom prst="rect">
              <a:avLst/>
            </a:prstGeom>
            <a:noFill/>
            <a:ln>
              <a:noFill/>
            </a:ln>
          </p:spPr>
        </p:pic>
      </p:grpSp>
      <p:sp>
        <p:nvSpPr>
          <p:cNvPr id="154" name="Google Shape;154;p5"/>
          <p:cNvSpPr txBox="1">
            <a:spLocks noGrp="1"/>
          </p:cNvSpPr>
          <p:nvPr>
            <p:ph type="title"/>
          </p:nvPr>
        </p:nvSpPr>
        <p:spPr>
          <a:xfrm>
            <a:off x="479168" y="450732"/>
            <a:ext cx="11718000" cy="1126800"/>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Abiotic data</a:t>
            </a:r>
            <a:endParaRPr i="1"/>
          </a:p>
        </p:txBody>
      </p:sp>
      <p:pic>
        <p:nvPicPr>
          <p:cNvPr id="155" name="Google Shape;155;p5"/>
          <p:cNvPicPr preferRelativeResize="0"/>
          <p:nvPr/>
        </p:nvPicPr>
        <p:blipFill>
          <a:blip r:embed="rId9">
            <a:alphaModFix/>
          </a:blip>
          <a:stretch>
            <a:fillRect/>
          </a:stretch>
        </p:blipFill>
        <p:spPr>
          <a:xfrm>
            <a:off x="7926250" y="142825"/>
            <a:ext cx="3800550" cy="1931825"/>
          </a:xfrm>
          <a:prstGeom prst="rect">
            <a:avLst/>
          </a:prstGeom>
          <a:noFill/>
          <a:ln>
            <a:noFill/>
          </a:ln>
        </p:spPr>
      </p:pic>
      <p:sp>
        <p:nvSpPr>
          <p:cNvPr id="156" name="Google Shape;156;p5"/>
          <p:cNvSpPr txBox="1"/>
          <p:nvPr/>
        </p:nvSpPr>
        <p:spPr>
          <a:xfrm>
            <a:off x="8079175" y="1998000"/>
            <a:ext cx="3494700" cy="20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a:solidFill>
                  <a:srgbClr val="FFFFFF"/>
                </a:solidFill>
                <a:latin typeface="Helvetica Neue"/>
                <a:ea typeface="Helvetica Neue"/>
                <a:cs typeface="Helvetica Neue"/>
                <a:sym typeface="Helvetica Neue"/>
              </a:rPr>
              <a:t>global representation of bioclim01</a:t>
            </a:r>
            <a:endParaRPr sz="1700">
              <a:solidFill>
                <a:srgbClr val="FFFFFF"/>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6"/>
          <p:cNvSpPr txBox="1">
            <a:spLocks noGrp="1"/>
          </p:cNvSpPr>
          <p:nvPr>
            <p:ph type="body" idx="2"/>
          </p:nvPr>
        </p:nvSpPr>
        <p:spPr>
          <a:xfrm>
            <a:off x="175227" y="2823525"/>
            <a:ext cx="12543300" cy="6042300"/>
          </a:xfrm>
          <a:prstGeom prst="rect">
            <a:avLst/>
          </a:prstGeom>
          <a:noFill/>
          <a:ln>
            <a:noFill/>
          </a:ln>
        </p:spPr>
        <p:txBody>
          <a:bodyPr spcFirstLastPara="1" wrap="square" lIns="27075" tIns="27075" rIns="27075" bIns="27075" anchor="t" anchorCtr="0">
            <a:normAutofit/>
          </a:bodyPr>
          <a:lstStyle/>
          <a:p>
            <a:pPr marL="358393" lvl="0" indent="-358393" algn="l" rtl="0">
              <a:lnSpc>
                <a:spcPct val="100000"/>
              </a:lnSpc>
              <a:spcBef>
                <a:spcPts val="0"/>
              </a:spcBef>
              <a:spcAft>
                <a:spcPts val="0"/>
              </a:spcAft>
              <a:buClr>
                <a:srgbClr val="FFFFFF"/>
              </a:buClr>
              <a:buSzPts val="3444"/>
              <a:buFont typeface="Helvetica Neue"/>
              <a:buChar char="•"/>
            </a:pPr>
            <a:r>
              <a:rPr lang="en-US"/>
              <a:t>If you know the area: Do the variables make sense? (For example: what if you see a mean temperature of 30 degrees at 3000m/10000ft?)</a:t>
            </a:r>
            <a:endParaRPr/>
          </a:p>
          <a:p>
            <a:pPr marL="358393" lvl="0" indent="-358393" algn="l" rtl="0">
              <a:lnSpc>
                <a:spcPct val="100000"/>
              </a:lnSpc>
              <a:spcBef>
                <a:spcPts val="1000"/>
              </a:spcBef>
              <a:spcAft>
                <a:spcPts val="0"/>
              </a:spcAft>
              <a:buClr>
                <a:srgbClr val="FFFFFF"/>
              </a:buClr>
              <a:buSzPts val="3444"/>
              <a:buFont typeface="Helvetica Neue"/>
              <a:buChar char="•"/>
            </a:pPr>
            <a:r>
              <a:rPr lang="en-US"/>
              <a:t>If you do not know the area is there any available data for “ground truthing”? (local weather or land cover data for example)</a:t>
            </a:r>
            <a:endParaRPr/>
          </a:p>
          <a:p>
            <a:pPr marL="358393" lvl="0" indent="-358393" algn="l" rtl="0">
              <a:lnSpc>
                <a:spcPct val="100000"/>
              </a:lnSpc>
              <a:spcBef>
                <a:spcPts val="1000"/>
              </a:spcBef>
              <a:spcAft>
                <a:spcPts val="0"/>
              </a:spcAft>
              <a:buClr>
                <a:srgbClr val="FFFFFF"/>
              </a:buClr>
              <a:buSzPts val="3444"/>
              <a:buFont typeface="Helvetica Neue"/>
              <a:buChar char="•"/>
            </a:pPr>
            <a:r>
              <a:rPr lang="en-US"/>
              <a:t>If you have multiple datasets, are they all explaining different information?</a:t>
            </a:r>
            <a:endParaRPr/>
          </a:p>
          <a:p>
            <a:pPr marL="358392" lvl="0" indent="-358392" algn="l" rtl="0">
              <a:lnSpc>
                <a:spcPct val="100000"/>
              </a:lnSpc>
              <a:spcBef>
                <a:spcPts val="1000"/>
              </a:spcBef>
              <a:spcAft>
                <a:spcPts val="0"/>
              </a:spcAft>
              <a:buClr>
                <a:srgbClr val="FFFFFF"/>
              </a:buClr>
              <a:buSzPts val="3444"/>
              <a:buFont typeface="Helvetica Neue"/>
              <a:buChar char="•"/>
            </a:pPr>
            <a:r>
              <a:rPr lang="en-US"/>
              <a:t>For climate projections, GCM_compareR provides a good shiny app for comparison [</a:t>
            </a:r>
            <a:r>
              <a:rPr lang="en-US" sz="2000">
                <a:solidFill>
                  <a:schemeClr val="lt1"/>
                </a:solidFill>
              </a:rPr>
              <a:t>https://github.com/marquetlab/GCM_compareR]</a:t>
            </a:r>
            <a:endParaRPr/>
          </a:p>
        </p:txBody>
      </p:sp>
      <p:sp>
        <p:nvSpPr>
          <p:cNvPr id="162" name="Google Shape;162;p6"/>
          <p:cNvSpPr txBox="1">
            <a:spLocks noGrp="1"/>
          </p:cNvSpPr>
          <p:nvPr>
            <p:ph type="title"/>
          </p:nvPr>
        </p:nvSpPr>
        <p:spPr>
          <a:xfrm>
            <a:off x="479168" y="450732"/>
            <a:ext cx="11717868" cy="1126817"/>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Abiotic data</a:t>
            </a:r>
            <a:endParaRPr i="1"/>
          </a:p>
        </p:txBody>
      </p:sp>
      <p:sp>
        <p:nvSpPr>
          <p:cNvPr id="163" name="Google Shape;163;p6"/>
          <p:cNvSpPr txBox="1"/>
          <p:nvPr/>
        </p:nvSpPr>
        <p:spPr>
          <a:xfrm>
            <a:off x="479168" y="1343232"/>
            <a:ext cx="11718000" cy="498600"/>
          </a:xfrm>
          <a:prstGeom prst="rect">
            <a:avLst/>
          </a:prstGeom>
          <a:noFill/>
          <a:ln>
            <a:noFill/>
          </a:ln>
        </p:spPr>
        <p:txBody>
          <a:bodyPr spcFirstLastPara="1" wrap="square" lIns="24375" tIns="24375" rIns="24375" bIns="24375" anchor="t" anchorCtr="0">
            <a:normAutofit lnSpcReduction="10000"/>
          </a:bodyPr>
          <a:lstStyle/>
          <a:p>
            <a:pPr marL="0" marR="0" lvl="0" indent="0" algn="l" rtl="0">
              <a:lnSpc>
                <a:spcPct val="100000"/>
              </a:lnSpc>
              <a:spcBef>
                <a:spcPts val="0"/>
              </a:spcBef>
              <a:spcAft>
                <a:spcPts val="0"/>
              </a:spcAft>
              <a:buClr>
                <a:srgbClr val="FFFFFF"/>
              </a:buClr>
              <a:buSzPts val="2964"/>
              <a:buFont typeface="Helvetica Neue"/>
              <a:buNone/>
            </a:pPr>
            <a:r>
              <a:rPr lang="en-US" sz="2964" b="1" i="0" u="none" strike="noStrike" cap="none">
                <a:solidFill>
                  <a:srgbClr val="FFFFFF"/>
                </a:solidFill>
                <a:latin typeface="Helvetica Neue"/>
                <a:ea typeface="Helvetica Neue"/>
                <a:cs typeface="Helvetica Neue"/>
                <a:sym typeface="Helvetica Neue"/>
              </a:rPr>
              <a:t>Data quality</a:t>
            </a:r>
            <a:endParaRPr sz="2964" b="1" i="1"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7" descr="droppedImage.pdf"/>
          <p:cNvPicPr preferRelativeResize="0"/>
          <p:nvPr/>
        </p:nvPicPr>
        <p:blipFill rotWithShape="1">
          <a:blip r:embed="rId3">
            <a:alphaModFix/>
          </a:blip>
          <a:srcRect l="-7009" t="-3499" b="-3508"/>
          <a:stretch/>
        </p:blipFill>
        <p:spPr>
          <a:xfrm>
            <a:off x="8534951" y="5966861"/>
            <a:ext cx="2854776" cy="3148675"/>
          </a:xfrm>
          <a:prstGeom prst="rect">
            <a:avLst/>
          </a:prstGeom>
          <a:noFill/>
          <a:ln>
            <a:noFill/>
          </a:ln>
        </p:spPr>
      </p:pic>
      <p:pic>
        <p:nvPicPr>
          <p:cNvPr id="169" name="Google Shape;169;p7" descr="droppedImage.pdf"/>
          <p:cNvPicPr preferRelativeResize="0"/>
          <p:nvPr/>
        </p:nvPicPr>
        <p:blipFill rotWithShape="1">
          <a:blip r:embed="rId4">
            <a:alphaModFix/>
          </a:blip>
          <a:srcRect/>
          <a:stretch/>
        </p:blipFill>
        <p:spPr>
          <a:xfrm>
            <a:off x="1686875" y="5779525"/>
            <a:ext cx="1999650" cy="3432726"/>
          </a:xfrm>
          <a:prstGeom prst="rect">
            <a:avLst/>
          </a:prstGeom>
          <a:noFill/>
          <a:ln>
            <a:noFill/>
          </a:ln>
        </p:spPr>
      </p:pic>
      <p:sp>
        <p:nvSpPr>
          <p:cNvPr id="170" name="Google Shape;170;p7"/>
          <p:cNvSpPr txBox="1"/>
          <p:nvPr/>
        </p:nvSpPr>
        <p:spPr>
          <a:xfrm>
            <a:off x="563775" y="2033675"/>
            <a:ext cx="12253500" cy="2824200"/>
          </a:xfrm>
          <a:prstGeom prst="rect">
            <a:avLst/>
          </a:prstGeom>
          <a:noFill/>
          <a:ln>
            <a:noFill/>
          </a:ln>
        </p:spPr>
        <p:txBody>
          <a:bodyPr spcFirstLastPara="1" wrap="square" lIns="50800" tIns="50800" rIns="50800" bIns="50800" anchor="t" anchorCtr="0">
            <a:noAutofit/>
          </a:bodyPr>
          <a:lstStyle/>
          <a:p>
            <a:pPr marL="276957" marR="0" lvl="0" indent="-276957" algn="l" rtl="0">
              <a:lnSpc>
                <a:spcPct val="100000"/>
              </a:lnSpc>
              <a:spcBef>
                <a:spcPts val="0"/>
              </a:spcBef>
              <a:spcAft>
                <a:spcPts val="0"/>
              </a:spcAft>
              <a:buClr>
                <a:srgbClr val="FFFFFF"/>
              </a:buClr>
              <a:buSzPts val="2700"/>
              <a:buFont typeface="Helvetica Neue"/>
              <a:buChar char="•"/>
            </a:pPr>
            <a:r>
              <a:rPr lang="en-US" sz="2700" b="0" i="0" u="none" strike="noStrike" cap="none">
                <a:solidFill>
                  <a:srgbClr val="FFFFFF"/>
                </a:solidFill>
                <a:latin typeface="Helvetica Neue"/>
                <a:ea typeface="Helvetica Neue"/>
                <a:cs typeface="Helvetica Neue"/>
                <a:sym typeface="Helvetica Neue"/>
              </a:rPr>
              <a:t>Environmental predictor variables can be highly correlated</a:t>
            </a:r>
            <a:endParaRPr sz="2700" b="0" i="0" u="none" strike="noStrike" cap="none">
              <a:solidFill>
                <a:srgbClr val="FFFFFF"/>
              </a:solidFill>
              <a:latin typeface="Helvetica Neue"/>
              <a:ea typeface="Helvetica Neue"/>
              <a:cs typeface="Helvetica Neue"/>
              <a:sym typeface="Helvetica Neue"/>
            </a:endParaRPr>
          </a:p>
          <a:p>
            <a:pPr marL="276957" marR="0" lvl="0" indent="-276957" algn="l" rtl="0">
              <a:lnSpc>
                <a:spcPct val="100000"/>
              </a:lnSpc>
              <a:spcBef>
                <a:spcPts val="300"/>
              </a:spcBef>
              <a:spcAft>
                <a:spcPts val="0"/>
              </a:spcAft>
              <a:buClr>
                <a:srgbClr val="FFFFFF"/>
              </a:buClr>
              <a:buSzPts val="2700"/>
              <a:buFont typeface="Helvetica Neue"/>
              <a:buChar char="•"/>
            </a:pPr>
            <a:r>
              <a:rPr lang="en-US" sz="2700" b="0" i="0" u="none" strike="noStrike" cap="none">
                <a:solidFill>
                  <a:srgbClr val="FFFFFF"/>
                </a:solidFill>
                <a:latin typeface="Helvetica Neue"/>
                <a:ea typeface="Helvetica Neue"/>
                <a:cs typeface="Helvetica Neue"/>
                <a:sym typeface="Helvetica Neue"/>
              </a:rPr>
              <a:t>More or less problematic depending on algorithm and question</a:t>
            </a:r>
            <a:endParaRPr sz="2700" b="0" i="0" u="none" strike="noStrike" cap="none">
              <a:solidFill>
                <a:srgbClr val="FFFFFF"/>
              </a:solidFill>
              <a:latin typeface="Helvetica Neue"/>
              <a:ea typeface="Helvetica Neue"/>
              <a:cs typeface="Helvetica Neue"/>
              <a:sym typeface="Helvetica Neue"/>
            </a:endParaRPr>
          </a:p>
          <a:p>
            <a:pPr marL="276957" marR="0" lvl="0" indent="-276957" algn="l" rtl="0">
              <a:lnSpc>
                <a:spcPct val="100000"/>
              </a:lnSpc>
              <a:spcBef>
                <a:spcPts val="300"/>
              </a:spcBef>
              <a:spcAft>
                <a:spcPts val="0"/>
              </a:spcAft>
              <a:buClr>
                <a:srgbClr val="FFFFFF"/>
              </a:buClr>
              <a:buSzPts val="2700"/>
              <a:buFont typeface="Helvetica Neue"/>
              <a:buChar char="•"/>
            </a:pPr>
            <a:r>
              <a:rPr lang="en-US" sz="2700" b="0" i="0" u="none" strike="noStrike" cap="none">
                <a:solidFill>
                  <a:srgbClr val="FFFFFF"/>
                </a:solidFill>
                <a:latin typeface="Helvetica Neue"/>
                <a:ea typeface="Helvetica Neue"/>
                <a:cs typeface="Helvetica Neue"/>
                <a:sym typeface="Helvetica Neue"/>
              </a:rPr>
              <a:t>E.g., variable importance interpretation is affected by correlations</a:t>
            </a:r>
            <a:endParaRPr sz="2700" b="0" i="0" u="none" strike="noStrike" cap="none">
              <a:solidFill>
                <a:srgbClr val="FFFFFF"/>
              </a:solidFill>
              <a:latin typeface="Helvetica Neue"/>
              <a:ea typeface="Helvetica Neue"/>
              <a:cs typeface="Helvetica Neue"/>
              <a:sym typeface="Helvetica Neue"/>
            </a:endParaRPr>
          </a:p>
          <a:p>
            <a:pPr marL="276956" marR="0" lvl="0" indent="-276956" algn="l" rtl="0">
              <a:lnSpc>
                <a:spcPct val="100000"/>
              </a:lnSpc>
              <a:spcBef>
                <a:spcPts val="300"/>
              </a:spcBef>
              <a:spcAft>
                <a:spcPts val="0"/>
              </a:spcAft>
              <a:buClr>
                <a:srgbClr val="FFFFFF"/>
              </a:buClr>
              <a:buSzPts val="2700"/>
              <a:buFont typeface="Helvetica Neue"/>
              <a:buChar char="•"/>
            </a:pPr>
            <a:r>
              <a:rPr lang="en-US" sz="2700" b="0" i="0" u="none" strike="noStrike" cap="none">
                <a:solidFill>
                  <a:srgbClr val="FFFFFF"/>
                </a:solidFill>
                <a:latin typeface="Helvetica Neue"/>
                <a:ea typeface="Helvetica Neue"/>
                <a:cs typeface="Helvetica Neue"/>
                <a:sym typeface="Helvetica Neue"/>
              </a:rPr>
              <a:t>Some alternatives:</a:t>
            </a:r>
            <a:endParaRPr sz="2700" b="0" i="0" u="none" strike="noStrike" cap="none">
              <a:solidFill>
                <a:srgbClr val="FFFFFF"/>
              </a:solidFill>
              <a:latin typeface="Helvetica Neue"/>
              <a:ea typeface="Helvetica Neue"/>
              <a:cs typeface="Helvetica Neue"/>
              <a:sym typeface="Helvetica Neue"/>
            </a:endParaRPr>
          </a:p>
          <a:p>
            <a:pPr marL="1371600" marR="0" lvl="2" indent="-400050" algn="l" rtl="0">
              <a:lnSpc>
                <a:spcPct val="100000"/>
              </a:lnSpc>
              <a:spcBef>
                <a:spcPts val="300"/>
              </a:spcBef>
              <a:spcAft>
                <a:spcPts val="0"/>
              </a:spcAft>
              <a:buClr>
                <a:srgbClr val="FFFFFF"/>
              </a:buClr>
              <a:buSzPts val="2700"/>
              <a:buFont typeface="Helvetica Neue"/>
              <a:buChar char="■"/>
            </a:pPr>
            <a:r>
              <a:rPr lang="en-US" sz="2700" b="0" i="0" u="none" strike="noStrike" cap="none">
                <a:solidFill>
                  <a:srgbClr val="FFFFFF"/>
                </a:solidFill>
                <a:latin typeface="Helvetica Neue"/>
                <a:ea typeface="Helvetica Neue"/>
                <a:cs typeface="Helvetica Neue"/>
                <a:sym typeface="Helvetica Neue"/>
              </a:rPr>
              <a:t>Use algorithm tuning  </a:t>
            </a:r>
            <a:endParaRPr sz="2700" b="0" i="0" u="none" strike="noStrike" cap="none">
              <a:solidFill>
                <a:srgbClr val="FFFFFF"/>
              </a:solidFill>
              <a:latin typeface="Helvetica Neue"/>
              <a:ea typeface="Helvetica Neue"/>
              <a:cs typeface="Helvetica Neue"/>
              <a:sym typeface="Helvetica Neue"/>
            </a:endParaRPr>
          </a:p>
          <a:p>
            <a:pPr marL="1371600" marR="0" lvl="2" indent="-400050" algn="l" rtl="0">
              <a:lnSpc>
                <a:spcPct val="100000"/>
              </a:lnSpc>
              <a:spcBef>
                <a:spcPts val="300"/>
              </a:spcBef>
              <a:spcAft>
                <a:spcPts val="0"/>
              </a:spcAft>
              <a:buClr>
                <a:srgbClr val="FFFFFF"/>
              </a:buClr>
              <a:buSzPts val="2700"/>
              <a:buFont typeface="Helvetica Neue"/>
              <a:buChar char="■"/>
            </a:pPr>
            <a:r>
              <a:rPr lang="en-US" sz="2700" b="0" i="0" u="none" strike="noStrike" cap="none">
                <a:solidFill>
                  <a:srgbClr val="FFFFFF"/>
                </a:solidFill>
                <a:latin typeface="Helvetica Neue"/>
                <a:ea typeface="Helvetica Neue"/>
                <a:cs typeface="Helvetica Neue"/>
                <a:sym typeface="Helvetica Neue"/>
              </a:rPr>
              <a:t>Use biologically relevant variables</a:t>
            </a:r>
            <a:endParaRPr sz="2700" b="0" i="0" u="none" strike="noStrike" cap="none">
              <a:solidFill>
                <a:srgbClr val="FFFFFF"/>
              </a:solidFill>
              <a:latin typeface="Helvetica Neue"/>
              <a:ea typeface="Helvetica Neue"/>
              <a:cs typeface="Helvetica Neue"/>
              <a:sym typeface="Helvetica Neue"/>
            </a:endParaRPr>
          </a:p>
          <a:p>
            <a:pPr marL="1371600" marR="0" lvl="2" indent="-400050" algn="l" rtl="0">
              <a:lnSpc>
                <a:spcPct val="100000"/>
              </a:lnSpc>
              <a:spcBef>
                <a:spcPts val="300"/>
              </a:spcBef>
              <a:spcAft>
                <a:spcPts val="0"/>
              </a:spcAft>
              <a:buClr>
                <a:srgbClr val="FFFFFF"/>
              </a:buClr>
              <a:buSzPts val="2700"/>
              <a:buFont typeface="Helvetica Neue"/>
              <a:buChar char="■"/>
            </a:pPr>
            <a:r>
              <a:rPr lang="en-US" sz="2700" b="0" i="0" u="none" strike="noStrike" cap="none">
                <a:solidFill>
                  <a:srgbClr val="FFFFFF"/>
                </a:solidFill>
                <a:latin typeface="Helvetica Neue"/>
                <a:ea typeface="Helvetica Neue"/>
                <a:cs typeface="Helvetica Neue"/>
                <a:sym typeface="Helvetica Neue"/>
              </a:rPr>
              <a:t> Reduce variable number with correlation analysis</a:t>
            </a:r>
            <a:endParaRPr sz="2700" b="0" i="0" u="none" strike="noStrike" cap="none">
              <a:solidFill>
                <a:srgbClr val="000000"/>
              </a:solidFill>
              <a:latin typeface="Arial"/>
              <a:ea typeface="Arial"/>
              <a:cs typeface="Arial"/>
              <a:sym typeface="Arial"/>
            </a:endParaRPr>
          </a:p>
        </p:txBody>
      </p:sp>
      <p:sp>
        <p:nvSpPr>
          <p:cNvPr id="171" name="Google Shape;171;p7"/>
          <p:cNvSpPr txBox="1"/>
          <p:nvPr/>
        </p:nvSpPr>
        <p:spPr>
          <a:xfrm>
            <a:off x="479175" y="1265625"/>
            <a:ext cx="12422700" cy="498600"/>
          </a:xfrm>
          <a:prstGeom prst="rect">
            <a:avLst/>
          </a:prstGeom>
          <a:noFill/>
          <a:ln>
            <a:noFill/>
          </a:ln>
        </p:spPr>
        <p:txBody>
          <a:bodyPr spcFirstLastPara="1" wrap="square" lIns="24375" tIns="24375" rIns="24375" bIns="24375" anchor="t" anchorCtr="0">
            <a:normAutofit/>
          </a:bodyPr>
          <a:lstStyle/>
          <a:p>
            <a:pPr marL="0" marR="0" lvl="0" indent="0" algn="l" rtl="0">
              <a:lnSpc>
                <a:spcPct val="100000"/>
              </a:lnSpc>
              <a:spcBef>
                <a:spcPts val="0"/>
              </a:spcBef>
              <a:spcAft>
                <a:spcPts val="0"/>
              </a:spcAft>
              <a:buClr>
                <a:srgbClr val="FFFFFF"/>
              </a:buClr>
              <a:buSzPts val="2600"/>
              <a:buFont typeface="Helvetica Neue"/>
              <a:buNone/>
            </a:pPr>
            <a:r>
              <a:rPr lang="en-US" sz="2600" b="0" i="0" u="none" strike="noStrike" cap="none">
                <a:solidFill>
                  <a:srgbClr val="FFFFFF"/>
                </a:solidFill>
                <a:latin typeface="Helvetica Neue"/>
                <a:ea typeface="Helvetica Neue"/>
                <a:cs typeface="Helvetica Neue"/>
                <a:sym typeface="Helvetica Neue"/>
              </a:rPr>
              <a:t>How to pick?</a:t>
            </a:r>
            <a:endParaRPr sz="1400" b="0" i="0" u="none" strike="noStrike" cap="none">
              <a:solidFill>
                <a:srgbClr val="000000"/>
              </a:solidFill>
              <a:latin typeface="Arial"/>
              <a:ea typeface="Arial"/>
              <a:cs typeface="Arial"/>
              <a:sym typeface="Arial"/>
            </a:endParaRPr>
          </a:p>
        </p:txBody>
      </p:sp>
      <p:sp>
        <p:nvSpPr>
          <p:cNvPr id="172" name="Google Shape;172;p7"/>
          <p:cNvSpPr txBox="1">
            <a:spLocks noGrp="1"/>
          </p:cNvSpPr>
          <p:nvPr>
            <p:ph type="title"/>
          </p:nvPr>
        </p:nvSpPr>
        <p:spPr>
          <a:xfrm>
            <a:off x="479168" y="450732"/>
            <a:ext cx="11718000" cy="1126800"/>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Abiotic data</a:t>
            </a:r>
            <a:endParaRPr i="1"/>
          </a:p>
        </p:txBody>
      </p:sp>
      <p:cxnSp>
        <p:nvCxnSpPr>
          <p:cNvPr id="173" name="Google Shape;173;p7"/>
          <p:cNvCxnSpPr/>
          <p:nvPr/>
        </p:nvCxnSpPr>
        <p:spPr>
          <a:xfrm rot="10800000" flipH="1">
            <a:off x="4472158" y="7616778"/>
            <a:ext cx="3568800" cy="49800"/>
          </a:xfrm>
          <a:prstGeom prst="straightConnector1">
            <a:avLst/>
          </a:prstGeom>
          <a:noFill/>
          <a:ln w="76200" cap="flat" cmpd="sng">
            <a:solidFill>
              <a:srgbClr val="FFFFFF"/>
            </a:solidFill>
            <a:prstDash val="solid"/>
            <a:miter lim="400000"/>
            <a:headEnd type="none" w="sm" len="sm"/>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8"/>
          <p:cNvSpPr txBox="1"/>
          <p:nvPr/>
        </p:nvSpPr>
        <p:spPr>
          <a:xfrm>
            <a:off x="0" y="2316575"/>
            <a:ext cx="12744900" cy="7018200"/>
          </a:xfrm>
          <a:prstGeom prst="rect">
            <a:avLst/>
          </a:prstGeom>
          <a:noFill/>
          <a:ln>
            <a:noFill/>
          </a:ln>
        </p:spPr>
        <p:txBody>
          <a:bodyPr spcFirstLastPara="1" wrap="square" lIns="50800" tIns="50800" rIns="50800" bIns="50800" anchor="t" anchorCtr="0">
            <a:noAutofit/>
          </a:bodyPr>
          <a:lstStyle/>
          <a:p>
            <a:pPr marL="276957" marR="0" lvl="0" indent="-276957" algn="l" rtl="0">
              <a:lnSpc>
                <a:spcPct val="100000"/>
              </a:lnSpc>
              <a:spcBef>
                <a:spcPts val="0"/>
              </a:spcBef>
              <a:spcAft>
                <a:spcPts val="0"/>
              </a:spcAft>
              <a:buClr>
                <a:srgbClr val="FFFFFF"/>
              </a:buClr>
              <a:buSzPts val="2800"/>
              <a:buFont typeface="Helvetica Neue"/>
              <a:buChar char="•"/>
            </a:pPr>
            <a:r>
              <a:rPr lang="en-US" sz="2800" b="0" i="0" u="none" strike="noStrike" cap="none">
                <a:solidFill>
                  <a:srgbClr val="FFFFFF"/>
                </a:solidFill>
                <a:latin typeface="Helvetica Neue"/>
                <a:ea typeface="Helvetica Neue"/>
                <a:cs typeface="Helvetica Neue"/>
                <a:sym typeface="Helvetica Neue"/>
              </a:rPr>
              <a:t>If question related to changes in distribution under climate change (past or future):</a:t>
            </a:r>
            <a:endParaRPr sz="1400" b="0" i="0" u="none" strike="noStrike" cap="none">
              <a:solidFill>
                <a:srgbClr val="000000"/>
              </a:solidFill>
              <a:latin typeface="Arial"/>
              <a:ea typeface="Arial"/>
              <a:cs typeface="Arial"/>
              <a:sym typeface="Arial"/>
            </a:endParaRPr>
          </a:p>
          <a:p>
            <a:pPr marL="1165957" marR="0" lvl="2" indent="-276957" algn="l" rtl="0">
              <a:lnSpc>
                <a:spcPct val="100000"/>
              </a:lnSpc>
              <a:spcBef>
                <a:spcPts val="300"/>
              </a:spcBef>
              <a:spcAft>
                <a:spcPts val="0"/>
              </a:spcAft>
              <a:buClr>
                <a:srgbClr val="FFFFFF"/>
              </a:buClr>
              <a:buSzPts val="2800"/>
              <a:buFont typeface="Helvetica Neue"/>
              <a:buChar char="•"/>
            </a:pPr>
            <a:r>
              <a:rPr lang="en-US" sz="2800" b="0" i="0" u="none" strike="noStrike" cap="none">
                <a:solidFill>
                  <a:srgbClr val="FFFFFF"/>
                </a:solidFill>
                <a:latin typeface="Helvetica Neue"/>
                <a:ea typeface="Helvetica Neue"/>
                <a:cs typeface="Helvetica Neue"/>
                <a:sym typeface="Helvetica Neue"/>
              </a:rPr>
              <a:t>Layers for present must be available for the time model is projected </a:t>
            </a:r>
            <a:endParaRPr sz="1400" b="0" i="0" u="none" strike="noStrike" cap="none">
              <a:solidFill>
                <a:srgbClr val="000000"/>
              </a:solidFill>
              <a:latin typeface="Arial"/>
              <a:ea typeface="Arial"/>
              <a:cs typeface="Arial"/>
              <a:sym typeface="Arial"/>
            </a:endParaRPr>
          </a:p>
          <a:p>
            <a:pPr marL="1165957" marR="0" lvl="2" indent="-276957" algn="l" rtl="0">
              <a:lnSpc>
                <a:spcPct val="100000"/>
              </a:lnSpc>
              <a:spcBef>
                <a:spcPts val="300"/>
              </a:spcBef>
              <a:spcAft>
                <a:spcPts val="0"/>
              </a:spcAft>
              <a:buClr>
                <a:srgbClr val="FFFFFF"/>
              </a:buClr>
              <a:buSzPts val="2800"/>
              <a:buFont typeface="Helvetica Neue"/>
              <a:buChar char="•"/>
            </a:pPr>
            <a:r>
              <a:rPr lang="en-US" sz="2800" b="0" i="0" u="none" strike="noStrike" cap="none">
                <a:solidFill>
                  <a:srgbClr val="FFFFFF"/>
                </a:solidFill>
                <a:latin typeface="Helvetica Neue"/>
                <a:ea typeface="Helvetica Neue"/>
                <a:cs typeface="Helvetica Neue"/>
                <a:sym typeface="Helvetica Neue"/>
              </a:rPr>
              <a:t>In general, this limits us to climatic variables, BUT deforestation  / land use models exist too</a:t>
            </a:r>
            <a:endParaRPr sz="2800" b="0" i="0" u="none" strike="noStrike" cap="none">
              <a:solidFill>
                <a:srgbClr val="FFFFFF"/>
              </a:solidFill>
              <a:latin typeface="Helvetica Neue"/>
              <a:ea typeface="Helvetica Neue"/>
              <a:cs typeface="Helvetica Neue"/>
              <a:sym typeface="Helvetica Neue"/>
            </a:endParaRPr>
          </a:p>
          <a:p>
            <a:pPr marL="1165957" marR="0" lvl="2" indent="-276957" algn="l" rtl="0">
              <a:lnSpc>
                <a:spcPct val="100000"/>
              </a:lnSpc>
              <a:spcBef>
                <a:spcPts val="300"/>
              </a:spcBef>
              <a:spcAft>
                <a:spcPts val="0"/>
              </a:spcAft>
              <a:buClr>
                <a:srgbClr val="FFFFFF"/>
              </a:buClr>
              <a:buSzPts val="2800"/>
              <a:buFont typeface="Helvetica Neue"/>
              <a:buChar char="•"/>
            </a:pPr>
            <a:r>
              <a:rPr lang="en-US" sz="2800" b="0" i="0" u="none" strike="noStrike" cap="none">
                <a:solidFill>
                  <a:srgbClr val="FFFFFF"/>
                </a:solidFill>
                <a:latin typeface="Helvetica Neue"/>
                <a:ea typeface="Helvetica Neue"/>
                <a:cs typeface="Helvetica Neue"/>
                <a:sym typeface="Helvetica Neue"/>
              </a:rPr>
              <a:t>Be careful with variables that do not change over time like elevation</a:t>
            </a:r>
            <a:endParaRPr sz="1400" b="0" i="0" u="none" strike="noStrike" cap="none">
              <a:solidFill>
                <a:srgbClr val="000000"/>
              </a:solidFill>
              <a:latin typeface="Arial"/>
              <a:ea typeface="Arial"/>
              <a:cs typeface="Arial"/>
              <a:sym typeface="Arial"/>
            </a:endParaRPr>
          </a:p>
        </p:txBody>
      </p:sp>
      <p:sp>
        <p:nvSpPr>
          <p:cNvPr id="179" name="Google Shape;179;p8"/>
          <p:cNvSpPr txBox="1">
            <a:spLocks noGrp="1"/>
          </p:cNvSpPr>
          <p:nvPr>
            <p:ph type="title"/>
          </p:nvPr>
        </p:nvSpPr>
        <p:spPr>
          <a:xfrm>
            <a:off x="479168" y="450732"/>
            <a:ext cx="11717868" cy="1126817"/>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Abiotic data</a:t>
            </a:r>
            <a:endParaRPr i="1"/>
          </a:p>
        </p:txBody>
      </p:sp>
      <p:sp>
        <p:nvSpPr>
          <p:cNvPr id="180" name="Google Shape;180;p8"/>
          <p:cNvSpPr txBox="1"/>
          <p:nvPr/>
        </p:nvSpPr>
        <p:spPr>
          <a:xfrm>
            <a:off x="479168" y="1227196"/>
            <a:ext cx="11718000" cy="498600"/>
          </a:xfrm>
          <a:prstGeom prst="rect">
            <a:avLst/>
          </a:prstGeom>
          <a:noFill/>
          <a:ln>
            <a:noFill/>
          </a:ln>
        </p:spPr>
        <p:txBody>
          <a:bodyPr spcFirstLastPara="1" wrap="square" lIns="24375" tIns="24375" rIns="24375" bIns="24375" anchor="t" anchorCtr="0">
            <a:normAutofit/>
          </a:bodyPr>
          <a:lstStyle/>
          <a:p>
            <a:pPr marL="0" marR="0" lvl="0" indent="0" algn="l" rtl="0">
              <a:lnSpc>
                <a:spcPct val="100000"/>
              </a:lnSpc>
              <a:spcBef>
                <a:spcPts val="0"/>
              </a:spcBef>
              <a:spcAft>
                <a:spcPts val="0"/>
              </a:spcAft>
              <a:buClr>
                <a:srgbClr val="FFFFFF"/>
              </a:buClr>
              <a:buSzPts val="2600"/>
              <a:buFont typeface="Helvetica Neue"/>
              <a:buNone/>
            </a:pPr>
            <a:r>
              <a:rPr lang="en-US" sz="2600" b="0" i="0" u="none" strike="noStrike" cap="none">
                <a:solidFill>
                  <a:srgbClr val="FFFFFF"/>
                </a:solidFill>
                <a:latin typeface="Helvetica Neue"/>
                <a:ea typeface="Helvetica Neue"/>
                <a:cs typeface="Helvetica Neue"/>
                <a:sym typeface="Helvetica Neue"/>
              </a:rPr>
              <a:t>How to pick? </a:t>
            </a:r>
            <a:endParaRPr sz="1400" b="0" i="0" u="none" strike="noStrike" cap="none">
              <a:solidFill>
                <a:srgbClr val="000000"/>
              </a:solidFill>
              <a:latin typeface="Arial"/>
              <a:ea typeface="Arial"/>
              <a:cs typeface="Arial"/>
              <a:sym typeface="Arial"/>
            </a:endParaRPr>
          </a:p>
        </p:txBody>
      </p:sp>
      <p:pic>
        <p:nvPicPr>
          <p:cNvPr id="181" name="Google Shape;181;p8"/>
          <p:cNvPicPr preferRelativeResize="0"/>
          <p:nvPr/>
        </p:nvPicPr>
        <p:blipFill>
          <a:blip r:embed="rId3"/>
          <a:srcRect/>
          <a:stretch/>
        </p:blipFill>
        <p:spPr>
          <a:xfrm>
            <a:off x="3591389" y="5448575"/>
            <a:ext cx="5822022" cy="388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9" descr="droppedImage.pdf"/>
          <p:cNvPicPr preferRelativeResize="0"/>
          <p:nvPr/>
        </p:nvPicPr>
        <p:blipFill rotWithShape="1">
          <a:blip r:embed="rId3">
            <a:alphaModFix/>
          </a:blip>
          <a:srcRect/>
          <a:stretch/>
        </p:blipFill>
        <p:spPr>
          <a:xfrm>
            <a:off x="11094049" y="450725"/>
            <a:ext cx="1783099" cy="1966650"/>
          </a:xfrm>
          <a:prstGeom prst="rect">
            <a:avLst/>
          </a:prstGeom>
          <a:noFill/>
          <a:ln>
            <a:noFill/>
          </a:ln>
        </p:spPr>
      </p:pic>
      <p:sp>
        <p:nvSpPr>
          <p:cNvPr id="187" name="Google Shape;187;p9"/>
          <p:cNvSpPr txBox="1"/>
          <p:nvPr/>
        </p:nvSpPr>
        <p:spPr>
          <a:xfrm>
            <a:off x="127662" y="1654525"/>
            <a:ext cx="10718181" cy="3039900"/>
          </a:xfrm>
          <a:prstGeom prst="rect">
            <a:avLst/>
          </a:prstGeom>
          <a:noFill/>
          <a:ln>
            <a:noFill/>
          </a:ln>
        </p:spPr>
        <p:txBody>
          <a:bodyPr spcFirstLastPara="1" wrap="square" lIns="50800" tIns="50800" rIns="50800" bIns="50800" anchor="t" anchorCtr="0">
            <a:noAutofit/>
          </a:bodyPr>
          <a:lstStyle/>
          <a:p>
            <a:pPr marL="0" marR="0" lvl="0" indent="0" algn="l" rtl="0">
              <a:lnSpc>
                <a:spcPct val="100000"/>
              </a:lnSpc>
              <a:spcBef>
                <a:spcPts val="0"/>
              </a:spcBef>
              <a:spcAft>
                <a:spcPts val="0"/>
              </a:spcAft>
              <a:buClr>
                <a:srgbClr val="FFFFFF"/>
              </a:buClr>
              <a:buSzPts val="3600"/>
              <a:buFont typeface="Helvetica Neue"/>
              <a:buNone/>
            </a:pPr>
            <a:r>
              <a:rPr lang="en-US" sz="3600" b="0" i="0" u="none" strike="noStrike" cap="none">
                <a:solidFill>
                  <a:srgbClr val="FFFFFF"/>
                </a:solidFill>
                <a:latin typeface="Helvetica Neue"/>
                <a:ea typeface="Helvetica Neue"/>
                <a:cs typeface="Helvetica Neue"/>
                <a:sym typeface="Helvetica Neue"/>
              </a:rPr>
              <a:t>What data could we have in the form of GIS layers?</a:t>
            </a:r>
            <a:endParaRPr sz="3600" b="0" i="0" u="none" strike="noStrike" cap="none">
              <a:solidFill>
                <a:srgbClr val="FFFFFF"/>
              </a:solidFill>
              <a:latin typeface="Helvetica Neue"/>
              <a:ea typeface="Helvetica Neue"/>
              <a:cs typeface="Helvetica Neue"/>
              <a:sym typeface="Helvetica Neue"/>
            </a:endParaRPr>
          </a:p>
        </p:txBody>
      </p:sp>
      <p:pic>
        <p:nvPicPr>
          <p:cNvPr id="188" name="Google Shape;188;p9" descr="questions.png"/>
          <p:cNvPicPr preferRelativeResize="0"/>
          <p:nvPr/>
        </p:nvPicPr>
        <p:blipFill rotWithShape="1">
          <a:blip r:embed="rId4">
            <a:alphaModFix/>
          </a:blip>
          <a:srcRect/>
          <a:stretch/>
        </p:blipFill>
        <p:spPr>
          <a:xfrm>
            <a:off x="421811" y="2417385"/>
            <a:ext cx="12161187" cy="6891339"/>
          </a:xfrm>
          <a:prstGeom prst="rect">
            <a:avLst/>
          </a:prstGeom>
          <a:noFill/>
          <a:ln>
            <a:noFill/>
          </a:ln>
        </p:spPr>
      </p:pic>
      <p:sp>
        <p:nvSpPr>
          <p:cNvPr id="189" name="Google Shape;189;p9"/>
          <p:cNvSpPr txBox="1">
            <a:spLocks noGrp="1"/>
          </p:cNvSpPr>
          <p:nvPr>
            <p:ph type="title"/>
          </p:nvPr>
        </p:nvSpPr>
        <p:spPr>
          <a:xfrm>
            <a:off x="421793" y="393707"/>
            <a:ext cx="11718000" cy="1126800"/>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4800"/>
              <a:buFont typeface="Helvetica Neue"/>
              <a:buNone/>
            </a:pPr>
            <a:r>
              <a:rPr lang="en-US"/>
              <a:t>Biotic data</a:t>
            </a:r>
            <a:endParaRPr i="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2a967ea5d19_0_7"/>
          <p:cNvSpPr txBox="1">
            <a:spLocks noGrp="1"/>
          </p:cNvSpPr>
          <p:nvPr>
            <p:ph type="title"/>
          </p:nvPr>
        </p:nvSpPr>
        <p:spPr>
          <a:xfrm>
            <a:off x="643406" y="4017988"/>
            <a:ext cx="11718000" cy="1126800"/>
          </a:xfrm>
          <a:prstGeom prst="rect">
            <a:avLst/>
          </a:prstGeom>
          <a:noFill/>
          <a:ln>
            <a:noFill/>
          </a:ln>
        </p:spPr>
        <p:txBody>
          <a:bodyPr spcFirstLastPara="1" wrap="square" lIns="27075" tIns="27075" rIns="27075" bIns="27075" anchor="t" anchorCtr="0">
            <a:normAutofit/>
          </a:bodyPr>
          <a:lstStyle/>
          <a:p>
            <a:pPr marL="0" lvl="0" indent="0" algn="ctr" rtl="0">
              <a:lnSpc>
                <a:spcPct val="80000"/>
              </a:lnSpc>
              <a:spcBef>
                <a:spcPts val="0"/>
              </a:spcBef>
              <a:spcAft>
                <a:spcPts val="0"/>
              </a:spcAft>
              <a:buClr>
                <a:srgbClr val="FFFFFF"/>
              </a:buClr>
              <a:buSzPts val="4800"/>
              <a:buFont typeface="Helvetica Neue"/>
              <a:buNone/>
            </a:pPr>
            <a:r>
              <a:rPr lang="en-US"/>
              <a:t>Part 2: Algorithms</a:t>
            </a:r>
            <a:endParaRPr i="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0"/>
          <p:cNvSpPr txBox="1">
            <a:spLocks noGrp="1"/>
          </p:cNvSpPr>
          <p:nvPr>
            <p:ph type="title"/>
          </p:nvPr>
        </p:nvSpPr>
        <p:spPr>
          <a:xfrm>
            <a:off x="342304" y="254000"/>
            <a:ext cx="12320192" cy="189369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55000"/>
              <a:buFont typeface="Helvetica Neue"/>
              <a:buNone/>
            </a:pPr>
            <a:r>
              <a:rPr lang="en-US"/>
              <a:t>So many algorithms… </a:t>
            </a:r>
            <a:br>
              <a:rPr lang="en-US"/>
            </a:br>
            <a:r>
              <a:rPr lang="en-US"/>
              <a:t>is there a preferred one?</a:t>
            </a:r>
            <a:endParaRPr/>
          </a:p>
        </p:txBody>
      </p:sp>
      <p:sp>
        <p:nvSpPr>
          <p:cNvPr id="200" name="Google Shape;200;p10"/>
          <p:cNvSpPr txBox="1">
            <a:spLocks noGrp="1"/>
          </p:cNvSpPr>
          <p:nvPr>
            <p:ph type="body" idx="1"/>
          </p:nvPr>
        </p:nvSpPr>
        <p:spPr>
          <a:xfrm>
            <a:off x="117032" y="2656225"/>
            <a:ext cx="12697500" cy="6169800"/>
          </a:xfrm>
          <a:prstGeom prst="rect">
            <a:avLst/>
          </a:prstGeom>
          <a:noFill/>
          <a:ln>
            <a:noFill/>
          </a:ln>
        </p:spPr>
        <p:txBody>
          <a:bodyPr spcFirstLastPara="1" wrap="square" lIns="50800" tIns="50800" rIns="50800" bIns="50800" anchor="t" anchorCtr="0">
            <a:normAutofit/>
          </a:bodyPr>
          <a:lstStyle/>
          <a:p>
            <a:pPr marL="355600" lvl="0" indent="-355600" algn="l" rtl="0">
              <a:lnSpc>
                <a:spcPct val="100000"/>
              </a:lnSpc>
              <a:spcBef>
                <a:spcPts val="0"/>
              </a:spcBef>
              <a:spcAft>
                <a:spcPts val="0"/>
              </a:spcAft>
              <a:buClr>
                <a:srgbClr val="FFFFFF"/>
              </a:buClr>
              <a:buSzPts val="3625"/>
              <a:buFont typeface="Helvetica Neue"/>
              <a:buChar char="•"/>
            </a:pPr>
            <a:r>
              <a:rPr lang="en-US"/>
              <a:t>We can classify them in 5 categories: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 only: BIOCLIM, DOMAIN, Mahalanobis distance</a:t>
            </a:r>
            <a:endParaRPr/>
          </a:p>
          <a:p>
            <a:pPr marL="0" lvl="0" indent="0" algn="l" rtl="0">
              <a:lnSpc>
                <a:spcPct val="100000"/>
              </a:lnSpc>
              <a:spcBef>
                <a:spcPts val="1000"/>
              </a:spcBef>
              <a:spcAft>
                <a:spcPts val="0"/>
              </a:spcAft>
              <a:buSzPts val="261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1"/>
          <p:cNvSpPr txBox="1">
            <a:spLocks noGrp="1"/>
          </p:cNvSpPr>
          <p:nvPr>
            <p:ph type="title"/>
          </p:nvPr>
        </p:nvSpPr>
        <p:spPr>
          <a:xfrm>
            <a:off x="342304" y="254000"/>
            <a:ext cx="12320100" cy="18936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55000"/>
              <a:buFont typeface="Helvetica Neue"/>
              <a:buNone/>
            </a:pPr>
            <a:r>
              <a:rPr lang="en-US"/>
              <a:t>So many algorithms… </a:t>
            </a:r>
            <a:br>
              <a:rPr lang="en-US"/>
            </a:br>
            <a:r>
              <a:rPr lang="en-US"/>
              <a:t>is there a preferred one?</a:t>
            </a:r>
            <a:endParaRPr/>
          </a:p>
        </p:txBody>
      </p:sp>
      <p:sp>
        <p:nvSpPr>
          <p:cNvPr id="206" name="Google Shape;206;p11"/>
          <p:cNvSpPr txBox="1">
            <a:spLocks noGrp="1"/>
          </p:cNvSpPr>
          <p:nvPr>
            <p:ph type="body" idx="1"/>
          </p:nvPr>
        </p:nvSpPr>
        <p:spPr>
          <a:xfrm>
            <a:off x="117032" y="2656225"/>
            <a:ext cx="12697500" cy="6169800"/>
          </a:xfrm>
          <a:prstGeom prst="rect">
            <a:avLst/>
          </a:prstGeom>
          <a:noFill/>
          <a:ln>
            <a:noFill/>
          </a:ln>
        </p:spPr>
        <p:txBody>
          <a:bodyPr spcFirstLastPara="1" wrap="square" lIns="50800" tIns="50800" rIns="50800" bIns="50800" anchor="t" anchorCtr="0">
            <a:normAutofit/>
          </a:bodyPr>
          <a:lstStyle/>
          <a:p>
            <a:pPr marL="355600" lvl="0" indent="-355600" algn="l" rtl="0">
              <a:lnSpc>
                <a:spcPct val="100000"/>
              </a:lnSpc>
              <a:spcBef>
                <a:spcPts val="0"/>
              </a:spcBef>
              <a:spcAft>
                <a:spcPts val="0"/>
              </a:spcAft>
              <a:buClr>
                <a:srgbClr val="FFFFFF"/>
              </a:buClr>
              <a:buSzPts val="3625"/>
              <a:buFont typeface="Helvetica Neue"/>
              <a:buChar char="•"/>
            </a:pPr>
            <a:r>
              <a:rPr lang="en-US"/>
              <a:t>We can classify them in 5 categories: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 only: </a:t>
            </a:r>
            <a:r>
              <a:rPr lang="en-US">
                <a:solidFill>
                  <a:schemeClr val="lt1"/>
                </a:solidFill>
              </a:rPr>
              <a:t>BIOCLIM</a:t>
            </a:r>
            <a:r>
              <a:rPr lang="en-US"/>
              <a:t>, DOMAIN, Mahalanobis distance</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or Pseudoabsence: logistic regression models (GLM, GAM), Random Forest, Boosted Regression Trees, GARP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2"/>
          <p:cNvSpPr txBox="1">
            <a:spLocks noGrp="1"/>
          </p:cNvSpPr>
          <p:nvPr>
            <p:ph type="title"/>
          </p:nvPr>
        </p:nvSpPr>
        <p:spPr>
          <a:xfrm>
            <a:off x="342304" y="254000"/>
            <a:ext cx="12320100" cy="18936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55000"/>
              <a:buFont typeface="Helvetica Neue"/>
              <a:buNone/>
            </a:pPr>
            <a:r>
              <a:rPr lang="en-US"/>
              <a:t>So many algorithms… </a:t>
            </a:r>
            <a:br>
              <a:rPr lang="en-US"/>
            </a:br>
            <a:r>
              <a:rPr lang="en-US"/>
              <a:t>is there a preferred one?</a:t>
            </a:r>
            <a:endParaRPr/>
          </a:p>
        </p:txBody>
      </p:sp>
      <p:sp>
        <p:nvSpPr>
          <p:cNvPr id="212" name="Google Shape;212;p12"/>
          <p:cNvSpPr txBox="1">
            <a:spLocks noGrp="1"/>
          </p:cNvSpPr>
          <p:nvPr>
            <p:ph type="body" idx="1"/>
          </p:nvPr>
        </p:nvSpPr>
        <p:spPr>
          <a:xfrm>
            <a:off x="117032" y="2656225"/>
            <a:ext cx="12697500" cy="6169800"/>
          </a:xfrm>
          <a:prstGeom prst="rect">
            <a:avLst/>
          </a:prstGeom>
          <a:noFill/>
          <a:ln>
            <a:noFill/>
          </a:ln>
        </p:spPr>
        <p:txBody>
          <a:bodyPr spcFirstLastPara="1" wrap="square" lIns="50800" tIns="50800" rIns="50800" bIns="50800" anchor="t" anchorCtr="0">
            <a:normAutofit/>
          </a:bodyPr>
          <a:lstStyle/>
          <a:p>
            <a:pPr marL="355600" lvl="0" indent="-355600" algn="l" rtl="0">
              <a:lnSpc>
                <a:spcPct val="100000"/>
              </a:lnSpc>
              <a:spcBef>
                <a:spcPts val="0"/>
              </a:spcBef>
              <a:spcAft>
                <a:spcPts val="0"/>
              </a:spcAft>
              <a:buClr>
                <a:srgbClr val="FFFFFF"/>
              </a:buClr>
              <a:buSzPts val="3625"/>
              <a:buFont typeface="Helvetica Neue"/>
              <a:buChar char="•"/>
            </a:pPr>
            <a:r>
              <a:rPr lang="en-US"/>
              <a:t>We can classify them in 5 categories: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 only: </a:t>
            </a:r>
            <a:r>
              <a:rPr lang="en-US">
                <a:solidFill>
                  <a:schemeClr val="lt1"/>
                </a:solidFill>
              </a:rPr>
              <a:t>BIOCLIM</a:t>
            </a:r>
            <a:r>
              <a:rPr lang="en-US"/>
              <a:t>, DOMAIN, Mahalanobis distance</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or Pseudoabsence: logistic regression models (GLM, GAM), Random Forest, Boosted Regression Trees, GARP</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(repeat visit): occupancy models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3"/>
          <p:cNvSpPr txBox="1">
            <a:spLocks noGrp="1"/>
          </p:cNvSpPr>
          <p:nvPr>
            <p:ph type="title"/>
          </p:nvPr>
        </p:nvSpPr>
        <p:spPr>
          <a:xfrm>
            <a:off x="342304" y="254000"/>
            <a:ext cx="12320100" cy="18936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55000"/>
              <a:buFont typeface="Helvetica Neue"/>
              <a:buNone/>
            </a:pPr>
            <a:r>
              <a:rPr lang="en-US"/>
              <a:t>So many algorithms… </a:t>
            </a:r>
            <a:br>
              <a:rPr lang="en-US"/>
            </a:br>
            <a:r>
              <a:rPr lang="en-US"/>
              <a:t>is there a preferred one?</a:t>
            </a:r>
            <a:endParaRPr/>
          </a:p>
        </p:txBody>
      </p:sp>
      <p:sp>
        <p:nvSpPr>
          <p:cNvPr id="218" name="Google Shape;218;p13"/>
          <p:cNvSpPr txBox="1">
            <a:spLocks noGrp="1"/>
          </p:cNvSpPr>
          <p:nvPr>
            <p:ph type="body" idx="1"/>
          </p:nvPr>
        </p:nvSpPr>
        <p:spPr>
          <a:xfrm>
            <a:off x="117032" y="2656225"/>
            <a:ext cx="12697500" cy="6169800"/>
          </a:xfrm>
          <a:prstGeom prst="rect">
            <a:avLst/>
          </a:prstGeom>
          <a:noFill/>
          <a:ln>
            <a:noFill/>
          </a:ln>
        </p:spPr>
        <p:txBody>
          <a:bodyPr spcFirstLastPara="1" wrap="square" lIns="50800" tIns="50800" rIns="50800" bIns="50800" anchor="t" anchorCtr="0">
            <a:normAutofit/>
          </a:bodyPr>
          <a:lstStyle/>
          <a:p>
            <a:pPr marL="355600" lvl="0" indent="-355600" algn="l" rtl="0">
              <a:lnSpc>
                <a:spcPct val="100000"/>
              </a:lnSpc>
              <a:spcBef>
                <a:spcPts val="0"/>
              </a:spcBef>
              <a:spcAft>
                <a:spcPts val="0"/>
              </a:spcAft>
              <a:buClr>
                <a:srgbClr val="FFFFFF"/>
              </a:buClr>
              <a:buSzPts val="3625"/>
              <a:buFont typeface="Helvetica Neue"/>
              <a:buChar char="•"/>
            </a:pPr>
            <a:r>
              <a:rPr lang="en-US"/>
              <a:t>We can classify them in 5 categories: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 only: </a:t>
            </a:r>
            <a:r>
              <a:rPr lang="en-US">
                <a:solidFill>
                  <a:schemeClr val="lt1"/>
                </a:solidFill>
              </a:rPr>
              <a:t>BIOCLIM</a:t>
            </a:r>
            <a:r>
              <a:rPr lang="en-US"/>
              <a:t>, DOMAIN, Mahalanobis distance</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or Pseudoabsence: logistic regression models (GLM, GAM), Random Forest, Boosted Regression Trees, GARP</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(repeat visit): occupancy models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Presence/Background: Maxent, Point Process Models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4"/>
          <p:cNvSpPr txBox="1">
            <a:spLocks noGrp="1"/>
          </p:cNvSpPr>
          <p:nvPr>
            <p:ph type="title"/>
          </p:nvPr>
        </p:nvSpPr>
        <p:spPr>
          <a:xfrm>
            <a:off x="342304" y="254000"/>
            <a:ext cx="12320100" cy="18936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55000"/>
              <a:buFont typeface="Helvetica Neue"/>
              <a:buNone/>
            </a:pPr>
            <a:r>
              <a:rPr lang="en-US"/>
              <a:t>So many algorithms… </a:t>
            </a:r>
            <a:br>
              <a:rPr lang="en-US"/>
            </a:br>
            <a:r>
              <a:rPr lang="en-US"/>
              <a:t>is there a preferred one?</a:t>
            </a:r>
            <a:endParaRPr/>
          </a:p>
        </p:txBody>
      </p:sp>
      <p:sp>
        <p:nvSpPr>
          <p:cNvPr id="224" name="Google Shape;224;p14"/>
          <p:cNvSpPr txBox="1">
            <a:spLocks noGrp="1"/>
          </p:cNvSpPr>
          <p:nvPr>
            <p:ph type="body" idx="1"/>
          </p:nvPr>
        </p:nvSpPr>
        <p:spPr>
          <a:xfrm>
            <a:off x="117032" y="2656225"/>
            <a:ext cx="12697500" cy="6169800"/>
          </a:xfrm>
          <a:prstGeom prst="rect">
            <a:avLst/>
          </a:prstGeom>
          <a:noFill/>
          <a:ln>
            <a:noFill/>
          </a:ln>
        </p:spPr>
        <p:txBody>
          <a:bodyPr spcFirstLastPara="1" wrap="square" lIns="50800" tIns="50800" rIns="50800" bIns="50800" anchor="t" anchorCtr="0">
            <a:normAutofit/>
          </a:bodyPr>
          <a:lstStyle/>
          <a:p>
            <a:pPr marL="355600" lvl="0" indent="-355600" algn="l" rtl="0">
              <a:lnSpc>
                <a:spcPct val="100000"/>
              </a:lnSpc>
              <a:spcBef>
                <a:spcPts val="0"/>
              </a:spcBef>
              <a:spcAft>
                <a:spcPts val="0"/>
              </a:spcAft>
              <a:buClr>
                <a:srgbClr val="FFFFFF"/>
              </a:buClr>
              <a:buSzPts val="3625"/>
              <a:buFont typeface="Helvetica Neue"/>
              <a:buChar char="•"/>
            </a:pPr>
            <a:r>
              <a:rPr lang="en-US"/>
              <a:t>We can classify them in 5 categories: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 only: </a:t>
            </a:r>
            <a:r>
              <a:rPr lang="en-US">
                <a:solidFill>
                  <a:schemeClr val="lt1"/>
                </a:solidFill>
              </a:rPr>
              <a:t>BIOCLIM</a:t>
            </a:r>
            <a:r>
              <a:rPr lang="en-US"/>
              <a:t>, DOMAIN, Mahalanobis distance</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or Pseudoabsence: logistic regression models (GLM, GAM), Random Forest, Boosted Regression Trees, GARP</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(repeat visit): occupancy models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Presence/Background: Maxent, Point Process Models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Model ensembles: multiple algorithms, or same algorithm with multiple settings</a:t>
            </a:r>
            <a:endParaRPr/>
          </a:p>
          <a:p>
            <a:pPr marL="889000" lvl="0" indent="0" algn="l" rtl="0">
              <a:lnSpc>
                <a:spcPct val="100000"/>
              </a:lnSpc>
              <a:spcBef>
                <a:spcPts val="1000"/>
              </a:spcBef>
              <a:spcAft>
                <a:spcPts val="0"/>
              </a:spcAft>
              <a:buSzPts val="261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5"/>
          <p:cNvSpPr txBox="1">
            <a:spLocks noGrp="1"/>
          </p:cNvSpPr>
          <p:nvPr>
            <p:ph type="title"/>
          </p:nvPr>
        </p:nvSpPr>
        <p:spPr>
          <a:xfrm>
            <a:off x="342304" y="254000"/>
            <a:ext cx="12320100" cy="1893600"/>
          </a:xfrm>
          <a:prstGeom prst="rect">
            <a:avLst/>
          </a:prstGeom>
          <a:noFill/>
          <a:ln>
            <a:noFill/>
          </a:ln>
        </p:spPr>
        <p:txBody>
          <a:bodyPr spcFirstLastPara="1" wrap="square" lIns="50800" tIns="50800" rIns="50800" bIns="50800" anchor="ctr" anchorCtr="0">
            <a:normAutofit fontScale="90000"/>
          </a:bodyPr>
          <a:lstStyle/>
          <a:p>
            <a:pPr marL="0" lvl="0" indent="0" algn="ctr" rtl="0">
              <a:lnSpc>
                <a:spcPct val="100000"/>
              </a:lnSpc>
              <a:spcBef>
                <a:spcPts val="0"/>
              </a:spcBef>
              <a:spcAft>
                <a:spcPts val="0"/>
              </a:spcAft>
              <a:buClr>
                <a:srgbClr val="FFFFFF"/>
              </a:buClr>
              <a:buSzPct val="55000"/>
              <a:buFont typeface="Helvetica Neue"/>
              <a:buNone/>
            </a:pPr>
            <a:r>
              <a:rPr lang="en-US"/>
              <a:t>So many algorithms… </a:t>
            </a:r>
            <a:br>
              <a:rPr lang="en-US"/>
            </a:br>
            <a:r>
              <a:rPr lang="en-US"/>
              <a:t>is there a preferred one?</a:t>
            </a:r>
            <a:endParaRPr/>
          </a:p>
        </p:txBody>
      </p:sp>
      <p:sp>
        <p:nvSpPr>
          <p:cNvPr id="230" name="Google Shape;230;p15"/>
          <p:cNvSpPr txBox="1">
            <a:spLocks noGrp="1"/>
          </p:cNvSpPr>
          <p:nvPr>
            <p:ph type="body" idx="1"/>
          </p:nvPr>
        </p:nvSpPr>
        <p:spPr>
          <a:xfrm>
            <a:off x="117032" y="2656225"/>
            <a:ext cx="12697500" cy="6169800"/>
          </a:xfrm>
          <a:prstGeom prst="rect">
            <a:avLst/>
          </a:prstGeom>
          <a:noFill/>
          <a:ln>
            <a:noFill/>
          </a:ln>
        </p:spPr>
        <p:txBody>
          <a:bodyPr spcFirstLastPara="1" wrap="square" lIns="50800" tIns="50800" rIns="50800" bIns="50800" anchor="t" anchorCtr="0">
            <a:normAutofit lnSpcReduction="10000"/>
          </a:bodyPr>
          <a:lstStyle/>
          <a:p>
            <a:pPr marL="355600" lvl="0" indent="-355600" algn="l" rtl="0">
              <a:lnSpc>
                <a:spcPct val="100000"/>
              </a:lnSpc>
              <a:spcBef>
                <a:spcPts val="0"/>
              </a:spcBef>
              <a:spcAft>
                <a:spcPts val="0"/>
              </a:spcAft>
              <a:buClr>
                <a:srgbClr val="FFFFFF"/>
              </a:buClr>
              <a:buSzPts val="3625"/>
              <a:buFont typeface="Helvetica Neue"/>
              <a:buChar char="•"/>
            </a:pPr>
            <a:r>
              <a:rPr lang="en-US"/>
              <a:t>We can classify them in 5 categories: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 only: </a:t>
            </a:r>
            <a:r>
              <a:rPr lang="en-US">
                <a:solidFill>
                  <a:schemeClr val="lt1"/>
                </a:solidFill>
              </a:rPr>
              <a:t>BIOCLIM</a:t>
            </a:r>
            <a:r>
              <a:rPr lang="en-US"/>
              <a:t>, DOMAIN, Mahalanobis distance</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or Pseudoabsence: logistic regression models (GLM, GAM), Random Forest, Boosted Regression Trees, GARP</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Presence/Absence (repeat visit): occupancy models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Presence/Background: Maxent, Point Process Models</a:t>
            </a:r>
            <a:endParaRPr/>
          </a:p>
          <a:p>
            <a:pPr marL="1422400" lvl="3" indent="-372910" algn="l" rtl="0">
              <a:lnSpc>
                <a:spcPct val="100000"/>
              </a:lnSpc>
              <a:spcBef>
                <a:spcPts val="1000"/>
              </a:spcBef>
              <a:spcAft>
                <a:spcPts val="0"/>
              </a:spcAft>
              <a:buClr>
                <a:srgbClr val="FFFFFF"/>
              </a:buClr>
              <a:buSzPts val="3625"/>
              <a:buFont typeface="Helvetica Neue"/>
              <a:buChar char="•"/>
            </a:pPr>
            <a:r>
              <a:rPr lang="en-US"/>
              <a:t>Model ensembles: multiple algorithms, or same algorithm with multiple settings</a:t>
            </a:r>
            <a:endParaRPr/>
          </a:p>
          <a:p>
            <a:pPr marL="533400" lvl="1" indent="-372910" algn="l" rtl="0">
              <a:lnSpc>
                <a:spcPct val="100000"/>
              </a:lnSpc>
              <a:spcBef>
                <a:spcPts val="1000"/>
              </a:spcBef>
              <a:spcAft>
                <a:spcPts val="0"/>
              </a:spcAft>
              <a:buClr>
                <a:srgbClr val="FFFFFF"/>
              </a:buClr>
              <a:buSzPts val="3625"/>
              <a:buFont typeface="Helvetica Neue"/>
              <a:buChar char="•"/>
            </a:pPr>
            <a:r>
              <a:rPr lang="en-US"/>
              <a:t>Does the algorithm match the data? Are the ensembled models carefully chosen?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6"/>
          <p:cNvSpPr txBox="1">
            <a:spLocks noGrp="1"/>
          </p:cNvSpPr>
          <p:nvPr>
            <p:ph type="title"/>
          </p:nvPr>
        </p:nvSpPr>
        <p:spPr>
          <a:xfrm>
            <a:off x="605551" y="829881"/>
            <a:ext cx="11717868" cy="960889"/>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3700"/>
              <a:buFont typeface="Helvetica Neue"/>
              <a:buNone/>
            </a:pPr>
            <a:r>
              <a:rPr lang="en-US"/>
              <a:t>Presence only</a:t>
            </a:r>
            <a:endParaRPr i="1"/>
          </a:p>
        </p:txBody>
      </p:sp>
      <p:sp>
        <p:nvSpPr>
          <p:cNvPr id="236" name="Google Shape;236;p16"/>
          <p:cNvSpPr txBox="1">
            <a:spLocks noGrp="1"/>
          </p:cNvSpPr>
          <p:nvPr>
            <p:ph type="body" idx="1"/>
          </p:nvPr>
        </p:nvSpPr>
        <p:spPr>
          <a:xfrm>
            <a:off x="688458" y="2235050"/>
            <a:ext cx="11718000" cy="1998300"/>
          </a:xfrm>
          <a:prstGeom prst="rect">
            <a:avLst/>
          </a:prstGeom>
          <a:noFill/>
          <a:ln>
            <a:noFill/>
          </a:ln>
        </p:spPr>
        <p:txBody>
          <a:bodyPr spcFirstLastPara="1" wrap="square" lIns="24375" tIns="24375" rIns="24375" bIns="24375" anchor="t" anchorCtr="0">
            <a:normAutofit lnSpcReduction="10000"/>
          </a:bodyPr>
          <a:lstStyle/>
          <a:p>
            <a:pPr marL="0" lvl="0" indent="0" algn="l" rtl="0">
              <a:lnSpc>
                <a:spcPct val="100000"/>
              </a:lnSpc>
              <a:spcBef>
                <a:spcPts val="0"/>
              </a:spcBef>
              <a:spcAft>
                <a:spcPts val="0"/>
              </a:spcAft>
              <a:buClr>
                <a:srgbClr val="FFFFFF"/>
              </a:buClr>
              <a:buSzPts val="3200"/>
              <a:buFont typeface="Helvetica Neue"/>
              <a:buNone/>
            </a:pPr>
            <a:r>
              <a:rPr lang="en-US" sz="3200" b="0"/>
              <a:t>BIOCLIM, HABITAT, DOMAIN, Mahalanobis distance</a:t>
            </a:r>
            <a:endParaRPr sz="3200" b="0"/>
          </a:p>
          <a:p>
            <a:pPr marL="0" lvl="0" indent="0" algn="l" rtl="0">
              <a:lnSpc>
                <a:spcPct val="100000"/>
              </a:lnSpc>
              <a:spcBef>
                <a:spcPts val="0"/>
              </a:spcBef>
              <a:spcAft>
                <a:spcPts val="0"/>
              </a:spcAft>
              <a:buClr>
                <a:srgbClr val="FFFFFF"/>
              </a:buClr>
              <a:buSzPts val="3200"/>
              <a:buFont typeface="Helvetica Neue"/>
              <a:buNone/>
            </a:pPr>
            <a:endParaRPr sz="3200" b="0"/>
          </a:p>
          <a:p>
            <a:pPr marL="0" lvl="0" indent="0" algn="l" rtl="0">
              <a:lnSpc>
                <a:spcPct val="100000"/>
              </a:lnSpc>
              <a:spcBef>
                <a:spcPts val="0"/>
              </a:spcBef>
              <a:spcAft>
                <a:spcPts val="0"/>
              </a:spcAft>
              <a:buClr>
                <a:srgbClr val="FFFFFF"/>
              </a:buClr>
              <a:buSzPts val="3200"/>
              <a:buFont typeface="Helvetica Neue"/>
              <a:buNone/>
            </a:pPr>
            <a:r>
              <a:rPr lang="en-US" sz="3200" b="0"/>
              <a:t>- Make predictions based on proximity to env. space of presences</a:t>
            </a:r>
            <a:endParaRPr sz="3200" b="0"/>
          </a:p>
        </p:txBody>
      </p:sp>
      <p:pic>
        <p:nvPicPr>
          <p:cNvPr id="237" name="Google Shape;237;p16"/>
          <p:cNvPicPr preferRelativeResize="0"/>
          <p:nvPr/>
        </p:nvPicPr>
        <p:blipFill rotWithShape="1">
          <a:blip r:embed="rId3">
            <a:alphaModFix/>
          </a:blip>
          <a:srcRect/>
          <a:stretch/>
        </p:blipFill>
        <p:spPr>
          <a:xfrm>
            <a:off x="483772" y="4571851"/>
            <a:ext cx="5384800" cy="4800600"/>
          </a:xfrm>
          <a:prstGeom prst="rect">
            <a:avLst/>
          </a:prstGeom>
          <a:noFill/>
          <a:ln>
            <a:noFill/>
          </a:ln>
        </p:spPr>
      </p:pic>
      <p:sp>
        <p:nvSpPr>
          <p:cNvPr id="238" name="Google Shape;238;p16"/>
          <p:cNvSpPr txBox="1"/>
          <p:nvPr/>
        </p:nvSpPr>
        <p:spPr>
          <a:xfrm>
            <a:off x="483772" y="9452664"/>
            <a:ext cx="5628357" cy="300936"/>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dirty="0">
                <a:solidFill>
                  <a:srgbClr val="FFFFFF"/>
                </a:solidFill>
                <a:latin typeface="Helvetica Neue"/>
                <a:ea typeface="Helvetica Neue"/>
                <a:cs typeface="Helvetica Neue"/>
                <a:sym typeface="Helvetica Neue"/>
              </a:rPr>
              <a:t>https://</a:t>
            </a:r>
            <a:r>
              <a:rPr lang="en-US" sz="1600" b="0" i="0" u="none" strike="noStrike" cap="none" dirty="0" err="1">
                <a:solidFill>
                  <a:srgbClr val="FFFFFF"/>
                </a:solidFill>
                <a:latin typeface="Helvetica Neue"/>
                <a:ea typeface="Helvetica Neue"/>
                <a:cs typeface="Helvetica Neue"/>
                <a:sym typeface="Helvetica Neue"/>
              </a:rPr>
              <a:t>rspatial.org</a:t>
            </a:r>
            <a:r>
              <a:rPr lang="en-US" sz="1600" b="0" i="0" u="none" strike="noStrike" cap="none" dirty="0">
                <a:solidFill>
                  <a:srgbClr val="FFFFFF"/>
                </a:solidFill>
                <a:latin typeface="Helvetica Neue"/>
                <a:ea typeface="Helvetica Neue"/>
                <a:cs typeface="Helvetica Neue"/>
                <a:sym typeface="Helvetica Neue"/>
              </a:rPr>
              <a:t>/raster/</a:t>
            </a:r>
            <a:r>
              <a:rPr lang="en-US" sz="1600" b="0" i="0" u="none" strike="noStrike" cap="none" dirty="0" err="1">
                <a:solidFill>
                  <a:srgbClr val="FFFFFF"/>
                </a:solidFill>
                <a:latin typeface="Helvetica Neue"/>
                <a:ea typeface="Helvetica Neue"/>
                <a:cs typeface="Helvetica Neue"/>
                <a:sym typeface="Helvetica Neue"/>
              </a:rPr>
              <a:t>sdm</a:t>
            </a:r>
            <a:r>
              <a:rPr lang="en-US" sz="1600" b="0" i="0" u="none" strike="noStrike" cap="none" dirty="0">
                <a:solidFill>
                  <a:srgbClr val="FFFFFF"/>
                </a:solidFill>
                <a:latin typeface="Helvetica Neue"/>
                <a:ea typeface="Helvetica Neue"/>
                <a:cs typeface="Helvetica Neue"/>
                <a:sym typeface="Helvetica Neue"/>
              </a:rPr>
              <a:t>/6_sdm_methods.html#bioclim</a:t>
            </a:r>
            <a:endParaRPr sz="1600" b="0" i="0" u="none" strike="noStrike" cap="none" dirty="0">
              <a:solidFill>
                <a:srgbClr val="FFFFFF"/>
              </a:solidFill>
              <a:latin typeface="Helvetica Neue"/>
              <a:ea typeface="Helvetica Neue"/>
              <a:cs typeface="Helvetica Neue"/>
              <a:sym typeface="Helvetica Neue"/>
            </a:endParaRPr>
          </a:p>
        </p:txBody>
      </p:sp>
      <p:pic>
        <p:nvPicPr>
          <p:cNvPr id="239" name="Google Shape;239;p16"/>
          <p:cNvPicPr preferRelativeResize="0"/>
          <p:nvPr/>
        </p:nvPicPr>
        <p:blipFill rotWithShape="1">
          <a:blip r:embed="rId4">
            <a:alphaModFix/>
          </a:blip>
          <a:srcRect/>
          <a:stretch/>
        </p:blipFill>
        <p:spPr>
          <a:xfrm>
            <a:off x="7151919" y="4571851"/>
            <a:ext cx="5384800" cy="4862004"/>
          </a:xfrm>
          <a:prstGeom prst="rect">
            <a:avLst/>
          </a:prstGeom>
          <a:noFill/>
          <a:ln>
            <a:noFill/>
          </a:ln>
        </p:spPr>
      </p:pic>
      <p:sp>
        <p:nvSpPr>
          <p:cNvPr id="240" name="Google Shape;240;p16"/>
          <p:cNvSpPr/>
          <p:nvPr/>
        </p:nvSpPr>
        <p:spPr>
          <a:xfrm>
            <a:off x="6683839" y="9433855"/>
            <a:ext cx="6320961" cy="33855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dirty="0">
                <a:solidFill>
                  <a:srgbClr val="FFFFFF"/>
                </a:solidFill>
                <a:latin typeface="Helvetica Neue"/>
                <a:ea typeface="Helvetica Neue"/>
                <a:cs typeface="Helvetica Neue"/>
                <a:sym typeface="Helvetica Neue"/>
              </a:rPr>
              <a:t>https://</a:t>
            </a:r>
            <a:r>
              <a:rPr lang="en-US" sz="1600" b="0" i="0" u="none" strike="noStrike" cap="none" dirty="0" err="1">
                <a:solidFill>
                  <a:srgbClr val="FFFFFF"/>
                </a:solidFill>
                <a:latin typeface="Helvetica Neue"/>
                <a:ea typeface="Helvetica Neue"/>
                <a:cs typeface="Helvetica Neue"/>
                <a:sym typeface="Helvetica Neue"/>
              </a:rPr>
              <a:t>damariszurell.github.io</a:t>
            </a:r>
            <a:r>
              <a:rPr lang="en-US" sz="1600" b="0" i="0" u="none" strike="noStrike" cap="none" dirty="0">
                <a:solidFill>
                  <a:srgbClr val="FFFFFF"/>
                </a:solidFill>
                <a:latin typeface="Helvetica Neue"/>
                <a:ea typeface="Helvetica Neue"/>
                <a:cs typeface="Helvetica Neue"/>
                <a:sym typeface="Helvetica Neue"/>
              </a:rPr>
              <a:t>/EEC-MGC/b6_SDM_algorithms.html</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7" descr="Screen Shot 2021-07-26 at 5.00.50 PM.png"/>
          <p:cNvPicPr preferRelativeResize="0"/>
          <p:nvPr/>
        </p:nvPicPr>
        <p:blipFill rotWithShape="1">
          <a:blip r:embed="rId3">
            <a:alphaModFix/>
          </a:blip>
          <a:srcRect/>
          <a:stretch/>
        </p:blipFill>
        <p:spPr>
          <a:xfrm>
            <a:off x="605548" y="4089537"/>
            <a:ext cx="5398632" cy="4938521"/>
          </a:xfrm>
          <a:prstGeom prst="rect">
            <a:avLst/>
          </a:prstGeom>
          <a:noFill/>
          <a:ln>
            <a:noFill/>
          </a:ln>
        </p:spPr>
      </p:pic>
      <p:sp>
        <p:nvSpPr>
          <p:cNvPr id="246" name="Google Shape;246;p17"/>
          <p:cNvSpPr txBox="1"/>
          <p:nvPr/>
        </p:nvSpPr>
        <p:spPr>
          <a:xfrm>
            <a:off x="5028564" y="8112674"/>
            <a:ext cx="1203588" cy="277099"/>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000000"/>
              </a:buClr>
              <a:buSzPts val="1600"/>
              <a:buFont typeface="Helvetica Neue"/>
              <a:buNone/>
            </a:pPr>
            <a:r>
              <a:rPr lang="en-US" sz="1600" b="0" i="0" u="none" strike="noStrike" cap="none">
                <a:solidFill>
                  <a:srgbClr val="000000"/>
                </a:solidFill>
                <a:latin typeface="Helvetica Neue"/>
                <a:ea typeface="Helvetica Neue"/>
                <a:cs typeface="Helvetica Neue"/>
                <a:sym typeface="Helvetica Neue"/>
              </a:rPr>
              <a:t>Temperatura</a:t>
            </a:r>
            <a:endParaRPr sz="1400" b="0" i="0" u="none" strike="noStrike" cap="none">
              <a:solidFill>
                <a:srgbClr val="000000"/>
              </a:solidFill>
              <a:latin typeface="Arial"/>
              <a:ea typeface="Arial"/>
              <a:cs typeface="Arial"/>
              <a:sym typeface="Arial"/>
            </a:endParaRPr>
          </a:p>
        </p:txBody>
      </p:sp>
      <p:sp>
        <p:nvSpPr>
          <p:cNvPr id="247" name="Google Shape;247;p17"/>
          <p:cNvSpPr txBox="1">
            <a:spLocks noGrp="1"/>
          </p:cNvSpPr>
          <p:nvPr>
            <p:ph type="title"/>
          </p:nvPr>
        </p:nvSpPr>
        <p:spPr>
          <a:xfrm>
            <a:off x="643464" y="554206"/>
            <a:ext cx="11718000" cy="960900"/>
          </a:xfrm>
          <a:prstGeom prst="rect">
            <a:avLst/>
          </a:prstGeom>
          <a:noFill/>
          <a:ln>
            <a:noFill/>
          </a:ln>
        </p:spPr>
        <p:txBody>
          <a:bodyPr spcFirstLastPara="1" wrap="square" lIns="27075" tIns="27075" rIns="27075" bIns="27075" anchor="t" anchorCtr="0">
            <a:normAutofit fontScale="90000"/>
          </a:bodyPr>
          <a:lstStyle/>
          <a:p>
            <a:pPr marL="0" lvl="0" indent="0" algn="l" rtl="0">
              <a:lnSpc>
                <a:spcPct val="80000"/>
              </a:lnSpc>
              <a:spcBef>
                <a:spcPts val="0"/>
              </a:spcBef>
              <a:spcAft>
                <a:spcPts val="0"/>
              </a:spcAft>
              <a:buClr>
                <a:srgbClr val="FFFFFF"/>
              </a:buClr>
              <a:buSzPct val="61666"/>
              <a:buFont typeface="Helvetica Neue"/>
              <a:buNone/>
            </a:pPr>
            <a:r>
              <a:rPr lang="en-US"/>
              <a:t>Presence/Absence or Presence/Pseudoabsence</a:t>
            </a:r>
            <a:endParaRPr i="1"/>
          </a:p>
        </p:txBody>
      </p:sp>
      <p:pic>
        <p:nvPicPr>
          <p:cNvPr id="248" name="Google Shape;248;p17"/>
          <p:cNvPicPr preferRelativeResize="0"/>
          <p:nvPr/>
        </p:nvPicPr>
        <p:blipFill rotWithShape="1">
          <a:blip r:embed="rId4">
            <a:alphaModFix/>
          </a:blip>
          <a:srcRect/>
          <a:stretch/>
        </p:blipFill>
        <p:spPr>
          <a:xfrm>
            <a:off x="6772650" y="4150159"/>
            <a:ext cx="5398633" cy="4877899"/>
          </a:xfrm>
          <a:prstGeom prst="rect">
            <a:avLst/>
          </a:prstGeom>
          <a:noFill/>
          <a:ln>
            <a:noFill/>
          </a:ln>
        </p:spPr>
      </p:pic>
      <p:sp>
        <p:nvSpPr>
          <p:cNvPr id="249" name="Google Shape;249;p17"/>
          <p:cNvSpPr txBox="1">
            <a:spLocks noGrp="1"/>
          </p:cNvSpPr>
          <p:nvPr>
            <p:ph type="body" idx="1"/>
          </p:nvPr>
        </p:nvSpPr>
        <p:spPr>
          <a:xfrm>
            <a:off x="672003" y="2537050"/>
            <a:ext cx="7909200" cy="1380300"/>
          </a:xfrm>
          <a:prstGeom prst="rect">
            <a:avLst/>
          </a:prstGeom>
          <a:noFill/>
          <a:ln>
            <a:noFill/>
          </a:ln>
        </p:spPr>
        <p:txBody>
          <a:bodyPr spcFirstLastPara="1" wrap="square" lIns="24375" tIns="24375" rIns="24375" bIns="24375" anchor="t" anchorCtr="0">
            <a:normAutofit lnSpcReduction="10000"/>
          </a:bodyPr>
          <a:lstStyle/>
          <a:p>
            <a:pPr marL="0" lvl="0" indent="0" algn="l" rtl="0">
              <a:lnSpc>
                <a:spcPct val="100000"/>
              </a:lnSpc>
              <a:spcBef>
                <a:spcPts val="0"/>
              </a:spcBef>
              <a:spcAft>
                <a:spcPts val="0"/>
              </a:spcAft>
              <a:buSzPts val="2964"/>
              <a:buNone/>
            </a:pPr>
            <a:r>
              <a:rPr lang="en-US" sz="3200" b="0"/>
              <a:t>Generalized linear models (GLM)</a:t>
            </a:r>
            <a:endParaRPr sz="3200" b="0"/>
          </a:p>
          <a:p>
            <a:pPr marL="457200" lvl="0" indent="0" algn="l" rtl="0">
              <a:lnSpc>
                <a:spcPct val="100000"/>
              </a:lnSpc>
              <a:spcBef>
                <a:spcPts val="0"/>
              </a:spcBef>
              <a:spcAft>
                <a:spcPts val="0"/>
              </a:spcAft>
              <a:buSzPts val="2964"/>
              <a:buNone/>
            </a:pPr>
            <a:endParaRPr sz="3200" b="0"/>
          </a:p>
          <a:p>
            <a:pPr marL="457200" lvl="0" indent="-412750" algn="l" rtl="0">
              <a:lnSpc>
                <a:spcPct val="100000"/>
              </a:lnSpc>
              <a:spcBef>
                <a:spcPts val="0"/>
              </a:spcBef>
              <a:spcAft>
                <a:spcPts val="0"/>
              </a:spcAft>
              <a:buSzPts val="2900"/>
              <a:buChar char="●"/>
            </a:pPr>
            <a:r>
              <a:rPr lang="en-US" sz="2900" b="0"/>
              <a:t> Logistic regression (binomial family)</a:t>
            </a:r>
            <a:endParaRPr sz="2900" b="0"/>
          </a:p>
        </p:txBody>
      </p:sp>
      <p:sp>
        <p:nvSpPr>
          <p:cNvPr id="250" name="Google Shape;250;p17"/>
          <p:cNvSpPr/>
          <p:nvPr/>
        </p:nvSpPr>
        <p:spPr>
          <a:xfrm>
            <a:off x="6683839" y="9028058"/>
            <a:ext cx="6320961" cy="33855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dirty="0">
                <a:solidFill>
                  <a:srgbClr val="FFFFFF"/>
                </a:solidFill>
                <a:latin typeface="Helvetica Neue"/>
                <a:ea typeface="Helvetica Neue"/>
                <a:cs typeface="Helvetica Neue"/>
                <a:sym typeface="Helvetica Neue"/>
              </a:rPr>
              <a:t>https://</a:t>
            </a:r>
            <a:r>
              <a:rPr lang="en-US" sz="1600" b="0" i="0" u="none" strike="noStrike" cap="none" dirty="0" err="1">
                <a:solidFill>
                  <a:srgbClr val="FFFFFF"/>
                </a:solidFill>
                <a:latin typeface="Helvetica Neue"/>
                <a:ea typeface="Helvetica Neue"/>
                <a:cs typeface="Helvetica Neue"/>
                <a:sym typeface="Helvetica Neue"/>
              </a:rPr>
              <a:t>damariszurell.github.io</a:t>
            </a:r>
            <a:r>
              <a:rPr lang="en-US" sz="1600" b="0" i="0" u="none" strike="noStrike" cap="none" dirty="0">
                <a:solidFill>
                  <a:srgbClr val="FFFFFF"/>
                </a:solidFill>
                <a:latin typeface="Helvetica Neue"/>
                <a:ea typeface="Helvetica Neue"/>
                <a:cs typeface="Helvetica Neue"/>
                <a:sym typeface="Helvetica Neue"/>
              </a:rPr>
              <a:t>/EEC-MGC/b6_SDM_algorithms.html</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8"/>
          <p:cNvSpPr txBox="1"/>
          <p:nvPr/>
        </p:nvSpPr>
        <p:spPr>
          <a:xfrm>
            <a:off x="5028564" y="8112674"/>
            <a:ext cx="1203588" cy="277099"/>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000000"/>
              </a:buClr>
              <a:buSzPts val="1600"/>
              <a:buFont typeface="Helvetica Neue"/>
              <a:buNone/>
            </a:pPr>
            <a:r>
              <a:rPr lang="en-US" sz="1600" b="0" i="0" u="none" strike="noStrike" cap="none">
                <a:solidFill>
                  <a:srgbClr val="000000"/>
                </a:solidFill>
                <a:latin typeface="Helvetica Neue"/>
                <a:ea typeface="Helvetica Neue"/>
                <a:cs typeface="Helvetica Neue"/>
                <a:sym typeface="Helvetica Neue"/>
              </a:rPr>
              <a:t>Temperatura</a:t>
            </a:r>
            <a:endParaRPr sz="1400" b="0" i="0" u="none" strike="noStrike" cap="none">
              <a:solidFill>
                <a:srgbClr val="000000"/>
              </a:solidFill>
              <a:latin typeface="Arial"/>
              <a:ea typeface="Arial"/>
              <a:cs typeface="Arial"/>
              <a:sym typeface="Arial"/>
            </a:endParaRPr>
          </a:p>
        </p:txBody>
      </p:sp>
      <p:sp>
        <p:nvSpPr>
          <p:cNvPr id="256" name="Google Shape;256;p18"/>
          <p:cNvSpPr txBox="1">
            <a:spLocks noGrp="1"/>
          </p:cNvSpPr>
          <p:nvPr>
            <p:ph type="title"/>
          </p:nvPr>
        </p:nvSpPr>
        <p:spPr>
          <a:xfrm>
            <a:off x="605551" y="829881"/>
            <a:ext cx="11717868" cy="960889"/>
          </a:xfrm>
          <a:prstGeom prst="rect">
            <a:avLst/>
          </a:prstGeom>
          <a:noFill/>
          <a:ln>
            <a:noFill/>
          </a:ln>
        </p:spPr>
        <p:txBody>
          <a:bodyPr spcFirstLastPara="1" wrap="square" lIns="27075" tIns="27075" rIns="27075" bIns="27075" anchor="t" anchorCtr="0">
            <a:normAutofit fontScale="90000"/>
          </a:bodyPr>
          <a:lstStyle/>
          <a:p>
            <a:pPr marL="0" lvl="0" indent="0" algn="l" rtl="0">
              <a:lnSpc>
                <a:spcPct val="80000"/>
              </a:lnSpc>
              <a:spcBef>
                <a:spcPts val="0"/>
              </a:spcBef>
              <a:spcAft>
                <a:spcPts val="0"/>
              </a:spcAft>
              <a:buClr>
                <a:srgbClr val="FFFFFF"/>
              </a:buClr>
              <a:buSzPct val="61666"/>
              <a:buFont typeface="Helvetica Neue"/>
              <a:buNone/>
            </a:pPr>
            <a:r>
              <a:rPr lang="en-US"/>
              <a:t>Presence/Absence or Presence/Pseudoabsence</a:t>
            </a:r>
            <a:endParaRPr i="1"/>
          </a:p>
        </p:txBody>
      </p:sp>
      <p:sp>
        <p:nvSpPr>
          <p:cNvPr id="257" name="Google Shape;257;p18"/>
          <p:cNvSpPr txBox="1">
            <a:spLocks noGrp="1"/>
          </p:cNvSpPr>
          <p:nvPr>
            <p:ph type="body" idx="1"/>
          </p:nvPr>
        </p:nvSpPr>
        <p:spPr>
          <a:xfrm>
            <a:off x="643475" y="2652300"/>
            <a:ext cx="11597700" cy="1943700"/>
          </a:xfrm>
          <a:prstGeom prst="rect">
            <a:avLst/>
          </a:prstGeom>
          <a:noFill/>
          <a:ln>
            <a:noFill/>
          </a:ln>
        </p:spPr>
        <p:txBody>
          <a:bodyPr spcFirstLastPara="1" wrap="square" lIns="24375" tIns="24375" rIns="24375" bIns="24375" anchor="t" anchorCtr="0">
            <a:normAutofit/>
          </a:bodyPr>
          <a:lstStyle/>
          <a:p>
            <a:pPr marL="0" lvl="0" indent="0" algn="l" rtl="0">
              <a:lnSpc>
                <a:spcPct val="100000"/>
              </a:lnSpc>
              <a:spcBef>
                <a:spcPts val="0"/>
              </a:spcBef>
              <a:spcAft>
                <a:spcPts val="0"/>
              </a:spcAft>
              <a:buClr>
                <a:srgbClr val="FFFFFF"/>
              </a:buClr>
              <a:buSzPts val="3200"/>
              <a:buFont typeface="Helvetica Neue"/>
              <a:buNone/>
            </a:pPr>
            <a:r>
              <a:rPr lang="en-US" sz="3200" b="0"/>
              <a:t>Generalized additive models (GAM)</a:t>
            </a:r>
            <a:endParaRPr/>
          </a:p>
          <a:p>
            <a:pPr marL="0" lvl="0" indent="0" algn="l" rtl="0">
              <a:lnSpc>
                <a:spcPct val="100000"/>
              </a:lnSpc>
              <a:spcBef>
                <a:spcPts val="0"/>
              </a:spcBef>
              <a:spcAft>
                <a:spcPts val="0"/>
              </a:spcAft>
              <a:buClr>
                <a:srgbClr val="FFFFFF"/>
              </a:buClr>
              <a:buSzPts val="3200"/>
              <a:buFont typeface="Helvetica Neue"/>
              <a:buNone/>
            </a:pPr>
            <a:endParaRPr sz="3200" b="0"/>
          </a:p>
          <a:p>
            <a:pPr marL="457200" lvl="0" indent="-457200" algn="l" rtl="0">
              <a:lnSpc>
                <a:spcPct val="100000"/>
              </a:lnSpc>
              <a:spcBef>
                <a:spcPts val="0"/>
              </a:spcBef>
              <a:spcAft>
                <a:spcPts val="0"/>
              </a:spcAft>
              <a:buClr>
                <a:srgbClr val="FFFFFF"/>
              </a:buClr>
              <a:buSzPts val="3000"/>
              <a:buFont typeface="Helvetica Neue"/>
              <a:buChar char="-"/>
            </a:pPr>
            <a:r>
              <a:rPr lang="en-US" sz="3000" b="0"/>
              <a:t>Logistic regression (binomial family)</a:t>
            </a:r>
            <a:endParaRPr sz="2764"/>
          </a:p>
          <a:p>
            <a:pPr marL="457200" lvl="0" indent="-457200" algn="l" rtl="0">
              <a:lnSpc>
                <a:spcPct val="100000"/>
              </a:lnSpc>
              <a:spcBef>
                <a:spcPts val="0"/>
              </a:spcBef>
              <a:spcAft>
                <a:spcPts val="0"/>
              </a:spcAft>
              <a:buClr>
                <a:srgbClr val="FFFFFF"/>
              </a:buClr>
              <a:buSzPts val="3000"/>
              <a:buFont typeface="Helvetica Neue"/>
              <a:buChar char="-"/>
            </a:pPr>
            <a:r>
              <a:rPr lang="en-US" sz="3000" b="0"/>
              <a:t>Nonparametric splines</a:t>
            </a:r>
            <a:endParaRPr sz="3000" b="0"/>
          </a:p>
        </p:txBody>
      </p:sp>
      <p:sp>
        <p:nvSpPr>
          <p:cNvPr id="258" name="Google Shape;258;p18"/>
          <p:cNvSpPr/>
          <p:nvPr/>
        </p:nvSpPr>
        <p:spPr>
          <a:xfrm>
            <a:off x="7929600" y="8852975"/>
            <a:ext cx="4445400" cy="338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1600"/>
              <a:buFont typeface="Helvetica Neue"/>
              <a:buNone/>
            </a:pPr>
            <a:r>
              <a:rPr lang="en-US" sz="1400" b="0" i="0" u="none" strike="noStrike" cap="none">
                <a:solidFill>
                  <a:srgbClr val="FFFFFF"/>
                </a:solidFill>
                <a:latin typeface="Helvetica Neue"/>
                <a:ea typeface="Helvetica Neue"/>
                <a:cs typeface="Helvetica Neue"/>
                <a:sym typeface="Helvetica Neue"/>
              </a:rPr>
              <a:t>https://damariszurell.github.io/EEC-MGC/b6_SDM_algorithms.html</a:t>
            </a:r>
            <a:endParaRPr sz="1400" b="0" i="0" u="none" strike="noStrike" cap="none">
              <a:solidFill>
                <a:srgbClr val="000000"/>
              </a:solidFill>
              <a:latin typeface="Arial"/>
              <a:ea typeface="Arial"/>
              <a:cs typeface="Arial"/>
              <a:sym typeface="Arial"/>
            </a:endParaRPr>
          </a:p>
        </p:txBody>
      </p:sp>
      <p:pic>
        <p:nvPicPr>
          <p:cNvPr id="259" name="Google Shape;259;p18"/>
          <p:cNvPicPr preferRelativeResize="0"/>
          <p:nvPr/>
        </p:nvPicPr>
        <p:blipFill rotWithShape="1">
          <a:blip r:embed="rId3">
            <a:alphaModFix/>
          </a:blip>
          <a:srcRect/>
          <a:stretch/>
        </p:blipFill>
        <p:spPr>
          <a:xfrm>
            <a:off x="7929609" y="4876800"/>
            <a:ext cx="4393810" cy="3976180"/>
          </a:xfrm>
          <a:prstGeom prst="rect">
            <a:avLst/>
          </a:prstGeom>
          <a:noFill/>
          <a:ln>
            <a:noFill/>
          </a:ln>
        </p:spPr>
      </p:pic>
      <p:pic>
        <p:nvPicPr>
          <p:cNvPr id="260" name="Google Shape;260;p18"/>
          <p:cNvPicPr preferRelativeResize="0"/>
          <p:nvPr/>
        </p:nvPicPr>
        <p:blipFill rotWithShape="1">
          <a:blip r:embed="rId4">
            <a:alphaModFix/>
          </a:blip>
          <a:srcRect/>
          <a:stretch/>
        </p:blipFill>
        <p:spPr>
          <a:xfrm>
            <a:off x="438097" y="5157775"/>
            <a:ext cx="6527736" cy="3474798"/>
          </a:xfrm>
          <a:prstGeom prst="rect">
            <a:avLst/>
          </a:prstGeom>
          <a:noFill/>
          <a:ln>
            <a:noFill/>
          </a:ln>
        </p:spPr>
      </p:pic>
      <p:sp>
        <p:nvSpPr>
          <p:cNvPr id="261" name="Google Shape;261;p18"/>
          <p:cNvSpPr txBox="1"/>
          <p:nvPr/>
        </p:nvSpPr>
        <p:spPr>
          <a:xfrm>
            <a:off x="438100" y="8653425"/>
            <a:ext cx="6527700" cy="4857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400" b="0" i="0" u="none" strike="noStrike" cap="none">
                <a:solidFill>
                  <a:srgbClr val="FFFFFF"/>
                </a:solidFill>
                <a:latin typeface="Helvetica Neue"/>
                <a:ea typeface="Helvetica Neue"/>
                <a:cs typeface="Helvetica Neue"/>
                <a:sym typeface="Helvetica Neue"/>
              </a:rPr>
              <a:t>https://www.r-bloggers.com/2018/05/classification-from-scratch-logistic-with-splines-2-8/</a:t>
            </a:r>
            <a:endParaRPr sz="14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9"/>
          <p:cNvSpPr txBox="1"/>
          <p:nvPr/>
        </p:nvSpPr>
        <p:spPr>
          <a:xfrm>
            <a:off x="5028564" y="8112674"/>
            <a:ext cx="1203588" cy="277099"/>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000000"/>
              </a:buClr>
              <a:buSzPts val="1600"/>
              <a:buFont typeface="Helvetica Neue"/>
              <a:buNone/>
            </a:pPr>
            <a:r>
              <a:rPr lang="en-US" sz="1600" b="0" i="0" u="none" strike="noStrike" cap="none">
                <a:solidFill>
                  <a:srgbClr val="000000"/>
                </a:solidFill>
                <a:latin typeface="Helvetica Neue"/>
                <a:ea typeface="Helvetica Neue"/>
                <a:cs typeface="Helvetica Neue"/>
                <a:sym typeface="Helvetica Neue"/>
              </a:rPr>
              <a:t>Temperatura</a:t>
            </a:r>
            <a:endParaRPr sz="1400" b="0" i="0" u="none" strike="noStrike" cap="none">
              <a:solidFill>
                <a:srgbClr val="000000"/>
              </a:solidFill>
              <a:latin typeface="Arial"/>
              <a:ea typeface="Arial"/>
              <a:cs typeface="Arial"/>
              <a:sym typeface="Arial"/>
            </a:endParaRPr>
          </a:p>
        </p:txBody>
      </p:sp>
      <p:sp>
        <p:nvSpPr>
          <p:cNvPr id="267" name="Google Shape;267;p19"/>
          <p:cNvSpPr txBox="1">
            <a:spLocks noGrp="1"/>
          </p:cNvSpPr>
          <p:nvPr>
            <p:ph type="title"/>
          </p:nvPr>
        </p:nvSpPr>
        <p:spPr>
          <a:xfrm>
            <a:off x="605551" y="829881"/>
            <a:ext cx="11717868" cy="960889"/>
          </a:xfrm>
          <a:prstGeom prst="rect">
            <a:avLst/>
          </a:prstGeom>
          <a:noFill/>
          <a:ln>
            <a:noFill/>
          </a:ln>
        </p:spPr>
        <p:txBody>
          <a:bodyPr spcFirstLastPara="1" wrap="square" lIns="27075" tIns="27075" rIns="27075" bIns="27075" anchor="t" anchorCtr="0">
            <a:normAutofit fontScale="90000"/>
          </a:bodyPr>
          <a:lstStyle/>
          <a:p>
            <a:pPr marL="0" lvl="0" indent="0" algn="l" rtl="0">
              <a:lnSpc>
                <a:spcPct val="80000"/>
              </a:lnSpc>
              <a:spcBef>
                <a:spcPts val="0"/>
              </a:spcBef>
              <a:spcAft>
                <a:spcPts val="0"/>
              </a:spcAft>
              <a:buClr>
                <a:srgbClr val="FFFFFF"/>
              </a:buClr>
              <a:buSzPct val="61666"/>
              <a:buFont typeface="Helvetica Neue"/>
              <a:buNone/>
            </a:pPr>
            <a:r>
              <a:rPr lang="en-US"/>
              <a:t>Presence/Absence or Presence/Pseudoabsence</a:t>
            </a:r>
            <a:endParaRPr i="1"/>
          </a:p>
        </p:txBody>
      </p:sp>
      <p:sp>
        <p:nvSpPr>
          <p:cNvPr id="268" name="Google Shape;268;p19"/>
          <p:cNvSpPr txBox="1">
            <a:spLocks noGrp="1"/>
          </p:cNvSpPr>
          <p:nvPr>
            <p:ph type="body" idx="1"/>
          </p:nvPr>
        </p:nvSpPr>
        <p:spPr>
          <a:xfrm>
            <a:off x="160125" y="2461725"/>
            <a:ext cx="12660900" cy="2425800"/>
          </a:xfrm>
          <a:prstGeom prst="rect">
            <a:avLst/>
          </a:prstGeom>
          <a:noFill/>
          <a:ln>
            <a:noFill/>
          </a:ln>
        </p:spPr>
        <p:txBody>
          <a:bodyPr spcFirstLastPara="1" wrap="square" lIns="24375" tIns="24375" rIns="24375" bIns="24375" anchor="t" anchorCtr="0">
            <a:normAutofit/>
          </a:bodyPr>
          <a:lstStyle/>
          <a:p>
            <a:pPr marL="0" lvl="0" indent="0" algn="l" rtl="0">
              <a:lnSpc>
                <a:spcPct val="100000"/>
              </a:lnSpc>
              <a:spcBef>
                <a:spcPts val="0"/>
              </a:spcBef>
              <a:spcAft>
                <a:spcPts val="0"/>
              </a:spcAft>
              <a:buClr>
                <a:srgbClr val="FFFFFF"/>
              </a:buClr>
              <a:buSzPts val="3200"/>
              <a:buFont typeface="Helvetica Neue"/>
              <a:buNone/>
            </a:pPr>
            <a:r>
              <a:rPr lang="en-US" sz="3200" b="0"/>
              <a:t>Random Forests</a:t>
            </a:r>
            <a:endParaRPr/>
          </a:p>
          <a:p>
            <a:pPr marL="0" lvl="0" indent="0" algn="l" rtl="0">
              <a:lnSpc>
                <a:spcPct val="100000"/>
              </a:lnSpc>
              <a:spcBef>
                <a:spcPts val="0"/>
              </a:spcBef>
              <a:spcAft>
                <a:spcPts val="0"/>
              </a:spcAft>
              <a:buClr>
                <a:srgbClr val="FFFFFF"/>
              </a:buClr>
              <a:buSzPts val="3200"/>
              <a:buFont typeface="Helvetica Neue"/>
              <a:buNone/>
            </a:pPr>
            <a:endParaRPr sz="2800" b="0"/>
          </a:p>
          <a:p>
            <a:pPr marL="457200" lvl="0" indent="-447040" algn="l" rtl="0">
              <a:lnSpc>
                <a:spcPct val="100000"/>
              </a:lnSpc>
              <a:spcBef>
                <a:spcPts val="0"/>
              </a:spcBef>
              <a:spcAft>
                <a:spcPts val="0"/>
              </a:spcAft>
              <a:buClr>
                <a:srgbClr val="FFFFFF"/>
              </a:buClr>
              <a:buSzPts val="2800"/>
              <a:buFont typeface="Helvetica Neue"/>
              <a:buChar char="-"/>
            </a:pPr>
            <a:r>
              <a:rPr lang="en-US" sz="2800" b="0"/>
              <a:t>Classification tree-based approach</a:t>
            </a:r>
            <a:endParaRPr sz="2564"/>
          </a:p>
          <a:p>
            <a:pPr marL="457200" lvl="0" indent="-447040" algn="l" rtl="0">
              <a:lnSpc>
                <a:spcPct val="100000"/>
              </a:lnSpc>
              <a:spcBef>
                <a:spcPts val="0"/>
              </a:spcBef>
              <a:spcAft>
                <a:spcPts val="0"/>
              </a:spcAft>
              <a:buClr>
                <a:srgbClr val="FFFFFF"/>
              </a:buClr>
              <a:buSzPts val="2800"/>
              <a:buFont typeface="Helvetica Neue"/>
              <a:buChar char="-"/>
            </a:pPr>
            <a:r>
              <a:rPr lang="en-US" sz="2800" b="0"/>
              <a:t>Consensus prediction of many uncorrelated trees</a:t>
            </a:r>
            <a:endParaRPr sz="2564"/>
          </a:p>
          <a:p>
            <a:pPr marL="457200" lvl="0" indent="-447040" algn="l" rtl="0">
              <a:lnSpc>
                <a:spcPct val="100000"/>
              </a:lnSpc>
              <a:spcBef>
                <a:spcPts val="0"/>
              </a:spcBef>
              <a:spcAft>
                <a:spcPts val="0"/>
              </a:spcAft>
              <a:buClr>
                <a:srgbClr val="FFFFFF"/>
              </a:buClr>
              <a:buSzPts val="2800"/>
              <a:buFont typeface="Helvetica Neue"/>
              <a:buChar char="-"/>
            </a:pPr>
            <a:r>
              <a:rPr lang="en-US" sz="2800" b="0"/>
              <a:t>Parameters: mtry: tree complexity</a:t>
            </a:r>
            <a:endParaRPr sz="2800" b="0"/>
          </a:p>
        </p:txBody>
      </p:sp>
      <p:sp>
        <p:nvSpPr>
          <p:cNvPr id="269" name="Google Shape;269;p19"/>
          <p:cNvSpPr/>
          <p:nvPr/>
        </p:nvSpPr>
        <p:spPr>
          <a:xfrm>
            <a:off x="7977808" y="9168825"/>
            <a:ext cx="4748696" cy="5847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a:solidFill>
                  <a:srgbClr val="FFFFFF"/>
                </a:solidFill>
                <a:latin typeface="Helvetica Neue"/>
                <a:ea typeface="Helvetica Neue"/>
                <a:cs typeface="Helvetica Neue"/>
                <a:sym typeface="Helvetica Neue"/>
              </a:rPr>
              <a:t>https://damariszurell.github.io/EEC-MGC/b6_SDM_algorithms.html</a:t>
            </a:r>
            <a:endParaRPr sz="1400" b="0" i="0" u="none" strike="noStrike" cap="none">
              <a:solidFill>
                <a:srgbClr val="000000"/>
              </a:solidFill>
              <a:latin typeface="Arial"/>
              <a:ea typeface="Arial"/>
              <a:cs typeface="Arial"/>
              <a:sym typeface="Arial"/>
            </a:endParaRPr>
          </a:p>
        </p:txBody>
      </p:sp>
      <p:sp>
        <p:nvSpPr>
          <p:cNvPr id="270" name="Google Shape;270;p19"/>
          <p:cNvSpPr txBox="1"/>
          <p:nvPr/>
        </p:nvSpPr>
        <p:spPr>
          <a:xfrm>
            <a:off x="60113" y="9206442"/>
            <a:ext cx="6315148" cy="547158"/>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dirty="0">
                <a:solidFill>
                  <a:srgbClr val="FFFFFF"/>
                </a:solidFill>
                <a:latin typeface="Helvetica Neue"/>
                <a:ea typeface="Helvetica Neue"/>
                <a:cs typeface="Helvetica Neue"/>
                <a:sym typeface="Helvetica Neue"/>
              </a:rPr>
              <a:t>https://</a:t>
            </a:r>
            <a:r>
              <a:rPr lang="en-US" sz="1600" b="0" i="0" u="none" strike="noStrike" cap="none" dirty="0" err="1">
                <a:solidFill>
                  <a:srgbClr val="FFFFFF"/>
                </a:solidFill>
                <a:latin typeface="Helvetica Neue"/>
                <a:ea typeface="Helvetica Neue"/>
                <a:cs typeface="Helvetica Neue"/>
                <a:sym typeface="Helvetica Neue"/>
              </a:rPr>
              <a:t>support.bccvl.org.au</a:t>
            </a:r>
            <a:r>
              <a:rPr lang="en-US" sz="1600" b="0" i="0" u="none" strike="noStrike" cap="none" dirty="0">
                <a:solidFill>
                  <a:srgbClr val="FFFFFF"/>
                </a:solidFill>
                <a:latin typeface="Helvetica Neue"/>
                <a:ea typeface="Helvetica Neue"/>
                <a:cs typeface="Helvetica Neue"/>
                <a:sym typeface="Helvetica Neue"/>
              </a:rPr>
              <a:t>/support/solutions/articles/6000083217-random-forest</a:t>
            </a:r>
            <a:endParaRPr sz="1600" b="0" i="0" u="none" strike="noStrike" cap="none" dirty="0">
              <a:solidFill>
                <a:srgbClr val="FFFFFF"/>
              </a:solidFill>
              <a:latin typeface="Helvetica Neue"/>
              <a:ea typeface="Helvetica Neue"/>
              <a:cs typeface="Helvetica Neue"/>
              <a:sym typeface="Helvetica Neue"/>
            </a:endParaRPr>
          </a:p>
        </p:txBody>
      </p:sp>
      <p:pic>
        <p:nvPicPr>
          <p:cNvPr id="271" name="Google Shape;271;p19"/>
          <p:cNvPicPr preferRelativeResize="0"/>
          <p:nvPr/>
        </p:nvPicPr>
        <p:blipFill rotWithShape="1">
          <a:blip r:embed="rId3">
            <a:alphaModFix/>
          </a:blip>
          <a:srcRect/>
          <a:stretch/>
        </p:blipFill>
        <p:spPr>
          <a:xfrm>
            <a:off x="7868202" y="4743040"/>
            <a:ext cx="4748697" cy="4425785"/>
          </a:xfrm>
          <a:prstGeom prst="rect">
            <a:avLst/>
          </a:prstGeom>
          <a:noFill/>
          <a:ln>
            <a:noFill/>
          </a:ln>
        </p:spPr>
      </p:pic>
      <p:pic>
        <p:nvPicPr>
          <p:cNvPr id="272" name="Google Shape;272;p19"/>
          <p:cNvPicPr preferRelativeResize="0"/>
          <p:nvPr/>
        </p:nvPicPr>
        <p:blipFill rotWithShape="1">
          <a:blip r:embed="rId4">
            <a:alphaModFix/>
          </a:blip>
          <a:srcRect/>
          <a:stretch/>
        </p:blipFill>
        <p:spPr>
          <a:xfrm>
            <a:off x="60113" y="5257450"/>
            <a:ext cx="7032024" cy="366626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0"/>
          <p:cNvSpPr txBox="1"/>
          <p:nvPr/>
        </p:nvSpPr>
        <p:spPr>
          <a:xfrm>
            <a:off x="5028564" y="8112674"/>
            <a:ext cx="1203588" cy="277099"/>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000000"/>
              </a:buClr>
              <a:buSzPts val="1600"/>
              <a:buFont typeface="Helvetica Neue"/>
              <a:buNone/>
            </a:pPr>
            <a:r>
              <a:rPr lang="en-US" sz="1600" b="0" i="0" u="none" strike="noStrike" cap="none">
                <a:solidFill>
                  <a:srgbClr val="000000"/>
                </a:solidFill>
                <a:latin typeface="Helvetica Neue"/>
                <a:ea typeface="Helvetica Neue"/>
                <a:cs typeface="Helvetica Neue"/>
                <a:sym typeface="Helvetica Neue"/>
              </a:rPr>
              <a:t>Temperatura</a:t>
            </a:r>
            <a:endParaRPr sz="1400" b="0" i="0" u="none" strike="noStrike" cap="none">
              <a:solidFill>
                <a:srgbClr val="000000"/>
              </a:solidFill>
              <a:latin typeface="Arial"/>
              <a:ea typeface="Arial"/>
              <a:cs typeface="Arial"/>
              <a:sym typeface="Arial"/>
            </a:endParaRPr>
          </a:p>
        </p:txBody>
      </p:sp>
      <p:sp>
        <p:nvSpPr>
          <p:cNvPr id="278" name="Google Shape;278;p20"/>
          <p:cNvSpPr txBox="1">
            <a:spLocks noGrp="1"/>
          </p:cNvSpPr>
          <p:nvPr>
            <p:ph type="title"/>
          </p:nvPr>
        </p:nvSpPr>
        <p:spPr>
          <a:xfrm>
            <a:off x="643466" y="402938"/>
            <a:ext cx="11717868" cy="960889"/>
          </a:xfrm>
          <a:prstGeom prst="rect">
            <a:avLst/>
          </a:prstGeom>
          <a:noFill/>
          <a:ln>
            <a:noFill/>
          </a:ln>
        </p:spPr>
        <p:txBody>
          <a:bodyPr spcFirstLastPara="1" wrap="square" lIns="27075" tIns="27075" rIns="27075" bIns="27075" anchor="t" anchorCtr="0">
            <a:normAutofit fontScale="90000"/>
          </a:bodyPr>
          <a:lstStyle/>
          <a:p>
            <a:pPr marL="0" lvl="0" indent="0" algn="l" rtl="0">
              <a:lnSpc>
                <a:spcPct val="80000"/>
              </a:lnSpc>
              <a:spcBef>
                <a:spcPts val="0"/>
              </a:spcBef>
              <a:spcAft>
                <a:spcPts val="0"/>
              </a:spcAft>
              <a:buClr>
                <a:srgbClr val="FFFFFF"/>
              </a:buClr>
              <a:buSzPct val="61666"/>
              <a:buFont typeface="Helvetica Neue"/>
              <a:buNone/>
            </a:pPr>
            <a:r>
              <a:rPr lang="en-US"/>
              <a:t>Presence/Absence or Presence/Pseudoabsence</a:t>
            </a:r>
            <a:endParaRPr i="1"/>
          </a:p>
        </p:txBody>
      </p:sp>
      <p:sp>
        <p:nvSpPr>
          <p:cNvPr id="279" name="Google Shape;279;p20"/>
          <p:cNvSpPr txBox="1">
            <a:spLocks noGrp="1"/>
          </p:cNvSpPr>
          <p:nvPr>
            <p:ph type="body" idx="1"/>
          </p:nvPr>
        </p:nvSpPr>
        <p:spPr>
          <a:xfrm>
            <a:off x="368700" y="2385625"/>
            <a:ext cx="11526900" cy="2519100"/>
          </a:xfrm>
          <a:prstGeom prst="rect">
            <a:avLst/>
          </a:prstGeom>
          <a:noFill/>
          <a:ln>
            <a:noFill/>
          </a:ln>
        </p:spPr>
        <p:txBody>
          <a:bodyPr spcFirstLastPara="1" wrap="square" lIns="24375" tIns="24375" rIns="24375" bIns="24375" anchor="t" anchorCtr="0">
            <a:normAutofit/>
          </a:bodyPr>
          <a:lstStyle/>
          <a:p>
            <a:pPr marL="0" lvl="0" indent="0" algn="l" rtl="0">
              <a:lnSpc>
                <a:spcPct val="100000"/>
              </a:lnSpc>
              <a:spcBef>
                <a:spcPts val="0"/>
              </a:spcBef>
              <a:spcAft>
                <a:spcPts val="0"/>
              </a:spcAft>
              <a:buClr>
                <a:srgbClr val="FFFFFF"/>
              </a:buClr>
              <a:buSzPts val="3200"/>
              <a:buFont typeface="Helvetica Neue"/>
              <a:buNone/>
            </a:pPr>
            <a:r>
              <a:rPr lang="en-US" sz="3200" b="0"/>
              <a:t>Boosted Regression Trees</a:t>
            </a:r>
            <a:endParaRPr/>
          </a:p>
          <a:p>
            <a:pPr marL="0" lvl="0" indent="0" algn="l" rtl="0">
              <a:lnSpc>
                <a:spcPct val="100000"/>
              </a:lnSpc>
              <a:spcBef>
                <a:spcPts val="0"/>
              </a:spcBef>
              <a:spcAft>
                <a:spcPts val="0"/>
              </a:spcAft>
              <a:buClr>
                <a:srgbClr val="FFFFFF"/>
              </a:buClr>
              <a:buSzPts val="3200"/>
              <a:buFont typeface="Helvetica Neue"/>
              <a:buNone/>
            </a:pPr>
            <a:endParaRPr sz="3200" b="0"/>
          </a:p>
          <a:p>
            <a:pPr marL="457200" lvl="0" indent="-447040" algn="l" rtl="0">
              <a:lnSpc>
                <a:spcPct val="100000"/>
              </a:lnSpc>
              <a:spcBef>
                <a:spcPts val="0"/>
              </a:spcBef>
              <a:spcAft>
                <a:spcPts val="0"/>
              </a:spcAft>
              <a:buClr>
                <a:srgbClr val="FFFFFF"/>
              </a:buClr>
              <a:buSzPts val="2800"/>
              <a:buFont typeface="Helvetica Neue"/>
              <a:buChar char="-"/>
            </a:pPr>
            <a:r>
              <a:rPr lang="en-US" sz="2800" b="0"/>
              <a:t>Classification tree-based approach</a:t>
            </a:r>
            <a:endParaRPr sz="2564"/>
          </a:p>
          <a:p>
            <a:pPr marL="457200" lvl="0" indent="-447040" algn="l" rtl="0">
              <a:lnSpc>
                <a:spcPct val="100000"/>
              </a:lnSpc>
              <a:spcBef>
                <a:spcPts val="0"/>
              </a:spcBef>
              <a:spcAft>
                <a:spcPts val="0"/>
              </a:spcAft>
              <a:buClr>
                <a:srgbClr val="FFFFFF"/>
              </a:buClr>
              <a:buSzPts val="2800"/>
              <a:buFont typeface="Helvetica Neue"/>
              <a:buChar char="-"/>
            </a:pPr>
            <a:r>
              <a:rPr lang="en-US" sz="2800" b="0"/>
              <a:t>Linear combination of all trees (like regression)</a:t>
            </a:r>
            <a:endParaRPr sz="2564"/>
          </a:p>
          <a:p>
            <a:pPr marL="457200" lvl="0" indent="-447040" algn="l" rtl="0">
              <a:lnSpc>
                <a:spcPct val="100000"/>
              </a:lnSpc>
              <a:spcBef>
                <a:spcPts val="0"/>
              </a:spcBef>
              <a:spcAft>
                <a:spcPts val="0"/>
              </a:spcAft>
              <a:buClr>
                <a:srgbClr val="FFFFFF"/>
              </a:buClr>
              <a:buSzPts val="2800"/>
              <a:buFont typeface="Helvetica Neue"/>
              <a:buChar char="-"/>
            </a:pPr>
            <a:r>
              <a:rPr lang="en-US" sz="2800" b="0"/>
              <a:t>Parameters: Learning rate, tree complexity</a:t>
            </a:r>
            <a:endParaRPr sz="2800" b="0"/>
          </a:p>
        </p:txBody>
      </p:sp>
      <p:sp>
        <p:nvSpPr>
          <p:cNvPr id="280" name="Google Shape;280;p20"/>
          <p:cNvSpPr/>
          <p:nvPr/>
        </p:nvSpPr>
        <p:spPr>
          <a:xfrm>
            <a:off x="8126230" y="9008932"/>
            <a:ext cx="4659873" cy="5847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a:solidFill>
                  <a:srgbClr val="FFFFFF"/>
                </a:solidFill>
                <a:latin typeface="Helvetica Neue"/>
                <a:ea typeface="Helvetica Neue"/>
                <a:cs typeface="Helvetica Neue"/>
                <a:sym typeface="Helvetica Neue"/>
              </a:rPr>
              <a:t>https://damariszurell.github.io/EEC-MGC/b6_SDM_algorithms.html</a:t>
            </a:r>
            <a:endParaRPr sz="1400" b="0" i="0" u="none" strike="noStrike" cap="none">
              <a:solidFill>
                <a:srgbClr val="000000"/>
              </a:solidFill>
              <a:latin typeface="Arial"/>
              <a:ea typeface="Arial"/>
              <a:cs typeface="Arial"/>
              <a:sym typeface="Arial"/>
            </a:endParaRPr>
          </a:p>
        </p:txBody>
      </p:sp>
      <p:sp>
        <p:nvSpPr>
          <p:cNvPr id="281" name="Google Shape;281;p20"/>
          <p:cNvSpPr txBox="1"/>
          <p:nvPr/>
        </p:nvSpPr>
        <p:spPr>
          <a:xfrm>
            <a:off x="368691" y="9068109"/>
            <a:ext cx="4659873" cy="547158"/>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a:solidFill>
                  <a:srgbClr val="FFFFFF"/>
                </a:solidFill>
                <a:latin typeface="Helvetica Neue"/>
                <a:ea typeface="Helvetica Neue"/>
                <a:cs typeface="Helvetica Neue"/>
                <a:sym typeface="Helvetica Neue"/>
              </a:rPr>
              <a:t>https://support.bccvl.org.au/support/solutions/articles/6000083217-random-forest</a:t>
            </a:r>
            <a:endParaRPr sz="1600" b="0" i="0" u="none" strike="noStrike" cap="none">
              <a:solidFill>
                <a:srgbClr val="FFFFFF"/>
              </a:solidFill>
              <a:latin typeface="Helvetica Neue"/>
              <a:ea typeface="Helvetica Neue"/>
              <a:cs typeface="Helvetica Neue"/>
              <a:sym typeface="Helvetica Neue"/>
            </a:endParaRPr>
          </a:p>
        </p:txBody>
      </p:sp>
      <p:pic>
        <p:nvPicPr>
          <p:cNvPr id="282" name="Google Shape;282;p20"/>
          <p:cNvPicPr preferRelativeResize="0"/>
          <p:nvPr/>
        </p:nvPicPr>
        <p:blipFill rotWithShape="1">
          <a:blip r:embed="rId3">
            <a:alphaModFix/>
          </a:blip>
          <a:srcRect/>
          <a:stretch/>
        </p:blipFill>
        <p:spPr>
          <a:xfrm>
            <a:off x="218697" y="5469017"/>
            <a:ext cx="6880774" cy="3454702"/>
          </a:xfrm>
          <a:prstGeom prst="rect">
            <a:avLst/>
          </a:prstGeom>
          <a:noFill/>
          <a:ln>
            <a:noFill/>
          </a:ln>
        </p:spPr>
      </p:pic>
      <p:pic>
        <p:nvPicPr>
          <p:cNvPr id="283" name="Google Shape;283;p20"/>
          <p:cNvPicPr preferRelativeResize="0"/>
          <p:nvPr/>
        </p:nvPicPr>
        <p:blipFill rotWithShape="1">
          <a:blip r:embed="rId4">
            <a:alphaModFix/>
          </a:blip>
          <a:srcRect/>
          <a:stretch/>
        </p:blipFill>
        <p:spPr>
          <a:xfrm>
            <a:off x="8375375" y="5032206"/>
            <a:ext cx="4410728" cy="403590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2"/>
          <p:cNvSpPr txBox="1">
            <a:spLocks noGrp="1"/>
          </p:cNvSpPr>
          <p:nvPr>
            <p:ph type="body" idx="2"/>
          </p:nvPr>
        </p:nvSpPr>
        <p:spPr>
          <a:xfrm>
            <a:off x="643485" y="2675200"/>
            <a:ext cx="12074400" cy="6601200"/>
          </a:xfrm>
          <a:prstGeom prst="rect">
            <a:avLst/>
          </a:prstGeom>
          <a:noFill/>
          <a:ln>
            <a:noFill/>
          </a:ln>
        </p:spPr>
        <p:txBody>
          <a:bodyPr spcFirstLastPara="1" wrap="square" lIns="27075" tIns="27075" rIns="27075" bIns="27075" anchor="t" anchorCtr="0">
            <a:normAutofit/>
          </a:bodyPr>
          <a:lstStyle/>
          <a:p>
            <a:pPr marL="431800" lvl="0" indent="-431800" algn="l" rtl="0">
              <a:lnSpc>
                <a:spcPct val="90000"/>
              </a:lnSpc>
              <a:spcBef>
                <a:spcPts val="0"/>
              </a:spcBef>
              <a:spcAft>
                <a:spcPts val="0"/>
              </a:spcAft>
              <a:buClr>
                <a:srgbClr val="FFFFFF"/>
              </a:buClr>
              <a:buSzPts val="4182"/>
              <a:buFont typeface="Helvetica Neue"/>
              <a:buChar char="•"/>
            </a:pPr>
            <a:r>
              <a:rPr lang="en-US"/>
              <a:t>Pseudoabsences are sampled to emulate absences, so do not include presence points and not proximal to them</a:t>
            </a:r>
            <a:endParaRPr/>
          </a:p>
          <a:p>
            <a:pPr marL="431800" lvl="0" indent="-431800" algn="l" rtl="0">
              <a:lnSpc>
                <a:spcPct val="90000"/>
              </a:lnSpc>
              <a:spcBef>
                <a:spcPts val="3200"/>
              </a:spcBef>
              <a:spcAft>
                <a:spcPts val="0"/>
              </a:spcAft>
              <a:buClr>
                <a:srgbClr val="FFFFFF"/>
              </a:buClr>
              <a:buSzPts val="4182"/>
              <a:buFont typeface="Helvetica Neue"/>
              <a:buChar char="•"/>
            </a:pPr>
            <a:r>
              <a:rPr lang="en-US"/>
              <a:t>If species has poor sampling, hard to be confident about pseudoabsences</a:t>
            </a:r>
            <a:endParaRPr/>
          </a:p>
        </p:txBody>
      </p:sp>
      <p:sp>
        <p:nvSpPr>
          <p:cNvPr id="289" name="Google Shape;289;p22"/>
          <p:cNvSpPr txBox="1"/>
          <p:nvPr/>
        </p:nvSpPr>
        <p:spPr>
          <a:xfrm>
            <a:off x="605551" y="829881"/>
            <a:ext cx="11717868" cy="960889"/>
          </a:xfrm>
          <a:prstGeom prst="rect">
            <a:avLst/>
          </a:prstGeom>
          <a:noFill/>
          <a:ln>
            <a:noFill/>
          </a:ln>
        </p:spPr>
        <p:txBody>
          <a:bodyPr spcFirstLastPara="1" wrap="square" lIns="27075" tIns="27075" rIns="27075" bIns="27075" anchor="t" anchorCtr="0">
            <a:normAutofit/>
          </a:bodyPr>
          <a:lstStyle/>
          <a:p>
            <a:pPr marL="0" marR="0" lvl="0" indent="0" algn="l" rtl="0">
              <a:lnSpc>
                <a:spcPct val="80000"/>
              </a:lnSpc>
              <a:spcBef>
                <a:spcPts val="0"/>
              </a:spcBef>
              <a:spcAft>
                <a:spcPts val="0"/>
              </a:spcAft>
              <a:buClr>
                <a:srgbClr val="FFFFFF"/>
              </a:buClr>
              <a:buSzPts val="3720"/>
              <a:buFont typeface="Helvetica Neue"/>
              <a:buNone/>
            </a:pPr>
            <a:r>
              <a:rPr lang="en-US" sz="3720" b="1" i="0" u="none" strike="noStrike" cap="none">
                <a:solidFill>
                  <a:srgbClr val="FFFFFF"/>
                </a:solidFill>
                <a:latin typeface="Helvetica Neue"/>
                <a:ea typeface="Helvetica Neue"/>
                <a:cs typeface="Helvetica Neue"/>
                <a:sym typeface="Helvetica Neue"/>
              </a:rPr>
              <a:t>Presence / Pseudoabsence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1"/>
          <p:cNvSpPr txBox="1"/>
          <p:nvPr/>
        </p:nvSpPr>
        <p:spPr>
          <a:xfrm>
            <a:off x="5028564" y="8112674"/>
            <a:ext cx="1203588" cy="277099"/>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000000"/>
              </a:buClr>
              <a:buSzPts val="1600"/>
              <a:buFont typeface="Helvetica Neue"/>
              <a:buNone/>
            </a:pPr>
            <a:r>
              <a:rPr lang="en-US" sz="1600" b="0" i="0" u="none" strike="noStrike" cap="none">
                <a:solidFill>
                  <a:srgbClr val="000000"/>
                </a:solidFill>
                <a:latin typeface="Helvetica Neue"/>
                <a:ea typeface="Helvetica Neue"/>
                <a:cs typeface="Helvetica Neue"/>
                <a:sym typeface="Helvetica Neue"/>
              </a:rPr>
              <a:t>Temperatura</a:t>
            </a:r>
            <a:endParaRPr sz="1400" b="0" i="0" u="none" strike="noStrike" cap="none">
              <a:solidFill>
                <a:srgbClr val="000000"/>
              </a:solidFill>
              <a:latin typeface="Arial"/>
              <a:ea typeface="Arial"/>
              <a:cs typeface="Arial"/>
              <a:sym typeface="Arial"/>
            </a:endParaRPr>
          </a:p>
        </p:txBody>
      </p:sp>
      <p:sp>
        <p:nvSpPr>
          <p:cNvPr id="295" name="Google Shape;295;p21"/>
          <p:cNvSpPr txBox="1">
            <a:spLocks noGrp="1"/>
          </p:cNvSpPr>
          <p:nvPr>
            <p:ph type="title"/>
          </p:nvPr>
        </p:nvSpPr>
        <p:spPr>
          <a:xfrm>
            <a:off x="526038" y="365390"/>
            <a:ext cx="11717868" cy="960889"/>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3700"/>
              <a:buFont typeface="Helvetica Neue"/>
              <a:buNone/>
            </a:pPr>
            <a:r>
              <a:rPr lang="en-US"/>
              <a:t>Presence / Background</a:t>
            </a:r>
            <a:endParaRPr i="1"/>
          </a:p>
        </p:txBody>
      </p:sp>
      <p:sp>
        <p:nvSpPr>
          <p:cNvPr id="296" name="Google Shape;296;p21"/>
          <p:cNvSpPr txBox="1">
            <a:spLocks noGrp="1"/>
          </p:cNvSpPr>
          <p:nvPr>
            <p:ph type="body" idx="1"/>
          </p:nvPr>
        </p:nvSpPr>
        <p:spPr>
          <a:xfrm>
            <a:off x="643486" y="2070175"/>
            <a:ext cx="11718000" cy="2841300"/>
          </a:xfrm>
          <a:prstGeom prst="rect">
            <a:avLst/>
          </a:prstGeom>
          <a:noFill/>
          <a:ln>
            <a:noFill/>
          </a:ln>
        </p:spPr>
        <p:txBody>
          <a:bodyPr spcFirstLastPara="1" wrap="square" lIns="24375" tIns="24375" rIns="24375" bIns="24375" anchor="t" anchorCtr="0">
            <a:normAutofit/>
          </a:bodyPr>
          <a:lstStyle/>
          <a:p>
            <a:pPr marL="0" lvl="0" indent="0" algn="l" rtl="0">
              <a:lnSpc>
                <a:spcPct val="100000"/>
              </a:lnSpc>
              <a:spcBef>
                <a:spcPts val="0"/>
              </a:spcBef>
              <a:spcAft>
                <a:spcPts val="0"/>
              </a:spcAft>
              <a:buClr>
                <a:srgbClr val="FFFFFF"/>
              </a:buClr>
              <a:buSzPts val="3200"/>
              <a:buFont typeface="Helvetica Neue"/>
              <a:buNone/>
            </a:pPr>
            <a:r>
              <a:rPr lang="en-US" sz="3200" b="0"/>
              <a:t>Maxent</a:t>
            </a:r>
            <a:endParaRPr/>
          </a:p>
          <a:p>
            <a:pPr marL="0" lvl="0" indent="0" algn="l" rtl="0">
              <a:lnSpc>
                <a:spcPct val="100000"/>
              </a:lnSpc>
              <a:spcBef>
                <a:spcPts val="0"/>
              </a:spcBef>
              <a:spcAft>
                <a:spcPts val="0"/>
              </a:spcAft>
              <a:buClr>
                <a:srgbClr val="FFFFFF"/>
              </a:buClr>
              <a:buSzPts val="3200"/>
              <a:buFont typeface="Helvetica Neue"/>
              <a:buNone/>
            </a:pPr>
            <a:endParaRPr sz="3200" b="0"/>
          </a:p>
          <a:p>
            <a:pPr marL="457200" lvl="0" indent="-457200" algn="l" rtl="0">
              <a:lnSpc>
                <a:spcPct val="100000"/>
              </a:lnSpc>
              <a:spcBef>
                <a:spcPts val="0"/>
              </a:spcBef>
              <a:spcAft>
                <a:spcPts val="0"/>
              </a:spcAft>
              <a:buClr>
                <a:srgbClr val="FFFFFF"/>
              </a:buClr>
              <a:buSzPts val="2800"/>
              <a:buFont typeface="Helvetica Neue"/>
              <a:buChar char="-"/>
            </a:pPr>
            <a:r>
              <a:rPr lang="en-US" sz="2800" b="0"/>
              <a:t>Maximum entropy approach</a:t>
            </a:r>
            <a:endParaRPr sz="2800"/>
          </a:p>
          <a:p>
            <a:pPr marL="457200" lvl="0" indent="-457200" algn="l" rtl="0">
              <a:lnSpc>
                <a:spcPct val="100000"/>
              </a:lnSpc>
              <a:spcBef>
                <a:spcPts val="0"/>
              </a:spcBef>
              <a:spcAft>
                <a:spcPts val="0"/>
              </a:spcAft>
              <a:buClr>
                <a:srgbClr val="FFFFFF"/>
              </a:buClr>
              <a:buSzPts val="2800"/>
              <a:buFont typeface="Helvetica Neue"/>
              <a:buChar char="-"/>
            </a:pPr>
            <a:r>
              <a:rPr lang="en-US" sz="2800" b="0"/>
              <a:t>Maximizes similarity between env. distributions of background and presences</a:t>
            </a:r>
            <a:endParaRPr sz="2800"/>
          </a:p>
          <a:p>
            <a:pPr marL="457200" lvl="0" indent="-457200" algn="l" rtl="0">
              <a:lnSpc>
                <a:spcPct val="100000"/>
              </a:lnSpc>
              <a:spcBef>
                <a:spcPts val="0"/>
              </a:spcBef>
              <a:spcAft>
                <a:spcPts val="0"/>
              </a:spcAft>
              <a:buClr>
                <a:srgbClr val="FFFFFF"/>
              </a:buClr>
              <a:buSzPts val="2800"/>
              <a:buFont typeface="Helvetica Neue"/>
              <a:buChar char="-"/>
            </a:pPr>
            <a:r>
              <a:rPr lang="en-US" sz="2800" b="0"/>
              <a:t>Parameters: Feature classes, regularization</a:t>
            </a:r>
            <a:endParaRPr sz="2800" b="0"/>
          </a:p>
        </p:txBody>
      </p:sp>
      <p:sp>
        <p:nvSpPr>
          <p:cNvPr id="297" name="Google Shape;297;p21"/>
          <p:cNvSpPr/>
          <p:nvPr/>
        </p:nvSpPr>
        <p:spPr>
          <a:xfrm>
            <a:off x="7871791" y="9095822"/>
            <a:ext cx="5133009" cy="5847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a:solidFill>
                  <a:srgbClr val="FFFFFF"/>
                </a:solidFill>
                <a:latin typeface="Helvetica Neue"/>
                <a:ea typeface="Helvetica Neue"/>
                <a:cs typeface="Helvetica Neue"/>
                <a:sym typeface="Helvetica Neue"/>
              </a:rPr>
              <a:t>https://damariszurell.github.io/EEC-MGC/b6_SDM_algorithms.html</a:t>
            </a:r>
            <a:endParaRPr sz="1400" b="0" i="0" u="none" strike="noStrike" cap="none">
              <a:solidFill>
                <a:srgbClr val="000000"/>
              </a:solidFill>
              <a:latin typeface="Arial"/>
              <a:ea typeface="Arial"/>
              <a:cs typeface="Arial"/>
              <a:sym typeface="Arial"/>
            </a:endParaRPr>
          </a:p>
        </p:txBody>
      </p:sp>
      <p:sp>
        <p:nvSpPr>
          <p:cNvPr id="298" name="Google Shape;298;p21"/>
          <p:cNvSpPr txBox="1"/>
          <p:nvPr/>
        </p:nvSpPr>
        <p:spPr>
          <a:xfrm>
            <a:off x="233325" y="9095825"/>
            <a:ext cx="6816600" cy="3009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dirty="0">
                <a:solidFill>
                  <a:srgbClr val="FFFFFF"/>
                </a:solidFill>
                <a:latin typeface="Helvetica Neue"/>
                <a:ea typeface="Helvetica Neue"/>
                <a:cs typeface="Helvetica Neue"/>
                <a:sym typeface="Helvetica Neue"/>
              </a:rPr>
              <a:t>https://</a:t>
            </a:r>
            <a:r>
              <a:rPr lang="en-US" sz="1600" b="0" i="0" u="none" strike="noStrike" cap="none" dirty="0" err="1">
                <a:solidFill>
                  <a:srgbClr val="FFFFFF"/>
                </a:solidFill>
                <a:latin typeface="Helvetica Neue"/>
                <a:ea typeface="Helvetica Neue"/>
                <a:cs typeface="Helvetica Neue"/>
                <a:sym typeface="Helvetica Neue"/>
              </a:rPr>
              <a:t>support.bccvl.org.au</a:t>
            </a:r>
            <a:r>
              <a:rPr lang="en-US" sz="1600" b="0" i="0" u="none" strike="noStrike" cap="none" dirty="0">
                <a:solidFill>
                  <a:srgbClr val="FFFFFF"/>
                </a:solidFill>
                <a:latin typeface="Helvetica Neue"/>
                <a:ea typeface="Helvetica Neue"/>
                <a:cs typeface="Helvetica Neue"/>
                <a:sym typeface="Helvetica Neue"/>
              </a:rPr>
              <a:t>/support/solutions/articles/6000083216-maxent</a:t>
            </a:r>
            <a:endParaRPr sz="1600" b="0" i="0" u="none" strike="noStrike" cap="none" dirty="0">
              <a:solidFill>
                <a:srgbClr val="FFFFFF"/>
              </a:solidFill>
              <a:latin typeface="Helvetica Neue"/>
              <a:ea typeface="Helvetica Neue"/>
              <a:cs typeface="Helvetica Neue"/>
              <a:sym typeface="Helvetica Neue"/>
            </a:endParaRPr>
          </a:p>
        </p:txBody>
      </p:sp>
      <p:pic>
        <p:nvPicPr>
          <p:cNvPr id="299" name="Google Shape;299;p21"/>
          <p:cNvPicPr preferRelativeResize="0"/>
          <p:nvPr/>
        </p:nvPicPr>
        <p:blipFill rotWithShape="1">
          <a:blip r:embed="rId3">
            <a:alphaModFix/>
          </a:blip>
          <a:srcRect/>
          <a:stretch/>
        </p:blipFill>
        <p:spPr>
          <a:xfrm>
            <a:off x="8206724" y="4911478"/>
            <a:ext cx="4564739" cy="4184344"/>
          </a:xfrm>
          <a:prstGeom prst="rect">
            <a:avLst/>
          </a:prstGeom>
          <a:noFill/>
          <a:ln>
            <a:noFill/>
          </a:ln>
        </p:spPr>
      </p:pic>
      <p:pic>
        <p:nvPicPr>
          <p:cNvPr id="300" name="Google Shape;300;p21"/>
          <p:cNvPicPr preferRelativeResize="0"/>
          <p:nvPr/>
        </p:nvPicPr>
        <p:blipFill rotWithShape="1">
          <a:blip r:embed="rId4">
            <a:alphaModFix/>
          </a:blip>
          <a:srcRect/>
          <a:stretch/>
        </p:blipFill>
        <p:spPr>
          <a:xfrm>
            <a:off x="233336" y="5294479"/>
            <a:ext cx="6816514" cy="368993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3"/>
          <p:cNvSpPr txBox="1">
            <a:spLocks noGrp="1"/>
          </p:cNvSpPr>
          <p:nvPr>
            <p:ph type="body" idx="2"/>
          </p:nvPr>
        </p:nvSpPr>
        <p:spPr>
          <a:xfrm>
            <a:off x="643475" y="2473675"/>
            <a:ext cx="12118800" cy="4735500"/>
          </a:xfrm>
          <a:prstGeom prst="rect">
            <a:avLst/>
          </a:prstGeom>
          <a:noFill/>
          <a:ln>
            <a:noFill/>
          </a:ln>
        </p:spPr>
        <p:txBody>
          <a:bodyPr spcFirstLastPara="1" wrap="square" lIns="27075" tIns="27075" rIns="27075" bIns="27075" anchor="t" anchorCtr="0">
            <a:noAutofit/>
          </a:bodyPr>
          <a:lstStyle/>
          <a:p>
            <a:pPr marL="293624" lvl="0" indent="-293624" algn="l" rtl="0">
              <a:lnSpc>
                <a:spcPct val="90000"/>
              </a:lnSpc>
              <a:spcBef>
                <a:spcPts val="0"/>
              </a:spcBef>
              <a:spcAft>
                <a:spcPts val="0"/>
              </a:spcAft>
              <a:buClr>
                <a:srgbClr val="FFFFFF"/>
              </a:buClr>
              <a:buSzPts val="3444"/>
              <a:buFont typeface="Helvetica Neue"/>
              <a:buChar char="•"/>
            </a:pPr>
            <a:r>
              <a:rPr lang="en-US" sz="2800"/>
              <a:t>How does the environment associated with species' occurrences relate to the surrounding environment?</a:t>
            </a:r>
            <a:endParaRPr/>
          </a:p>
          <a:p>
            <a:pPr marL="293624" lvl="0" indent="-293624" algn="l" rtl="0">
              <a:lnSpc>
                <a:spcPct val="90000"/>
              </a:lnSpc>
              <a:spcBef>
                <a:spcPts val="2100"/>
              </a:spcBef>
              <a:spcAft>
                <a:spcPts val="0"/>
              </a:spcAft>
              <a:buClr>
                <a:srgbClr val="FFFFFF"/>
              </a:buClr>
              <a:buSzPts val="3444"/>
              <a:buFont typeface="Helvetica Neue"/>
              <a:buChar char="•"/>
            </a:pPr>
            <a:r>
              <a:rPr lang="en-US" sz="2800"/>
              <a:t>Background can contain presence points </a:t>
            </a:r>
            <a:endParaRPr/>
          </a:p>
          <a:p>
            <a:pPr marL="293624" lvl="0" indent="-293624" algn="l" rtl="0">
              <a:lnSpc>
                <a:spcPct val="90000"/>
              </a:lnSpc>
              <a:spcBef>
                <a:spcPts val="2100"/>
              </a:spcBef>
              <a:spcAft>
                <a:spcPts val="0"/>
              </a:spcAft>
              <a:buClr>
                <a:srgbClr val="FFFFFF"/>
              </a:buClr>
              <a:buSzPts val="3444"/>
              <a:buFont typeface="Helvetica Neue"/>
              <a:buChar char="•"/>
            </a:pPr>
            <a:r>
              <a:rPr lang="en-US" sz="2800"/>
              <a:t>Should be representative of the area the species can access (M)</a:t>
            </a:r>
            <a:endParaRPr/>
          </a:p>
        </p:txBody>
      </p:sp>
      <p:sp>
        <p:nvSpPr>
          <p:cNvPr id="306" name="Google Shape;306;p23"/>
          <p:cNvSpPr txBox="1"/>
          <p:nvPr/>
        </p:nvSpPr>
        <p:spPr>
          <a:xfrm>
            <a:off x="407176" y="5728216"/>
            <a:ext cx="12420300" cy="18864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3500"/>
              <a:buFont typeface="Helvetica Neue"/>
              <a:buNone/>
            </a:pPr>
            <a:r>
              <a:rPr lang="en-US" sz="3500" b="1" i="0" u="none" strike="noStrike" cap="none">
                <a:solidFill>
                  <a:srgbClr val="FFFFFF"/>
                </a:solidFill>
                <a:latin typeface="Helvetica Neue"/>
                <a:ea typeface="Helvetica Neue"/>
                <a:cs typeface="Helvetica Neue"/>
                <a:sym typeface="Helvetica Neue"/>
              </a:rPr>
              <a:t>Why/How is this different from:</a:t>
            </a:r>
            <a:endParaRPr sz="3500" b="1" i="0" u="none" strike="noStrike" cap="none">
              <a:solidFill>
                <a:srgbClr val="FFFFFF"/>
              </a:solidFill>
              <a:latin typeface="Helvetica Neue"/>
              <a:ea typeface="Helvetica Neue"/>
              <a:cs typeface="Helvetica Neue"/>
              <a:sym typeface="Helvetica Neue"/>
            </a:endParaRPr>
          </a:p>
          <a:p>
            <a:pPr marL="457200" marR="0" lvl="0" indent="-450850" algn="ctr" rtl="0">
              <a:lnSpc>
                <a:spcPct val="100000"/>
              </a:lnSpc>
              <a:spcBef>
                <a:spcPts val="0"/>
              </a:spcBef>
              <a:spcAft>
                <a:spcPts val="0"/>
              </a:spcAft>
              <a:buClr>
                <a:srgbClr val="FFFFFF"/>
              </a:buClr>
              <a:buSzPts val="3500"/>
              <a:buFont typeface="Helvetica Neue"/>
              <a:buChar char="●"/>
            </a:pPr>
            <a:r>
              <a:rPr lang="en-US" sz="3500" b="1" i="0" u="none" strike="noStrike" cap="none">
                <a:solidFill>
                  <a:srgbClr val="FFFFFF"/>
                </a:solidFill>
                <a:latin typeface="Helvetica Neue"/>
                <a:ea typeface="Helvetica Neue"/>
                <a:cs typeface="Helvetica Neue"/>
                <a:sym typeface="Helvetica Neue"/>
              </a:rPr>
              <a:t> Pseudoabsences?</a:t>
            </a:r>
            <a:endParaRPr sz="3500" b="1" i="0" u="none" strike="noStrike" cap="none">
              <a:solidFill>
                <a:srgbClr val="FFFFFF"/>
              </a:solidFill>
              <a:latin typeface="Helvetica Neue"/>
              <a:ea typeface="Helvetica Neue"/>
              <a:cs typeface="Helvetica Neue"/>
              <a:sym typeface="Helvetica Neue"/>
            </a:endParaRPr>
          </a:p>
          <a:p>
            <a:pPr marL="457200" marR="0" lvl="0" indent="-450850" algn="ctr" rtl="0">
              <a:lnSpc>
                <a:spcPct val="100000"/>
              </a:lnSpc>
              <a:spcBef>
                <a:spcPts val="0"/>
              </a:spcBef>
              <a:spcAft>
                <a:spcPts val="0"/>
              </a:spcAft>
              <a:buClr>
                <a:srgbClr val="FFFFFF"/>
              </a:buClr>
              <a:buSzPts val="3500"/>
              <a:buFont typeface="Helvetica Neue"/>
              <a:buChar char="●"/>
            </a:pPr>
            <a:r>
              <a:rPr lang="en-US" sz="3500" b="1" i="0" u="none" strike="noStrike" cap="none">
                <a:solidFill>
                  <a:srgbClr val="FFFFFF"/>
                </a:solidFill>
                <a:latin typeface="Helvetica Neue"/>
                <a:ea typeface="Helvetica Neue"/>
                <a:cs typeface="Helvetica Neue"/>
                <a:sym typeface="Helvetica Neue"/>
              </a:rPr>
              <a:t>Only presences?</a:t>
            </a:r>
            <a:endParaRPr sz="3500" b="1" i="0" u="none" strike="noStrike" cap="none">
              <a:solidFill>
                <a:srgbClr val="FFFFFF"/>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FFFFFF"/>
              </a:buClr>
              <a:buSzPts val="3500"/>
              <a:buFont typeface="Helvetica Neue"/>
              <a:buNone/>
            </a:pPr>
            <a:endParaRPr sz="1400" b="0" i="0" u="none" strike="noStrike" cap="none">
              <a:solidFill>
                <a:srgbClr val="000000"/>
              </a:solidFill>
              <a:latin typeface="Arial"/>
              <a:ea typeface="Arial"/>
              <a:cs typeface="Arial"/>
              <a:sym typeface="Arial"/>
            </a:endParaRPr>
          </a:p>
        </p:txBody>
      </p:sp>
      <p:sp>
        <p:nvSpPr>
          <p:cNvPr id="307" name="Google Shape;307;p23"/>
          <p:cNvSpPr txBox="1"/>
          <p:nvPr/>
        </p:nvSpPr>
        <p:spPr>
          <a:xfrm>
            <a:off x="605551" y="829881"/>
            <a:ext cx="11717868" cy="960889"/>
          </a:xfrm>
          <a:prstGeom prst="rect">
            <a:avLst/>
          </a:prstGeom>
          <a:noFill/>
          <a:ln>
            <a:noFill/>
          </a:ln>
        </p:spPr>
        <p:txBody>
          <a:bodyPr spcFirstLastPara="1" wrap="square" lIns="27075" tIns="27075" rIns="27075" bIns="27075" anchor="t" anchorCtr="0">
            <a:normAutofit/>
          </a:bodyPr>
          <a:lstStyle/>
          <a:p>
            <a:pPr marL="0" marR="0" lvl="0" indent="0" algn="l" rtl="0">
              <a:lnSpc>
                <a:spcPct val="80000"/>
              </a:lnSpc>
              <a:spcBef>
                <a:spcPts val="0"/>
              </a:spcBef>
              <a:spcAft>
                <a:spcPts val="0"/>
              </a:spcAft>
              <a:buClr>
                <a:srgbClr val="FFFFFF"/>
              </a:buClr>
              <a:buSzPts val="3720"/>
              <a:buFont typeface="Helvetica Neue"/>
              <a:buNone/>
            </a:pPr>
            <a:r>
              <a:rPr lang="en-US" sz="3720" b="1" i="0" u="none" strike="noStrike" cap="none">
                <a:solidFill>
                  <a:srgbClr val="FFFFFF"/>
                </a:solidFill>
                <a:latin typeface="Helvetica Neue"/>
                <a:ea typeface="Helvetica Neue"/>
                <a:cs typeface="Helvetica Neue"/>
                <a:sym typeface="Helvetica Neue"/>
              </a:rPr>
              <a:t>Presence / Background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4"/>
          <p:cNvSpPr txBox="1">
            <a:spLocks noGrp="1"/>
          </p:cNvSpPr>
          <p:nvPr>
            <p:ph type="title"/>
          </p:nvPr>
        </p:nvSpPr>
        <p:spPr>
          <a:xfrm>
            <a:off x="643466" y="779328"/>
            <a:ext cx="11717868" cy="954424"/>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3800"/>
              <a:buFont typeface="Helvetica Neue"/>
              <a:buNone/>
            </a:pPr>
            <a:r>
              <a:rPr lang="en-US"/>
              <a:t>Projecting in time and space</a:t>
            </a:r>
            <a:endParaRPr i="1"/>
          </a:p>
        </p:txBody>
      </p:sp>
      <p:sp>
        <p:nvSpPr>
          <p:cNvPr id="313" name="Google Shape;313;p24"/>
          <p:cNvSpPr txBox="1">
            <a:spLocks noGrp="1"/>
          </p:cNvSpPr>
          <p:nvPr>
            <p:ph type="body" idx="2"/>
          </p:nvPr>
        </p:nvSpPr>
        <p:spPr>
          <a:xfrm>
            <a:off x="643466" y="1972688"/>
            <a:ext cx="11717868" cy="1675596"/>
          </a:xfrm>
          <a:prstGeom prst="rect">
            <a:avLst/>
          </a:prstGeom>
          <a:noFill/>
          <a:ln>
            <a:noFill/>
          </a:ln>
        </p:spPr>
        <p:txBody>
          <a:bodyPr spcFirstLastPara="1" wrap="square" lIns="27075" tIns="27075" rIns="27075" bIns="27075" anchor="t" anchorCtr="0">
            <a:normAutofit/>
          </a:bodyPr>
          <a:lstStyle/>
          <a:p>
            <a:pPr marL="431800" lvl="0" indent="-431800" algn="l" rtl="0">
              <a:lnSpc>
                <a:spcPct val="90000"/>
              </a:lnSpc>
              <a:spcBef>
                <a:spcPts val="0"/>
              </a:spcBef>
              <a:spcAft>
                <a:spcPts val="0"/>
              </a:spcAft>
              <a:buClr>
                <a:srgbClr val="FFFFFF"/>
              </a:buClr>
              <a:buSzPts val="4182"/>
              <a:buFont typeface="Helvetica Neue"/>
              <a:buChar char="•"/>
            </a:pPr>
            <a:r>
              <a:rPr lang="en-US"/>
              <a:t>It is possible to project models in time and space if the same variables are available. But should you?</a:t>
            </a:r>
            <a:endParaRPr i="1"/>
          </a:p>
        </p:txBody>
      </p:sp>
      <p:pic>
        <p:nvPicPr>
          <p:cNvPr id="314" name="Google Shape;314;p24" descr="D_microcephalus_refugia.jpg"/>
          <p:cNvPicPr preferRelativeResize="0"/>
          <p:nvPr/>
        </p:nvPicPr>
        <p:blipFill rotWithShape="1">
          <a:blip r:embed="rId3">
            <a:alphaModFix/>
          </a:blip>
          <a:srcRect l="8323" t="35139" r="7499" b="34953"/>
          <a:stretch/>
        </p:blipFill>
        <p:spPr>
          <a:xfrm>
            <a:off x="5920644" y="3678881"/>
            <a:ext cx="3775335" cy="1735786"/>
          </a:xfrm>
          <a:prstGeom prst="rect">
            <a:avLst/>
          </a:prstGeom>
          <a:noFill/>
          <a:ln>
            <a:noFill/>
          </a:ln>
        </p:spPr>
      </p:pic>
      <p:pic>
        <p:nvPicPr>
          <p:cNvPr id="315" name="Google Shape;315;p24" descr="D_microcephalus_pre_tresh.jpg"/>
          <p:cNvPicPr preferRelativeResize="0"/>
          <p:nvPr/>
        </p:nvPicPr>
        <p:blipFill rotWithShape="1">
          <a:blip r:embed="rId4">
            <a:alphaModFix/>
          </a:blip>
          <a:srcRect l="9031" t="34999" r="9324" b="35292"/>
          <a:stretch/>
        </p:blipFill>
        <p:spPr>
          <a:xfrm>
            <a:off x="987294" y="3627684"/>
            <a:ext cx="3775651" cy="1777815"/>
          </a:xfrm>
          <a:prstGeom prst="rect">
            <a:avLst/>
          </a:prstGeom>
          <a:noFill/>
          <a:ln>
            <a:noFill/>
          </a:ln>
        </p:spPr>
      </p:pic>
      <p:sp>
        <p:nvSpPr>
          <p:cNvPr id="316" name="Google Shape;316;p24"/>
          <p:cNvSpPr txBox="1"/>
          <p:nvPr/>
        </p:nvSpPr>
        <p:spPr>
          <a:xfrm>
            <a:off x="1170217" y="5574841"/>
            <a:ext cx="3194700" cy="533700"/>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FFFFFF"/>
              </a:buClr>
              <a:buSzPts val="2800"/>
              <a:buFont typeface="Helvetica Neue Light"/>
              <a:buNone/>
            </a:pPr>
            <a:r>
              <a:rPr lang="en-US" sz="2800" b="0" i="0" u="none" strike="noStrike" cap="none">
                <a:solidFill>
                  <a:srgbClr val="FFFFFF"/>
                </a:solidFill>
                <a:latin typeface="Helvetica Neue Light"/>
                <a:ea typeface="Helvetica Neue Light"/>
                <a:cs typeface="Helvetica Neue Light"/>
                <a:sym typeface="Helvetica Neue Light"/>
              </a:rPr>
              <a:t>Training</a:t>
            </a:r>
            <a:endParaRPr sz="1400" b="0" i="0" u="none" strike="noStrike" cap="none">
              <a:solidFill>
                <a:srgbClr val="000000"/>
              </a:solidFill>
              <a:latin typeface="Arial"/>
              <a:ea typeface="Arial"/>
              <a:cs typeface="Arial"/>
              <a:sym typeface="Arial"/>
            </a:endParaRPr>
          </a:p>
        </p:txBody>
      </p:sp>
      <p:sp>
        <p:nvSpPr>
          <p:cNvPr id="317" name="Google Shape;317;p24"/>
          <p:cNvSpPr txBox="1"/>
          <p:nvPr/>
        </p:nvSpPr>
        <p:spPr>
          <a:xfrm>
            <a:off x="6990176" y="5574841"/>
            <a:ext cx="1636200" cy="533700"/>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FFFFFF"/>
              </a:buClr>
              <a:buSzPts val="2800"/>
              <a:buFont typeface="Helvetica Neue Light"/>
              <a:buNone/>
            </a:pPr>
            <a:r>
              <a:rPr lang="en-US" sz="2800" b="0" i="0" u="none" strike="noStrike" cap="none">
                <a:solidFill>
                  <a:srgbClr val="FFFFFF"/>
                </a:solidFill>
                <a:latin typeface="Helvetica Neue Light"/>
                <a:ea typeface="Helvetica Neue Light"/>
                <a:cs typeface="Helvetica Neue Light"/>
                <a:sym typeface="Helvetica Neue Light"/>
              </a:rPr>
              <a:t>Projection</a:t>
            </a:r>
            <a:endParaRPr sz="1400" b="0" i="0" u="none" strike="noStrike" cap="none">
              <a:solidFill>
                <a:srgbClr val="000000"/>
              </a:solidFill>
              <a:latin typeface="Arial"/>
              <a:ea typeface="Arial"/>
              <a:cs typeface="Arial"/>
              <a:sym typeface="Arial"/>
            </a:endParaRPr>
          </a:p>
        </p:txBody>
      </p:sp>
      <p:pic>
        <p:nvPicPr>
          <p:cNvPr id="318" name="Google Shape;318;p24" descr="Proyecciom_T10.jpg"/>
          <p:cNvPicPr preferRelativeResize="0"/>
          <p:nvPr/>
        </p:nvPicPr>
        <p:blipFill rotWithShape="1">
          <a:blip r:embed="rId5">
            <a:alphaModFix/>
          </a:blip>
          <a:srcRect/>
          <a:stretch/>
        </p:blipFill>
        <p:spPr>
          <a:xfrm>
            <a:off x="6093169" y="6283698"/>
            <a:ext cx="3430284" cy="2709370"/>
          </a:xfrm>
          <a:prstGeom prst="rect">
            <a:avLst/>
          </a:prstGeom>
          <a:noFill/>
          <a:ln>
            <a:noFill/>
          </a:ln>
        </p:spPr>
      </p:pic>
      <p:pic>
        <p:nvPicPr>
          <p:cNvPr id="319" name="Google Shape;319;p24" descr="modelo_T10.jpg"/>
          <p:cNvPicPr preferRelativeResize="0"/>
          <p:nvPr/>
        </p:nvPicPr>
        <p:blipFill rotWithShape="1">
          <a:blip r:embed="rId6">
            <a:alphaModFix/>
          </a:blip>
          <a:srcRect/>
          <a:stretch/>
        </p:blipFill>
        <p:spPr>
          <a:xfrm>
            <a:off x="1170217" y="6283698"/>
            <a:ext cx="3277106" cy="2588384"/>
          </a:xfrm>
          <a:prstGeom prst="rect">
            <a:avLst/>
          </a:prstGeom>
          <a:noFill/>
          <a:ln>
            <a:noFill/>
          </a:ln>
        </p:spPr>
      </p:pic>
      <p:sp>
        <p:nvSpPr>
          <p:cNvPr id="320" name="Google Shape;320;p24"/>
          <p:cNvSpPr txBox="1"/>
          <p:nvPr/>
        </p:nvSpPr>
        <p:spPr>
          <a:xfrm>
            <a:off x="9897403" y="4152860"/>
            <a:ext cx="2239500" cy="533700"/>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FFFFFF"/>
              </a:buClr>
              <a:buSzPts val="2800"/>
              <a:buFont typeface="Helvetica Neue Light"/>
              <a:buNone/>
            </a:pPr>
            <a:r>
              <a:rPr lang="en-US" sz="2800" b="0" i="0" u="none" strike="noStrike" cap="none">
                <a:solidFill>
                  <a:srgbClr val="FFFFFF"/>
                </a:solidFill>
                <a:latin typeface="Helvetica Neue Light"/>
                <a:ea typeface="Helvetica Neue Light"/>
                <a:cs typeface="Helvetica Neue Light"/>
                <a:sym typeface="Helvetica Neue Light"/>
              </a:rPr>
              <a:t>Time </a:t>
            </a:r>
            <a:endParaRPr sz="2800" b="0" i="0" u="none" strike="noStrike" cap="none">
              <a:solidFill>
                <a:srgbClr val="FFFFFF"/>
              </a:solidFill>
              <a:latin typeface="Helvetica Neue Light"/>
              <a:ea typeface="Helvetica Neue Light"/>
              <a:cs typeface="Helvetica Neue Light"/>
              <a:sym typeface="Helvetica Neue Light"/>
            </a:endParaRPr>
          </a:p>
        </p:txBody>
      </p:sp>
      <p:sp>
        <p:nvSpPr>
          <p:cNvPr id="321" name="Google Shape;321;p24"/>
          <p:cNvSpPr txBox="1"/>
          <p:nvPr/>
        </p:nvSpPr>
        <p:spPr>
          <a:xfrm>
            <a:off x="9735500" y="7295907"/>
            <a:ext cx="2563200" cy="533700"/>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FFFFFF"/>
              </a:buClr>
              <a:buSzPts val="2800"/>
              <a:buFont typeface="Helvetica Neue Light"/>
              <a:buNone/>
            </a:pPr>
            <a:r>
              <a:rPr lang="en-US" sz="2800" b="0" i="0" u="none" strike="noStrike" cap="none">
                <a:solidFill>
                  <a:srgbClr val="FFFFFF"/>
                </a:solidFill>
                <a:latin typeface="Helvetica Neue Light"/>
                <a:ea typeface="Helvetica Neue Light"/>
                <a:cs typeface="Helvetica Neue Light"/>
                <a:sym typeface="Helvetica Neue Light"/>
              </a:rPr>
              <a:t>Space</a:t>
            </a:r>
            <a:endParaRPr sz="2800" b="0" i="0" u="none" strike="noStrike" cap="none">
              <a:solidFill>
                <a:srgbClr val="FFFFFF"/>
              </a:solidFill>
              <a:latin typeface="Helvetica Neue Light"/>
              <a:ea typeface="Helvetica Neue Light"/>
              <a:cs typeface="Helvetica Neue Light"/>
              <a:sym typeface="Helvetica Neue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p25" descr="Screen Shot 2021-07-27 at 11.40.04 AM.png"/>
          <p:cNvPicPr preferRelativeResize="0"/>
          <p:nvPr/>
        </p:nvPicPr>
        <p:blipFill rotWithShape="1">
          <a:blip r:embed="rId3">
            <a:alphaModFix/>
          </a:blip>
          <a:srcRect l="12487" t="3210"/>
          <a:stretch/>
        </p:blipFill>
        <p:spPr>
          <a:xfrm>
            <a:off x="3585763" y="2724961"/>
            <a:ext cx="5833272" cy="6086059"/>
          </a:xfrm>
          <a:prstGeom prst="rect">
            <a:avLst/>
          </a:prstGeom>
          <a:noFill/>
          <a:ln>
            <a:noFill/>
          </a:ln>
        </p:spPr>
      </p:pic>
      <p:sp>
        <p:nvSpPr>
          <p:cNvPr id="327" name="Google Shape;327;p25"/>
          <p:cNvSpPr txBox="1"/>
          <p:nvPr/>
        </p:nvSpPr>
        <p:spPr>
          <a:xfrm>
            <a:off x="10255448" y="9250121"/>
            <a:ext cx="1997897" cy="277098"/>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dirty="0">
                <a:solidFill>
                  <a:srgbClr val="FFFFFF"/>
                </a:solidFill>
                <a:latin typeface="Helvetica Neue"/>
                <a:ea typeface="Helvetica Neue"/>
                <a:cs typeface="Helvetica Neue"/>
                <a:sym typeface="Helvetica Neue"/>
              </a:rPr>
              <a:t>Peterson et al., 2011 </a:t>
            </a:r>
            <a:endParaRPr sz="1400" b="0" i="0" u="none" strike="noStrike" cap="none" dirty="0">
              <a:solidFill>
                <a:srgbClr val="000000"/>
              </a:solidFill>
              <a:latin typeface="Arial"/>
              <a:ea typeface="Arial"/>
              <a:cs typeface="Arial"/>
              <a:sym typeface="Arial"/>
            </a:endParaRPr>
          </a:p>
        </p:txBody>
      </p:sp>
      <p:sp>
        <p:nvSpPr>
          <p:cNvPr id="328" name="Google Shape;328;p25"/>
          <p:cNvSpPr txBox="1">
            <a:spLocks noGrp="1"/>
          </p:cNvSpPr>
          <p:nvPr>
            <p:ph type="title"/>
          </p:nvPr>
        </p:nvSpPr>
        <p:spPr>
          <a:xfrm>
            <a:off x="643466" y="779328"/>
            <a:ext cx="11717868" cy="954424"/>
          </a:xfrm>
          <a:prstGeom prst="rect">
            <a:avLst/>
          </a:prstGeom>
          <a:noFill/>
          <a:ln>
            <a:noFill/>
          </a:ln>
        </p:spPr>
        <p:txBody>
          <a:bodyPr spcFirstLastPara="1" wrap="square" lIns="27075" tIns="27075" rIns="27075" bIns="27075" anchor="t" anchorCtr="0">
            <a:normAutofit/>
          </a:bodyPr>
          <a:lstStyle/>
          <a:p>
            <a:pPr marL="0" lvl="0" indent="0" algn="l" rtl="0">
              <a:lnSpc>
                <a:spcPct val="80000"/>
              </a:lnSpc>
              <a:spcBef>
                <a:spcPts val="0"/>
              </a:spcBef>
              <a:spcAft>
                <a:spcPts val="0"/>
              </a:spcAft>
              <a:buClr>
                <a:srgbClr val="FFFFFF"/>
              </a:buClr>
              <a:buSzPts val="3800"/>
              <a:buFont typeface="Helvetica Neue"/>
              <a:buNone/>
            </a:pPr>
            <a:r>
              <a:rPr lang="en-US"/>
              <a:t>Projecting in time and space</a:t>
            </a:r>
            <a:endParaRPr i="1"/>
          </a:p>
        </p:txBody>
      </p:sp>
      <p:sp>
        <p:nvSpPr>
          <p:cNvPr id="329" name="Google Shape;329;p25"/>
          <p:cNvSpPr txBox="1"/>
          <p:nvPr/>
        </p:nvSpPr>
        <p:spPr>
          <a:xfrm>
            <a:off x="643464" y="1624581"/>
            <a:ext cx="11718000" cy="498600"/>
          </a:xfrm>
          <a:prstGeom prst="rect">
            <a:avLst/>
          </a:prstGeom>
          <a:noFill/>
          <a:ln>
            <a:noFill/>
          </a:ln>
        </p:spPr>
        <p:txBody>
          <a:bodyPr spcFirstLastPara="1" wrap="square" lIns="24375" tIns="24375" rIns="24375" bIns="24375" anchor="t" anchorCtr="0">
            <a:normAutofit lnSpcReduction="10000"/>
          </a:bodyPr>
          <a:lstStyle/>
          <a:p>
            <a:pPr marL="0" marR="0" lvl="0" indent="0" algn="l" rtl="0">
              <a:lnSpc>
                <a:spcPct val="100000"/>
              </a:lnSpc>
              <a:spcBef>
                <a:spcPts val="0"/>
              </a:spcBef>
              <a:spcAft>
                <a:spcPts val="0"/>
              </a:spcAft>
              <a:buClr>
                <a:srgbClr val="FFFFFF"/>
              </a:buClr>
              <a:buSzPts val="2964"/>
              <a:buFont typeface="Helvetica Neue"/>
              <a:buNone/>
            </a:pPr>
            <a:r>
              <a:rPr lang="en-US" sz="2964" b="0" i="0" u="none" strike="noStrike" cap="none">
                <a:solidFill>
                  <a:srgbClr val="FFFFFF"/>
                </a:solidFill>
                <a:latin typeface="Helvetica Neue"/>
                <a:ea typeface="Helvetica Neue"/>
                <a:cs typeface="Helvetica Neue"/>
                <a:sym typeface="Helvetica Neue"/>
              </a:rPr>
              <a:t>The problem of extrapolation </a:t>
            </a:r>
            <a:endParaRPr sz="2964" b="0" i="1"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6"/>
          <p:cNvSpPr txBox="1">
            <a:spLocks noGrp="1"/>
          </p:cNvSpPr>
          <p:nvPr>
            <p:ph type="title"/>
          </p:nvPr>
        </p:nvSpPr>
        <p:spPr>
          <a:xfrm>
            <a:off x="571500" y="99699"/>
            <a:ext cx="11861800" cy="1749244"/>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a:t>
            </a:r>
            <a:endParaRPr i="1" dirty="0"/>
          </a:p>
        </p:txBody>
      </p:sp>
      <p:sp>
        <p:nvSpPr>
          <p:cNvPr id="335" name="Google Shape;335;p26"/>
          <p:cNvSpPr txBox="1">
            <a:spLocks noGrp="1"/>
          </p:cNvSpPr>
          <p:nvPr>
            <p:ph type="body" idx="1"/>
          </p:nvPr>
        </p:nvSpPr>
        <p:spPr>
          <a:xfrm>
            <a:off x="571500" y="2324100"/>
            <a:ext cx="6829836" cy="7151204"/>
          </a:xfrm>
          <a:prstGeom prst="rect">
            <a:avLst/>
          </a:prstGeom>
          <a:noFill/>
          <a:ln>
            <a:noFill/>
          </a:ln>
        </p:spPr>
        <p:txBody>
          <a:bodyPr spcFirstLastPara="1" wrap="square" lIns="50800" tIns="50800" rIns="50800" bIns="50800" anchor="t" anchorCtr="0">
            <a:noAutofit/>
          </a:bodyPr>
          <a:lstStyle/>
          <a:p>
            <a:pPr marL="266700" lvl="0" indent="-266700" algn="l" rtl="0">
              <a:lnSpc>
                <a:spcPct val="100000"/>
              </a:lnSpc>
              <a:spcBef>
                <a:spcPts val="0"/>
              </a:spcBef>
              <a:spcAft>
                <a:spcPts val="0"/>
              </a:spcAft>
              <a:buClr>
                <a:srgbClr val="000000"/>
              </a:buClr>
              <a:buSzPts val="2400"/>
              <a:buFont typeface="Helvetica Neue"/>
              <a:buChar char="•"/>
            </a:pPr>
            <a:r>
              <a:rPr lang="en-US" sz="2400"/>
              <a:t>The accessible area M (study extent)</a:t>
            </a:r>
            <a:endParaRPr/>
          </a:p>
          <a:p>
            <a:pPr marL="266700" lvl="0" indent="-266700" algn="l" rtl="0">
              <a:lnSpc>
                <a:spcPct val="100000"/>
              </a:lnSpc>
              <a:spcBef>
                <a:spcPts val="1600"/>
              </a:spcBef>
              <a:spcAft>
                <a:spcPts val="0"/>
              </a:spcAft>
              <a:buClr>
                <a:srgbClr val="000000"/>
              </a:buClr>
              <a:buSzPts val="2400"/>
              <a:buFont typeface="Helvetica Neue"/>
              <a:buChar char="•"/>
            </a:pPr>
            <a:r>
              <a:rPr lang="en-US" sz="2400"/>
              <a:t>Point distribution</a:t>
            </a:r>
            <a:endParaRPr sz="2400"/>
          </a:p>
          <a:p>
            <a:pPr marL="266700" lvl="0" indent="-266700" algn="l" rtl="0">
              <a:lnSpc>
                <a:spcPct val="100000"/>
              </a:lnSpc>
              <a:spcBef>
                <a:spcPts val="1600"/>
              </a:spcBef>
              <a:spcAft>
                <a:spcPts val="0"/>
              </a:spcAft>
              <a:buClr>
                <a:srgbClr val="000000"/>
              </a:buClr>
              <a:buSzPts val="2400"/>
              <a:buFont typeface="Helvetica Neue"/>
              <a:buChar char="•"/>
            </a:pPr>
            <a:r>
              <a:rPr lang="en-US" sz="2400"/>
              <a:t>Temporal coverage of the points and variables</a:t>
            </a:r>
            <a:endParaRPr sz="2400"/>
          </a:p>
          <a:p>
            <a:pPr marL="266700" lvl="0" indent="-266700" algn="l" rtl="0">
              <a:lnSpc>
                <a:spcPct val="100000"/>
              </a:lnSpc>
              <a:spcBef>
                <a:spcPts val="1600"/>
              </a:spcBef>
              <a:spcAft>
                <a:spcPts val="0"/>
              </a:spcAft>
              <a:buClr>
                <a:srgbClr val="000000"/>
              </a:buClr>
              <a:buSzPts val="2400"/>
              <a:buFont typeface="Helvetica Neue"/>
              <a:buChar char="•"/>
            </a:pPr>
            <a:r>
              <a:rPr lang="en-US" sz="2400"/>
              <a:t>Collinearity of predictor variables</a:t>
            </a:r>
            <a:endParaRPr sz="2400"/>
          </a:p>
          <a:p>
            <a:pPr marL="266700" lvl="0" indent="-266700" algn="l" rtl="0">
              <a:lnSpc>
                <a:spcPct val="100000"/>
              </a:lnSpc>
              <a:spcBef>
                <a:spcPts val="1600"/>
              </a:spcBef>
              <a:spcAft>
                <a:spcPts val="0"/>
              </a:spcAft>
              <a:buClr>
                <a:srgbClr val="000000"/>
              </a:buClr>
              <a:buSzPts val="2400"/>
              <a:buFont typeface="Helvetica Neue"/>
              <a:buChar char="•"/>
            </a:pPr>
            <a:r>
              <a:rPr lang="en-US" sz="2400"/>
              <a:t>Use of thresholds</a:t>
            </a:r>
            <a:endParaRPr sz="2400" i="1"/>
          </a:p>
        </p:txBody>
      </p:sp>
      <p:pic>
        <p:nvPicPr>
          <p:cNvPr id="336" name="Google Shape;336;p26" descr="istockphoto-468100945-612x612.jpg"/>
          <p:cNvPicPr preferRelativeResize="0"/>
          <p:nvPr/>
        </p:nvPicPr>
        <p:blipFill rotWithShape="1">
          <a:blip r:embed="rId3">
            <a:alphaModFix/>
          </a:blip>
          <a:srcRect/>
          <a:stretch/>
        </p:blipFill>
        <p:spPr>
          <a:xfrm>
            <a:off x="7357002" y="2720742"/>
            <a:ext cx="5255938" cy="52473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27"/>
          <p:cNvSpPr txBox="1">
            <a:spLocks noGrp="1"/>
          </p:cNvSpPr>
          <p:nvPr>
            <p:ph type="title"/>
          </p:nvPr>
        </p:nvSpPr>
        <p:spPr>
          <a:xfrm>
            <a:off x="571500" y="145791"/>
            <a:ext cx="11861800" cy="1765818"/>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 Study extent</a:t>
            </a:r>
            <a:endParaRPr i="1" dirty="0"/>
          </a:p>
        </p:txBody>
      </p:sp>
      <p:pic>
        <p:nvPicPr>
          <p:cNvPr id="342" name="Google Shape;342;p27" descr="modelo_M.jpg"/>
          <p:cNvPicPr preferRelativeResize="0"/>
          <p:nvPr/>
        </p:nvPicPr>
        <p:blipFill rotWithShape="1">
          <a:blip r:embed="rId3">
            <a:alphaModFix/>
          </a:blip>
          <a:srcRect/>
          <a:stretch/>
        </p:blipFill>
        <p:spPr>
          <a:xfrm>
            <a:off x="2514600" y="2025518"/>
            <a:ext cx="9325960" cy="7366000"/>
          </a:xfrm>
          <a:prstGeom prst="rect">
            <a:avLst/>
          </a:prstGeom>
          <a:noFill/>
          <a:ln>
            <a:noFill/>
          </a:ln>
        </p:spPr>
      </p:pic>
      <p:sp>
        <p:nvSpPr>
          <p:cNvPr id="343" name="Google Shape;343;p27"/>
          <p:cNvSpPr txBox="1"/>
          <p:nvPr/>
        </p:nvSpPr>
        <p:spPr>
          <a:xfrm>
            <a:off x="571500" y="7123643"/>
            <a:ext cx="2664404" cy="1208877"/>
          </a:xfrm>
          <a:prstGeom prst="rect">
            <a:avLst/>
          </a:prstGeom>
          <a:noFill/>
          <a:ln>
            <a:noFill/>
          </a:ln>
        </p:spPr>
        <p:txBody>
          <a:bodyPr spcFirstLastPara="1" wrap="square" lIns="27075" tIns="27075" rIns="27075" bIns="27075" anchor="ctr" anchorCtr="0">
            <a:spAutoFit/>
          </a:bodyPr>
          <a:lstStyle/>
          <a:p>
            <a:pPr marL="0" marR="0" lvl="0" indent="0" algn="l" rtl="0">
              <a:lnSpc>
                <a:spcPct val="100000"/>
              </a:lnSpc>
              <a:spcBef>
                <a:spcPts val="0"/>
              </a:spcBef>
              <a:spcAft>
                <a:spcPts val="0"/>
              </a:spcAft>
              <a:buClr>
                <a:srgbClr val="000000"/>
              </a:buClr>
              <a:buSzPts val="2500"/>
              <a:buFont typeface="Helvetica Neue Light"/>
              <a:buNone/>
            </a:pPr>
            <a:r>
              <a:rPr lang="en-US" sz="2500" b="0" i="0" u="none" strike="noStrike" cap="none">
                <a:solidFill>
                  <a:srgbClr val="000000"/>
                </a:solidFill>
                <a:latin typeface="Helvetica Neue Light"/>
                <a:ea typeface="Helvetica Neue Light"/>
                <a:cs typeface="Helvetica Neue Light"/>
                <a:sym typeface="Helvetica Neue Light"/>
              </a:rPr>
              <a:t>Study extent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00"/>
              <a:buFont typeface="Helvetica Neue Light"/>
              <a:buNone/>
            </a:pPr>
            <a:endParaRPr sz="25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2500"/>
              <a:buFont typeface="Helvetica Neue Light"/>
              <a:buNone/>
            </a:pPr>
            <a:endParaRPr sz="2500" b="0" i="1" u="none" strike="noStrike" cap="none">
              <a:solidFill>
                <a:srgbClr val="000000"/>
              </a:solidFill>
              <a:latin typeface="Helvetica Neue Light"/>
              <a:ea typeface="Helvetica Neue Light"/>
              <a:cs typeface="Helvetica Neue Light"/>
              <a:sym typeface="Helvetica Neue Light"/>
            </a:endParaRPr>
          </a:p>
        </p:txBody>
      </p:sp>
      <p:sp>
        <p:nvSpPr>
          <p:cNvPr id="344" name="Google Shape;344;p27"/>
          <p:cNvSpPr txBox="1"/>
          <p:nvPr/>
        </p:nvSpPr>
        <p:spPr>
          <a:xfrm>
            <a:off x="8385300" y="9105700"/>
            <a:ext cx="4299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Helvetica Neue"/>
                <a:ea typeface="Helvetica Neue"/>
                <a:cs typeface="Helvetica Neue"/>
                <a:sym typeface="Helvetica Neue"/>
              </a:rPr>
              <a:t>Example modified from course materials by Peterson, </a:t>
            </a:r>
            <a:r>
              <a:rPr lang="en-US" sz="1400" b="0" i="0" u="none" strike="noStrike" cap="none" dirty="0" err="1">
                <a:solidFill>
                  <a:srgbClr val="000000"/>
                </a:solidFill>
                <a:latin typeface="Helvetica Neue"/>
                <a:ea typeface="Helvetica Neue"/>
                <a:cs typeface="Helvetica Neue"/>
                <a:sym typeface="Helvetica Neue"/>
              </a:rPr>
              <a:t>Soberon</a:t>
            </a:r>
            <a:r>
              <a:rPr lang="en-US" sz="1400" b="0" i="0" u="none" strike="noStrike" cap="none" dirty="0">
                <a:solidFill>
                  <a:srgbClr val="000000"/>
                </a:solidFill>
                <a:latin typeface="Helvetica Neue"/>
                <a:ea typeface="Helvetica Neue"/>
                <a:cs typeface="Helvetica Neue"/>
                <a:sym typeface="Helvetica Neue"/>
              </a:rPr>
              <a:t> &amp; Martinez-Meyer, 2013</a:t>
            </a:r>
            <a:endParaRPr sz="1400" b="0" i="0" u="none" strike="noStrike" cap="none" dirty="0">
              <a:solidFill>
                <a:srgbClr val="000000"/>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8"/>
          <p:cNvSpPr txBox="1">
            <a:spLocks noGrp="1"/>
          </p:cNvSpPr>
          <p:nvPr>
            <p:ph type="title"/>
          </p:nvPr>
        </p:nvSpPr>
        <p:spPr>
          <a:xfrm>
            <a:off x="571500" y="145791"/>
            <a:ext cx="11861800" cy="1765818"/>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a:t>Some things to take into consideration regardless of the algorithm: Study extent</a:t>
            </a:r>
            <a:endParaRPr i="1"/>
          </a:p>
        </p:txBody>
      </p:sp>
      <p:pic>
        <p:nvPicPr>
          <p:cNvPr id="350" name="Google Shape;350;p28" descr="modelo_XL.jpg"/>
          <p:cNvPicPr preferRelativeResize="0"/>
          <p:nvPr/>
        </p:nvPicPr>
        <p:blipFill rotWithShape="1">
          <a:blip r:embed="rId3">
            <a:alphaModFix/>
          </a:blip>
          <a:srcRect/>
          <a:stretch/>
        </p:blipFill>
        <p:spPr>
          <a:xfrm>
            <a:off x="2325192" y="2025518"/>
            <a:ext cx="9561862" cy="7552326"/>
          </a:xfrm>
          <a:prstGeom prst="rect">
            <a:avLst/>
          </a:prstGeom>
          <a:noFill/>
          <a:ln>
            <a:noFill/>
          </a:ln>
        </p:spPr>
      </p:pic>
      <p:sp>
        <p:nvSpPr>
          <p:cNvPr id="351" name="Google Shape;351;p28"/>
          <p:cNvSpPr txBox="1"/>
          <p:nvPr/>
        </p:nvSpPr>
        <p:spPr>
          <a:xfrm>
            <a:off x="571500" y="7123643"/>
            <a:ext cx="2664404" cy="1208877"/>
          </a:xfrm>
          <a:prstGeom prst="rect">
            <a:avLst/>
          </a:prstGeom>
          <a:noFill/>
          <a:ln>
            <a:noFill/>
          </a:ln>
        </p:spPr>
        <p:txBody>
          <a:bodyPr spcFirstLastPara="1" wrap="square" lIns="27075" tIns="27075" rIns="27075" bIns="27075" anchor="ctr" anchorCtr="0">
            <a:spAutoFit/>
          </a:bodyPr>
          <a:lstStyle/>
          <a:p>
            <a:pPr marL="0" marR="0" lvl="0" indent="0" algn="l" rtl="0">
              <a:lnSpc>
                <a:spcPct val="100000"/>
              </a:lnSpc>
              <a:spcBef>
                <a:spcPts val="0"/>
              </a:spcBef>
              <a:spcAft>
                <a:spcPts val="0"/>
              </a:spcAft>
              <a:buClr>
                <a:srgbClr val="000000"/>
              </a:buClr>
              <a:buSzPts val="2500"/>
              <a:buFont typeface="Helvetica Neue Light"/>
              <a:buNone/>
            </a:pPr>
            <a:r>
              <a:rPr lang="en-US" sz="2500" b="0" i="0" u="none" strike="noStrike" cap="none">
                <a:solidFill>
                  <a:srgbClr val="000000"/>
                </a:solidFill>
                <a:latin typeface="Helvetica Neue Light"/>
                <a:ea typeface="Helvetica Neue Light"/>
                <a:cs typeface="Helvetica Neue Light"/>
                <a:sym typeface="Helvetica Neue Light"/>
              </a:rPr>
              <a:t>Study extent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500"/>
              <a:buFont typeface="Helvetica Neue Light"/>
              <a:buNone/>
            </a:pPr>
            <a:endParaRPr sz="25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2500"/>
              <a:buFont typeface="Helvetica Neue Light"/>
              <a:buNone/>
            </a:pPr>
            <a:endParaRPr sz="2500" b="0" i="1" u="none" strike="noStrike" cap="none">
              <a:solidFill>
                <a:srgbClr val="000000"/>
              </a:solidFill>
              <a:latin typeface="Helvetica Neue Light"/>
              <a:ea typeface="Helvetica Neue Light"/>
              <a:cs typeface="Helvetica Neue Light"/>
              <a:sym typeface="Helvetica Neue Light"/>
            </a:endParaRPr>
          </a:p>
        </p:txBody>
      </p:sp>
      <p:sp>
        <p:nvSpPr>
          <p:cNvPr id="352" name="Google Shape;352;p28"/>
          <p:cNvSpPr txBox="1"/>
          <p:nvPr/>
        </p:nvSpPr>
        <p:spPr>
          <a:xfrm>
            <a:off x="8385300" y="9105700"/>
            <a:ext cx="4299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Helvetica Neue"/>
                <a:ea typeface="Helvetica Neue"/>
                <a:cs typeface="Helvetica Neue"/>
                <a:sym typeface="Helvetica Neue"/>
              </a:rPr>
              <a:t>Example modified from course materials by Peterson, Soberon &amp; Martinez-Meyer, 2013</a:t>
            </a: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9"/>
          <p:cNvSpPr txBox="1">
            <a:spLocks noGrp="1"/>
          </p:cNvSpPr>
          <p:nvPr>
            <p:ph type="title"/>
          </p:nvPr>
        </p:nvSpPr>
        <p:spPr>
          <a:xfrm>
            <a:off x="571500" y="145791"/>
            <a:ext cx="11861700" cy="1765800"/>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a:t>Some things to take into consideration regardless of the algorithm: Study extent</a:t>
            </a:r>
            <a:endParaRPr i="1"/>
          </a:p>
        </p:txBody>
      </p:sp>
      <p:pic>
        <p:nvPicPr>
          <p:cNvPr id="358" name="Google Shape;358;p29"/>
          <p:cNvPicPr preferRelativeResize="0"/>
          <p:nvPr/>
        </p:nvPicPr>
        <p:blipFill rotWithShape="1">
          <a:blip r:embed="rId3">
            <a:alphaModFix/>
          </a:blip>
          <a:srcRect/>
          <a:stretch/>
        </p:blipFill>
        <p:spPr>
          <a:xfrm>
            <a:off x="152400" y="2063991"/>
            <a:ext cx="9551461" cy="7537207"/>
          </a:xfrm>
          <a:prstGeom prst="rect">
            <a:avLst/>
          </a:prstGeom>
          <a:noFill/>
          <a:ln>
            <a:noFill/>
          </a:ln>
        </p:spPr>
      </p:pic>
      <p:sp>
        <p:nvSpPr>
          <p:cNvPr id="359" name="Google Shape;359;p29"/>
          <p:cNvSpPr txBox="1"/>
          <p:nvPr/>
        </p:nvSpPr>
        <p:spPr>
          <a:xfrm>
            <a:off x="6287625" y="4603950"/>
            <a:ext cx="6290100" cy="1556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2700"/>
              <a:buFont typeface="Arial"/>
              <a:buNone/>
            </a:pPr>
            <a:r>
              <a:rPr lang="en-US" sz="2700" b="0" i="0" u="none" strike="noStrike" cap="none">
                <a:solidFill>
                  <a:schemeClr val="dk1"/>
                </a:solidFill>
                <a:latin typeface="Arial"/>
                <a:ea typeface="Arial"/>
                <a:cs typeface="Arial"/>
                <a:sym typeface="Arial"/>
              </a:rPr>
              <a:t>Grey: NO difference</a:t>
            </a:r>
            <a:endParaRPr sz="2700" b="0" i="0" u="none" strike="noStrike" cap="none">
              <a:solidFill>
                <a:schemeClr val="dk1"/>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2700"/>
              <a:buFont typeface="Arial"/>
              <a:buNone/>
            </a:pPr>
            <a:r>
              <a:rPr lang="en-US" sz="2700" b="0" i="0" u="none" strike="noStrike" cap="none">
                <a:solidFill>
                  <a:schemeClr val="dk1"/>
                </a:solidFill>
                <a:latin typeface="Arial"/>
                <a:ea typeface="Arial"/>
                <a:cs typeface="Arial"/>
                <a:sym typeface="Arial"/>
              </a:rPr>
              <a:t>White: Not predicted in the small extent</a:t>
            </a:r>
            <a:endParaRPr sz="2700" b="0" i="0" u="none" strike="noStrike" cap="none">
              <a:solidFill>
                <a:schemeClr val="dk1"/>
              </a:solidFill>
              <a:latin typeface="Arial"/>
              <a:ea typeface="Arial"/>
              <a:cs typeface="Arial"/>
              <a:sym typeface="Arial"/>
            </a:endParaRPr>
          </a:p>
          <a:p>
            <a:pPr marL="0" marR="0" lvl="0" indent="0" algn="ctr" rtl="0">
              <a:lnSpc>
                <a:spcPct val="115000"/>
              </a:lnSpc>
              <a:spcBef>
                <a:spcPts val="0"/>
              </a:spcBef>
              <a:spcAft>
                <a:spcPts val="0"/>
              </a:spcAft>
              <a:buClr>
                <a:srgbClr val="000000"/>
              </a:buClr>
              <a:buSzPts val="2700"/>
              <a:buFont typeface="Arial"/>
              <a:buNone/>
            </a:pPr>
            <a:r>
              <a:rPr lang="en-US" sz="2700" b="0" i="0" u="none" strike="noStrike" cap="none">
                <a:solidFill>
                  <a:schemeClr val="dk1"/>
                </a:solidFill>
                <a:latin typeface="Arial"/>
                <a:ea typeface="Arial"/>
                <a:cs typeface="Arial"/>
                <a:sym typeface="Arial"/>
              </a:rPr>
              <a:t>Black: Not predicted in the bigger extent</a:t>
            </a:r>
            <a:endParaRPr sz="2700" b="0" i="0" u="none" strike="noStrike" cap="none">
              <a:solidFill>
                <a:schemeClr val="dk1"/>
              </a:solidFill>
              <a:latin typeface="Arial"/>
              <a:ea typeface="Arial"/>
              <a:cs typeface="Arial"/>
              <a:sym typeface="Arial"/>
            </a:endParaRPr>
          </a:p>
        </p:txBody>
      </p:sp>
      <p:sp>
        <p:nvSpPr>
          <p:cNvPr id="360" name="Google Shape;360;p29"/>
          <p:cNvSpPr txBox="1"/>
          <p:nvPr/>
        </p:nvSpPr>
        <p:spPr>
          <a:xfrm>
            <a:off x="8385300" y="9105700"/>
            <a:ext cx="4299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Helvetica Neue"/>
                <a:ea typeface="Helvetica Neue"/>
                <a:cs typeface="Helvetica Neue"/>
                <a:sym typeface="Helvetica Neue"/>
              </a:rPr>
              <a:t>Example modified from course materials by Peterson, Soberon &amp; Martinez-Meyer, 2013</a:t>
            </a: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0"/>
          <p:cNvSpPr txBox="1">
            <a:spLocks noGrp="1"/>
          </p:cNvSpPr>
          <p:nvPr>
            <p:ph type="title"/>
          </p:nvPr>
        </p:nvSpPr>
        <p:spPr>
          <a:xfrm>
            <a:off x="571500" y="145791"/>
            <a:ext cx="11861800" cy="1765818"/>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 Point distribution</a:t>
            </a:r>
            <a:endParaRPr i="1" dirty="0"/>
          </a:p>
        </p:txBody>
      </p:sp>
      <p:pic>
        <p:nvPicPr>
          <p:cNvPr id="366" name="Google Shape;366;p30"/>
          <p:cNvPicPr preferRelativeResize="0"/>
          <p:nvPr/>
        </p:nvPicPr>
        <p:blipFill rotWithShape="1">
          <a:blip r:embed="rId3">
            <a:alphaModFix/>
          </a:blip>
          <a:srcRect/>
          <a:stretch/>
        </p:blipFill>
        <p:spPr>
          <a:xfrm>
            <a:off x="1511084" y="2389043"/>
            <a:ext cx="9982631" cy="7002469"/>
          </a:xfrm>
          <a:prstGeom prst="rect">
            <a:avLst/>
          </a:prstGeom>
          <a:noFill/>
          <a:ln>
            <a:noFill/>
          </a:ln>
        </p:spPr>
      </p:pic>
      <p:sp>
        <p:nvSpPr>
          <p:cNvPr id="367" name="Google Shape;367;p30"/>
          <p:cNvSpPr txBox="1"/>
          <p:nvPr/>
        </p:nvSpPr>
        <p:spPr>
          <a:xfrm>
            <a:off x="10220022" y="9391512"/>
            <a:ext cx="2547385" cy="300936"/>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chemeClr val="dk1"/>
              </a:buClr>
              <a:buSzPts val="1600"/>
              <a:buFont typeface="Helvetica Neue"/>
              <a:buNone/>
            </a:pPr>
            <a:r>
              <a:rPr lang="en-US" sz="1600" b="0" i="0" u="none" strike="noStrike" cap="none" dirty="0">
                <a:solidFill>
                  <a:schemeClr val="dk1"/>
                </a:solidFill>
                <a:latin typeface="Helvetica Neue"/>
                <a:ea typeface="Helvetica Neue"/>
                <a:cs typeface="Helvetica Neue"/>
                <a:sym typeface="Helvetica Neue"/>
              </a:rPr>
              <a:t>Aiello-</a:t>
            </a:r>
            <a:r>
              <a:rPr lang="en-US" sz="1600" b="0" i="0" u="none" strike="noStrike" cap="none" dirty="0" err="1">
                <a:solidFill>
                  <a:schemeClr val="dk1"/>
                </a:solidFill>
                <a:latin typeface="Helvetica Neue"/>
                <a:ea typeface="Helvetica Neue"/>
                <a:cs typeface="Helvetica Neue"/>
                <a:sym typeface="Helvetica Neue"/>
              </a:rPr>
              <a:t>Lammens</a:t>
            </a:r>
            <a:r>
              <a:rPr lang="en-US" sz="1600" b="0" i="0" u="none" strike="noStrike" cap="none" dirty="0">
                <a:solidFill>
                  <a:schemeClr val="dk1"/>
                </a:solidFill>
                <a:latin typeface="Helvetica Neue"/>
                <a:ea typeface="Helvetica Neue"/>
                <a:cs typeface="Helvetica Neue"/>
                <a:sym typeface="Helvetica Neue"/>
              </a:rPr>
              <a:t> et al. 2015</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1"/>
          <p:cNvSpPr txBox="1">
            <a:spLocks noGrp="1"/>
          </p:cNvSpPr>
          <p:nvPr>
            <p:ph type="title"/>
          </p:nvPr>
        </p:nvSpPr>
        <p:spPr>
          <a:xfrm>
            <a:off x="571500" y="145791"/>
            <a:ext cx="11861700" cy="1765800"/>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 Point distribution</a:t>
            </a:r>
            <a:endParaRPr i="1" dirty="0"/>
          </a:p>
        </p:txBody>
      </p:sp>
      <p:pic>
        <p:nvPicPr>
          <p:cNvPr id="373" name="Google Shape;373;p31"/>
          <p:cNvPicPr preferRelativeResize="0"/>
          <p:nvPr/>
        </p:nvPicPr>
        <p:blipFill rotWithShape="1">
          <a:blip r:embed="rId3">
            <a:alphaModFix/>
          </a:blip>
          <a:srcRect/>
          <a:stretch/>
        </p:blipFill>
        <p:spPr>
          <a:xfrm>
            <a:off x="1441704" y="4203846"/>
            <a:ext cx="10426700" cy="4114800"/>
          </a:xfrm>
          <a:prstGeom prst="rect">
            <a:avLst/>
          </a:prstGeom>
          <a:noFill/>
          <a:ln>
            <a:noFill/>
          </a:ln>
        </p:spPr>
      </p:pic>
      <p:sp>
        <p:nvSpPr>
          <p:cNvPr id="374" name="Google Shape;374;p31"/>
          <p:cNvSpPr txBox="1"/>
          <p:nvPr/>
        </p:nvSpPr>
        <p:spPr>
          <a:xfrm>
            <a:off x="1342278" y="3317878"/>
            <a:ext cx="4975800" cy="4857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2800"/>
              <a:buFont typeface="Helvetica Neue"/>
              <a:buNone/>
            </a:pPr>
            <a:r>
              <a:rPr lang="en-US" sz="2800" b="0" i="0" u="none" strike="noStrike" cap="none">
                <a:solidFill>
                  <a:schemeClr val="dk1"/>
                </a:solidFill>
                <a:latin typeface="Helvetica Neue"/>
                <a:ea typeface="Helvetica Neue"/>
                <a:cs typeface="Helvetica Neue"/>
                <a:sym typeface="Helvetica Neue"/>
              </a:rPr>
              <a:t>Biased presence data</a:t>
            </a:r>
            <a:endParaRPr sz="2800" b="0" i="0" u="none" strike="noStrike" cap="none">
              <a:solidFill>
                <a:schemeClr val="dk1"/>
              </a:solidFill>
              <a:latin typeface="Helvetica Neue"/>
              <a:ea typeface="Helvetica Neue"/>
              <a:cs typeface="Helvetica Neue"/>
              <a:sym typeface="Helvetica Neue"/>
            </a:endParaRPr>
          </a:p>
        </p:txBody>
      </p:sp>
      <p:sp>
        <p:nvSpPr>
          <p:cNvPr id="375" name="Google Shape;375;p31"/>
          <p:cNvSpPr txBox="1"/>
          <p:nvPr/>
        </p:nvSpPr>
        <p:spPr>
          <a:xfrm>
            <a:off x="6318075" y="3268225"/>
            <a:ext cx="57009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dk1"/>
                </a:solidFill>
                <a:latin typeface="Helvetica Neue"/>
                <a:ea typeface="Helvetica Neue"/>
                <a:cs typeface="Helvetica Neue"/>
                <a:sym typeface="Helvetica Neue"/>
              </a:rPr>
              <a:t>Biased presence + absence data</a:t>
            </a:r>
            <a:endParaRPr sz="2600" b="0" i="1" u="none" strike="noStrike" cap="none">
              <a:solidFill>
                <a:schemeClr val="dk1"/>
              </a:solidFill>
              <a:latin typeface="Helvetica Neue"/>
              <a:ea typeface="Helvetica Neue"/>
              <a:cs typeface="Helvetica Neue"/>
              <a:sym typeface="Helvetica Neue"/>
            </a:endParaRPr>
          </a:p>
        </p:txBody>
      </p:sp>
      <p:sp>
        <p:nvSpPr>
          <p:cNvPr id="376" name="Google Shape;376;p31"/>
          <p:cNvSpPr txBox="1"/>
          <p:nvPr/>
        </p:nvSpPr>
        <p:spPr>
          <a:xfrm>
            <a:off x="10364624" y="9238202"/>
            <a:ext cx="1779600" cy="3009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dirty="0">
                <a:solidFill>
                  <a:schemeClr val="dk1"/>
                </a:solidFill>
                <a:latin typeface="Helvetica Neue"/>
                <a:ea typeface="Helvetica Neue"/>
                <a:cs typeface="Helvetica Neue"/>
                <a:sym typeface="Helvetica Neue"/>
              </a:rPr>
              <a:t>Phillips et al., 2009</a:t>
            </a:r>
            <a:endParaRPr sz="1600" b="0" i="0" u="none" strike="noStrike" cap="none" dirty="0">
              <a:solidFill>
                <a:schemeClr val="dk1"/>
              </a:solidFill>
              <a:latin typeface="Helvetica Neue"/>
              <a:ea typeface="Helvetica Neue"/>
              <a:cs typeface="Helvetica Neue"/>
              <a:sym typeface="Helvetica Neue"/>
            </a:endParaRPr>
          </a:p>
        </p:txBody>
      </p:sp>
      <p:sp>
        <p:nvSpPr>
          <p:cNvPr id="377" name="Google Shape;377;p31"/>
          <p:cNvSpPr txBox="1"/>
          <p:nvPr/>
        </p:nvSpPr>
        <p:spPr>
          <a:xfrm>
            <a:off x="81625" y="8923500"/>
            <a:ext cx="5297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Helvetica Neue"/>
                <a:ea typeface="Helvetica Neue"/>
                <a:cs typeface="Helvetica Neue"/>
                <a:sym typeface="Helvetica Neue"/>
              </a:rPr>
              <a:t>Golden-crowned kinglet  </a:t>
            </a:r>
            <a:endParaRPr sz="1400" b="0" i="0" u="none" strike="noStrike" cap="none">
              <a:solidFill>
                <a:schemeClr val="dk1"/>
              </a:solidFill>
              <a:latin typeface="Arial"/>
              <a:ea typeface="Arial"/>
              <a:cs typeface="Arial"/>
              <a:sym typeface="Arial"/>
            </a:endParaRPr>
          </a:p>
        </p:txBody>
      </p:sp>
      <p:pic>
        <p:nvPicPr>
          <p:cNvPr id="378" name="Google Shape;378;p31"/>
          <p:cNvPicPr preferRelativeResize="0"/>
          <p:nvPr/>
        </p:nvPicPr>
        <p:blipFill>
          <a:blip r:embed="rId4">
            <a:alphaModFix/>
          </a:blip>
          <a:stretch>
            <a:fillRect/>
          </a:stretch>
        </p:blipFill>
        <p:spPr>
          <a:xfrm>
            <a:off x="571500" y="7264075"/>
            <a:ext cx="2080925" cy="15607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2"/>
          <p:cNvSpPr txBox="1">
            <a:spLocks noGrp="1"/>
          </p:cNvSpPr>
          <p:nvPr>
            <p:ph type="title"/>
          </p:nvPr>
        </p:nvSpPr>
        <p:spPr>
          <a:xfrm>
            <a:off x="571500" y="145791"/>
            <a:ext cx="11861700" cy="1765800"/>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 Point distribution</a:t>
            </a:r>
            <a:endParaRPr i="1" dirty="0"/>
          </a:p>
        </p:txBody>
      </p:sp>
      <p:sp>
        <p:nvSpPr>
          <p:cNvPr id="384" name="Google Shape;384;p32"/>
          <p:cNvSpPr txBox="1"/>
          <p:nvPr/>
        </p:nvSpPr>
        <p:spPr>
          <a:xfrm>
            <a:off x="-237547" y="5849403"/>
            <a:ext cx="4975800" cy="4857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2800"/>
              <a:buFont typeface="Helvetica Neue"/>
              <a:buNone/>
            </a:pPr>
            <a:r>
              <a:rPr lang="en-US" sz="2800" b="0" i="0" u="none" strike="noStrike" cap="none">
                <a:solidFill>
                  <a:schemeClr val="dk1"/>
                </a:solidFill>
                <a:latin typeface="Helvetica Neue"/>
                <a:ea typeface="Helvetica Neue"/>
                <a:cs typeface="Helvetica Neue"/>
                <a:sym typeface="Helvetica Neue"/>
              </a:rPr>
              <a:t>Biased presence data</a:t>
            </a:r>
            <a:endParaRPr sz="2800" b="0" i="0" u="none" strike="noStrike" cap="none">
              <a:solidFill>
                <a:schemeClr val="dk1"/>
              </a:solidFill>
              <a:latin typeface="Helvetica Neue"/>
              <a:ea typeface="Helvetica Neue"/>
              <a:cs typeface="Helvetica Neue"/>
              <a:sym typeface="Helvetica Neue"/>
            </a:endParaRPr>
          </a:p>
        </p:txBody>
      </p:sp>
      <p:sp>
        <p:nvSpPr>
          <p:cNvPr id="385" name="Google Shape;385;p32"/>
          <p:cNvSpPr txBox="1"/>
          <p:nvPr/>
        </p:nvSpPr>
        <p:spPr>
          <a:xfrm>
            <a:off x="4078875" y="5750100"/>
            <a:ext cx="57009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dk1"/>
                </a:solidFill>
                <a:latin typeface="Helvetica Neue"/>
                <a:ea typeface="Helvetica Neue"/>
                <a:cs typeface="Helvetica Neue"/>
                <a:sym typeface="Helvetica Neue"/>
              </a:rPr>
              <a:t>Target group background</a:t>
            </a:r>
            <a:endParaRPr sz="2600" b="0" i="1" u="none" strike="noStrike" cap="none">
              <a:solidFill>
                <a:schemeClr val="dk1"/>
              </a:solidFill>
              <a:latin typeface="Helvetica Neue"/>
              <a:ea typeface="Helvetica Neue"/>
              <a:cs typeface="Helvetica Neue"/>
              <a:sym typeface="Helvetica Neue"/>
            </a:endParaRPr>
          </a:p>
        </p:txBody>
      </p:sp>
      <p:sp>
        <p:nvSpPr>
          <p:cNvPr id="386" name="Google Shape;386;p32"/>
          <p:cNvSpPr txBox="1"/>
          <p:nvPr/>
        </p:nvSpPr>
        <p:spPr>
          <a:xfrm>
            <a:off x="10364624" y="9238202"/>
            <a:ext cx="1779600" cy="3009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a:solidFill>
                  <a:schemeClr val="dk1"/>
                </a:solidFill>
                <a:latin typeface="Helvetica Neue"/>
                <a:ea typeface="Helvetica Neue"/>
                <a:cs typeface="Helvetica Neue"/>
                <a:sym typeface="Helvetica Neue"/>
              </a:rPr>
              <a:t>Phillips et al., 2009</a:t>
            </a:r>
            <a:endParaRPr sz="1600" b="0" i="0" u="none" strike="noStrike" cap="none">
              <a:solidFill>
                <a:schemeClr val="dk1"/>
              </a:solidFill>
              <a:latin typeface="Helvetica Neue"/>
              <a:ea typeface="Helvetica Neue"/>
              <a:cs typeface="Helvetica Neue"/>
              <a:sym typeface="Helvetica Neue"/>
            </a:endParaRPr>
          </a:p>
        </p:txBody>
      </p:sp>
      <p:pic>
        <p:nvPicPr>
          <p:cNvPr id="387" name="Google Shape;387;p32"/>
          <p:cNvPicPr preferRelativeResize="0"/>
          <p:nvPr/>
        </p:nvPicPr>
        <p:blipFill rotWithShape="1">
          <a:blip r:embed="rId3">
            <a:alphaModFix/>
          </a:blip>
          <a:srcRect/>
          <a:stretch/>
        </p:blipFill>
        <p:spPr>
          <a:xfrm>
            <a:off x="8108014" y="2399996"/>
            <a:ext cx="4651697" cy="3347428"/>
          </a:xfrm>
          <a:prstGeom prst="rect">
            <a:avLst/>
          </a:prstGeom>
          <a:noFill/>
          <a:ln>
            <a:noFill/>
          </a:ln>
        </p:spPr>
      </p:pic>
      <p:pic>
        <p:nvPicPr>
          <p:cNvPr id="388" name="Google Shape;388;p32"/>
          <p:cNvPicPr preferRelativeResize="0"/>
          <p:nvPr/>
        </p:nvPicPr>
        <p:blipFill rotWithShape="1">
          <a:blip r:embed="rId4">
            <a:alphaModFix/>
          </a:blip>
          <a:srcRect/>
          <a:stretch/>
        </p:blipFill>
        <p:spPr>
          <a:xfrm>
            <a:off x="449494" y="6235808"/>
            <a:ext cx="8495274" cy="3414767"/>
          </a:xfrm>
          <a:prstGeom prst="rect">
            <a:avLst/>
          </a:prstGeom>
          <a:noFill/>
          <a:ln>
            <a:noFill/>
          </a:ln>
        </p:spPr>
      </p:pic>
      <p:sp>
        <p:nvSpPr>
          <p:cNvPr id="389" name="Google Shape;389;p32"/>
          <p:cNvSpPr txBox="1"/>
          <p:nvPr/>
        </p:nvSpPr>
        <p:spPr>
          <a:xfrm>
            <a:off x="9567400" y="5999425"/>
            <a:ext cx="30000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Helvetica Neue"/>
                <a:ea typeface="Helvetica Neue"/>
                <a:cs typeface="Helvetica Neue"/>
                <a:sym typeface="Helvetica Neue"/>
              </a:rPr>
              <a:t>Sampling density of all birds</a:t>
            </a:r>
            <a:endParaRPr sz="2800" b="0" i="0" u="none" strike="noStrike" cap="none">
              <a:solidFill>
                <a:schemeClr val="dk1"/>
              </a:solidFill>
              <a:latin typeface="Helvetica Neue"/>
              <a:ea typeface="Helvetica Neue"/>
              <a:cs typeface="Helvetica Neue"/>
              <a:sym typeface="Helvetica Neue"/>
            </a:endParaRPr>
          </a:p>
        </p:txBody>
      </p:sp>
      <p:sp>
        <p:nvSpPr>
          <p:cNvPr id="390" name="Google Shape;390;p32"/>
          <p:cNvSpPr txBox="1"/>
          <p:nvPr/>
        </p:nvSpPr>
        <p:spPr>
          <a:xfrm>
            <a:off x="838000" y="2994775"/>
            <a:ext cx="30000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Helvetica Neue"/>
                <a:ea typeface="Helvetica Neue"/>
                <a:cs typeface="Helvetica Neue"/>
                <a:sym typeface="Helvetica Neue"/>
              </a:rPr>
              <a:t>Golden-crowned kinglet  </a:t>
            </a:r>
            <a:endParaRPr sz="1400" b="0" i="0" u="none" strike="noStrike" cap="none">
              <a:solidFill>
                <a:schemeClr val="dk1"/>
              </a:solidFill>
              <a:latin typeface="Arial"/>
              <a:ea typeface="Arial"/>
              <a:cs typeface="Arial"/>
              <a:sym typeface="Arial"/>
            </a:endParaRPr>
          </a:p>
        </p:txBody>
      </p:sp>
      <p:pic>
        <p:nvPicPr>
          <p:cNvPr id="391" name="Google Shape;391;p32"/>
          <p:cNvPicPr preferRelativeResize="0"/>
          <p:nvPr/>
        </p:nvPicPr>
        <p:blipFill>
          <a:blip r:embed="rId5">
            <a:alphaModFix/>
          </a:blip>
          <a:stretch>
            <a:fillRect/>
          </a:stretch>
        </p:blipFill>
        <p:spPr>
          <a:xfrm>
            <a:off x="4078875" y="2854537"/>
            <a:ext cx="2603476" cy="1952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3"/>
          <p:cNvSpPr txBox="1">
            <a:spLocks noGrp="1"/>
          </p:cNvSpPr>
          <p:nvPr>
            <p:ph type="title"/>
          </p:nvPr>
        </p:nvSpPr>
        <p:spPr>
          <a:xfrm>
            <a:off x="571500" y="145791"/>
            <a:ext cx="11861700" cy="1765800"/>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a:t>Some things to take into consideration regardless of the algorithm: Point distribution</a:t>
            </a:r>
            <a:endParaRPr i="1"/>
          </a:p>
        </p:txBody>
      </p:sp>
      <p:sp>
        <p:nvSpPr>
          <p:cNvPr id="397" name="Google Shape;397;p33"/>
          <p:cNvSpPr txBox="1"/>
          <p:nvPr/>
        </p:nvSpPr>
        <p:spPr>
          <a:xfrm>
            <a:off x="-237547" y="5747428"/>
            <a:ext cx="4975800" cy="4857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2800"/>
              <a:buFont typeface="Helvetica Neue"/>
              <a:buNone/>
            </a:pPr>
            <a:r>
              <a:rPr lang="en-US" sz="2800" b="0" i="0" u="none" strike="noStrike" cap="none">
                <a:solidFill>
                  <a:schemeClr val="dk1"/>
                </a:solidFill>
                <a:latin typeface="Helvetica Neue"/>
                <a:ea typeface="Helvetica Neue"/>
                <a:cs typeface="Helvetica Neue"/>
                <a:sym typeface="Helvetica Neue"/>
              </a:rPr>
              <a:t>Biased presence data</a:t>
            </a:r>
            <a:endParaRPr sz="2800" b="0" i="0" u="none" strike="noStrike" cap="none">
              <a:solidFill>
                <a:schemeClr val="dk1"/>
              </a:solidFill>
              <a:latin typeface="Helvetica Neue"/>
              <a:ea typeface="Helvetica Neue"/>
              <a:cs typeface="Helvetica Neue"/>
              <a:sym typeface="Helvetica Neue"/>
            </a:endParaRPr>
          </a:p>
        </p:txBody>
      </p:sp>
      <p:sp>
        <p:nvSpPr>
          <p:cNvPr id="398" name="Google Shape;398;p33"/>
          <p:cNvSpPr txBox="1"/>
          <p:nvPr/>
        </p:nvSpPr>
        <p:spPr>
          <a:xfrm>
            <a:off x="4078875" y="5750100"/>
            <a:ext cx="57009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600"/>
              <a:buFont typeface="Arial"/>
              <a:buNone/>
            </a:pPr>
            <a:r>
              <a:rPr lang="en-US" sz="2600" b="0" i="0" u="none" strike="noStrike" cap="none">
                <a:solidFill>
                  <a:schemeClr val="dk1"/>
                </a:solidFill>
                <a:latin typeface="Helvetica Neue"/>
                <a:ea typeface="Helvetica Neue"/>
                <a:cs typeface="Helvetica Neue"/>
                <a:sym typeface="Helvetica Neue"/>
              </a:rPr>
              <a:t>Target group background</a:t>
            </a:r>
            <a:endParaRPr sz="2600" b="0" i="1" u="none" strike="noStrike" cap="none">
              <a:solidFill>
                <a:schemeClr val="dk1"/>
              </a:solidFill>
              <a:latin typeface="Helvetica Neue"/>
              <a:ea typeface="Helvetica Neue"/>
              <a:cs typeface="Helvetica Neue"/>
              <a:sym typeface="Helvetica Neue"/>
            </a:endParaRPr>
          </a:p>
        </p:txBody>
      </p:sp>
      <p:sp>
        <p:nvSpPr>
          <p:cNvPr id="399" name="Google Shape;399;p33"/>
          <p:cNvSpPr txBox="1"/>
          <p:nvPr/>
        </p:nvSpPr>
        <p:spPr>
          <a:xfrm>
            <a:off x="10364624" y="9238202"/>
            <a:ext cx="1779600" cy="3009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1600"/>
              <a:buFont typeface="Helvetica Neue"/>
              <a:buNone/>
            </a:pPr>
            <a:r>
              <a:rPr lang="en-US" sz="1600" b="0" i="0" u="none" strike="noStrike" cap="none">
                <a:solidFill>
                  <a:schemeClr val="dk1"/>
                </a:solidFill>
                <a:latin typeface="Helvetica Neue"/>
                <a:ea typeface="Helvetica Neue"/>
                <a:cs typeface="Helvetica Neue"/>
                <a:sym typeface="Helvetica Neue"/>
              </a:rPr>
              <a:t>Phillips et al., 2009</a:t>
            </a:r>
            <a:endParaRPr sz="1600" b="0" i="0" u="none" strike="noStrike" cap="none">
              <a:solidFill>
                <a:schemeClr val="dk1"/>
              </a:solidFill>
              <a:latin typeface="Helvetica Neue"/>
              <a:ea typeface="Helvetica Neue"/>
              <a:cs typeface="Helvetica Neue"/>
              <a:sym typeface="Helvetica Neue"/>
            </a:endParaRPr>
          </a:p>
        </p:txBody>
      </p:sp>
      <p:pic>
        <p:nvPicPr>
          <p:cNvPr id="400" name="Google Shape;400;p33"/>
          <p:cNvPicPr preferRelativeResize="0"/>
          <p:nvPr/>
        </p:nvPicPr>
        <p:blipFill rotWithShape="1">
          <a:blip r:embed="rId3">
            <a:alphaModFix/>
          </a:blip>
          <a:srcRect/>
          <a:stretch/>
        </p:blipFill>
        <p:spPr>
          <a:xfrm>
            <a:off x="8108014" y="2399996"/>
            <a:ext cx="4651697" cy="3347428"/>
          </a:xfrm>
          <a:prstGeom prst="rect">
            <a:avLst/>
          </a:prstGeom>
          <a:noFill/>
          <a:ln>
            <a:noFill/>
          </a:ln>
        </p:spPr>
      </p:pic>
      <p:pic>
        <p:nvPicPr>
          <p:cNvPr id="401" name="Google Shape;401;p33"/>
          <p:cNvPicPr preferRelativeResize="0"/>
          <p:nvPr/>
        </p:nvPicPr>
        <p:blipFill rotWithShape="1">
          <a:blip r:embed="rId4">
            <a:alphaModFix/>
          </a:blip>
          <a:srcRect/>
          <a:stretch/>
        </p:blipFill>
        <p:spPr>
          <a:xfrm>
            <a:off x="449494" y="6235808"/>
            <a:ext cx="8495274" cy="3414767"/>
          </a:xfrm>
          <a:prstGeom prst="rect">
            <a:avLst/>
          </a:prstGeom>
          <a:noFill/>
          <a:ln>
            <a:noFill/>
          </a:ln>
        </p:spPr>
      </p:pic>
      <p:sp>
        <p:nvSpPr>
          <p:cNvPr id="402" name="Google Shape;402;p33"/>
          <p:cNvSpPr txBox="1"/>
          <p:nvPr/>
        </p:nvSpPr>
        <p:spPr>
          <a:xfrm>
            <a:off x="9567400" y="5999425"/>
            <a:ext cx="30000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Helvetica Neue"/>
                <a:ea typeface="Helvetica Neue"/>
                <a:cs typeface="Helvetica Neue"/>
                <a:sym typeface="Helvetica Neue"/>
              </a:rPr>
              <a:t>Sampling density of all birds</a:t>
            </a:r>
            <a:endParaRPr sz="2800" b="0" i="0" u="none" strike="noStrike" cap="none">
              <a:solidFill>
                <a:schemeClr val="dk1"/>
              </a:solidFill>
              <a:latin typeface="Helvetica Neue"/>
              <a:ea typeface="Helvetica Neue"/>
              <a:cs typeface="Helvetica Neue"/>
              <a:sym typeface="Helvetica Neue"/>
            </a:endParaRPr>
          </a:p>
        </p:txBody>
      </p:sp>
      <p:sp>
        <p:nvSpPr>
          <p:cNvPr id="403" name="Google Shape;403;p33"/>
          <p:cNvSpPr txBox="1"/>
          <p:nvPr/>
        </p:nvSpPr>
        <p:spPr>
          <a:xfrm>
            <a:off x="838000" y="2994775"/>
            <a:ext cx="3000000" cy="1046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Helvetica Neue"/>
                <a:ea typeface="Helvetica Neue"/>
                <a:cs typeface="Helvetica Neue"/>
                <a:sym typeface="Helvetica Neue"/>
              </a:rPr>
              <a:t>Golden-crowned kinglet  </a:t>
            </a:r>
            <a:endParaRPr sz="1400" b="0" i="0" u="none" strike="noStrike" cap="none">
              <a:solidFill>
                <a:schemeClr val="dk1"/>
              </a:solidFill>
              <a:latin typeface="Arial"/>
              <a:ea typeface="Arial"/>
              <a:cs typeface="Arial"/>
              <a:sym typeface="Arial"/>
            </a:endParaRPr>
          </a:p>
        </p:txBody>
      </p:sp>
      <p:sp>
        <p:nvSpPr>
          <p:cNvPr id="404" name="Google Shape;404;p33"/>
          <p:cNvSpPr/>
          <p:nvPr/>
        </p:nvSpPr>
        <p:spPr>
          <a:xfrm>
            <a:off x="396506" y="6292312"/>
            <a:ext cx="4533000" cy="3246900"/>
          </a:xfrm>
          <a:prstGeom prst="ellipse">
            <a:avLst/>
          </a:prstGeom>
          <a:noFill/>
          <a:ln w="38100" cap="flat" cmpd="sng">
            <a:solidFill>
              <a:srgbClr val="FF0000"/>
            </a:solidFill>
            <a:prstDash val="solid"/>
            <a:miter lim="400000"/>
            <a:headEnd type="none" w="sm" len="sm"/>
            <a:tailEnd type="none" w="sm" len="sm"/>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endParaRPr sz="2200" b="0" i="0" u="none" strike="noStrike" cap="none">
              <a:solidFill>
                <a:srgbClr val="000000"/>
              </a:solidFill>
              <a:latin typeface="Helvetica Neue"/>
              <a:ea typeface="Helvetica Neue"/>
              <a:cs typeface="Helvetica Neue"/>
              <a:sym typeface="Helvetica Neue"/>
            </a:endParaRPr>
          </a:p>
        </p:txBody>
      </p:sp>
      <p:sp>
        <p:nvSpPr>
          <p:cNvPr id="405" name="Google Shape;405;p33"/>
          <p:cNvSpPr/>
          <p:nvPr/>
        </p:nvSpPr>
        <p:spPr>
          <a:xfrm>
            <a:off x="8414652" y="2332054"/>
            <a:ext cx="4533000" cy="3246900"/>
          </a:xfrm>
          <a:prstGeom prst="ellipse">
            <a:avLst/>
          </a:prstGeom>
          <a:noFill/>
          <a:ln w="38100" cap="flat" cmpd="sng">
            <a:solidFill>
              <a:srgbClr val="FF0000"/>
            </a:solidFill>
            <a:prstDash val="solid"/>
            <a:miter lim="400000"/>
            <a:headEnd type="none" w="sm" len="sm"/>
            <a:tailEnd type="none" w="sm" len="sm"/>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Helvetica Neue"/>
              <a:buNone/>
            </a:pPr>
            <a:endParaRPr sz="2200" b="0" i="0" u="none" strike="noStrike" cap="none">
              <a:solidFill>
                <a:srgbClr val="000000"/>
              </a:solidFill>
              <a:latin typeface="Helvetica Neue"/>
              <a:ea typeface="Helvetica Neue"/>
              <a:cs typeface="Helvetica Neue"/>
              <a:sym typeface="Helvetica Neue"/>
            </a:endParaRPr>
          </a:p>
        </p:txBody>
      </p:sp>
      <p:pic>
        <p:nvPicPr>
          <p:cNvPr id="406" name="Google Shape;406;p33"/>
          <p:cNvPicPr preferRelativeResize="0"/>
          <p:nvPr/>
        </p:nvPicPr>
        <p:blipFill>
          <a:blip r:embed="rId5">
            <a:alphaModFix/>
          </a:blip>
          <a:stretch>
            <a:fillRect/>
          </a:stretch>
        </p:blipFill>
        <p:spPr>
          <a:xfrm>
            <a:off x="4078875" y="2854537"/>
            <a:ext cx="2603476" cy="19526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pic>
        <p:nvPicPr>
          <p:cNvPr id="411" name="Google Shape;411;p34" descr="Screen Shot 2013-06-03 at 1.25.52 PM.png"/>
          <p:cNvPicPr preferRelativeResize="0"/>
          <p:nvPr/>
        </p:nvPicPr>
        <p:blipFill rotWithShape="1">
          <a:blip r:embed="rId3">
            <a:alphaModFix/>
          </a:blip>
          <a:srcRect/>
          <a:stretch/>
        </p:blipFill>
        <p:spPr>
          <a:xfrm>
            <a:off x="0" y="3046209"/>
            <a:ext cx="6794501" cy="3308210"/>
          </a:xfrm>
          <a:prstGeom prst="rect">
            <a:avLst/>
          </a:prstGeom>
          <a:noFill/>
          <a:ln>
            <a:noFill/>
          </a:ln>
        </p:spPr>
      </p:pic>
      <p:pic>
        <p:nvPicPr>
          <p:cNvPr id="412" name="Google Shape;412;p34" descr="Screen Shot 2013-06-03 at 1.26.51 PM.png"/>
          <p:cNvPicPr preferRelativeResize="0"/>
          <p:nvPr/>
        </p:nvPicPr>
        <p:blipFill rotWithShape="1">
          <a:blip r:embed="rId4">
            <a:alphaModFix/>
          </a:blip>
          <a:srcRect/>
          <a:stretch/>
        </p:blipFill>
        <p:spPr>
          <a:xfrm>
            <a:off x="2729010" y="6592263"/>
            <a:ext cx="6375401" cy="3118266"/>
          </a:xfrm>
          <a:prstGeom prst="rect">
            <a:avLst/>
          </a:prstGeom>
          <a:noFill/>
          <a:ln>
            <a:noFill/>
          </a:ln>
        </p:spPr>
      </p:pic>
      <p:pic>
        <p:nvPicPr>
          <p:cNvPr id="413" name="Google Shape;413;p34" descr="Screen Shot 2013-06-03 at 1.26.43 PM.png"/>
          <p:cNvPicPr preferRelativeResize="0"/>
          <p:nvPr/>
        </p:nvPicPr>
        <p:blipFill rotWithShape="1">
          <a:blip r:embed="rId5">
            <a:alphaModFix/>
          </a:blip>
          <a:srcRect/>
          <a:stretch/>
        </p:blipFill>
        <p:spPr>
          <a:xfrm>
            <a:off x="6494723" y="3115786"/>
            <a:ext cx="6565900" cy="3241394"/>
          </a:xfrm>
          <a:prstGeom prst="rect">
            <a:avLst/>
          </a:prstGeom>
          <a:noFill/>
          <a:ln>
            <a:noFill/>
          </a:ln>
        </p:spPr>
      </p:pic>
      <p:sp>
        <p:nvSpPr>
          <p:cNvPr id="414" name="Google Shape;414;p34"/>
          <p:cNvSpPr txBox="1"/>
          <p:nvPr/>
        </p:nvSpPr>
        <p:spPr>
          <a:xfrm>
            <a:off x="437590" y="5727119"/>
            <a:ext cx="5562600" cy="441300"/>
          </a:xfrm>
          <a:prstGeom prst="rect">
            <a:avLst/>
          </a:prstGeom>
          <a:solidFill>
            <a:srgbClr val="FFFFFF"/>
          </a:solid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000000"/>
              </a:buClr>
              <a:buSzPts val="2200"/>
              <a:buFont typeface="Helvetica Neue Light"/>
              <a:buNone/>
            </a:pPr>
            <a:r>
              <a:rPr lang="en-US" sz="2200" b="0" i="0" u="none" strike="noStrike" cap="none">
                <a:solidFill>
                  <a:srgbClr val="000000"/>
                </a:solidFill>
                <a:latin typeface="Helvetica Neue Light"/>
                <a:ea typeface="Helvetica Neue Light"/>
                <a:cs typeface="Helvetica Neue Light"/>
                <a:sym typeface="Helvetica Neue Light"/>
              </a:rPr>
              <a:t>Stations with precipitation data</a:t>
            </a:r>
            <a:endParaRPr sz="2200" b="0" i="1" u="none" strike="noStrike" cap="none">
              <a:solidFill>
                <a:srgbClr val="000000"/>
              </a:solidFill>
              <a:latin typeface="Helvetica Neue Light"/>
              <a:ea typeface="Helvetica Neue Light"/>
              <a:cs typeface="Helvetica Neue Light"/>
              <a:sym typeface="Helvetica Neue Light"/>
            </a:endParaRPr>
          </a:p>
        </p:txBody>
      </p:sp>
      <p:sp>
        <p:nvSpPr>
          <p:cNvPr id="415" name="Google Shape;415;p34"/>
          <p:cNvSpPr txBox="1"/>
          <p:nvPr/>
        </p:nvSpPr>
        <p:spPr>
          <a:xfrm>
            <a:off x="7002723" y="5454826"/>
            <a:ext cx="5562600" cy="780000"/>
          </a:xfrm>
          <a:prstGeom prst="rect">
            <a:avLst/>
          </a:prstGeom>
          <a:solidFill>
            <a:srgbClr val="FFFFFF"/>
          </a:solid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000000"/>
              </a:buClr>
              <a:buSzPts val="2200"/>
              <a:buFont typeface="Helvetica Neue Light"/>
              <a:buNone/>
            </a:pPr>
            <a:r>
              <a:rPr lang="en-US" sz="2200" b="0" i="0" u="none" strike="noStrike" cap="none">
                <a:solidFill>
                  <a:srgbClr val="000000"/>
                </a:solidFill>
                <a:latin typeface="Helvetica Neue Light"/>
                <a:ea typeface="Helvetica Neue Light"/>
                <a:cs typeface="Helvetica Neue Light"/>
                <a:sym typeface="Helvetica Neue Light"/>
              </a:rPr>
              <a:t>Stations with mean temperature data</a:t>
            </a:r>
            <a:endParaRPr sz="2200" b="0" i="0" u="none" strike="noStrike" cap="none">
              <a:solidFill>
                <a:srgbClr val="000000"/>
              </a:solidFill>
              <a:latin typeface="Helvetica Neue Light"/>
              <a:ea typeface="Helvetica Neue Light"/>
              <a:cs typeface="Helvetica Neue Light"/>
              <a:sym typeface="Helvetica Neue Light"/>
            </a:endParaRPr>
          </a:p>
          <a:p>
            <a:pPr marL="0" marR="0" lvl="0" indent="0" algn="l" rtl="0">
              <a:lnSpc>
                <a:spcPct val="100000"/>
              </a:lnSpc>
              <a:spcBef>
                <a:spcPts val="0"/>
              </a:spcBef>
              <a:spcAft>
                <a:spcPts val="0"/>
              </a:spcAft>
              <a:buClr>
                <a:srgbClr val="000000"/>
              </a:buClr>
              <a:buSzPts val="2200"/>
              <a:buFont typeface="Helvetica Neue Light"/>
              <a:buNone/>
            </a:pPr>
            <a:endParaRPr sz="2200" b="0" i="1" u="none" strike="noStrike" cap="none">
              <a:solidFill>
                <a:srgbClr val="000000"/>
              </a:solidFill>
              <a:latin typeface="Helvetica Neue Light"/>
              <a:ea typeface="Helvetica Neue Light"/>
              <a:cs typeface="Helvetica Neue Light"/>
              <a:sym typeface="Helvetica Neue Light"/>
            </a:endParaRPr>
          </a:p>
        </p:txBody>
      </p:sp>
      <p:sp>
        <p:nvSpPr>
          <p:cNvPr id="416" name="Google Shape;416;p34"/>
          <p:cNvSpPr txBox="1"/>
          <p:nvPr/>
        </p:nvSpPr>
        <p:spPr>
          <a:xfrm>
            <a:off x="2985301" y="8963495"/>
            <a:ext cx="6251400" cy="441300"/>
          </a:xfrm>
          <a:prstGeom prst="rect">
            <a:avLst/>
          </a:prstGeom>
          <a:solidFill>
            <a:srgbClr val="FFFFFF"/>
          </a:solid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000000"/>
              </a:buClr>
              <a:buSzPts val="2200"/>
              <a:buFont typeface="Helvetica Neue Light"/>
              <a:buNone/>
            </a:pPr>
            <a:r>
              <a:rPr lang="en-US" sz="2200" b="0" i="0" u="none" strike="noStrike" cap="none">
                <a:solidFill>
                  <a:srgbClr val="000000"/>
                </a:solidFill>
                <a:latin typeface="Helvetica Neue Light"/>
                <a:ea typeface="Helvetica Neue Light"/>
                <a:cs typeface="Helvetica Neue Light"/>
                <a:sym typeface="Helvetica Neue Light"/>
              </a:rPr>
              <a:t>Stations with temperature range data </a:t>
            </a:r>
            <a:endParaRPr sz="2200" b="0" i="1" u="none" strike="noStrike" cap="none">
              <a:solidFill>
                <a:srgbClr val="000000"/>
              </a:solidFill>
              <a:latin typeface="Helvetica Neue Light"/>
              <a:ea typeface="Helvetica Neue Light"/>
              <a:cs typeface="Helvetica Neue Light"/>
              <a:sym typeface="Helvetica Neue Light"/>
            </a:endParaRPr>
          </a:p>
        </p:txBody>
      </p:sp>
      <p:sp>
        <p:nvSpPr>
          <p:cNvPr id="417" name="Google Shape;417;p34"/>
          <p:cNvSpPr txBox="1"/>
          <p:nvPr/>
        </p:nvSpPr>
        <p:spPr>
          <a:xfrm>
            <a:off x="8831358" y="7442200"/>
            <a:ext cx="2684222" cy="736600"/>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000000"/>
              </a:buClr>
              <a:buSzPts val="4200"/>
              <a:buFont typeface="Helvetica Neue Light"/>
              <a:buNone/>
            </a:pPr>
            <a:r>
              <a:rPr lang="en-US" sz="4200" b="0" i="0" u="none" strike="noStrike" cap="none">
                <a:solidFill>
                  <a:srgbClr val="000000"/>
                </a:solidFill>
                <a:latin typeface="Helvetica Neue Light"/>
                <a:ea typeface="Helvetica Neue Light"/>
                <a:cs typeface="Helvetica Neue Light"/>
                <a:sym typeface="Helvetica Neue Light"/>
              </a:rPr>
              <a:t>1950-2000</a:t>
            </a:r>
            <a:endParaRPr sz="1400" b="0" i="0" u="none" strike="noStrike" cap="none">
              <a:solidFill>
                <a:srgbClr val="000000"/>
              </a:solidFill>
              <a:latin typeface="Arial"/>
              <a:ea typeface="Arial"/>
              <a:cs typeface="Arial"/>
              <a:sym typeface="Arial"/>
            </a:endParaRPr>
          </a:p>
        </p:txBody>
      </p:sp>
      <p:sp>
        <p:nvSpPr>
          <p:cNvPr id="418" name="Google Shape;418;p34"/>
          <p:cNvSpPr txBox="1">
            <a:spLocks noGrp="1"/>
          </p:cNvSpPr>
          <p:nvPr>
            <p:ph type="title"/>
          </p:nvPr>
        </p:nvSpPr>
        <p:spPr>
          <a:xfrm>
            <a:off x="571500" y="145791"/>
            <a:ext cx="11861800" cy="1765818"/>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 </a:t>
            </a:r>
            <a:r>
              <a:rPr lang="en-US" sz="3600" dirty="0">
                <a:solidFill>
                  <a:schemeClr val="dk1"/>
                </a:solidFill>
              </a:rPr>
              <a:t>About predictor variables: </a:t>
            </a:r>
            <a:r>
              <a:rPr lang="en-US" sz="3600" dirty="0" err="1">
                <a:solidFill>
                  <a:schemeClr val="dk1"/>
                </a:solidFill>
              </a:rPr>
              <a:t>Worldclim</a:t>
            </a:r>
            <a:endParaRPr i="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pic>
        <p:nvPicPr>
          <p:cNvPr id="1028" name="Picture 4">
            <a:extLst>
              <a:ext uri="{FF2B5EF4-FFF2-40B4-BE49-F238E27FC236}">
                <a16:creationId xmlns:a16="http://schemas.microsoft.com/office/drawing/2014/main" id="{9D651620-C881-1767-04A0-94272F953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152" y="3071227"/>
            <a:ext cx="9517324" cy="6283874"/>
          </a:xfrm>
          <a:prstGeom prst="rect">
            <a:avLst/>
          </a:prstGeom>
          <a:noFill/>
          <a:extLst>
            <a:ext uri="{909E8E84-426E-40DD-AFC4-6F175D3DCCD1}">
              <a14:hiddenFill xmlns:a14="http://schemas.microsoft.com/office/drawing/2010/main">
                <a:solidFill>
                  <a:srgbClr val="FFFFFF"/>
                </a:solidFill>
              </a14:hiddenFill>
            </a:ext>
          </a:extLst>
        </p:spPr>
      </p:pic>
      <p:sp>
        <p:nvSpPr>
          <p:cNvPr id="423" name="Google Shape;423;p35"/>
          <p:cNvSpPr txBox="1">
            <a:spLocks noGrp="1"/>
          </p:cNvSpPr>
          <p:nvPr>
            <p:ph type="title"/>
          </p:nvPr>
        </p:nvSpPr>
        <p:spPr>
          <a:xfrm>
            <a:off x="571500" y="145791"/>
            <a:ext cx="11861800" cy="1765818"/>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 variable correlation</a:t>
            </a:r>
            <a:endParaRPr i="1" dirty="0"/>
          </a:p>
        </p:txBody>
      </p:sp>
      <p:sp>
        <p:nvSpPr>
          <p:cNvPr id="424" name="Google Shape;424;p35"/>
          <p:cNvSpPr txBox="1"/>
          <p:nvPr/>
        </p:nvSpPr>
        <p:spPr>
          <a:xfrm>
            <a:off x="1584654" y="2246826"/>
            <a:ext cx="10169700" cy="824400"/>
          </a:xfrm>
          <a:prstGeom prst="rect">
            <a:avLst/>
          </a:prstGeom>
          <a:noFill/>
          <a:ln>
            <a:noFill/>
          </a:ln>
        </p:spPr>
        <p:txBody>
          <a:bodyPr spcFirstLastPara="1" wrap="square" lIns="27075" tIns="27075" rIns="27075" bIns="27075" anchor="ctr" anchorCtr="0">
            <a:spAutoFit/>
          </a:bodyPr>
          <a:lstStyle/>
          <a:p>
            <a:pPr marL="342900" marR="0" lvl="0" indent="-342900" algn="l" rtl="0">
              <a:lnSpc>
                <a:spcPct val="100000"/>
              </a:lnSpc>
              <a:spcBef>
                <a:spcPts val="0"/>
              </a:spcBef>
              <a:spcAft>
                <a:spcPts val="0"/>
              </a:spcAft>
              <a:buClr>
                <a:srgbClr val="000000"/>
              </a:buClr>
              <a:buSzPts val="2500"/>
              <a:buFont typeface="Arial"/>
              <a:buChar char="•"/>
            </a:pPr>
            <a:r>
              <a:rPr lang="en-US" sz="2500" b="0" i="0" u="none" strike="noStrike" cap="none">
                <a:solidFill>
                  <a:srgbClr val="000000"/>
                </a:solidFill>
                <a:latin typeface="Helvetica Neue Light"/>
                <a:ea typeface="Helvetica Neue Light"/>
                <a:cs typeface="Helvetica Neue Light"/>
                <a:sym typeface="Helvetica Neue Light"/>
              </a:rPr>
              <a:t>Models built with one of 4 correlated variables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500"/>
              <a:buFont typeface="Arial"/>
              <a:buChar char="•"/>
            </a:pPr>
            <a:r>
              <a:rPr lang="en-US" sz="2500" b="0" i="0" u="none" strike="noStrike" cap="none">
                <a:solidFill>
                  <a:srgbClr val="000000"/>
                </a:solidFill>
                <a:latin typeface="Helvetica Neue Light"/>
                <a:ea typeface="Helvetica Neue Light"/>
                <a:cs typeface="Helvetica Neue Light"/>
                <a:sym typeface="Helvetica Neue Light"/>
              </a:rPr>
              <a:t>High consensus for present, but low consensus for future prediction</a:t>
            </a:r>
            <a:endParaRPr sz="2500" b="0" i="1" u="none" strike="noStrike" cap="none">
              <a:solidFill>
                <a:srgbClr val="000000"/>
              </a:solidFill>
              <a:latin typeface="Helvetica Neue Light"/>
              <a:ea typeface="Helvetica Neue Light"/>
              <a:cs typeface="Helvetica Neue Light"/>
              <a:sym typeface="Helvetica Neue Light"/>
            </a:endParaRPr>
          </a:p>
        </p:txBody>
      </p:sp>
      <p:sp>
        <p:nvSpPr>
          <p:cNvPr id="427" name="Google Shape;427;p35"/>
          <p:cNvSpPr txBox="1"/>
          <p:nvPr/>
        </p:nvSpPr>
        <p:spPr>
          <a:xfrm>
            <a:off x="5723450" y="6824168"/>
            <a:ext cx="1557900" cy="6705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chemeClr val="dk1"/>
              </a:buClr>
              <a:buSzPts val="2000"/>
              <a:buFont typeface="Helvetica Neue"/>
              <a:buNone/>
            </a:pPr>
            <a:r>
              <a:rPr lang="en-US" sz="2000" b="0" i="0" u="none" strike="noStrike" cap="none" dirty="0">
                <a:solidFill>
                  <a:schemeClr val="dk1"/>
                </a:solidFill>
                <a:latin typeface="Helvetica Neue"/>
                <a:ea typeface="Helvetica Neue"/>
                <a:cs typeface="Helvetica Neue"/>
                <a:sym typeface="Helvetica Neue"/>
              </a:rPr>
              <a:t>Model Consensus</a:t>
            </a:r>
            <a:endParaRPr sz="1400" b="0" i="0" u="none" strike="noStrike" cap="none" dirty="0">
              <a:solidFill>
                <a:srgbClr val="000000"/>
              </a:solidFill>
              <a:latin typeface="Arial"/>
              <a:ea typeface="Arial"/>
              <a:cs typeface="Arial"/>
              <a:sym typeface="Arial"/>
            </a:endParaRPr>
          </a:p>
        </p:txBody>
      </p:sp>
      <p:sp>
        <p:nvSpPr>
          <p:cNvPr id="428" name="Google Shape;428;p35"/>
          <p:cNvSpPr txBox="1"/>
          <p:nvPr/>
        </p:nvSpPr>
        <p:spPr>
          <a:xfrm>
            <a:off x="3288230" y="3373000"/>
            <a:ext cx="1275000" cy="3624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chemeClr val="dk1"/>
              </a:buClr>
              <a:buSzPts val="2000"/>
              <a:buFont typeface="Helvetica Neue"/>
              <a:buNone/>
            </a:pPr>
            <a:r>
              <a:rPr lang="en-US" sz="2000" b="0" i="0" u="none" strike="noStrike" cap="none" dirty="0">
                <a:solidFill>
                  <a:schemeClr val="dk1"/>
                </a:solidFill>
                <a:latin typeface="Helvetica Neue"/>
                <a:ea typeface="Helvetica Neue"/>
                <a:cs typeface="Helvetica Neue"/>
                <a:sym typeface="Helvetica Neue"/>
              </a:rPr>
              <a:t>Present</a:t>
            </a:r>
            <a:endParaRPr sz="1400" b="0" i="0" u="none" strike="noStrike" cap="none" dirty="0">
              <a:solidFill>
                <a:srgbClr val="000000"/>
              </a:solidFill>
              <a:latin typeface="Arial"/>
              <a:ea typeface="Arial"/>
              <a:cs typeface="Arial"/>
              <a:sym typeface="Arial"/>
            </a:endParaRPr>
          </a:p>
        </p:txBody>
      </p:sp>
      <p:sp>
        <p:nvSpPr>
          <p:cNvPr id="429" name="Google Shape;429;p35"/>
          <p:cNvSpPr txBox="1"/>
          <p:nvPr/>
        </p:nvSpPr>
        <p:spPr>
          <a:xfrm>
            <a:off x="8973474" y="3340694"/>
            <a:ext cx="1093200" cy="362400"/>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chemeClr val="dk1"/>
              </a:buClr>
              <a:buSzPts val="2000"/>
              <a:buFont typeface="Helvetica Neue"/>
              <a:buNone/>
            </a:pPr>
            <a:r>
              <a:rPr lang="en-US" sz="2000" b="0" i="0" u="none" strike="noStrike" cap="none" dirty="0">
                <a:solidFill>
                  <a:schemeClr val="dk1"/>
                </a:solidFill>
                <a:latin typeface="Helvetica Neue"/>
                <a:ea typeface="Helvetica Neue"/>
                <a:cs typeface="Helvetica Neue"/>
                <a:sym typeface="Helvetica Neue"/>
              </a:rPr>
              <a:t>Future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pic>
        <p:nvPicPr>
          <p:cNvPr id="434" name="Google Shape;434;p36" descr="Modelo_noumbral.jpg"/>
          <p:cNvPicPr preferRelativeResize="0"/>
          <p:nvPr/>
        </p:nvPicPr>
        <p:blipFill rotWithShape="1">
          <a:blip r:embed="rId3">
            <a:alphaModFix/>
          </a:blip>
          <a:srcRect/>
          <a:stretch/>
        </p:blipFill>
        <p:spPr>
          <a:xfrm>
            <a:off x="4331252" y="2496925"/>
            <a:ext cx="7396451" cy="5842000"/>
          </a:xfrm>
          <a:prstGeom prst="rect">
            <a:avLst/>
          </a:prstGeom>
          <a:noFill/>
          <a:ln>
            <a:noFill/>
          </a:ln>
        </p:spPr>
      </p:pic>
      <p:sp>
        <p:nvSpPr>
          <p:cNvPr id="435" name="Google Shape;435;p36"/>
          <p:cNvSpPr txBox="1"/>
          <p:nvPr/>
        </p:nvSpPr>
        <p:spPr>
          <a:xfrm>
            <a:off x="9427030" y="8912345"/>
            <a:ext cx="3283654" cy="841256"/>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606060"/>
              </a:buClr>
              <a:buSzPts val="2400"/>
              <a:buFont typeface="Helvetica Neue Light"/>
              <a:buNone/>
            </a:pPr>
            <a:r>
              <a:rPr lang="en-US" sz="2400" b="0" i="0" u="none" strike="noStrike" cap="none" dirty="0">
                <a:solidFill>
                  <a:srgbClr val="606060"/>
                </a:solidFill>
                <a:latin typeface="Helvetica Neue Light"/>
                <a:ea typeface="Helvetica Neue Light"/>
                <a:cs typeface="Helvetica Neue Light"/>
                <a:sym typeface="Helvetica Neue Light"/>
              </a:rPr>
              <a:t>Liu et al.2005</a:t>
            </a:r>
          </a:p>
          <a:p>
            <a:pPr marL="0" marR="0" lvl="0" indent="0" algn="ctr" rtl="0">
              <a:lnSpc>
                <a:spcPct val="100000"/>
              </a:lnSpc>
              <a:spcBef>
                <a:spcPts val="0"/>
              </a:spcBef>
              <a:spcAft>
                <a:spcPts val="0"/>
              </a:spcAft>
              <a:buClr>
                <a:srgbClr val="606060"/>
              </a:buClr>
              <a:buSzPts val="2400"/>
              <a:buFont typeface="Helvetica Neue Light"/>
              <a:buNone/>
            </a:pPr>
            <a:r>
              <a:rPr lang="en-US" sz="2400" b="0" i="0" u="none" strike="noStrike" cap="none" dirty="0">
                <a:solidFill>
                  <a:srgbClr val="606060"/>
                </a:solidFill>
                <a:latin typeface="Helvetica Neue Light"/>
                <a:ea typeface="Helvetica Neue Light"/>
                <a:cs typeface="Helvetica Neue Light"/>
                <a:sym typeface="Helvetica Neue Light"/>
              </a:rPr>
              <a:t>Pearson et al. 2006</a:t>
            </a:r>
            <a:endParaRPr sz="1400" b="0" i="0" u="none" strike="noStrike" cap="none" dirty="0">
              <a:solidFill>
                <a:srgbClr val="000000"/>
              </a:solidFill>
              <a:latin typeface="Arial"/>
              <a:ea typeface="Arial"/>
              <a:cs typeface="Arial"/>
              <a:sym typeface="Arial"/>
            </a:endParaRPr>
          </a:p>
        </p:txBody>
      </p:sp>
      <p:sp>
        <p:nvSpPr>
          <p:cNvPr id="436" name="Google Shape;436;p36"/>
          <p:cNvSpPr txBox="1">
            <a:spLocks noGrp="1"/>
          </p:cNvSpPr>
          <p:nvPr>
            <p:ph type="title"/>
          </p:nvPr>
        </p:nvSpPr>
        <p:spPr>
          <a:xfrm>
            <a:off x="571500" y="145791"/>
            <a:ext cx="11861800" cy="1765818"/>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 thresholds</a:t>
            </a:r>
            <a:endParaRPr i="1" dirty="0"/>
          </a:p>
        </p:txBody>
      </p:sp>
      <p:sp>
        <p:nvSpPr>
          <p:cNvPr id="437" name="Google Shape;437;p36"/>
          <p:cNvSpPr txBox="1"/>
          <p:nvPr/>
        </p:nvSpPr>
        <p:spPr>
          <a:xfrm>
            <a:off x="478735" y="2507464"/>
            <a:ext cx="4206600" cy="439500"/>
          </a:xfrm>
          <a:prstGeom prst="rect">
            <a:avLst/>
          </a:prstGeom>
          <a:noFill/>
          <a:ln>
            <a:noFill/>
          </a:ln>
        </p:spPr>
        <p:txBody>
          <a:bodyPr spcFirstLastPara="1" wrap="square" lIns="27075" tIns="27075" rIns="27075" bIns="27075" anchor="ctr" anchorCtr="0">
            <a:spAutoFit/>
          </a:bodyPr>
          <a:lstStyle/>
          <a:p>
            <a:pPr marL="0" marR="0" lvl="0" indent="0" algn="l" rtl="0">
              <a:lnSpc>
                <a:spcPct val="100000"/>
              </a:lnSpc>
              <a:spcBef>
                <a:spcPts val="0"/>
              </a:spcBef>
              <a:spcAft>
                <a:spcPts val="0"/>
              </a:spcAft>
              <a:buClr>
                <a:srgbClr val="000000"/>
              </a:buClr>
              <a:buSzPts val="2500"/>
              <a:buFont typeface="Helvetica Neue Light"/>
              <a:buNone/>
            </a:pPr>
            <a:r>
              <a:rPr lang="en-US" sz="2500" b="0" i="0" u="none" strike="noStrike" cap="none">
                <a:solidFill>
                  <a:srgbClr val="000000"/>
                </a:solidFill>
                <a:latin typeface="Helvetica Neue Light"/>
                <a:ea typeface="Helvetica Neue Light"/>
                <a:cs typeface="Helvetica Neue Light"/>
                <a:sym typeface="Helvetica Neue Light"/>
              </a:rPr>
              <a:t>Thresholds and binary models</a:t>
            </a:r>
            <a:endParaRPr sz="2500" b="0" i="1" u="none" strike="noStrike" cap="none">
              <a:solidFill>
                <a:srgbClr val="000000"/>
              </a:solidFill>
              <a:latin typeface="Helvetica Neue Light"/>
              <a:ea typeface="Helvetica Neue Light"/>
              <a:cs typeface="Helvetica Neue Light"/>
              <a:sym typeface="Helvetica Neue Light"/>
            </a:endParaRPr>
          </a:p>
        </p:txBody>
      </p:sp>
      <p:sp>
        <p:nvSpPr>
          <p:cNvPr id="438" name="Google Shape;438;p36"/>
          <p:cNvSpPr txBox="1"/>
          <p:nvPr/>
        </p:nvSpPr>
        <p:spPr>
          <a:xfrm>
            <a:off x="294116" y="8924241"/>
            <a:ext cx="4299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Helvetica Neue"/>
                <a:ea typeface="Helvetica Neue"/>
                <a:cs typeface="Helvetica Neue"/>
                <a:sym typeface="Helvetica Neue"/>
              </a:rPr>
              <a:t>Example modified from course materials by Peterson, </a:t>
            </a:r>
            <a:r>
              <a:rPr lang="en-US" sz="1400" b="0" i="0" u="none" strike="noStrike" cap="none" dirty="0" err="1">
                <a:solidFill>
                  <a:srgbClr val="000000"/>
                </a:solidFill>
                <a:latin typeface="Helvetica Neue"/>
                <a:ea typeface="Helvetica Neue"/>
                <a:cs typeface="Helvetica Neue"/>
                <a:sym typeface="Helvetica Neue"/>
              </a:rPr>
              <a:t>Soberon</a:t>
            </a:r>
            <a:r>
              <a:rPr lang="en-US" sz="1400" b="0" i="0" u="none" strike="noStrike" cap="none" dirty="0">
                <a:solidFill>
                  <a:srgbClr val="000000"/>
                </a:solidFill>
                <a:latin typeface="Helvetica Neue"/>
                <a:ea typeface="Helvetica Neue"/>
                <a:cs typeface="Helvetica Neue"/>
                <a:sym typeface="Helvetica Neue"/>
              </a:rPr>
              <a:t> &amp; Martinez-Meyer, 2013</a:t>
            </a:r>
            <a:endParaRPr sz="1400" b="0" i="0" u="none" strike="noStrike" cap="none" dirty="0">
              <a:solidFill>
                <a:srgbClr val="000000"/>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37" descr="Modelo_T10.jpg"/>
          <p:cNvPicPr preferRelativeResize="0"/>
          <p:nvPr/>
        </p:nvPicPr>
        <p:blipFill rotWithShape="1">
          <a:blip r:embed="rId3">
            <a:alphaModFix/>
          </a:blip>
          <a:srcRect/>
          <a:stretch/>
        </p:blipFill>
        <p:spPr>
          <a:xfrm>
            <a:off x="0" y="3059605"/>
            <a:ext cx="4660900" cy="3681358"/>
          </a:xfrm>
          <a:prstGeom prst="rect">
            <a:avLst/>
          </a:prstGeom>
          <a:noFill/>
          <a:ln>
            <a:noFill/>
          </a:ln>
        </p:spPr>
      </p:pic>
      <p:pic>
        <p:nvPicPr>
          <p:cNvPr id="444" name="Google Shape;444;p37" descr="Modelo_Max_sen_spec.jpg"/>
          <p:cNvPicPr preferRelativeResize="0"/>
          <p:nvPr/>
        </p:nvPicPr>
        <p:blipFill rotWithShape="1">
          <a:blip r:embed="rId4">
            <a:alphaModFix/>
          </a:blip>
          <a:srcRect/>
          <a:stretch/>
        </p:blipFill>
        <p:spPr>
          <a:xfrm>
            <a:off x="4355765" y="3083362"/>
            <a:ext cx="4775535" cy="3771901"/>
          </a:xfrm>
          <a:prstGeom prst="rect">
            <a:avLst/>
          </a:prstGeom>
          <a:noFill/>
          <a:ln>
            <a:noFill/>
          </a:ln>
        </p:spPr>
      </p:pic>
      <p:pic>
        <p:nvPicPr>
          <p:cNvPr id="445" name="Google Shape;445;p37" descr="Modelo_LPT.jpg"/>
          <p:cNvPicPr preferRelativeResize="0"/>
          <p:nvPr/>
        </p:nvPicPr>
        <p:blipFill rotWithShape="1">
          <a:blip r:embed="rId5">
            <a:alphaModFix/>
          </a:blip>
          <a:srcRect/>
          <a:stretch/>
        </p:blipFill>
        <p:spPr>
          <a:xfrm>
            <a:off x="8546655" y="3235763"/>
            <a:ext cx="4534346" cy="3581400"/>
          </a:xfrm>
          <a:prstGeom prst="rect">
            <a:avLst/>
          </a:prstGeom>
          <a:noFill/>
          <a:ln>
            <a:noFill/>
          </a:ln>
        </p:spPr>
      </p:pic>
      <p:sp>
        <p:nvSpPr>
          <p:cNvPr id="446" name="Google Shape;446;p37"/>
          <p:cNvSpPr txBox="1"/>
          <p:nvPr/>
        </p:nvSpPr>
        <p:spPr>
          <a:xfrm>
            <a:off x="9632202" y="7317893"/>
            <a:ext cx="2801098" cy="964367"/>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000000"/>
              </a:buClr>
              <a:buSzPts val="2800"/>
              <a:buFont typeface="Helvetica Neue Light"/>
              <a:buNone/>
            </a:pPr>
            <a:r>
              <a:rPr lang="en-US" sz="2800" b="0" i="0" u="none" strike="noStrike" cap="none">
                <a:solidFill>
                  <a:srgbClr val="000000"/>
                </a:solidFill>
                <a:latin typeface="Helvetica Neue Light"/>
                <a:ea typeface="Helvetica Neue Light"/>
                <a:cs typeface="Helvetica Neue Light"/>
                <a:sym typeface="Helvetica Neue Light"/>
              </a:rPr>
              <a:t>Minimum training presence</a:t>
            </a:r>
            <a:endParaRPr sz="2800" b="0" i="0" u="none" strike="noStrike" cap="none">
              <a:solidFill>
                <a:srgbClr val="000000"/>
              </a:solidFill>
              <a:latin typeface="Helvetica Neue Light"/>
              <a:ea typeface="Helvetica Neue Light"/>
              <a:cs typeface="Helvetica Neue Light"/>
              <a:sym typeface="Helvetica Neue Light"/>
            </a:endParaRPr>
          </a:p>
        </p:txBody>
      </p:sp>
      <p:sp>
        <p:nvSpPr>
          <p:cNvPr id="447" name="Google Shape;447;p37"/>
          <p:cNvSpPr txBox="1"/>
          <p:nvPr/>
        </p:nvSpPr>
        <p:spPr>
          <a:xfrm>
            <a:off x="1179453" y="7548778"/>
            <a:ext cx="2096728" cy="533479"/>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000000"/>
              </a:buClr>
              <a:buSzPts val="2800"/>
              <a:buFont typeface="Helvetica Neue Light"/>
              <a:buNone/>
            </a:pPr>
            <a:r>
              <a:rPr lang="en-US" sz="2800" b="0" i="0" u="none" strike="noStrike" cap="none">
                <a:solidFill>
                  <a:srgbClr val="000000"/>
                </a:solidFill>
                <a:latin typeface="Helvetica Neue Light"/>
                <a:ea typeface="Helvetica Neue Light"/>
                <a:cs typeface="Helvetica Neue Light"/>
                <a:sym typeface="Helvetica Neue Light"/>
              </a:rPr>
              <a:t>10 percentile</a:t>
            </a:r>
            <a:endParaRPr sz="2800" b="0" i="0" u="none" strike="noStrike" cap="none">
              <a:solidFill>
                <a:srgbClr val="000000"/>
              </a:solidFill>
              <a:latin typeface="Helvetica Neue Light"/>
              <a:ea typeface="Helvetica Neue Light"/>
              <a:cs typeface="Helvetica Neue Light"/>
              <a:sym typeface="Helvetica Neue Light"/>
            </a:endParaRPr>
          </a:p>
        </p:txBody>
      </p:sp>
      <p:sp>
        <p:nvSpPr>
          <p:cNvPr id="448" name="Google Shape;448;p37"/>
          <p:cNvSpPr txBox="1"/>
          <p:nvPr/>
        </p:nvSpPr>
        <p:spPr>
          <a:xfrm>
            <a:off x="4660900" y="7548778"/>
            <a:ext cx="4508501" cy="533479"/>
          </a:xfrm>
          <a:prstGeom prst="rect">
            <a:avLst/>
          </a:prstGeom>
          <a:noFill/>
          <a:ln>
            <a:noFill/>
          </a:ln>
        </p:spPr>
        <p:txBody>
          <a:bodyPr spcFirstLastPara="1" wrap="square" lIns="50800" tIns="50800" rIns="50800" bIns="50800" anchor="b" anchorCtr="0">
            <a:spAutoFit/>
          </a:bodyPr>
          <a:lstStyle/>
          <a:p>
            <a:pPr marL="0" marR="0" lvl="0" indent="0" algn="ctr" rtl="0">
              <a:lnSpc>
                <a:spcPct val="100000"/>
              </a:lnSpc>
              <a:spcBef>
                <a:spcPts val="0"/>
              </a:spcBef>
              <a:spcAft>
                <a:spcPts val="0"/>
              </a:spcAft>
              <a:buClr>
                <a:srgbClr val="000000"/>
              </a:buClr>
              <a:buSzPts val="2800"/>
              <a:buFont typeface="Helvetica Neue Light"/>
              <a:buNone/>
            </a:pPr>
            <a:r>
              <a:rPr lang="en-US" sz="2800" b="0" i="0" u="none" strike="noStrike" cap="none">
                <a:solidFill>
                  <a:srgbClr val="000000"/>
                </a:solidFill>
                <a:latin typeface="Helvetica Neue Light"/>
                <a:ea typeface="Helvetica Neue Light"/>
                <a:cs typeface="Helvetica Neue Light"/>
                <a:sym typeface="Helvetica Neue Light"/>
              </a:rPr>
              <a:t>Max Sensitivity + Specificity</a:t>
            </a:r>
            <a:endParaRPr sz="1400" b="0" i="0" u="none" strike="noStrike" cap="none">
              <a:solidFill>
                <a:srgbClr val="000000"/>
              </a:solidFill>
              <a:latin typeface="Arial"/>
              <a:ea typeface="Arial"/>
              <a:cs typeface="Arial"/>
              <a:sym typeface="Arial"/>
            </a:endParaRPr>
          </a:p>
        </p:txBody>
      </p:sp>
      <p:sp>
        <p:nvSpPr>
          <p:cNvPr id="449" name="Google Shape;449;p37"/>
          <p:cNvSpPr txBox="1">
            <a:spLocks noGrp="1"/>
          </p:cNvSpPr>
          <p:nvPr>
            <p:ph type="title"/>
          </p:nvPr>
        </p:nvSpPr>
        <p:spPr>
          <a:xfrm>
            <a:off x="571500" y="145791"/>
            <a:ext cx="11861800" cy="1765818"/>
          </a:xfrm>
          <a:prstGeom prst="rect">
            <a:avLst/>
          </a:prstGeom>
          <a:noFill/>
          <a:ln>
            <a:noFill/>
          </a:ln>
        </p:spPr>
        <p:txBody>
          <a:bodyPr spcFirstLastPara="1" wrap="square" lIns="50800" tIns="50800" rIns="50800" bIns="50800" anchor="b" anchorCtr="0">
            <a:noAutofit/>
          </a:bodyPr>
          <a:lstStyle/>
          <a:p>
            <a:pPr marL="0" lvl="0" indent="0" algn="l" rtl="0">
              <a:lnSpc>
                <a:spcPct val="100000"/>
              </a:lnSpc>
              <a:spcBef>
                <a:spcPts val="0"/>
              </a:spcBef>
              <a:spcAft>
                <a:spcPts val="0"/>
              </a:spcAft>
              <a:buClr>
                <a:srgbClr val="000000"/>
              </a:buClr>
              <a:buSzPts val="2900"/>
              <a:buFont typeface="Helvetica Neue"/>
              <a:buNone/>
            </a:pPr>
            <a:r>
              <a:rPr lang="en-US" dirty="0"/>
              <a:t>Some things to take into consideration regardless of the algorithm</a:t>
            </a:r>
            <a:endParaRPr i="1" dirty="0"/>
          </a:p>
        </p:txBody>
      </p:sp>
      <p:sp>
        <p:nvSpPr>
          <p:cNvPr id="450" name="Google Shape;450;p37"/>
          <p:cNvSpPr txBox="1"/>
          <p:nvPr/>
        </p:nvSpPr>
        <p:spPr>
          <a:xfrm>
            <a:off x="533061" y="2146372"/>
            <a:ext cx="8255678" cy="439436"/>
          </a:xfrm>
          <a:prstGeom prst="rect">
            <a:avLst/>
          </a:prstGeom>
          <a:noFill/>
          <a:ln>
            <a:noFill/>
          </a:ln>
        </p:spPr>
        <p:txBody>
          <a:bodyPr spcFirstLastPara="1" wrap="square" lIns="27075" tIns="27075" rIns="27075" bIns="27075" anchor="ctr" anchorCtr="0">
            <a:spAutoFit/>
          </a:bodyPr>
          <a:lstStyle/>
          <a:p>
            <a:pPr marL="0" marR="0" lvl="0" indent="0" algn="l" rtl="0">
              <a:lnSpc>
                <a:spcPct val="100000"/>
              </a:lnSpc>
              <a:spcBef>
                <a:spcPts val="0"/>
              </a:spcBef>
              <a:spcAft>
                <a:spcPts val="0"/>
              </a:spcAft>
              <a:buClr>
                <a:srgbClr val="000000"/>
              </a:buClr>
              <a:buSzPts val="2500"/>
              <a:buFont typeface="Helvetica Neue Light"/>
              <a:buNone/>
            </a:pPr>
            <a:r>
              <a:rPr lang="en-US" sz="2500" b="0" i="0" u="none" strike="noStrike" cap="none">
                <a:solidFill>
                  <a:srgbClr val="000000"/>
                </a:solidFill>
                <a:latin typeface="Helvetica Neue Light"/>
                <a:ea typeface="Helvetica Neue Light"/>
                <a:cs typeface="Helvetica Neue Light"/>
                <a:sym typeface="Helvetica Neue Light"/>
              </a:rPr>
              <a:t>Thresholds and binary models  </a:t>
            </a:r>
            <a:endParaRPr sz="2500" b="0" i="1" u="none" strike="noStrike" cap="none">
              <a:solidFill>
                <a:srgbClr val="000000"/>
              </a:solidFill>
              <a:latin typeface="Helvetica Neue Light"/>
              <a:ea typeface="Helvetica Neue Light"/>
              <a:cs typeface="Helvetica Neue Light"/>
              <a:sym typeface="Helvetica Neue Light"/>
            </a:endParaRPr>
          </a:p>
        </p:txBody>
      </p:sp>
      <p:sp>
        <p:nvSpPr>
          <p:cNvPr id="451" name="Google Shape;451;p37"/>
          <p:cNvSpPr txBox="1"/>
          <p:nvPr/>
        </p:nvSpPr>
        <p:spPr>
          <a:xfrm>
            <a:off x="242475" y="9050150"/>
            <a:ext cx="4299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Helvetica Neue"/>
                <a:ea typeface="Helvetica Neue"/>
                <a:cs typeface="Helvetica Neue"/>
                <a:sym typeface="Helvetica Neue"/>
              </a:rPr>
              <a:t>Example modified from course materials by Peterson, Soberon &amp; Martinez-Meyer, 2013</a:t>
            </a: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38"/>
          <p:cNvSpPr txBox="1">
            <a:spLocks noGrp="1"/>
          </p:cNvSpPr>
          <p:nvPr>
            <p:ph type="title"/>
          </p:nvPr>
        </p:nvSpPr>
        <p:spPr>
          <a:xfrm>
            <a:off x="1270000" y="3225800"/>
            <a:ext cx="10464800" cy="3302000"/>
          </a:xfrm>
          <a:prstGeom prst="rect">
            <a:avLst/>
          </a:prstGeom>
          <a:noFill/>
          <a:ln>
            <a:noFill/>
          </a:ln>
        </p:spPr>
        <p:txBody>
          <a:bodyPr spcFirstLastPara="1" wrap="square" lIns="50800" tIns="50800" rIns="50800" bIns="50800" anchor="b" anchorCtr="0">
            <a:normAutofit fontScale="90000"/>
          </a:bodyPr>
          <a:lstStyle/>
          <a:p>
            <a:pPr marL="0" lvl="0" indent="0" algn="ctr" rtl="0">
              <a:lnSpc>
                <a:spcPct val="100000"/>
              </a:lnSpc>
              <a:spcBef>
                <a:spcPts val="0"/>
              </a:spcBef>
              <a:spcAft>
                <a:spcPts val="0"/>
              </a:spcAft>
              <a:buClr>
                <a:srgbClr val="FFFFFF"/>
              </a:buClr>
              <a:buSzPts val="8000"/>
              <a:buFont typeface="Helvetica Neue"/>
              <a:buNone/>
            </a:pPr>
            <a:r>
              <a:rPr lang="en-US" dirty="0"/>
              <a:t>“All models are wrong, but some are useful.”</a:t>
            </a:r>
            <a:br>
              <a:rPr lang="en-US" dirty="0"/>
            </a:br>
            <a:br>
              <a:rPr lang="en-US" dirty="0"/>
            </a:br>
            <a:r>
              <a:rPr lang="en-US" dirty="0"/>
              <a:t>-  George E.P. Box</a:t>
            </a:r>
            <a:endParaRPr dirty="0"/>
          </a:p>
        </p:txBody>
      </p:sp>
    </p:spTree>
  </p:cSld>
  <p:clrMapOvr>
    <a:masterClrMapping/>
  </p:clrMapOvr>
</p:sld>
</file>

<file path=ppt/theme/theme1.xml><?xml version="1.0" encoding="utf-8"?>
<a:theme xmlns:a="http://schemas.openxmlformats.org/drawingml/2006/main"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7cd00b6-9c38-42c0-af70-5d8006d91a8f">
      <Terms xmlns="http://schemas.microsoft.com/office/infopath/2007/PartnerControls"/>
    </lcf76f155ced4ddcb4097134ff3c332f>
    <TaxCatchAll xmlns="c789ccf0-1666-411a-a555-39fa7b68a5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108367FCDB4D47B5E8E54D64157753" ma:contentTypeVersion="17" ma:contentTypeDescription="Create a new document." ma:contentTypeScope="" ma:versionID="89ad6e55dd034a63fada300300833fd8">
  <xsd:schema xmlns:xsd="http://www.w3.org/2001/XMLSchema" xmlns:xs="http://www.w3.org/2001/XMLSchema" xmlns:p="http://schemas.microsoft.com/office/2006/metadata/properties" xmlns:ns2="07cd00b6-9c38-42c0-af70-5d8006d91a8f" xmlns:ns3="c789ccf0-1666-411a-a555-39fa7b68a59a" targetNamespace="http://schemas.microsoft.com/office/2006/metadata/properties" ma:root="true" ma:fieldsID="f079f9a9198ad2b6684649c05101704b" ns2:_="" ns3:_="">
    <xsd:import namespace="07cd00b6-9c38-42c0-af70-5d8006d91a8f"/>
    <xsd:import namespace="c789ccf0-1666-411a-a555-39fa7b68a59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LengthInSeconds" minOccurs="0"/>
                <xsd:element ref="ns2:MediaServiceOCR" minOccurs="0"/>
                <xsd:element ref="ns2:MediaServiceLocation" minOccurs="0"/>
                <xsd:element ref="ns2:lcf76f155ced4ddcb4097134ff3c332f" minOccurs="0"/>
                <xsd:element ref="ns3:TaxCatchAll"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cd00b6-9c38-42c0-af70-5d8006d91a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b3fc297-59b7-4dce-adfa-f654e45c772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89ccf0-1666-411a-a555-39fa7b68a59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23d555bf-7095-481d-a767-a5e3213ffcfc}" ma:internalName="TaxCatchAll" ma:showField="CatchAllData" ma:web="c789ccf0-1666-411a-a555-39fa7b68a59a">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9DC1DE-AFC2-4768-B7A0-7F4D513C5A1F}">
  <ds:schemaRefs>
    <ds:schemaRef ds:uri="http://schemas.microsoft.com/office/2006/metadata/properties"/>
    <ds:schemaRef ds:uri="http://schemas.microsoft.com/office/infopath/2007/PartnerControls"/>
    <ds:schemaRef ds:uri="07cd00b6-9c38-42c0-af70-5d8006d91a8f"/>
    <ds:schemaRef ds:uri="c789ccf0-1666-411a-a555-39fa7b68a59a"/>
  </ds:schemaRefs>
</ds:datastoreItem>
</file>

<file path=customXml/itemProps2.xml><?xml version="1.0" encoding="utf-8"?>
<ds:datastoreItem xmlns:ds="http://schemas.openxmlformats.org/officeDocument/2006/customXml" ds:itemID="{0435B191-B1C4-4D4D-B701-DE7CE9816A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cd00b6-9c38-42c0-af70-5d8006d91a8f"/>
    <ds:schemaRef ds:uri="c789ccf0-1666-411a-a555-39fa7b68a5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4056F5-3BB3-4A20-A5C4-A8DF8A58D58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TotalTime>
  <Words>2898</Words>
  <Application>Microsoft Macintosh PowerPoint</Application>
  <PresentationFormat>Custom</PresentationFormat>
  <Paragraphs>295</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Helvetica Neue</vt:lpstr>
      <vt:lpstr>roboto condensed</vt:lpstr>
      <vt:lpstr>Helvetica Neue Light</vt:lpstr>
      <vt:lpstr>Arial</vt:lpstr>
      <vt:lpstr>Calibri</vt:lpstr>
      <vt:lpstr>20_BasicBlack</vt:lpstr>
      <vt:lpstr>Species Distribution Models: Data and Algorithms</vt:lpstr>
      <vt:lpstr>Part 1: Data</vt:lpstr>
      <vt:lpstr>Biodiversity data</vt:lpstr>
      <vt:lpstr>Biodiversity data</vt:lpstr>
      <vt:lpstr>Biodiversity data</vt:lpstr>
      <vt:lpstr>Abiotic data</vt:lpstr>
      <vt:lpstr>Abiotic data</vt:lpstr>
      <vt:lpstr>Abiotic data</vt:lpstr>
      <vt:lpstr>Abiotic data</vt:lpstr>
      <vt:lpstr>Biotic data</vt:lpstr>
      <vt:lpstr>Part 2: Algorithms</vt:lpstr>
      <vt:lpstr>So many algorithms…  is there a preferred one?</vt:lpstr>
      <vt:lpstr>So many algorithms…  is there a preferred one?</vt:lpstr>
      <vt:lpstr>So many algorithms…  is there a preferred one?</vt:lpstr>
      <vt:lpstr>So many algorithms…  is there a preferred one?</vt:lpstr>
      <vt:lpstr>So many algorithms…  is there a preferred one?</vt:lpstr>
      <vt:lpstr>So many algorithms…  is there a preferred one?</vt:lpstr>
      <vt:lpstr>Presence only</vt:lpstr>
      <vt:lpstr>Presence/Absence or Presence/Pseudoabsence</vt:lpstr>
      <vt:lpstr>Presence/Absence or Presence/Pseudoabsence</vt:lpstr>
      <vt:lpstr>Presence/Absence or Presence/Pseudoabsence</vt:lpstr>
      <vt:lpstr>Presence/Absence or Presence/Pseudoabsence</vt:lpstr>
      <vt:lpstr>PowerPoint Presentation</vt:lpstr>
      <vt:lpstr>Presence / Background</vt:lpstr>
      <vt:lpstr>PowerPoint Presentation</vt:lpstr>
      <vt:lpstr>Projecting in time and space</vt:lpstr>
      <vt:lpstr>Projecting in time and space</vt:lpstr>
      <vt:lpstr>Some things to take into consideration regardless of the algorithm</vt:lpstr>
      <vt:lpstr>Some things to take into consideration regardless of the algorithm: Study extent</vt:lpstr>
      <vt:lpstr>Some things to take into consideration regardless of the algorithm: Study extent</vt:lpstr>
      <vt:lpstr>Some things to take into consideration regardless of the algorithm: Study extent</vt:lpstr>
      <vt:lpstr>Some things to take into consideration regardless of the algorithm: Point distribution</vt:lpstr>
      <vt:lpstr>Some things to take into consideration regardless of the algorithm: Point distribution</vt:lpstr>
      <vt:lpstr>Some things to take into consideration regardless of the algorithm: Point distribution</vt:lpstr>
      <vt:lpstr>Some things to take into consideration regardless of the algorithm: Point distribution</vt:lpstr>
      <vt:lpstr>Some things to take into consideration regardless of the algorithm: About predictor variables: Worldclim</vt:lpstr>
      <vt:lpstr>Some things to take into consideration regardless of the algorithm: variable correlation</vt:lpstr>
      <vt:lpstr>Some things to take into consideration regardless of the algorithm: thresholds</vt:lpstr>
      <vt:lpstr>Some things to take into consideration regardless of the algorithm</vt:lpstr>
      <vt:lpstr>“All models are wrong, but some are useful.”  -  George E.P. Box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Species Distribution Models: Data and Algorithms</dc:title>
  <cp:lastModifiedBy>Kristin Douglas</cp:lastModifiedBy>
  <cp:revision>2</cp:revision>
  <dcterms:modified xsi:type="dcterms:W3CDTF">2024-03-06T19:13:05Z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0x01010084108367FCDB4D47B5E8E54D64157753</vt:lpwstr>
  </property>
</Properties>
</file>