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7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embeddedFontLst>
    <p:embeddedFont>
      <p:font typeface="Baumans" panose="02000506020000020003" pitchFamily="2" charset="0"/>
      <p:regular r:id="rId27"/>
    </p:embeddedFont>
    <p:embeddedFont>
      <p:font typeface="Helvetica Neue" panose="02000503000000020004" pitchFamily="2" charset="0"/>
      <p:regular r:id="rId28"/>
      <p:bold r:id="rId29"/>
      <p:italic r:id="rId30"/>
      <p:boldItalic r:id="rId31"/>
    </p:embeddedFont>
    <p:embeddedFont>
      <p:font typeface="roboto condensed" panose="020F050202020403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irvnaYwW+Th/spKlCgBd70eO+o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1"/>
    <p:restoredTop sz="68677"/>
  </p:normalViewPr>
  <p:slideViewPr>
    <p:cSldViewPr snapToGrid="0">
      <p:cViewPr varScale="1">
        <p:scale>
          <a:sx n="68" d="100"/>
          <a:sy n="68" d="100"/>
        </p:scale>
        <p:origin x="16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42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JGrinnell1904.jpg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news.yale.edu/sites/default/files/d6_files/imce/Hutchinson-1_0.jpg" TargetMode="External"/><Relationship Id="rId4" Type="http://schemas.openxmlformats.org/officeDocument/2006/relationships/hyperlink" Target="https://en.wikipedia.org/wiki/File:Charles_Elton.jpeg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JGrinnell1904.jpg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news.yale.edu/sites/default/files/d6_files/imce/Hutchinson-1_0.jpg" TargetMode="External"/><Relationship Id="rId4" Type="http://schemas.openxmlformats.org/officeDocument/2006/relationships/hyperlink" Target="https://en.wikipedia.org/wiki/File:Charles_Elton.jpeg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ele.12189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ele.12189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ele.12189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4" name="Google Shape;1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Photo credits: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Left: Grinnell (public domain). Available from: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https://en.wikipedia.org/wiki/File:JGrinnell1904.jpg</a:t>
            </a:r>
            <a:r>
              <a:rPr lang="en-US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highlight>
                  <a:srgbClr val="FFFF00"/>
                </a:highlight>
              </a:rPr>
              <a:t>Middle: Elton. Available from: </a:t>
            </a:r>
            <a:r>
              <a:rPr lang="en-US" u="sng" dirty="0">
                <a:solidFill>
                  <a:schemeClr val="hlink"/>
                </a:solidFill>
                <a:highlight>
                  <a:srgbClr val="FFFF00"/>
                </a:highlight>
                <a:hlinkClick r:id="rId4"/>
              </a:rPr>
              <a:t>https://en.wikipedia.org/wiki/File:Charles_Elton.jpeg</a:t>
            </a:r>
            <a:r>
              <a:rPr lang="en-US" dirty="0">
                <a:highlight>
                  <a:srgbClr val="FFFF00"/>
                </a:highlight>
              </a:rPr>
              <a:t>  </a:t>
            </a:r>
            <a:endParaRPr dirty="0"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Right: Hutchinson. Yale University manuscripts and archives (public domain). Available from: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https://news.yale.edu/sites/default/files/d6_files/imce/Hutchinson-1_0.jpg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62" name="Google Shape;16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Photo credits: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Left: Grinnell (public domain). Available from: 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https://en.wikipedia.org/wiki/File:JGrinnell1904.jpg</a:t>
            </a:r>
            <a:r>
              <a:rPr lang="en-US" dirty="0"/>
              <a:t>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highlight>
                  <a:srgbClr val="FFFF00"/>
                </a:highlight>
              </a:rPr>
              <a:t>Middle: Elton. Available from: </a:t>
            </a:r>
            <a:r>
              <a:rPr lang="en-US" u="sng" dirty="0">
                <a:solidFill>
                  <a:schemeClr val="hlink"/>
                </a:solidFill>
                <a:highlight>
                  <a:srgbClr val="FFFF00"/>
                </a:highlight>
                <a:hlinkClick r:id="rId4"/>
              </a:rPr>
              <a:t>https://en.wikipedia.org/wiki/File:Charles_Elton.jpeg</a:t>
            </a:r>
            <a:r>
              <a:rPr lang="en-US" dirty="0">
                <a:highlight>
                  <a:srgbClr val="FFFF00"/>
                </a:highlight>
              </a:rPr>
              <a:t> 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Right: Hutchinson. Yale University manuscripts and archives (public domain). Available from: </a:t>
            </a:r>
            <a:r>
              <a:rPr lang="en-US" u="sng" dirty="0">
                <a:solidFill>
                  <a:schemeClr val="hlink"/>
                </a:solidFill>
                <a:hlinkClick r:id="rId5"/>
              </a:rPr>
              <a:t>https://news.yale.edu/sites/default/files/d6_files/imce/Hutchinson-1_0.jpg</a:t>
            </a:r>
            <a:r>
              <a:rPr lang="en-US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3" name="Google Shape;18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credits (left, right): Graphs modified by the Wallace team.</a:t>
            </a:r>
            <a:endParaRPr dirty="0"/>
          </a:p>
        </p:txBody>
      </p:sp>
      <p:sp>
        <p:nvSpPr>
          <p:cNvPr id="206" name="Google Shape;20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source UNKNOWN</a:t>
            </a:r>
            <a:endParaRPr dirty="0"/>
          </a:p>
        </p:txBody>
      </p:sp>
      <p:sp>
        <p:nvSpPr>
          <p:cNvPr id="242" name="Google Shape;24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288" name="Google Shape;28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4" name="Google Shape;3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Image credit: Modified by N. Gazit/CBC from Pearson 2007 NCEP module, “Species Distribution Modeling for Conservation Educators And Practitioners” and Peterson, A.T., J. </a:t>
            </a:r>
            <a:r>
              <a:rPr lang="en-US" sz="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Soberón</a:t>
            </a:r>
            <a:r>
              <a:rPr lang="en-US" sz="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R.G. Pearson, R.P. Anderson, E. Martínez-Meyer, M. Nakamura, and M.B. Araújo. 2011. Ecological Niches and Geographic Distributions (MPB-49). Princeton University Press, Princeton, NJ, USA.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</a:rPr>
              <a:t>Image credit: A. Paz, based on data used in: Paz, A., A. Gonzalez, and A.J. Crawford. 2019. Testing effects of Pleistocene climate change on the altitudinal and horizontal distributions of frogs from the Colombian Andes: a species distribution modeling approach. Frontiers of biogeography 11:e37055.</a:t>
            </a:r>
          </a:p>
          <a:p>
            <a:pPr marL="171450" lvl="0" indent="-82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 lang="en-US" dirty="0"/>
          </a:p>
          <a:p>
            <a:pPr marL="889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 dirty="0"/>
          </a:p>
        </p:txBody>
      </p:sp>
      <p:sp>
        <p:nvSpPr>
          <p:cNvPr id="356" name="Google Shape;35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credit: Jamie </a:t>
            </a:r>
            <a:r>
              <a:rPr lang="en-US" dirty="0" err="1"/>
              <a:t>Kass</a:t>
            </a:r>
            <a:r>
              <a:rPr lang="en-US" dirty="0"/>
              <a:t>.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</a:pPr>
            <a:endParaRPr dirty="0"/>
          </a:p>
        </p:txBody>
      </p:sp>
      <p:sp>
        <p:nvSpPr>
          <p:cNvPr id="390" name="Google Shape;390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credits: Urbina-Cardona, N., M.E. Blair, M.C. </a:t>
            </a:r>
            <a:r>
              <a:rPr lang="en-US" dirty="0" err="1"/>
              <a:t>Londoño</a:t>
            </a:r>
            <a:r>
              <a:rPr lang="en-US" dirty="0"/>
              <a:t>, R. Loyola, J. </a:t>
            </a:r>
            <a:r>
              <a:rPr lang="en-US" dirty="0" err="1"/>
              <a:t>Velásquez-Tibatá</a:t>
            </a:r>
            <a:r>
              <a:rPr lang="en-US" dirty="0"/>
              <a:t>, and H. Morales-</a:t>
            </a:r>
            <a:r>
              <a:rPr lang="en-US" dirty="0" err="1"/>
              <a:t>Devia</a:t>
            </a:r>
            <a:r>
              <a:rPr lang="en-US" dirty="0"/>
              <a:t>. 2019. Species distribution modeling in Latin America: a 25-year retrospective review. Tropical Conservation Science 12. doi:10.1177/1940082919854058 [CC-BY-NC-4].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9" name="Google Shape;39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Screenshot of journal article: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Guisan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, A., et al. 2013. Predicting species distributions for conservation decisions. </a:t>
            </a:r>
            <a:r>
              <a:rPr lang="en-US" sz="1100" i="0" dirty="0">
                <a:latin typeface="Arial"/>
                <a:ea typeface="Arial"/>
                <a:cs typeface="Arial"/>
                <a:sym typeface="Arial"/>
              </a:rPr>
              <a:t>Ecology Letters, 16(12):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1424–1435. Available from:</a:t>
            </a:r>
            <a:r>
              <a:rPr lang="en-US" sz="1100" dirty="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https://doi.org/10.1111/ele.12189</a:t>
            </a:r>
            <a:r>
              <a:rPr lang="en-US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08" name="Google Shape;4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/>
              <a:t>Image credit: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Guisan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, A., et al. 2013. Predicting species distributions for conservation decisions. </a:t>
            </a:r>
            <a:r>
              <a:rPr lang="en-US" sz="1100" i="0" dirty="0">
                <a:latin typeface="Arial"/>
                <a:ea typeface="Arial"/>
                <a:cs typeface="Arial"/>
                <a:sym typeface="Arial"/>
              </a:rPr>
              <a:t>Ecology Letters 16(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12):1424–1435. Available from: </a:t>
            </a:r>
            <a:r>
              <a:rPr lang="en-US" sz="1100" dirty="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11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https://doi.org/10.1111/ele.</a:t>
            </a:r>
            <a:r>
              <a:rPr lang="en-US" sz="1100" b="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12189</a:t>
            </a:r>
            <a:r>
              <a:rPr lang="en-US" sz="1100" b="0" u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[</a:t>
            </a:r>
            <a:r>
              <a:rPr lang="en-US" sz="1600" b="0" i="0" cap="all" dirty="0">
                <a:solidFill>
                  <a:srgbClr val="000000"/>
                </a:solidFill>
                <a:effectLst/>
                <a:latin typeface="roboto condensed" panose="020F0502020204030204" pitchFamily="34" charset="0"/>
              </a:rPr>
              <a:t>CC BY-NC-ND 3.0 DEED].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14" name="Google Shape;41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Table </a:t>
            </a:r>
            <a:r>
              <a:rPr lang="en-US" sz="180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from: credit: </a:t>
            </a:r>
            <a:r>
              <a:rPr lang="en-US" sz="1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Guisan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A., et al. 2013. Predicting species distributions for conservation decisions. Ecology Letters 16(12):1424–1435. Available from: </a:t>
            </a:r>
            <a:r>
              <a:rPr lang="en-US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https://doi.org/10.1111/ele.12189</a:t>
            </a:r>
            <a:r>
              <a:rPr lang="en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[CC BY-NC-ND 3.0 DEED].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20" name="Google Shape;42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5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1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6" name="Google Shape;46;p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3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3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3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</p:sp>
      <p:sp>
        <p:nvSpPr>
          <p:cNvPr id="59" name="Google Shape;59;p33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4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66" name="Google Shape;66;p3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5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5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4" name="Google Shape;74;p3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6"/>
          <p:cNvSpPr txBox="1">
            <a:spLocks noGrp="1"/>
          </p:cNvSpPr>
          <p:nvPr>
            <p:ph type="ctrTitle"/>
          </p:nvPr>
        </p:nvSpPr>
        <p:spPr>
          <a:xfrm>
            <a:off x="914400" y="11223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8" name="Google Shape;98;p3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3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3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3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3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0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4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41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9" name="Google Shape;129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0" name="Google Shape;130;p4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2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4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3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4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4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4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4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2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"/>
          <p:cNvSpPr txBox="1">
            <a:spLocks noGrp="1"/>
          </p:cNvSpPr>
          <p:nvPr>
            <p:ph type="title"/>
          </p:nvPr>
        </p:nvSpPr>
        <p:spPr>
          <a:xfrm>
            <a:off x="1066800" y="933300"/>
            <a:ext cx="10058400" cy="29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ct val="226757"/>
              <a:buNone/>
            </a:pPr>
            <a:r>
              <a:rPr lang="en-US"/>
              <a:t>Species Distribution Models:</a:t>
            </a:r>
            <a:br>
              <a:rPr lang="en-US"/>
            </a:br>
            <a:r>
              <a:rPr lang="en-US"/>
              <a:t> History and Theory </a:t>
            </a:r>
            <a:endParaRPr sz="5600"/>
          </a:p>
        </p:txBody>
      </p:sp>
      <p:sp>
        <p:nvSpPr>
          <p:cNvPr id="157" name="Google Shape;157;p1"/>
          <p:cNvSpPr txBox="1">
            <a:spLocks noGrp="1"/>
          </p:cNvSpPr>
          <p:nvPr>
            <p:ph type="body" idx="1"/>
          </p:nvPr>
        </p:nvSpPr>
        <p:spPr>
          <a:xfrm>
            <a:off x="1617625" y="4479000"/>
            <a:ext cx="8398200" cy="12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The Wallace Team</a:t>
            </a:r>
            <a:endParaRPr dirty="0"/>
          </a:p>
          <a:p>
            <a:pPr marL="457200" lvl="0" indent="-22860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rPr lang="en-US" dirty="0"/>
              <a:t>Slide deck led by: Matthew E. Aiello-</a:t>
            </a:r>
            <a:r>
              <a:rPr lang="en-US" dirty="0" err="1"/>
              <a:t>Lammens</a:t>
            </a:r>
            <a:r>
              <a:rPr lang="en-US" dirty="0"/>
              <a:t> &amp; Jamie M. </a:t>
            </a:r>
            <a:r>
              <a:rPr lang="en-US" dirty="0" err="1"/>
              <a:t>Kass</a:t>
            </a:r>
            <a:endParaRPr dirty="0"/>
          </a:p>
        </p:txBody>
      </p:sp>
      <p:pic>
        <p:nvPicPr>
          <p:cNvPr id="158" name="Google Shape;158;p1" descr="r2 v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83550" y="4203925"/>
            <a:ext cx="1995450" cy="19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"/>
          <p:cNvSpPr txBox="1">
            <a:spLocks noGrp="1"/>
          </p:cNvSpPr>
          <p:nvPr>
            <p:ph type="title" idx="4294967295"/>
          </p:nvPr>
        </p:nvSpPr>
        <p:spPr>
          <a:xfrm>
            <a:off x="5" y="-11496"/>
            <a:ext cx="8840700" cy="11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Calibri"/>
              <a:buNone/>
            </a:pPr>
            <a:r>
              <a:rPr lang="en-US"/>
              <a:t>Ecological Niches</a:t>
            </a:r>
            <a:endParaRPr sz="3900"/>
          </a:p>
        </p:txBody>
      </p:sp>
      <p:grpSp>
        <p:nvGrpSpPr>
          <p:cNvPr id="165" name="Google Shape;165;p2"/>
          <p:cNvGrpSpPr/>
          <p:nvPr/>
        </p:nvGrpSpPr>
        <p:grpSpPr>
          <a:xfrm>
            <a:off x="9301112" y="2286498"/>
            <a:ext cx="1715464" cy="2096862"/>
            <a:chOff x="-1242642" y="1165793"/>
            <a:chExt cx="1805561" cy="2263208"/>
          </a:xfrm>
        </p:grpSpPr>
        <p:pic>
          <p:nvPicPr>
            <p:cNvPr id="166" name="Google Shape;166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242642" y="1204485"/>
              <a:ext cx="1784371" cy="2224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"/>
            <p:cNvSpPr txBox="1"/>
            <p:nvPr/>
          </p:nvSpPr>
          <p:spPr>
            <a:xfrm>
              <a:off x="-433381" y="1165793"/>
              <a:ext cx="9963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news.yale.edu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2"/>
          <p:cNvGrpSpPr/>
          <p:nvPr/>
        </p:nvGrpSpPr>
        <p:grpSpPr>
          <a:xfrm>
            <a:off x="5358142" y="2326861"/>
            <a:ext cx="1552541" cy="2113006"/>
            <a:chOff x="8599209" y="1077686"/>
            <a:chExt cx="1629280" cy="2325562"/>
          </a:xfrm>
        </p:grpSpPr>
        <p:pic>
          <p:nvPicPr>
            <p:cNvPr id="172" name="Google Shape;172;p2" descr="Image result for elton niche"/>
            <p:cNvPicPr preferRelativeResize="0"/>
            <p:nvPr/>
          </p:nvPicPr>
          <p:blipFill rotWithShape="1">
            <a:blip r:embed="rId4">
              <a:alphaModFix/>
            </a:blip>
            <a:srcRect l="4406" t="2245" r="6394" b="10349"/>
            <a:stretch/>
          </p:blipFill>
          <p:spPr>
            <a:xfrm>
              <a:off x="8675914" y="1077686"/>
              <a:ext cx="1552575" cy="2267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2"/>
            <p:cNvSpPr txBox="1"/>
            <p:nvPr/>
          </p:nvSpPr>
          <p:spPr>
            <a:xfrm>
              <a:off x="8599209" y="3149148"/>
              <a:ext cx="8601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2"/>
          <p:cNvSpPr txBox="1"/>
          <p:nvPr/>
        </p:nvSpPr>
        <p:spPr>
          <a:xfrm>
            <a:off x="9142673" y="1818305"/>
            <a:ext cx="221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G.E. Hutchinson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1355245" y="1818305"/>
            <a:ext cx="136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Grinnell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5502391" y="1818305"/>
            <a:ext cx="106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Elton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8474506" y="4484424"/>
            <a:ext cx="348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N-dimensional hypervolume of environmental variables within which a species can persist indefinitely.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374256" y="4484425"/>
            <a:ext cx="348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environmental variables that restrict the geographic distribution of a species due to physiological effects.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4424381" y="4484425"/>
            <a:ext cx="348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ecological role of a species, including its interactions with other species.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erson with a mustache&#10;&#10;Description automatically generated">
            <a:extLst>
              <a:ext uri="{FF2B5EF4-FFF2-40B4-BE49-F238E27FC236}">
                <a16:creationId xmlns:a16="http://schemas.microsoft.com/office/drawing/2014/main" id="{2C2837B8-CF1F-37F5-7BF4-5D192E892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148" y="2286497"/>
            <a:ext cx="1709375" cy="2153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"/>
          <p:cNvSpPr txBox="1">
            <a:spLocks noGrp="1"/>
          </p:cNvSpPr>
          <p:nvPr>
            <p:ph type="title" idx="4294967295"/>
          </p:nvPr>
        </p:nvSpPr>
        <p:spPr>
          <a:xfrm>
            <a:off x="5" y="-11496"/>
            <a:ext cx="8840700" cy="11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333"/>
              <a:buFont typeface="Calibri"/>
              <a:buNone/>
            </a:pPr>
            <a:r>
              <a:rPr lang="en-US"/>
              <a:t>Ecological Niches</a:t>
            </a:r>
            <a:endParaRPr sz="3900"/>
          </a:p>
        </p:txBody>
      </p:sp>
      <p:grpSp>
        <p:nvGrpSpPr>
          <p:cNvPr id="186" name="Google Shape;186;p3"/>
          <p:cNvGrpSpPr/>
          <p:nvPr/>
        </p:nvGrpSpPr>
        <p:grpSpPr>
          <a:xfrm>
            <a:off x="9301112" y="2286498"/>
            <a:ext cx="1715464" cy="2096862"/>
            <a:chOff x="-1242642" y="1165793"/>
            <a:chExt cx="1805561" cy="2263208"/>
          </a:xfrm>
        </p:grpSpPr>
        <p:pic>
          <p:nvPicPr>
            <p:cNvPr id="187" name="Google Shape;18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242642" y="1204485"/>
              <a:ext cx="1784371" cy="222451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3"/>
            <p:cNvSpPr txBox="1"/>
            <p:nvPr/>
          </p:nvSpPr>
          <p:spPr>
            <a:xfrm>
              <a:off x="-433381" y="1165793"/>
              <a:ext cx="996300" cy="24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news.yale.edu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3"/>
          <p:cNvGrpSpPr/>
          <p:nvPr/>
        </p:nvGrpSpPr>
        <p:grpSpPr>
          <a:xfrm>
            <a:off x="1345580" y="2305131"/>
            <a:ext cx="1704304" cy="2091805"/>
            <a:chOff x="4750866" y="1288043"/>
            <a:chExt cx="1704304" cy="2091805"/>
          </a:xfrm>
        </p:grpSpPr>
        <p:pic>
          <p:nvPicPr>
            <p:cNvPr id="190" name="Google Shape;190;p3" descr="Image result for joseph grinnell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50866" y="1288043"/>
              <a:ext cx="1552575" cy="2057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3"/>
            <p:cNvSpPr txBox="1"/>
            <p:nvPr/>
          </p:nvSpPr>
          <p:spPr>
            <a:xfrm>
              <a:off x="5360470" y="3149148"/>
              <a:ext cx="10947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mvz.berkeley.edu</a:t>
              </a:r>
              <a:endParaRPr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3"/>
          <p:cNvGrpSpPr/>
          <p:nvPr/>
        </p:nvGrpSpPr>
        <p:grpSpPr>
          <a:xfrm>
            <a:off x="5358142" y="2326861"/>
            <a:ext cx="1552541" cy="2113006"/>
            <a:chOff x="8599209" y="1077686"/>
            <a:chExt cx="1629280" cy="2325562"/>
          </a:xfrm>
        </p:grpSpPr>
        <p:pic>
          <p:nvPicPr>
            <p:cNvPr id="193" name="Google Shape;193;p3" descr="Image result for elton niche"/>
            <p:cNvPicPr preferRelativeResize="0"/>
            <p:nvPr/>
          </p:nvPicPr>
          <p:blipFill rotWithShape="1">
            <a:blip r:embed="rId5">
              <a:alphaModFix/>
            </a:blip>
            <a:srcRect l="4406" t="2246" r="6394" b="10347"/>
            <a:stretch/>
          </p:blipFill>
          <p:spPr>
            <a:xfrm>
              <a:off x="8675914" y="1077686"/>
              <a:ext cx="1552575" cy="2267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3"/>
            <p:cNvSpPr txBox="1"/>
            <p:nvPr/>
          </p:nvSpPr>
          <p:spPr>
            <a:xfrm>
              <a:off x="8599209" y="3149148"/>
              <a:ext cx="860100" cy="2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twitter.com</a:t>
              </a: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3"/>
          <p:cNvSpPr txBox="1"/>
          <p:nvPr/>
        </p:nvSpPr>
        <p:spPr>
          <a:xfrm>
            <a:off x="9142673" y="1818305"/>
            <a:ext cx="2211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G.E. Hutchinson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1355245" y="1818305"/>
            <a:ext cx="136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J. Grinnell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5502391" y="1818305"/>
            <a:ext cx="106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Elton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 txBox="1"/>
          <p:nvPr/>
        </p:nvSpPr>
        <p:spPr>
          <a:xfrm>
            <a:off x="8474506" y="4484424"/>
            <a:ext cx="348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N-dimensional hypervolume of environmental variables within which a species can persist indefinitely.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374256" y="4484425"/>
            <a:ext cx="34833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environmental variables that restrict the geographic distribution of a species due to physiological effects.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4424381" y="4484425"/>
            <a:ext cx="3483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ecological role of a species, including its interactions with other species.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174175" y="1452976"/>
            <a:ext cx="3993300" cy="49095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8035050" y="1375475"/>
            <a:ext cx="3993300" cy="49872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 txBox="1">
            <a:spLocks noGrp="1"/>
          </p:cNvSpPr>
          <p:nvPr>
            <p:ph type="title" idx="4294967295"/>
          </p:nvPr>
        </p:nvSpPr>
        <p:spPr>
          <a:xfrm>
            <a:off x="-1" y="-3222"/>
            <a:ext cx="12191990" cy="103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 sz="3200" dirty="0"/>
              <a:t>Relationships between ecological niches and geographic distributions</a:t>
            </a:r>
            <a:endParaRPr sz="3200" dirty="0"/>
          </a:p>
        </p:txBody>
      </p:sp>
      <p:grpSp>
        <p:nvGrpSpPr>
          <p:cNvPr id="209" name="Google Shape;209;p4"/>
          <p:cNvGrpSpPr/>
          <p:nvPr/>
        </p:nvGrpSpPr>
        <p:grpSpPr>
          <a:xfrm>
            <a:off x="-2819" y="2232903"/>
            <a:ext cx="7018657" cy="3905857"/>
            <a:chOff x="367299" y="2232903"/>
            <a:chExt cx="7018657" cy="3905857"/>
          </a:xfrm>
        </p:grpSpPr>
        <p:grpSp>
          <p:nvGrpSpPr>
            <p:cNvPr id="210" name="Google Shape;210;p4"/>
            <p:cNvGrpSpPr/>
            <p:nvPr/>
          </p:nvGrpSpPr>
          <p:grpSpPr>
            <a:xfrm>
              <a:off x="772882" y="2232903"/>
              <a:ext cx="6578884" cy="3905857"/>
              <a:chOff x="772882" y="2232903"/>
              <a:chExt cx="6578884" cy="3905857"/>
            </a:xfrm>
          </p:grpSpPr>
          <p:sp>
            <p:nvSpPr>
              <p:cNvPr id="211" name="Google Shape;211;p4"/>
              <p:cNvSpPr txBox="1"/>
              <p:nvPr/>
            </p:nvSpPr>
            <p:spPr>
              <a:xfrm>
                <a:off x="1855830" y="2232903"/>
                <a:ext cx="432162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lang="en-US"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RANGE OF PHYSIOLOGICAL TOLERANCE</a:t>
                </a:r>
                <a:endParaRPr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4"/>
              <p:cNvSpPr txBox="1"/>
              <p:nvPr/>
            </p:nvSpPr>
            <p:spPr>
              <a:xfrm>
                <a:off x="1088572" y="5769428"/>
                <a:ext cx="599802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Environmental gradient (e.g. temperature, precipitation)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3" name="Google Shape;213;p4"/>
              <p:cNvGrpSpPr/>
              <p:nvPr/>
            </p:nvGrpSpPr>
            <p:grpSpPr>
              <a:xfrm>
                <a:off x="772882" y="2633013"/>
                <a:ext cx="6578884" cy="3092873"/>
                <a:chOff x="772882" y="2633013"/>
                <a:chExt cx="6578884" cy="3092873"/>
              </a:xfrm>
            </p:grpSpPr>
            <p:pic>
              <p:nvPicPr>
                <p:cNvPr id="214" name="Google Shape;214;p4" descr="Related image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l="23822" t="33892" r="18574" b="10089"/>
                <a:stretch/>
              </p:blipFill>
              <p:spPr>
                <a:xfrm>
                  <a:off x="1976116" y="3429000"/>
                  <a:ext cx="3972742" cy="229688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15" name="Google Shape;215;p4"/>
                <p:cNvSpPr txBox="1"/>
                <p:nvPr/>
              </p:nvSpPr>
              <p:spPr>
                <a:xfrm>
                  <a:off x="3488413" y="2775977"/>
                  <a:ext cx="948147" cy="64633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Optimal zone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4"/>
                <p:cNvSpPr txBox="1"/>
                <p:nvPr/>
              </p:nvSpPr>
              <p:spPr>
                <a:xfrm>
                  <a:off x="5935532" y="2948571"/>
                  <a:ext cx="1416234" cy="64633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Intolerance zone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4"/>
                <p:cNvSpPr txBox="1"/>
                <p:nvPr/>
              </p:nvSpPr>
              <p:spPr>
                <a:xfrm>
                  <a:off x="772882" y="3036453"/>
                  <a:ext cx="1285594" cy="64633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Intolerance zone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" name="Google Shape;218;p4"/>
                <p:cNvSpPr txBox="1"/>
                <p:nvPr/>
              </p:nvSpPr>
              <p:spPr>
                <a:xfrm>
                  <a:off x="5241888" y="3058979"/>
                  <a:ext cx="772886" cy="64633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Stress zone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19" name="Google Shape;219;p4"/>
                <p:cNvCxnSpPr/>
                <p:nvPr/>
              </p:nvCxnSpPr>
              <p:spPr>
                <a:xfrm rot="10800000" flipH="1">
                  <a:off x="772882" y="5649680"/>
                  <a:ext cx="6422575" cy="6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0" name="Google Shape;220;p4"/>
                <p:cNvCxnSpPr/>
                <p:nvPr/>
              </p:nvCxnSpPr>
              <p:spPr>
                <a:xfrm rot="10800000">
                  <a:off x="783769" y="2848651"/>
                  <a:ext cx="0" cy="2801035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1" name="Google Shape;221;p4"/>
                <p:cNvCxnSpPr/>
                <p:nvPr/>
              </p:nvCxnSpPr>
              <p:spPr>
                <a:xfrm rot="10800000">
                  <a:off x="5214258" y="2848647"/>
                  <a:ext cx="0" cy="280103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92D05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22" name="Google Shape;222;p4"/>
                <p:cNvSpPr txBox="1"/>
                <p:nvPr/>
              </p:nvSpPr>
              <p:spPr>
                <a:xfrm>
                  <a:off x="2020736" y="3088130"/>
                  <a:ext cx="772886" cy="646331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lang="en-US" sz="1800" b="0" i="0" u="none" strike="noStrike" cap="non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Stress zone</a:t>
                  </a: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23" name="Google Shape;223;p4"/>
                <p:cNvCxnSpPr/>
                <p:nvPr/>
              </p:nvCxnSpPr>
              <p:spPr>
                <a:xfrm rot="10800000">
                  <a:off x="2786744" y="2848651"/>
                  <a:ext cx="0" cy="280103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92D05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4" name="Google Shape;224;p4"/>
                <p:cNvCxnSpPr/>
                <p:nvPr/>
              </p:nvCxnSpPr>
              <p:spPr>
                <a:xfrm rot="10800000">
                  <a:off x="5976258" y="2848644"/>
                  <a:ext cx="0" cy="280103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5" name="Google Shape;225;p4"/>
                <p:cNvCxnSpPr/>
                <p:nvPr/>
              </p:nvCxnSpPr>
              <p:spPr>
                <a:xfrm rot="10800000">
                  <a:off x="2020736" y="2848644"/>
                  <a:ext cx="0" cy="2801036"/>
                </a:xfrm>
                <a:prstGeom prst="straightConnector1">
                  <a:avLst/>
                </a:prstGeom>
                <a:noFill/>
                <a:ln w="38100" cap="flat" cmpd="sng">
                  <a:solidFill>
                    <a:srgbClr val="FF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226" name="Google Shape;226;p4"/>
                <p:cNvCxnSpPr/>
                <p:nvPr/>
              </p:nvCxnSpPr>
              <p:spPr>
                <a:xfrm>
                  <a:off x="783769" y="2633013"/>
                  <a:ext cx="6302831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</p:grpSp>
          <p:cxnSp>
            <p:nvCxnSpPr>
              <p:cNvPr id="227" name="Google Shape;227;p4"/>
              <p:cNvCxnSpPr/>
              <p:nvPr/>
            </p:nvCxnSpPr>
            <p:spPr>
              <a:xfrm>
                <a:off x="1121229" y="5791199"/>
                <a:ext cx="5475515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</p:grpSp>
        <p:sp>
          <p:nvSpPr>
            <p:cNvPr id="228" name="Google Shape;228;p4"/>
            <p:cNvSpPr txBox="1"/>
            <p:nvPr/>
          </p:nvSpPr>
          <p:spPr>
            <a:xfrm>
              <a:off x="367299" y="5761789"/>
              <a:ext cx="647887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Low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4"/>
            <p:cNvSpPr txBox="1"/>
            <p:nvPr/>
          </p:nvSpPr>
          <p:spPr>
            <a:xfrm>
              <a:off x="6738070" y="5675520"/>
              <a:ext cx="647886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High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4"/>
          <p:cNvGrpSpPr/>
          <p:nvPr/>
        </p:nvGrpSpPr>
        <p:grpSpPr>
          <a:xfrm>
            <a:off x="7173969" y="2551097"/>
            <a:ext cx="5018032" cy="3571240"/>
            <a:chOff x="7264777" y="2492528"/>
            <a:chExt cx="3670584" cy="2638791"/>
          </a:xfrm>
        </p:grpSpPr>
        <p:cxnSp>
          <p:nvCxnSpPr>
            <p:cNvPr id="231" name="Google Shape;231;p4"/>
            <p:cNvCxnSpPr/>
            <p:nvPr/>
          </p:nvCxnSpPr>
          <p:spPr>
            <a:xfrm rot="10800000">
              <a:off x="7870567" y="2848644"/>
              <a:ext cx="0" cy="193548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32" name="Google Shape;232;p4"/>
            <p:cNvCxnSpPr/>
            <p:nvPr/>
          </p:nvCxnSpPr>
          <p:spPr>
            <a:xfrm>
              <a:off x="7870567" y="4784124"/>
              <a:ext cx="250317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3" name="Google Shape;233;p4"/>
            <p:cNvSpPr txBox="1"/>
            <p:nvPr/>
          </p:nvSpPr>
          <p:spPr>
            <a:xfrm>
              <a:off x="7264777" y="2492528"/>
              <a:ext cx="1493520" cy="27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Precipitation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4" name="Google Shape;234;p4"/>
            <p:cNvCxnSpPr/>
            <p:nvPr/>
          </p:nvCxnSpPr>
          <p:spPr>
            <a:xfrm rot="10800000" flipH="1">
              <a:off x="7855329" y="3816384"/>
              <a:ext cx="1280160" cy="96774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35" name="Google Shape;235;p4"/>
            <p:cNvSpPr txBox="1"/>
            <p:nvPr/>
          </p:nvSpPr>
          <p:spPr>
            <a:xfrm>
              <a:off x="8327773" y="4310672"/>
              <a:ext cx="1493520" cy="27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Humidity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9734057" y="4858419"/>
              <a:ext cx="1201304" cy="272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Temperature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4"/>
          <p:cNvSpPr/>
          <p:nvPr/>
        </p:nvSpPr>
        <p:spPr>
          <a:xfrm rot="295054">
            <a:off x="8331916" y="3228626"/>
            <a:ext cx="2555436" cy="2199589"/>
          </a:xfrm>
          <a:prstGeom prst="ellipse">
            <a:avLst/>
          </a:prstGeom>
          <a:solidFill>
            <a:srgbClr val="1C6294">
              <a:alpha val="69019"/>
            </a:srgbClr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 txBox="1"/>
          <p:nvPr/>
        </p:nvSpPr>
        <p:spPr>
          <a:xfrm>
            <a:off x="8001647" y="2215557"/>
            <a:ext cx="43216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N-DIMENSIONAL HYPERVOLUME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" descr="A close up of a map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b="46956"/>
          <a:stretch/>
        </p:blipFill>
        <p:spPr>
          <a:xfrm>
            <a:off x="7209168" y="2697787"/>
            <a:ext cx="4456545" cy="3637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5" name="Google Shape;245;p5" descr="A close up of a map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t="53043" r="11475"/>
          <a:stretch/>
        </p:blipFill>
        <p:spPr>
          <a:xfrm>
            <a:off x="460971" y="2687702"/>
            <a:ext cx="4456546" cy="363772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6" name="Google Shape;246;p5"/>
          <p:cNvSpPr txBox="1"/>
          <p:nvPr/>
        </p:nvSpPr>
        <p:spPr>
          <a:xfrm>
            <a:off x="1924428" y="1405812"/>
            <a:ext cx="15296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sng" strike="noStrike" cap="none">
                <a:solidFill>
                  <a:srgbClr val="1C6294"/>
                </a:solidFill>
                <a:latin typeface="Calibri"/>
                <a:ea typeface="Calibri"/>
                <a:cs typeface="Calibri"/>
                <a:sym typeface="Calibri"/>
              </a:rPr>
              <a:t>E-space</a:t>
            </a:r>
            <a:endParaRPr sz="2400" b="0" i="0" u="sng" strike="noStrike" cap="none">
              <a:solidFill>
                <a:srgbClr val="1C62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8672624" y="1374415"/>
            <a:ext cx="15296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sng" strike="noStrike" cap="none">
                <a:solidFill>
                  <a:srgbClr val="1C6294"/>
                </a:solidFill>
                <a:latin typeface="Calibri"/>
                <a:ea typeface="Calibri"/>
                <a:cs typeface="Calibri"/>
                <a:sym typeface="Calibri"/>
              </a:rPr>
              <a:t>G-space</a:t>
            </a:r>
            <a:endParaRPr sz="2400" b="0" i="0" u="sng" strike="noStrike" cap="none">
              <a:solidFill>
                <a:srgbClr val="1C629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1" y="1807046"/>
            <a:ext cx="563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tolerable environmental variables for the species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6639791" y="1780836"/>
            <a:ext cx="555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Geographic places these environmental conditions exist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431971" y="3988107"/>
            <a:ext cx="1436916" cy="78377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-1" y="-3222"/>
            <a:ext cx="12191990" cy="11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189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Relationships between ecological niches and geographic distributions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189"/>
              <a:buFont typeface="Calibri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 txBox="1"/>
          <p:nvPr/>
        </p:nvSpPr>
        <p:spPr>
          <a:xfrm>
            <a:off x="0" y="0"/>
            <a:ext cx="1219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 between species’ position in geographical space and environmental space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On the right: Geogrphical space. A y and x axis box, inside are three oval shapes: A is small and filled in light blue; B is small and not filled; C is large, and two thirds of its left and middle parts are filled in light blue (and also has + marks inside it) and the rest in unfilled.&#10; &#10;On the left: Environmental space. An exis of e1 and e2. There is a larg oval shape E. Inside it a smaller oval shape filled in light blue and + marks.&#10; &#10;There's an double-sided arrow between both spaces.&#10; &#10;The legend includes:&#10;+ means: Observed species occurence record&#10;the light blue means: Actual distribution (left panel)/Occupied niche (right panel)&#10;the empty oval means: Potential distribution (left panel)/Fundemental niche (right panel)">
            <a:extLst>
              <a:ext uri="{FF2B5EF4-FFF2-40B4-BE49-F238E27FC236}">
                <a16:creationId xmlns:a16="http://schemas.microsoft.com/office/drawing/2014/main" id="{13AF4F92-8483-9517-EC42-3EDF4DE1C8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" r="334"/>
          <a:stretch>
            <a:fillRect/>
          </a:stretch>
        </p:blipFill>
        <p:spPr bwMode="auto">
          <a:xfrm>
            <a:off x="1733550" y="731691"/>
            <a:ext cx="8724900" cy="53946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60" name="Google Shape;260;p6"/>
          <p:cNvSpPr/>
          <p:nvPr/>
        </p:nvSpPr>
        <p:spPr>
          <a:xfrm>
            <a:off x="5596800" y="731691"/>
            <a:ext cx="4656000" cy="383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/>
        </p:nvSpPr>
        <p:spPr>
          <a:xfrm>
            <a:off x="0" y="0"/>
            <a:ext cx="12192000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 between species’ position in geographical space and environmental space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675587" y="1295400"/>
            <a:ext cx="4656083" cy="38336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On the right: Geogrphical space. A y and x axis box, inside are three oval shapes: A is small and filled in light blue; B is small and not filled; C is large, and two thirds of its left and middle parts are filled in light blue (and also has + marks inside it) and the rest in unfilled.&#10; &#10;On the left: Environmental space. An exis of e1 and e2. There is a larg oval shape E. Inside it a smaller oval shape filled in light blue and + marks.&#10; &#10;There's an double-sided arrow between both spaces.&#10; &#10;The legend includes:&#10;+ means: Observed species occurence record&#10;the light blue means: Actual distribution (left panel)/Occupied niche (right panel)&#10;the empty oval means: Potential distribution (left panel)/Fundemental niche (right panel)">
            <a:extLst>
              <a:ext uri="{FF2B5EF4-FFF2-40B4-BE49-F238E27FC236}">
                <a16:creationId xmlns:a16="http://schemas.microsoft.com/office/drawing/2014/main" id="{F75F8DBF-D0DF-B532-13A4-8008928E42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" r="334"/>
          <a:stretch>
            <a:fillRect/>
          </a:stretch>
        </p:blipFill>
        <p:spPr bwMode="auto">
          <a:xfrm>
            <a:off x="1960095" y="871764"/>
            <a:ext cx="8271810" cy="51144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8" descr="base_modeled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182" y="1039524"/>
            <a:ext cx="5357446" cy="520719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 txBox="1"/>
          <p:nvPr/>
        </p:nvSpPr>
        <p:spPr>
          <a:xfrm>
            <a:off x="1790700" y="145142"/>
            <a:ext cx="8610600" cy="727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Species Distribution Modeling Approach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8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9496" y="2261180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/>
          <p:nvPr/>
        </p:nvSpPr>
        <p:spPr>
          <a:xfrm>
            <a:off x="838732" y="244442"/>
            <a:ext cx="10341886" cy="15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Observed localities can be used to estimate the niche or distribution if: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>
            <a:spLocks noGrp="1"/>
          </p:cNvSpPr>
          <p:nvPr>
            <p:ph type="body" idx="1"/>
          </p:nvPr>
        </p:nvSpPr>
        <p:spPr>
          <a:xfrm>
            <a:off x="1617750" y="2560449"/>
            <a:ext cx="8956500" cy="27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 sz="2800" dirty="0"/>
              <a:t>1. They are at </a:t>
            </a:r>
            <a:r>
              <a:rPr lang="en-US" sz="2800" b="1" dirty="0"/>
              <a:t>equilibrium</a:t>
            </a:r>
            <a:r>
              <a:rPr lang="en-US" sz="2800" dirty="0"/>
              <a:t> with available environmental conditions.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800" i="1" dirty="0"/>
          </a:p>
          <a:p>
            <a:pPr marL="457200" lvl="0" indent="-3429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</a:pPr>
            <a:r>
              <a:rPr lang="en-US" sz="2800" dirty="0"/>
              <a:t>2. They are a </a:t>
            </a:r>
            <a:r>
              <a:rPr lang="en-US" sz="2800" b="1" dirty="0"/>
              <a:t>representative sample </a:t>
            </a:r>
            <a:r>
              <a:rPr lang="en-US" sz="2800" dirty="0"/>
              <a:t>of the species in geographic and environmental space.</a:t>
            </a:r>
            <a:endParaRPr sz="2800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290;p10"/>
          <p:cNvGrpSpPr/>
          <p:nvPr/>
        </p:nvGrpSpPr>
        <p:grpSpPr>
          <a:xfrm>
            <a:off x="3384789" y="855224"/>
            <a:ext cx="5018481" cy="4734230"/>
            <a:chOff x="439908" y="47220"/>
            <a:chExt cx="3749332" cy="3536967"/>
          </a:xfrm>
        </p:grpSpPr>
        <p:sp>
          <p:nvSpPr>
            <p:cNvPr id="291" name="Google Shape;291;p10"/>
            <p:cNvSpPr/>
            <p:nvPr/>
          </p:nvSpPr>
          <p:spPr>
            <a:xfrm>
              <a:off x="1209657" y="47220"/>
              <a:ext cx="2177734" cy="2177734"/>
            </a:xfrm>
            <a:prstGeom prst="ellipse">
              <a:avLst/>
            </a:prstGeom>
            <a:solidFill>
              <a:srgbClr val="FF7E79">
                <a:alpha val="69019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10"/>
            <p:cNvSpPr txBox="1"/>
            <p:nvPr/>
          </p:nvSpPr>
          <p:spPr>
            <a:xfrm>
              <a:off x="1500022" y="428324"/>
              <a:ext cx="1597005" cy="9799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alibri"/>
                <a:buNone/>
              </a:pPr>
              <a:r>
                <a:rPr lang="en-US" sz="6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2011506" y="1406453"/>
              <a:ext cx="2177734" cy="2177734"/>
            </a:xfrm>
            <a:prstGeom prst="ellipse">
              <a:avLst/>
            </a:prstGeom>
            <a:solidFill>
              <a:srgbClr val="D883FF">
                <a:alpha val="69411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0"/>
            <p:cNvSpPr txBox="1"/>
            <p:nvPr/>
          </p:nvSpPr>
          <p:spPr>
            <a:xfrm>
              <a:off x="2677530" y="1969034"/>
              <a:ext cx="1306640" cy="1197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alibri"/>
                <a:buNone/>
              </a:pPr>
              <a:r>
                <a:rPr lang="en-US" sz="6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439908" y="1406453"/>
              <a:ext cx="2177734" cy="2177734"/>
            </a:xfrm>
            <a:prstGeom prst="ellipse">
              <a:avLst/>
            </a:prstGeom>
            <a:solidFill>
              <a:schemeClr val="accent4">
                <a:alpha val="49019"/>
              </a:scheme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0"/>
            <p:cNvSpPr txBox="1"/>
            <p:nvPr/>
          </p:nvSpPr>
          <p:spPr>
            <a:xfrm>
              <a:off x="644978" y="1969034"/>
              <a:ext cx="1306640" cy="1197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6500"/>
                <a:buFont typeface="Calibri"/>
                <a:buNone/>
              </a:pPr>
              <a:r>
                <a:rPr lang="en-US" sz="6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10"/>
          <p:cNvSpPr txBox="1"/>
          <p:nvPr/>
        </p:nvSpPr>
        <p:spPr>
          <a:xfrm>
            <a:off x="7936146" y="5300192"/>
            <a:ext cx="2240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Soberón &amp; Peterson (2005)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2089899" y="292931"/>
            <a:ext cx="801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7E79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 dirty="0">
                <a:solidFill>
                  <a:srgbClr val="1C629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 Range of environmental variables within which a species can survive</a:t>
            </a:r>
            <a:endParaRPr sz="1800" b="0" i="0" u="none" strike="noStrike" cap="none" dirty="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8403338" y="3079409"/>
            <a:ext cx="3547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D883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1800" b="0" i="0" u="none" strike="noStrike" cap="none">
                <a:solidFill>
                  <a:srgbClr val="1482A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Geographic space available for species’ dispersal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 txBox="1"/>
          <p:nvPr/>
        </p:nvSpPr>
        <p:spPr>
          <a:xfrm>
            <a:off x="4199041" y="2797691"/>
            <a:ext cx="170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Invadable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4793184" y="1196082"/>
            <a:ext cx="2137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</a:t>
            </a:r>
            <a:endParaRPr sz="1400" b="0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5053056" y="3419661"/>
            <a:ext cx="1617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Occupied</a:t>
            </a:r>
            <a:endParaRPr sz="14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366456" y="2973655"/>
            <a:ext cx="30153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487B78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Biotic interactions that limit/facilitate the persistence of a species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 txBox="1"/>
          <p:nvPr/>
        </p:nvSpPr>
        <p:spPr>
          <a:xfrm>
            <a:off x="533400" y="171452"/>
            <a:ext cx="10140950" cy="819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equilibrium and good sampling: the ideal scenario</a:t>
            </a: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p11" descr="HiEquil_GoodGeoSa_GoodEnv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145" y="1165660"/>
            <a:ext cx="5233430" cy="5097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1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570" y="2332289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"/>
          <p:cNvSpPr txBox="1"/>
          <p:nvPr/>
        </p:nvSpPr>
        <p:spPr>
          <a:xfrm>
            <a:off x="0" y="87087"/>
            <a:ext cx="12192000" cy="1046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high equilibrium but poor sampling (in both geographical &amp; environmental space)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2" descr="HiEquil_PoorGeoSa_PoorEnv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968" y="1276920"/>
            <a:ext cx="5196017" cy="5040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12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2787" y="2596934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 txBox="1"/>
          <p:nvPr/>
        </p:nvSpPr>
        <p:spPr>
          <a:xfrm>
            <a:off x="0" y="76199"/>
            <a:ext cx="12192000" cy="741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high equilibrium and poor sampling in geographical space, but good sampling in environmental space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13" descr="HiEquil_PoorGeoSa_GoodEnv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36" y="1142720"/>
            <a:ext cx="5229162" cy="5091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3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2787" y="2202031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4"/>
          <p:cNvSpPr txBox="1"/>
          <p:nvPr/>
        </p:nvSpPr>
        <p:spPr>
          <a:xfrm>
            <a:off x="2133600" y="228600"/>
            <a:ext cx="7715250" cy="779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Suppose low equilibrium but good sampling</a:t>
            </a: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14" descr="LoEquil_GoodGeoS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7754" y="1229591"/>
            <a:ext cx="5131282" cy="499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4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9269" y="2222812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5" descr="base_modeled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97770"/>
            <a:ext cx="5405934" cy="525432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 txBox="1"/>
          <p:nvPr/>
        </p:nvSpPr>
        <p:spPr>
          <a:xfrm>
            <a:off x="0" y="3628"/>
            <a:ext cx="12192000" cy="4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 to our first example: in reality we have a combination of dis-equilibrium and incomplete sampling</a:t>
            </a:r>
            <a:endParaRPr sz="1800" b="0" i="1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3" name="Google Shape;343;p15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32006" y="2378676"/>
            <a:ext cx="4252772" cy="138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16" descr="base_modeled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90800" y="985838"/>
            <a:ext cx="5405933" cy="525432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6"/>
          <p:cNvSpPr txBox="1"/>
          <p:nvPr/>
        </p:nvSpPr>
        <p:spPr>
          <a:xfrm>
            <a:off x="0" y="3630"/>
            <a:ext cx="1219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36575" rIns="36575" bIns="365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 to our first example: in reality we have a combination of dis-equilibrium and incomplete sampling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16" descr="legend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98260" y="3978876"/>
            <a:ext cx="4252772" cy="1381942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6"/>
          <p:cNvSpPr txBox="1"/>
          <p:nvPr/>
        </p:nvSpPr>
        <p:spPr>
          <a:xfrm>
            <a:off x="2590800" y="2043340"/>
            <a:ext cx="5562600" cy="1913700"/>
          </a:xfrm>
          <a:prstGeom prst="rect">
            <a:avLst/>
          </a:prstGeom>
          <a:solidFill>
            <a:srgbClr val="FF7E7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we must be very cautious when interpreting model output: to what degree have we been able to capture the potential and/or actual distribution?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 txBox="1">
            <a:spLocks noGrp="1"/>
          </p:cNvSpPr>
          <p:nvPr>
            <p:ph type="title" idx="4294967295"/>
          </p:nvPr>
        </p:nvSpPr>
        <p:spPr>
          <a:xfrm>
            <a:off x="0" y="92900"/>
            <a:ext cx="100584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Species distribution models</a:t>
            </a:r>
            <a:endParaRPr i="1" dirty="0"/>
          </a:p>
        </p:txBody>
      </p:sp>
      <p:sp>
        <p:nvSpPr>
          <p:cNvPr id="359" name="Google Shape;359;p17"/>
          <p:cNvSpPr/>
          <p:nvPr/>
        </p:nvSpPr>
        <p:spPr>
          <a:xfrm>
            <a:off x="2257865" y="2643186"/>
            <a:ext cx="833647" cy="797002"/>
          </a:xfrm>
          <a:prstGeom prst="mathPlus">
            <a:avLst>
              <a:gd name="adj1" fmla="val 23520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307757" y="4780430"/>
            <a:ext cx="1955801" cy="578837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Species presences</a:t>
            </a:r>
            <a:endParaRPr sz="16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354353" y="4473985"/>
            <a:ext cx="2197717" cy="578837"/>
          </a:xfrm>
          <a:prstGeom prst="roundRect">
            <a:avLst>
              <a:gd name="adj" fmla="val 16667"/>
            </a:avLst>
          </a:prstGeom>
          <a:solidFill>
            <a:srgbClr val="2E66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Predictor variables</a:t>
            </a:r>
            <a:endParaRPr sz="1400" b="1" i="1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9911517" y="4707114"/>
            <a:ext cx="1881494" cy="578837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Suitable habitat</a:t>
            </a:r>
            <a:endParaRPr sz="1400" b="0" i="1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6440609" y="2730544"/>
            <a:ext cx="2235354" cy="78377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683C6"/>
          </a:solidFill>
          <a:ln w="15875" cap="flat" cmpd="sng">
            <a:solidFill>
              <a:srgbClr val="147E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6454393" y="2913862"/>
            <a:ext cx="1977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Algorithm/model</a:t>
            </a:r>
            <a:endParaRPr sz="1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6526258" y="3325679"/>
            <a:ext cx="20640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Maxent, BRT, GARP, Bioclim, Linear regression, etc.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221841" y="5413296"/>
            <a:ext cx="20640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presence, presence/absence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7"/>
          <p:cNvSpPr txBox="1"/>
          <p:nvPr/>
        </p:nvSpPr>
        <p:spPr>
          <a:xfrm>
            <a:off x="2674688" y="5120949"/>
            <a:ext cx="399698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temperature, precipitation, topography, </a:t>
            </a:r>
            <a:b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soil type,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17"/>
          <p:cNvGrpSpPr/>
          <p:nvPr/>
        </p:nvGrpSpPr>
        <p:grpSpPr>
          <a:xfrm>
            <a:off x="127828" y="1591083"/>
            <a:ext cx="2135730" cy="2426347"/>
            <a:chOff x="321986" y="1351316"/>
            <a:chExt cx="4693921" cy="5227592"/>
          </a:xfrm>
        </p:grpSpPr>
        <p:grpSp>
          <p:nvGrpSpPr>
            <p:cNvPr id="369" name="Google Shape;369;p17"/>
            <p:cNvGrpSpPr/>
            <p:nvPr/>
          </p:nvGrpSpPr>
          <p:grpSpPr>
            <a:xfrm>
              <a:off x="321986" y="1351316"/>
              <a:ext cx="4693921" cy="5227592"/>
              <a:chOff x="2594467" y="1219236"/>
              <a:chExt cx="4693921" cy="5227592"/>
            </a:xfrm>
          </p:grpSpPr>
          <p:grpSp>
            <p:nvGrpSpPr>
              <p:cNvPr id="370" name="Google Shape;370;p17"/>
              <p:cNvGrpSpPr/>
              <p:nvPr/>
            </p:nvGrpSpPr>
            <p:grpSpPr>
              <a:xfrm>
                <a:off x="2594467" y="1219236"/>
                <a:ext cx="4693921" cy="5227592"/>
                <a:chOff x="2596238" y="1243038"/>
                <a:chExt cx="4693921" cy="5227592"/>
              </a:xfrm>
            </p:grpSpPr>
            <p:grpSp>
              <p:nvGrpSpPr>
                <p:cNvPr id="371" name="Google Shape;371;p17"/>
                <p:cNvGrpSpPr/>
                <p:nvPr/>
              </p:nvGrpSpPr>
              <p:grpSpPr>
                <a:xfrm>
                  <a:off x="2596238" y="1243038"/>
                  <a:ext cx="4693921" cy="5227592"/>
                  <a:chOff x="2596238" y="1243038"/>
                  <a:chExt cx="4693921" cy="5227592"/>
                </a:xfrm>
              </p:grpSpPr>
              <p:grpSp>
                <p:nvGrpSpPr>
                  <p:cNvPr id="372" name="Google Shape;372;p17"/>
                  <p:cNvGrpSpPr/>
                  <p:nvPr/>
                </p:nvGrpSpPr>
                <p:grpSpPr>
                  <a:xfrm>
                    <a:off x="2596238" y="1243038"/>
                    <a:ext cx="4693921" cy="5227592"/>
                    <a:chOff x="547092" y="1363562"/>
                    <a:chExt cx="4693921" cy="5227592"/>
                  </a:xfrm>
                </p:grpSpPr>
                <p:pic>
                  <p:nvPicPr>
                    <p:cNvPr id="373" name="Google Shape;373;p17" descr="http://www.worldatlas.com/webimage/countrys/africa/afoutlnew.jpg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l="6653" r="12104"/>
                    <a:stretch/>
                  </p:blipFill>
                  <p:spPr>
                    <a:xfrm>
                      <a:off x="547092" y="1363562"/>
                      <a:ext cx="4693921" cy="522759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374" name="Google Shape;374;p17"/>
                    <p:cNvSpPr txBox="1"/>
                    <p:nvPr/>
                  </p:nvSpPr>
                  <p:spPr>
                    <a:xfrm>
                      <a:off x="761999" y="3025151"/>
                      <a:ext cx="477521" cy="113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0" i="0" u="none" strike="noStrike" cap="none">
                          <a:solidFill>
                            <a:srgbClr val="FF0000"/>
                          </a:solidFill>
                          <a:latin typeface="Baumans"/>
                          <a:ea typeface="Baumans"/>
                          <a:cs typeface="Baumans"/>
                          <a:sym typeface="Baumans"/>
                        </a:rPr>
                        <a:t>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5" name="Google Shape;375;p17"/>
                    <p:cNvSpPr txBox="1"/>
                    <p:nvPr/>
                  </p:nvSpPr>
                  <p:spPr>
                    <a:xfrm>
                      <a:off x="3667758" y="3309631"/>
                      <a:ext cx="477521" cy="113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0" i="0" u="none" strike="noStrike" cap="none">
                          <a:solidFill>
                            <a:srgbClr val="FF0000"/>
                          </a:solidFill>
                          <a:latin typeface="Baumans"/>
                          <a:ea typeface="Baumans"/>
                          <a:cs typeface="Baumans"/>
                          <a:sym typeface="Baumans"/>
                        </a:rPr>
                        <a:t>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6" name="Google Shape;376;p17"/>
                    <p:cNvSpPr txBox="1"/>
                    <p:nvPr/>
                  </p:nvSpPr>
                  <p:spPr>
                    <a:xfrm>
                      <a:off x="1767840" y="3004831"/>
                      <a:ext cx="477521" cy="113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0" i="0" u="none" strike="noStrike" cap="none">
                          <a:solidFill>
                            <a:srgbClr val="FF0000"/>
                          </a:solidFill>
                          <a:latin typeface="Baumans"/>
                          <a:ea typeface="Baumans"/>
                          <a:cs typeface="Baumans"/>
                          <a:sym typeface="Baumans"/>
                        </a:rPr>
                        <a:t>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7" name="Google Shape;377;p17"/>
                    <p:cNvSpPr txBox="1"/>
                    <p:nvPr/>
                  </p:nvSpPr>
                  <p:spPr>
                    <a:xfrm>
                      <a:off x="1158239" y="3055631"/>
                      <a:ext cx="477521" cy="11363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t" anchorCtr="0">
                      <a:sp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0" i="0" u="none" strike="noStrike" cap="none">
                          <a:solidFill>
                            <a:srgbClr val="FF0000"/>
                          </a:solidFill>
                          <a:latin typeface="Baumans"/>
                          <a:ea typeface="Baumans"/>
                          <a:cs typeface="Baumans"/>
                          <a:sym typeface="Baumans"/>
                        </a:rPr>
                        <a:t>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78" name="Google Shape;378;p17"/>
                  <p:cNvSpPr txBox="1"/>
                  <p:nvPr/>
                </p:nvSpPr>
                <p:spPr>
                  <a:xfrm>
                    <a:off x="3093551" y="2797502"/>
                    <a:ext cx="477521" cy="113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100"/>
                      <a:buFont typeface="Arial"/>
                      <a:buNone/>
                    </a:pPr>
                    <a:r>
                      <a:rPr lang="en-US" sz="2100" b="0" i="0" u="none" strike="noStrike" cap="none">
                        <a:solidFill>
                          <a:srgbClr val="FF0000"/>
                        </a:solidFill>
                        <a:latin typeface="Baumans"/>
                        <a:ea typeface="Baumans"/>
                        <a:cs typeface="Baumans"/>
                        <a:sym typeface="Baumans"/>
                      </a:rPr>
                      <a:t>.</a:t>
                    </a: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79" name="Google Shape;379;p17"/>
                <p:cNvSpPr txBox="1"/>
                <p:nvPr/>
              </p:nvSpPr>
              <p:spPr>
                <a:xfrm>
                  <a:off x="4027082" y="2950695"/>
                  <a:ext cx="477521" cy="113633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100"/>
                    <a:buFont typeface="Arial"/>
                    <a:buNone/>
                  </a:pPr>
                  <a:r>
                    <a:rPr lang="en-US" sz="2100" b="0" i="0" u="none" strike="noStrike" cap="none">
                      <a:solidFill>
                        <a:srgbClr val="FF0000"/>
                      </a:solidFill>
                      <a:latin typeface="Baumans"/>
                      <a:ea typeface="Baumans"/>
                      <a:cs typeface="Baumans"/>
                      <a:sym typeface="Baumans"/>
                    </a:rPr>
                    <a:t>.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0" name="Google Shape;380;p17"/>
              <p:cNvSpPr txBox="1"/>
              <p:nvPr/>
            </p:nvSpPr>
            <p:spPr>
              <a:xfrm>
                <a:off x="5618479" y="3073512"/>
                <a:ext cx="477521" cy="113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00"/>
                  <a:buFont typeface="Arial"/>
                  <a:buNone/>
                </a:pPr>
                <a:r>
                  <a:rPr lang="en-US" sz="2100" b="0" i="0" u="none" strike="noStrike" cap="none">
                    <a:solidFill>
                      <a:srgbClr val="FF0000"/>
                    </a:solidFill>
                    <a:latin typeface="Baumans"/>
                    <a:ea typeface="Baumans"/>
                    <a:cs typeface="Baumans"/>
                    <a:sym typeface="Baumans"/>
                  </a:rPr>
                  <a:t>.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1" name="Google Shape;381;p17"/>
            <p:cNvSpPr txBox="1"/>
            <p:nvPr/>
          </p:nvSpPr>
          <p:spPr>
            <a:xfrm>
              <a:off x="3528085" y="3167392"/>
              <a:ext cx="438467" cy="1136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FF0000"/>
                  </a:solidFill>
                  <a:latin typeface="Baumans"/>
                  <a:ea typeface="Baumans"/>
                  <a:cs typeface="Baumans"/>
                  <a:sym typeface="Baumans"/>
                </a:rPr>
                <a:t>.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7"/>
          <p:cNvGrpSpPr/>
          <p:nvPr/>
        </p:nvGrpSpPr>
        <p:grpSpPr>
          <a:xfrm>
            <a:off x="3557588" y="2003965"/>
            <a:ext cx="2295988" cy="1664617"/>
            <a:chOff x="3479077" y="2059256"/>
            <a:chExt cx="4076166" cy="3517084"/>
          </a:xfrm>
        </p:grpSpPr>
        <p:pic>
          <p:nvPicPr>
            <p:cNvPr id="383" name="Google Shape;383;p17" descr="http://www.worldatlas.com/webimage/countrys/africa/afoutlnew.jpg"/>
            <p:cNvPicPr preferRelativeResize="0"/>
            <p:nvPr/>
          </p:nvPicPr>
          <p:blipFill rotWithShape="1">
            <a:blip r:embed="rId3">
              <a:alphaModFix/>
            </a:blip>
            <a:srcRect l="6653" r="12104"/>
            <a:stretch/>
          </p:blipFill>
          <p:spPr>
            <a:xfrm>
              <a:off x="4375163" y="2059256"/>
              <a:ext cx="3180080" cy="3374844"/>
            </a:xfrm>
            <a:prstGeom prst="rect">
              <a:avLst/>
            </a:prstGeom>
            <a:solidFill>
              <a:srgbClr val="000000"/>
            </a:solidFill>
            <a:ln w="444500" cap="sq" cmpd="sng">
              <a:solidFill>
                <a:srgbClr val="B7D6A3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384" name="Google Shape;384;p17" descr="http://www.worldatlas.com/webimage/countrys/africa/afoutlnew.jpg"/>
            <p:cNvPicPr preferRelativeResize="0"/>
            <p:nvPr/>
          </p:nvPicPr>
          <p:blipFill rotWithShape="1">
            <a:blip r:embed="rId3">
              <a:alphaModFix/>
            </a:blip>
            <a:srcRect l="6653" r="12104"/>
            <a:stretch/>
          </p:blipFill>
          <p:spPr>
            <a:xfrm>
              <a:off x="3914516" y="2059256"/>
              <a:ext cx="3180081" cy="3374844"/>
            </a:xfrm>
            <a:prstGeom prst="rect">
              <a:avLst/>
            </a:prstGeom>
            <a:solidFill>
              <a:srgbClr val="000000"/>
            </a:solidFill>
            <a:ln w="444500" cap="sq" cmpd="sng">
              <a:solidFill>
                <a:srgbClr val="B7D6A3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385" name="Google Shape;385;p17" descr="http://www.worldatlas.com/webimage/countrys/africa/afoutlnew.jpg"/>
            <p:cNvPicPr preferRelativeResize="0"/>
            <p:nvPr/>
          </p:nvPicPr>
          <p:blipFill rotWithShape="1">
            <a:blip r:embed="rId3">
              <a:alphaModFix/>
            </a:blip>
            <a:srcRect l="6653" r="12104"/>
            <a:stretch/>
          </p:blipFill>
          <p:spPr>
            <a:xfrm>
              <a:off x="3479077" y="2201496"/>
              <a:ext cx="3180080" cy="3374844"/>
            </a:xfrm>
            <a:prstGeom prst="rect">
              <a:avLst/>
            </a:prstGeom>
            <a:solidFill>
              <a:srgbClr val="000000"/>
            </a:solidFill>
            <a:ln w="444500" cap="sq" cmpd="sng">
              <a:solidFill>
                <a:srgbClr val="B7D6A3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254000" dist="190500" dir="2700000" sy="90000" algn="bl" rotWithShape="0">
                <a:srgbClr val="000000">
                  <a:alpha val="40000"/>
                </a:srgbClr>
              </a:outerShdw>
            </a:effectLst>
          </p:spPr>
        </p:pic>
      </p:grpSp>
      <p:pic>
        <p:nvPicPr>
          <p:cNvPr id="386" name="Google Shape;386;p17" descr="Fig_1_dist_labiyfus.jpg"/>
          <p:cNvPicPr preferRelativeResize="0"/>
          <p:nvPr/>
        </p:nvPicPr>
        <p:blipFill rotWithShape="1">
          <a:blip r:embed="rId4">
            <a:alphaModFix/>
          </a:blip>
          <a:srcRect l="15129" t="9290" r="60813" b="57240"/>
          <a:stretch/>
        </p:blipFill>
        <p:spPr>
          <a:xfrm>
            <a:off x="8939500" y="1212926"/>
            <a:ext cx="2764525" cy="3261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10058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333"/>
              <a:buNone/>
            </a:pPr>
            <a:r>
              <a:rPr lang="en-US"/>
              <a:t>Species distribution models</a:t>
            </a:r>
            <a:endParaRPr i="1"/>
          </a:p>
        </p:txBody>
      </p:sp>
      <p:grpSp>
        <p:nvGrpSpPr>
          <p:cNvPr id="393" name="Google Shape;393;p18"/>
          <p:cNvGrpSpPr/>
          <p:nvPr/>
        </p:nvGrpSpPr>
        <p:grpSpPr>
          <a:xfrm>
            <a:off x="725901" y="1160585"/>
            <a:ext cx="10431899" cy="5056632"/>
            <a:chOff x="725901" y="1160585"/>
            <a:chExt cx="10431899" cy="5056632"/>
          </a:xfrm>
        </p:grpSpPr>
        <p:pic>
          <p:nvPicPr>
            <p:cNvPr id="394" name="Google Shape;394;p18" descr="Diagram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 l="5966" t="3725" r="2802" b="8514"/>
            <a:stretch/>
          </p:blipFill>
          <p:spPr>
            <a:xfrm>
              <a:off x="725901" y="1160585"/>
              <a:ext cx="10431899" cy="50566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18" descr="Fig_1_dist_labiyfus.jpg"/>
            <p:cNvPicPr preferRelativeResize="0"/>
            <p:nvPr/>
          </p:nvPicPr>
          <p:blipFill rotWithShape="1">
            <a:blip r:embed="rId4">
              <a:alphaModFix/>
            </a:blip>
            <a:srcRect l="15129" t="9290" r="60813" b="57240"/>
            <a:stretch/>
          </p:blipFill>
          <p:spPr>
            <a:xfrm>
              <a:off x="9380275" y="3560625"/>
              <a:ext cx="1708875" cy="20161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1373" y="3184615"/>
            <a:ext cx="4473146" cy="3115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208" y="2165386"/>
            <a:ext cx="5997792" cy="3188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1373" y="89496"/>
            <a:ext cx="5459630" cy="309511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9"/>
          <p:cNvSpPr txBox="1"/>
          <p:nvPr/>
        </p:nvSpPr>
        <p:spPr>
          <a:xfrm>
            <a:off x="3181" y="5703844"/>
            <a:ext cx="309392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Urbina-Cardona et al, 2019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Tropical Conservation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0" y="51178"/>
            <a:ext cx="10058400" cy="89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77500" lnSpcReduction="20000"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9032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Species distribution models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29032"/>
              <a:buFont typeface="Calibri"/>
              <a:buNone/>
            </a:pPr>
            <a:r>
              <a:rPr lang="en-US" sz="48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Where and which?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>
            <a:spLocks noGrp="1"/>
          </p:cNvSpPr>
          <p:nvPr>
            <p:ph type="title"/>
          </p:nvPr>
        </p:nvSpPr>
        <p:spPr>
          <a:xfrm>
            <a:off x="0" y="8289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/>
              <a:t>Applications to Conservation Science</a:t>
            </a:r>
            <a:endParaRPr dirty="0"/>
          </a:p>
        </p:txBody>
      </p:sp>
      <p:pic>
        <p:nvPicPr>
          <p:cNvPr id="411" name="Google Shape;41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8102" y="1334002"/>
            <a:ext cx="8095785" cy="5556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"/>
          <p:cNvSpPr txBox="1">
            <a:spLocks noGrp="1"/>
          </p:cNvSpPr>
          <p:nvPr>
            <p:ph type="title"/>
          </p:nvPr>
        </p:nvSpPr>
        <p:spPr>
          <a:xfrm>
            <a:off x="0" y="8289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/>
              <a:t>Applications to Conservation Science</a:t>
            </a:r>
            <a:endParaRPr/>
          </a:p>
        </p:txBody>
      </p:sp>
      <p:pic>
        <p:nvPicPr>
          <p:cNvPr id="417" name="Google Shape;41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11524"/>
            <a:ext cx="11698374" cy="51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>
            <a:spLocks noGrp="1"/>
          </p:cNvSpPr>
          <p:nvPr>
            <p:ph type="title"/>
          </p:nvPr>
        </p:nvSpPr>
        <p:spPr>
          <a:xfrm>
            <a:off x="0" y="8289"/>
            <a:ext cx="12192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b="1" dirty="0"/>
              <a:t>Applications to Conservation Science</a:t>
            </a:r>
            <a:endParaRPr dirty="0"/>
          </a:p>
        </p:txBody>
      </p:sp>
      <p:pic>
        <p:nvPicPr>
          <p:cNvPr id="423" name="Google Shape;42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1181600"/>
            <a:ext cx="9144001" cy="568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3"/>
          <p:cNvSpPr txBox="1"/>
          <p:nvPr/>
        </p:nvSpPr>
        <p:spPr>
          <a:xfrm>
            <a:off x="898544" y="304573"/>
            <a:ext cx="10394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Cautionary Notes!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 and misuse of models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3"/>
          <p:cNvSpPr txBox="1">
            <a:spLocks noGrp="1"/>
          </p:cNvSpPr>
          <p:nvPr>
            <p:ph type="body" idx="1"/>
          </p:nvPr>
        </p:nvSpPr>
        <p:spPr>
          <a:xfrm>
            <a:off x="760761" y="1449657"/>
            <a:ext cx="10670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“All models are wrong, but some are useful” George Box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Garbage in, garbage out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a model is only as good as the data put into it.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Model extrapolation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should be treated with a great deal of caution.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lvl="0" indent="-228600" algn="l" rtl="0">
              <a:lnSpc>
                <a:spcPct val="120000"/>
              </a:lnSpc>
              <a:spcBef>
                <a:spcPts val="19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The lure of complicated technology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Remember that a model can only be useful if the theoretical underpinnings on which it is based are sound, regardless of how advanced the data and technology are.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108367FCDB4D47B5E8E54D64157753" ma:contentTypeVersion="17" ma:contentTypeDescription="Create a new document." ma:contentTypeScope="" ma:versionID="89ad6e55dd034a63fada300300833fd8">
  <xsd:schema xmlns:xsd="http://www.w3.org/2001/XMLSchema" xmlns:xs="http://www.w3.org/2001/XMLSchema" xmlns:p="http://schemas.microsoft.com/office/2006/metadata/properties" xmlns:ns2="07cd00b6-9c38-42c0-af70-5d8006d91a8f" xmlns:ns3="c789ccf0-1666-411a-a555-39fa7b68a59a" targetNamespace="http://schemas.microsoft.com/office/2006/metadata/properties" ma:root="true" ma:fieldsID="f079f9a9198ad2b6684649c05101704b" ns2:_="" ns3:_="">
    <xsd:import namespace="07cd00b6-9c38-42c0-af70-5d8006d91a8f"/>
    <xsd:import namespace="c789ccf0-1666-411a-a555-39fa7b68a5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d00b6-9c38-42c0-af70-5d8006d91a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b3fc297-59b7-4dce-adfa-f654e45c77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89ccf0-1666-411a-a555-39fa7b68a59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23d555bf-7095-481d-a767-a5e3213ffcfc}" ma:internalName="TaxCatchAll" ma:showField="CatchAllData" ma:web="c789ccf0-1666-411a-a555-39fa7b68a5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cd00b6-9c38-42c0-af70-5d8006d91a8f">
      <Terms xmlns="http://schemas.microsoft.com/office/infopath/2007/PartnerControls"/>
    </lcf76f155ced4ddcb4097134ff3c332f>
    <TaxCatchAll xmlns="c789ccf0-1666-411a-a555-39fa7b68a59a" xsi:nil="true"/>
  </documentManagement>
</p:properties>
</file>

<file path=customXml/itemProps1.xml><?xml version="1.0" encoding="utf-8"?>
<ds:datastoreItem xmlns:ds="http://schemas.openxmlformats.org/officeDocument/2006/customXml" ds:itemID="{E37A8D5C-4840-4984-A984-911F12DCFE7C}"/>
</file>

<file path=customXml/itemProps2.xml><?xml version="1.0" encoding="utf-8"?>
<ds:datastoreItem xmlns:ds="http://schemas.openxmlformats.org/officeDocument/2006/customXml" ds:itemID="{A91C58D6-E818-4BFE-953E-358EC2454937}"/>
</file>

<file path=customXml/itemProps3.xml><?xml version="1.0" encoding="utf-8"?>
<ds:datastoreItem xmlns:ds="http://schemas.openxmlformats.org/officeDocument/2006/customXml" ds:itemID="{42A9B41A-C2DE-4BE8-B7E9-84153A7E529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1858</Words>
  <Application>Microsoft Macintosh PowerPoint</Application>
  <PresentationFormat>Widescreen</PresentationFormat>
  <Paragraphs>141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Helvetica Neue</vt:lpstr>
      <vt:lpstr>Baumans</vt:lpstr>
      <vt:lpstr>Arial</vt:lpstr>
      <vt:lpstr>Times New Roman</vt:lpstr>
      <vt:lpstr>roboto condensed</vt:lpstr>
      <vt:lpstr>Calibri</vt:lpstr>
      <vt:lpstr>Retrospect</vt:lpstr>
      <vt:lpstr>Office Theme</vt:lpstr>
      <vt:lpstr>Species Distribution Models:  History and Theory </vt:lpstr>
      <vt:lpstr>Ecological Niches</vt:lpstr>
      <vt:lpstr>Ecological Niches</vt:lpstr>
      <vt:lpstr>Relationships between ecological niches and geographic distributions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Species distribution models</vt:lpstr>
      <vt:lpstr>Species distribution models</vt:lpstr>
      <vt:lpstr>PowerPoint Presentation</vt:lpstr>
      <vt:lpstr>Applications to Conservation Science</vt:lpstr>
      <vt:lpstr>Applications to Conservation Science</vt:lpstr>
      <vt:lpstr>Applications to Conservation Science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Species Distribution Models:  History and Theory </dc:title>
  <cp:lastModifiedBy>Kristin Douglas</cp:lastModifiedBy>
  <cp:revision>1</cp:revision>
  <dcterms:modified xsi:type="dcterms:W3CDTF">2024-01-06T21:37:20Z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0x01010084108367FCDB4D47B5E8E54D64157753</vt:lpwstr>
  </property>
</Properties>
</file>