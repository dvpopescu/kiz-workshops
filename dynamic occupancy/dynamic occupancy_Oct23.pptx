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1042" r:id="rId2"/>
    <p:sldId id="1044" r:id="rId3"/>
    <p:sldId id="1045" r:id="rId4"/>
    <p:sldId id="1046" r:id="rId5"/>
    <p:sldId id="1047" r:id="rId6"/>
    <p:sldId id="1048" r:id="rId7"/>
    <p:sldId id="1049" r:id="rId8"/>
    <p:sldId id="1050" r:id="rId9"/>
    <p:sldId id="1051" r:id="rId10"/>
    <p:sldId id="1086" r:id="rId11"/>
    <p:sldId id="1085" r:id="rId12"/>
    <p:sldId id="1052" r:id="rId13"/>
    <p:sldId id="1053" r:id="rId14"/>
    <p:sldId id="1082" r:id="rId15"/>
    <p:sldId id="1083" r:id="rId16"/>
    <p:sldId id="1084" r:id="rId17"/>
    <p:sldId id="1081" r:id="rId18"/>
  </p:sldIdLst>
  <p:sldSz cx="9144000" cy="6858000" type="screen4x3"/>
  <p:notesSz cx="6858000" cy="9144000"/>
  <p:defaultTextStyle>
    <a:defPPr>
      <a:defRPr lang="en-US"/>
    </a:defPPr>
    <a:lvl1pPr marL="0" algn="l" defTabSz="4568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95" algn="l" defTabSz="4568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90" algn="l" defTabSz="4568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84" algn="l" defTabSz="4568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579" algn="l" defTabSz="4568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475" algn="l" defTabSz="4568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369" algn="l" defTabSz="4568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263" algn="l" defTabSz="4568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157" algn="l" defTabSz="4568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ick Dulvy" initials="ND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3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CC00FF"/>
    <a:srgbClr val="E2E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83878" autoAdjust="0"/>
  </p:normalViewPr>
  <p:slideViewPr>
    <p:cSldViewPr snapToGrid="0" snapToObjects="1">
      <p:cViewPr varScale="1">
        <p:scale>
          <a:sx n="74" d="100"/>
          <a:sy n="74" d="100"/>
        </p:scale>
        <p:origin x="1368" y="36"/>
      </p:cViewPr>
      <p:guideLst>
        <p:guide orient="horz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9588"/>
    </p:cViewPr>
  </p:sorterViewPr>
  <p:notesViewPr>
    <p:cSldViewPr snapToGrid="0" snapToObjects="1">
      <p:cViewPr varScale="1">
        <p:scale>
          <a:sx n="118" d="100"/>
          <a:sy n="118" d="100"/>
        </p:scale>
        <p:origin x="-5048" y="-1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2BA1C-DB3A-774D-BF63-C74147DF77EA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6B3A4-733A-9E48-9D0C-CC9BA8AFA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303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A4FFD-2244-BD43-ADCC-55C407AA6B4E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DFA54-D39D-1D48-8493-93DD079694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272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68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95" algn="l" defTabSz="4568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90" algn="l" defTabSz="4568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84" algn="l" defTabSz="4568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579" algn="l" defTabSz="4568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475" algn="l" defTabSz="4568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369" algn="l" defTabSz="4568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263" algn="l" defTabSz="4568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157" algn="l" defTabSz="4568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277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73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57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38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55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27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E72B4D-2ECC-4C20-83B0-76D522B51B74}" type="slidenum">
              <a:rPr lang="en-US"/>
              <a:pPr/>
              <a:t>7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Tahoma" pitchFamily="34" charset="0"/>
              </a:rPr>
              <a:t>Changes in population size through time are a function of births, deaths, immigration, and emigration.  </a:t>
            </a:r>
          </a:p>
          <a:p>
            <a:r>
              <a:rPr lang="en-US" b="1" dirty="0">
                <a:latin typeface="Tahoma" pitchFamily="34" charset="0"/>
              </a:rPr>
              <a:t>The open population </a:t>
            </a:r>
            <a:r>
              <a:rPr lang="en-US" b="1" dirty="0" err="1">
                <a:latin typeface="Tahoma" pitchFamily="34" charset="0"/>
              </a:rPr>
              <a:t>CMR</a:t>
            </a:r>
            <a:r>
              <a:rPr lang="en-US" b="1" dirty="0">
                <a:latin typeface="Tahoma" pitchFamily="34" charset="0"/>
              </a:rPr>
              <a:t> models we have considered until now have only estimated apparent survival rates. </a:t>
            </a:r>
          </a:p>
          <a:p>
            <a:r>
              <a:rPr lang="en-US" b="1" dirty="0">
                <a:latin typeface="Tahoma" pitchFamily="34" charset="0"/>
              </a:rPr>
              <a:t>That is, true survival, the portion of individuals surviving between sampling occasions is confounded with permanent emigration.  </a:t>
            </a:r>
          </a:p>
          <a:p>
            <a:r>
              <a:rPr lang="en-US" b="1" dirty="0">
                <a:latin typeface="Tahoma" pitchFamily="34" charset="0"/>
              </a:rPr>
              <a:t>I spoke briefly on closed models that assume that size of the population remained unchanged between sampling events.  </a:t>
            </a:r>
          </a:p>
          <a:p>
            <a:r>
              <a:rPr lang="en-US" b="1" dirty="0">
                <a:latin typeface="Tahoma" pitchFamily="34" charset="0"/>
              </a:rPr>
              <a:t>Robust design integrates the advantages of both types of models.  </a:t>
            </a:r>
          </a:p>
          <a:p>
            <a:r>
              <a:rPr lang="en-US" b="1" dirty="0">
                <a:latin typeface="Tahoma" pitchFamily="34" charset="0"/>
              </a:rPr>
              <a:t>Although this model is complicated, it brings more biological reality to the analysis of population dynamics.  </a:t>
            </a:r>
          </a:p>
          <a:p>
            <a:r>
              <a:rPr lang="en-US" b="1" dirty="0">
                <a:latin typeface="Tahoma" pitchFamily="34" charset="0"/>
              </a:rPr>
              <a:t>This method provides for the estimation of parameters that are not estimable under either open or closed models as well as more robust estimates of the familiar parameters of interest.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506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E72B4D-2ECC-4C20-83B0-76D522B51B74}" type="slidenum">
              <a:rPr lang="en-US"/>
              <a:pPr/>
              <a:t>8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latin typeface="Tahoma" pitchFamily="34" charset="0"/>
              </a:rPr>
              <a:t>Changes in population size through time are a function of births, deaths, immigration, and emigration.  </a:t>
            </a:r>
          </a:p>
          <a:p>
            <a:r>
              <a:rPr lang="en-US" b="1" dirty="0">
                <a:latin typeface="Tahoma" pitchFamily="34" charset="0"/>
              </a:rPr>
              <a:t>The open population </a:t>
            </a:r>
            <a:r>
              <a:rPr lang="en-US" b="1" dirty="0" err="1">
                <a:latin typeface="Tahoma" pitchFamily="34" charset="0"/>
              </a:rPr>
              <a:t>CMR</a:t>
            </a:r>
            <a:r>
              <a:rPr lang="en-US" b="1" dirty="0">
                <a:latin typeface="Tahoma" pitchFamily="34" charset="0"/>
              </a:rPr>
              <a:t> models we have considered until now have only estimated apparent survival rates. </a:t>
            </a:r>
          </a:p>
          <a:p>
            <a:r>
              <a:rPr lang="en-US" b="1" dirty="0">
                <a:latin typeface="Tahoma" pitchFamily="34" charset="0"/>
              </a:rPr>
              <a:t>That is, true survival, the portion of individuals surviving between sampling occasions is confounded with permanent emigration.  </a:t>
            </a:r>
          </a:p>
          <a:p>
            <a:r>
              <a:rPr lang="en-US" b="1" dirty="0">
                <a:latin typeface="Tahoma" pitchFamily="34" charset="0"/>
              </a:rPr>
              <a:t>I spoke briefly on closed models that assume that size of the population remained unchanged between sampling events.  </a:t>
            </a:r>
          </a:p>
          <a:p>
            <a:r>
              <a:rPr lang="en-US" b="1" dirty="0">
                <a:latin typeface="Tahoma" pitchFamily="34" charset="0"/>
              </a:rPr>
              <a:t>Robust design integrates the advantages of both types of models.  </a:t>
            </a:r>
          </a:p>
          <a:p>
            <a:r>
              <a:rPr lang="en-US" b="1" dirty="0">
                <a:latin typeface="Tahoma" pitchFamily="34" charset="0"/>
              </a:rPr>
              <a:t>Although this model is complicated, it brings more biological reality to the analysis of population dynamics.  </a:t>
            </a:r>
          </a:p>
          <a:p>
            <a:r>
              <a:rPr lang="en-US" b="1" dirty="0">
                <a:latin typeface="Tahoma" pitchFamily="34" charset="0"/>
              </a:rPr>
              <a:t>This method provides for the estimation of parameters that are not estimable under either open or closed models as well as more robust estimates of the familiar parameters of interest.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790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822814-AE0B-44AD-8B1E-57DEEA455097}" type="slidenum">
              <a:rPr lang="en-US"/>
              <a:pPr/>
              <a:t>9</a:t>
            </a:fld>
            <a:endParaRPr lang="en-US"/>
          </a:p>
        </p:txBody>
      </p:sp>
      <p:sp>
        <p:nvSpPr>
          <p:cNvPr id="310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260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822814-AE0B-44AD-8B1E-57DEEA455097}" type="slidenum">
              <a:rPr lang="en-US"/>
              <a:pPr/>
              <a:t>10</a:t>
            </a:fld>
            <a:endParaRPr lang="en-US"/>
          </a:p>
        </p:txBody>
      </p:sp>
      <p:sp>
        <p:nvSpPr>
          <p:cNvPr id="310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44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822814-AE0B-44AD-8B1E-57DEEA455097}" type="slidenum">
              <a:rPr lang="en-US"/>
              <a:pPr/>
              <a:t>11</a:t>
            </a:fld>
            <a:endParaRPr lang="en-US"/>
          </a:p>
        </p:txBody>
      </p:sp>
      <p:sp>
        <p:nvSpPr>
          <p:cNvPr id="310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717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360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3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640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79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497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Ex. 1: Grey heron</a:t>
            </a: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70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4" y="2130425"/>
            <a:ext cx="7772401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2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BFD8-13BE-B34C-9D38-93A96E46EA28}" type="datetime1">
              <a:rPr lang="en-CA" smtClean="0"/>
              <a:t>2023-12-14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10203-3692-EE42-9F0C-0A601B9B7F08}" type="datetime1">
              <a:rPr lang="en-CA" smtClean="0"/>
              <a:t>2023-12-14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7" y="4406905"/>
            <a:ext cx="777240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7" y="2906713"/>
            <a:ext cx="77724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6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37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06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757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447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13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826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515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C2748-9D98-3F49-B5F9-742FAC37F4F9}" type="datetime1">
              <a:rPr lang="en-CA" smtClean="0"/>
              <a:t>2023-12-14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9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5" y="160020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7F1FD-AACD-9948-9283-1F9691DFC0B4}" type="datetime1">
              <a:rPr lang="en-CA" smtClean="0"/>
              <a:t>2023-12-14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7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5" y="1535118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895" indent="0">
              <a:buNone/>
              <a:defRPr sz="2000" b="1"/>
            </a:lvl2pPr>
            <a:lvl3pPr marL="913790" indent="0">
              <a:buNone/>
              <a:defRPr sz="1800" b="1"/>
            </a:lvl3pPr>
            <a:lvl4pPr marL="1370684" indent="0">
              <a:buNone/>
              <a:defRPr sz="1600" b="1"/>
            </a:lvl4pPr>
            <a:lvl5pPr marL="1827579" indent="0">
              <a:buNone/>
              <a:defRPr sz="1600" b="1"/>
            </a:lvl5pPr>
            <a:lvl6pPr marL="2284475" indent="0">
              <a:buNone/>
              <a:defRPr sz="1600" b="1"/>
            </a:lvl6pPr>
            <a:lvl7pPr marL="2741369" indent="0">
              <a:buNone/>
              <a:defRPr sz="1600" b="1"/>
            </a:lvl7pPr>
            <a:lvl8pPr marL="3198263" indent="0">
              <a:buNone/>
              <a:defRPr sz="1600" b="1"/>
            </a:lvl8pPr>
            <a:lvl9pPr marL="3655157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5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535118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895" indent="0">
              <a:buNone/>
              <a:defRPr sz="2000" b="1"/>
            </a:lvl2pPr>
            <a:lvl3pPr marL="913790" indent="0">
              <a:buNone/>
              <a:defRPr sz="1800" b="1"/>
            </a:lvl3pPr>
            <a:lvl4pPr marL="1370684" indent="0">
              <a:buNone/>
              <a:defRPr sz="1600" b="1"/>
            </a:lvl4pPr>
            <a:lvl5pPr marL="1827579" indent="0">
              <a:buNone/>
              <a:defRPr sz="1600" b="1"/>
            </a:lvl5pPr>
            <a:lvl6pPr marL="2284475" indent="0">
              <a:buNone/>
              <a:defRPr sz="1600" b="1"/>
            </a:lvl6pPr>
            <a:lvl7pPr marL="2741369" indent="0">
              <a:buNone/>
              <a:defRPr sz="1600" b="1"/>
            </a:lvl7pPr>
            <a:lvl8pPr marL="3198263" indent="0">
              <a:buNone/>
              <a:defRPr sz="1600" b="1"/>
            </a:lvl8pPr>
            <a:lvl9pPr marL="3655157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582B-6698-EC48-875C-50CEAA3C67F4}" type="datetime1">
              <a:rPr lang="en-CA" smtClean="0"/>
              <a:t>2023-12-14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37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36D6D-CCCE-B749-8D34-846F8A67EFC0}" type="datetime1">
              <a:rPr lang="en-CA" smtClean="0"/>
              <a:t>2023-12-14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8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6EB7D-0180-5147-9FFD-9F568677AE1E}" type="datetime1">
              <a:rPr lang="en-CA" smtClean="0"/>
              <a:t>2023-12-14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88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5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5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895" indent="0">
              <a:buNone/>
              <a:defRPr sz="1200"/>
            </a:lvl2pPr>
            <a:lvl3pPr marL="913790" indent="0">
              <a:buNone/>
              <a:defRPr sz="1000"/>
            </a:lvl3pPr>
            <a:lvl4pPr marL="1370684" indent="0">
              <a:buNone/>
              <a:defRPr sz="900"/>
            </a:lvl4pPr>
            <a:lvl5pPr marL="1827579" indent="0">
              <a:buNone/>
              <a:defRPr sz="900"/>
            </a:lvl5pPr>
            <a:lvl6pPr marL="2284475" indent="0">
              <a:buNone/>
              <a:defRPr sz="900"/>
            </a:lvl6pPr>
            <a:lvl7pPr marL="2741369" indent="0">
              <a:buNone/>
              <a:defRPr sz="900"/>
            </a:lvl7pPr>
            <a:lvl8pPr marL="3198263" indent="0">
              <a:buNone/>
              <a:defRPr sz="900"/>
            </a:lvl8pPr>
            <a:lvl9pPr marL="3655157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3B9D-1BC3-8D45-B4A5-24010FA1B146}" type="datetime1">
              <a:rPr lang="en-CA" smtClean="0"/>
              <a:t>2023-12-14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86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895" indent="0">
              <a:buNone/>
              <a:defRPr sz="2800"/>
            </a:lvl2pPr>
            <a:lvl3pPr marL="913790" indent="0">
              <a:buNone/>
              <a:defRPr sz="2400"/>
            </a:lvl3pPr>
            <a:lvl4pPr marL="1370684" indent="0">
              <a:buNone/>
              <a:defRPr sz="2000"/>
            </a:lvl4pPr>
            <a:lvl5pPr marL="1827579" indent="0">
              <a:buNone/>
              <a:defRPr sz="2000"/>
            </a:lvl5pPr>
            <a:lvl6pPr marL="2284475" indent="0">
              <a:buNone/>
              <a:defRPr sz="2000"/>
            </a:lvl6pPr>
            <a:lvl7pPr marL="2741369" indent="0">
              <a:buNone/>
              <a:defRPr sz="2000"/>
            </a:lvl7pPr>
            <a:lvl8pPr marL="3198263" indent="0">
              <a:buNone/>
              <a:defRPr sz="2000"/>
            </a:lvl8pPr>
            <a:lvl9pPr marL="3655157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895" indent="0">
              <a:buNone/>
              <a:defRPr sz="1200"/>
            </a:lvl2pPr>
            <a:lvl3pPr marL="913790" indent="0">
              <a:buNone/>
              <a:defRPr sz="1000"/>
            </a:lvl3pPr>
            <a:lvl4pPr marL="1370684" indent="0">
              <a:buNone/>
              <a:defRPr sz="900"/>
            </a:lvl4pPr>
            <a:lvl5pPr marL="1827579" indent="0">
              <a:buNone/>
              <a:defRPr sz="900"/>
            </a:lvl5pPr>
            <a:lvl6pPr marL="2284475" indent="0">
              <a:buNone/>
              <a:defRPr sz="900"/>
            </a:lvl6pPr>
            <a:lvl7pPr marL="2741369" indent="0">
              <a:buNone/>
              <a:defRPr sz="900"/>
            </a:lvl7pPr>
            <a:lvl8pPr marL="3198263" indent="0">
              <a:buNone/>
              <a:defRPr sz="900"/>
            </a:lvl8pPr>
            <a:lvl9pPr marL="3655157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706C-2B08-8E43-97C9-BC50088B1CD1}" type="datetime1">
              <a:rPr lang="en-CA" smtClean="0"/>
              <a:t>2023-12-14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7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60D8B-6047-3E47-9E7D-4122E207D896}" type="datetime1">
              <a:rPr lang="en-CA" smtClean="0"/>
              <a:t>2023-12-14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9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5" y="274643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3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0F54-3091-F744-960B-084737488211}" type="datetime1">
              <a:rPr lang="en-CA" smtClean="0"/>
              <a:t>2023-12-14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6FFF3-8FBC-2144-A340-2B54F44226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466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74640"/>
            <a:ext cx="8229600" cy="1143001"/>
          </a:xfrm>
          <a:prstGeom prst="rect">
            <a:avLst/>
          </a:prstGeom>
        </p:spPr>
        <p:txBody>
          <a:bodyPr vert="horz" lIns="91379" tIns="45689" rIns="91379" bIns="45689" rtlCol="0" anchor="ctr">
            <a:norm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600205"/>
            <a:ext cx="8229600" cy="4525963"/>
          </a:xfrm>
          <a:prstGeom prst="rect">
            <a:avLst/>
          </a:prstGeom>
        </p:spPr>
        <p:txBody>
          <a:bodyPr vert="horz" lIns="91379" tIns="45689" rIns="91379" bIns="45689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379" tIns="45689" rIns="91379" bIns="4568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A7869-BEC3-AC47-8AE5-EC3C0C76D79E}" type="datetime1">
              <a:rPr lang="en-CA" smtClean="0"/>
              <a:t>2023-12-14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6356356"/>
            <a:ext cx="2895600" cy="365125"/>
          </a:xfrm>
          <a:prstGeom prst="rect">
            <a:avLst/>
          </a:prstGeom>
        </p:spPr>
        <p:txBody>
          <a:bodyPr vert="horz" lIns="91379" tIns="45689" rIns="91379" bIns="4568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379" tIns="45689" rIns="91379" bIns="4568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6FFF3-8FBC-2144-A340-2B54F44226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686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6895" rtl="0" eaLnBrk="1" latinLnBrk="0" hangingPunct="1">
        <a:spcBef>
          <a:spcPct val="0"/>
        </a:spcBef>
        <a:buNone/>
        <a:defRPr sz="3600" kern="1200">
          <a:solidFill>
            <a:srgbClr val="000090"/>
          </a:solidFill>
          <a:latin typeface="Arial"/>
          <a:ea typeface="+mj-ea"/>
          <a:cs typeface="Arial"/>
        </a:defRPr>
      </a:lvl1pPr>
    </p:titleStyle>
    <p:bodyStyle>
      <a:lvl1pPr marL="342675" indent="-342675" algn="l" defTabSz="45689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742454" indent="-285559" algn="l" defTabSz="456895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1142237" indent="-228447" algn="l" defTabSz="45689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1599130" indent="-228447" algn="l" defTabSz="456895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6027" indent="-228447" algn="l" defTabSz="456895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2921" indent="-228447" algn="l" defTabSz="45689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815" indent="-228447" algn="l" defTabSz="45689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710" indent="-228447" algn="l" defTabSz="45689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606" indent="-228447" algn="l" defTabSz="45689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8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95" algn="l" defTabSz="4568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90" algn="l" defTabSz="4568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84" algn="l" defTabSz="4568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79" algn="l" defTabSz="4568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475" algn="l" defTabSz="4568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369" algn="l" defTabSz="4568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263" algn="l" defTabSz="4568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157" algn="l" defTabSz="4568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marL="457200" eaLnBrk="1" hangingPunct="1"/>
            <a:r>
              <a:rPr lang="en-US" sz="4000" b="1" dirty="0">
                <a:latin typeface="+mn-lt"/>
              </a:rPr>
              <a:t>Patch Dynamics</a:t>
            </a:r>
          </a:p>
        </p:txBody>
      </p:sp>
      <p:sp>
        <p:nvSpPr>
          <p:cNvPr id="1638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3886200"/>
            <a:ext cx="4267200" cy="1752600"/>
          </a:xfrm>
        </p:spPr>
        <p:txBody>
          <a:bodyPr>
            <a:normAutofit fontScale="85000" lnSpcReduction="20000"/>
          </a:bodyPr>
          <a:lstStyle/>
          <a:p>
            <a:pPr marL="574675" indent="-509588" algn="l" eaLnBrk="1" hangingPunct="1"/>
            <a:r>
              <a:rPr lang="en-US" b="1" dirty="0">
                <a:latin typeface="+mn-lt"/>
              </a:rPr>
              <a:t>AKA: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Multi-season Occupancy,</a:t>
            </a:r>
            <a:br>
              <a:rPr lang="en-US" b="1" dirty="0">
                <a:latin typeface="+mn-lt"/>
              </a:rPr>
            </a:br>
            <a:r>
              <a:rPr lang="en-US" b="1" dirty="0">
                <a:latin typeface="+mn-lt"/>
              </a:rPr>
              <a:t>Robust Design Occupancy</a:t>
            </a:r>
          </a:p>
        </p:txBody>
      </p:sp>
    </p:spTree>
    <p:extLst>
      <p:ext uri="{BB962C8B-B14F-4D97-AF65-F5344CB8AC3E}">
        <p14:creationId xmlns:p14="http://schemas.microsoft.com/office/powerpoint/2010/main" val="3998605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Single-season – model assumptions</a:t>
            </a:r>
          </a:p>
        </p:txBody>
      </p:sp>
      <p:sp>
        <p:nvSpPr>
          <p:cNvPr id="45059" name="Rectangle 8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1" indent="-342900" eaLnBrk="1" hangingPunct="1">
              <a:buSzPct val="60000"/>
            </a:pPr>
            <a:r>
              <a:rPr lang="en-US" b="1" dirty="0">
                <a:solidFill>
                  <a:srgbClr val="C00000"/>
                </a:solidFill>
              </a:rPr>
              <a:t>Sites are closed to changes in occupancy state between sampling occasions</a:t>
            </a:r>
          </a:p>
          <a:p>
            <a:pPr marL="342900" lvl="1" indent="-342900" eaLnBrk="1" hangingPunct="1">
              <a:buSzPct val="60000"/>
            </a:pPr>
            <a:r>
              <a:rPr lang="en-US" dirty="0"/>
              <a:t>Species are not falsely detected. </a:t>
            </a:r>
          </a:p>
          <a:p>
            <a:pPr marL="342900" lvl="1" indent="-342900" eaLnBrk="1" hangingPunct="1">
              <a:buSzPct val="60000"/>
            </a:pPr>
            <a:r>
              <a:rPr lang="en-US" dirty="0"/>
              <a:t>The detection process is independent at each site</a:t>
            </a:r>
          </a:p>
          <a:p>
            <a:pPr marL="742950" lvl="2" indent="-342900" eaLnBrk="1" hangingPunct="1">
              <a:buSzPct val="60000"/>
            </a:pPr>
            <a:r>
              <a:rPr lang="en-US" dirty="0"/>
              <a:t>Far enough apart to be biologically independent.</a:t>
            </a:r>
          </a:p>
          <a:p>
            <a:pPr marL="342900" lvl="1" indent="-342900" eaLnBrk="1" hangingPunct="1">
              <a:buSzPct val="60000"/>
            </a:pPr>
            <a:r>
              <a:rPr lang="en-US" dirty="0"/>
              <a:t>No heterogeneity in occupancy </a:t>
            </a:r>
          </a:p>
          <a:p>
            <a:pPr marL="742950" lvl="2" indent="-342900" eaLnBrk="1" hangingPunct="1">
              <a:buSzPct val="60000"/>
            </a:pPr>
            <a:r>
              <a:rPr lang="en-US" dirty="0"/>
              <a:t>than cannot be explained by covariates</a:t>
            </a:r>
          </a:p>
          <a:p>
            <a:pPr marL="342900" lvl="1" indent="-342900" eaLnBrk="1" hangingPunct="1">
              <a:buSzPct val="60000"/>
            </a:pPr>
            <a:r>
              <a:rPr lang="en-US" dirty="0"/>
              <a:t>No heterogeneity in detection </a:t>
            </a:r>
          </a:p>
          <a:p>
            <a:pPr marL="742950" lvl="2" indent="-342900" eaLnBrk="1" hangingPunct="1">
              <a:buSzPct val="60000"/>
            </a:pPr>
            <a:r>
              <a:rPr lang="en-US" dirty="0"/>
              <a:t>that cannot be explained by covariates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96596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dirty="0"/>
              <a:t>Basic sampling protocol same 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/>
              <a:t>Visit sites and spend time looking for individuals of interest or evidence that they are present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Repeated presence-absence surveys</a:t>
            </a:r>
          </a:p>
          <a:p>
            <a:pPr lvl="1" eaLnBrk="1" hangingPunct="1"/>
            <a:r>
              <a:rPr lang="en-US"/>
              <a:t>Temporal replication at same site</a:t>
            </a:r>
          </a:p>
          <a:p>
            <a:pPr lvl="1" eaLnBrk="1" hangingPunct="1"/>
            <a:r>
              <a:rPr lang="en-US"/>
              <a:t>Spatial replication</a:t>
            </a:r>
          </a:p>
        </p:txBody>
      </p:sp>
    </p:spTree>
    <p:extLst>
      <p:ext uri="{BB962C8B-B14F-4D97-AF65-F5344CB8AC3E}">
        <p14:creationId xmlns:p14="http://schemas.microsoft.com/office/powerpoint/2010/main" val="3367492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b="1" dirty="0"/>
              <a:t>Important considerations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ts val="600"/>
              </a:spcBef>
            </a:pPr>
            <a:r>
              <a:rPr lang="en-US" b="1" dirty="0"/>
              <a:t>Study design </a:t>
            </a:r>
          </a:p>
          <a:p>
            <a:pPr lvl="1" eaLnBrk="1" hangingPunct="1">
              <a:spcBef>
                <a:spcPts val="600"/>
              </a:spcBef>
            </a:pPr>
            <a:r>
              <a:rPr lang="en-US" dirty="0"/>
              <a:t>Scope of inference</a:t>
            </a:r>
          </a:p>
          <a:p>
            <a:pPr lvl="1" eaLnBrk="1" hangingPunct="1">
              <a:spcBef>
                <a:spcPts val="600"/>
              </a:spcBef>
            </a:pPr>
            <a:r>
              <a:rPr lang="en-US" dirty="0"/>
              <a:t>Elements of stratification and randomization</a:t>
            </a:r>
          </a:p>
          <a:p>
            <a:pPr eaLnBrk="1" hangingPunct="1">
              <a:spcBef>
                <a:spcPts val="600"/>
              </a:spcBef>
            </a:pPr>
            <a:r>
              <a:rPr lang="en-US" b="1" dirty="0"/>
              <a:t>Strength of inference!</a:t>
            </a:r>
          </a:p>
          <a:p>
            <a:pPr lvl="1" eaLnBrk="1" hangingPunct="1">
              <a:spcBef>
                <a:spcPts val="600"/>
              </a:spcBef>
            </a:pPr>
            <a:r>
              <a:rPr lang="en-US" dirty="0"/>
              <a:t>Strongest – experimental manipulation</a:t>
            </a:r>
          </a:p>
          <a:p>
            <a:pPr lvl="1" eaLnBrk="1" hangingPunct="1">
              <a:spcBef>
                <a:spcPts val="600"/>
              </a:spcBef>
            </a:pPr>
            <a:r>
              <a:rPr lang="en-US" dirty="0"/>
              <a:t>Weaker – constrained designs (e.g., before &amp; after)</a:t>
            </a:r>
          </a:p>
          <a:p>
            <a:pPr lvl="1" eaLnBrk="1" hangingPunct="1">
              <a:spcBef>
                <a:spcPts val="600"/>
              </a:spcBef>
            </a:pPr>
            <a:r>
              <a:rPr lang="en-US" dirty="0"/>
              <a:t>Weaker still – a prior modeling</a:t>
            </a:r>
          </a:p>
          <a:p>
            <a:pPr lvl="1" eaLnBrk="1" hangingPunct="1">
              <a:spcBef>
                <a:spcPts val="600"/>
              </a:spcBef>
            </a:pPr>
            <a:r>
              <a:rPr lang="en-US" dirty="0"/>
              <a:t>Worst – a posteriori storytelling</a:t>
            </a:r>
          </a:p>
        </p:txBody>
      </p:sp>
    </p:spTree>
    <p:extLst>
      <p:ext uri="{BB962C8B-B14F-4D97-AF65-F5344CB8AC3E}">
        <p14:creationId xmlns:p14="http://schemas.microsoft.com/office/powerpoint/2010/main" val="2193407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Patch Occupancy Dynamics:  </a:t>
            </a:r>
            <a:br>
              <a:rPr lang="en-US" dirty="0"/>
            </a:br>
            <a:r>
              <a:rPr lang="en-US" dirty="0"/>
              <a:t>Pollock’s Robust Design</a:t>
            </a:r>
          </a:p>
        </p:txBody>
      </p:sp>
      <p:sp>
        <p:nvSpPr>
          <p:cNvPr id="5325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dirty="0"/>
              <a:t>Hierarchical sampling scheme:</a:t>
            </a:r>
          </a:p>
          <a:p>
            <a:pPr marL="0" indent="0" eaLnBrk="1" hangingPunct="1">
              <a:buNone/>
            </a:pPr>
            <a:endParaRPr lang="en-US" dirty="0"/>
          </a:p>
          <a:p>
            <a:pPr lvl="1" eaLnBrk="1" hangingPunct="1"/>
            <a:r>
              <a:rPr lang="en-US" b="1" dirty="0"/>
              <a:t>Primary sampling periods </a:t>
            </a:r>
            <a:r>
              <a:rPr lang="en-US" dirty="0"/>
              <a:t>(seasons) : long intervals between periods such that occupancy status can change</a:t>
            </a:r>
          </a:p>
          <a:p>
            <a:pPr lvl="1" eaLnBrk="1" hangingPunct="1"/>
            <a:r>
              <a:rPr lang="en-US" b="1" dirty="0"/>
              <a:t>Secondary sampling periods</a:t>
            </a:r>
            <a:r>
              <a:rPr lang="en-US" dirty="0"/>
              <a:t>: short intervals between periods such that occupancy status is expected not to change 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949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540329" y="1949339"/>
            <a:ext cx="8229600" cy="452596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>
                <a:sym typeface="Symbol" pitchFamily="18" charset="2"/>
              </a:rPr>
              <a:t>Still 2</a:t>
            </a:r>
            <a:r>
              <a:rPr lang="en-US" i="1" baseline="30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n </a:t>
            </a:r>
            <a:r>
              <a:rPr lang="en-US" dirty="0">
                <a:sym typeface="Symbol" pitchFamily="18" charset="2"/>
              </a:rPr>
              <a:t>possible capture histories</a:t>
            </a:r>
          </a:p>
          <a:p>
            <a:pPr eaLnBrk="1" hangingPunct="1"/>
            <a:r>
              <a:rPr lang="en-US" dirty="0">
                <a:sym typeface="Symbol" pitchFamily="18" charset="2"/>
              </a:rPr>
              <a:t>History : 10 00 11 01</a:t>
            </a:r>
          </a:p>
          <a:p>
            <a:pPr eaLnBrk="1" hangingPunct="1"/>
            <a:r>
              <a:rPr lang="en-US" dirty="0">
                <a:sym typeface="Symbol" pitchFamily="18" charset="2"/>
              </a:rPr>
              <a:t>10 01 11 = presence in primary period 1, 3, &amp; 4</a:t>
            </a:r>
          </a:p>
          <a:p>
            <a:pPr eaLnBrk="1" hangingPunct="1"/>
            <a:r>
              <a:rPr lang="en-US" dirty="0">
                <a:sym typeface="Symbol" pitchFamily="18" charset="2"/>
              </a:rPr>
              <a:t>00 = </a:t>
            </a:r>
          </a:p>
          <a:p>
            <a:pPr lvl="1" eaLnBrk="1" hangingPunct="1"/>
            <a:r>
              <a:rPr lang="en-US" dirty="0">
                <a:sym typeface="Symbol" pitchFamily="18" charset="2"/>
              </a:rPr>
              <a:t>Patch occupied but occupancy not detected, or</a:t>
            </a:r>
          </a:p>
          <a:p>
            <a:pPr lvl="1" eaLnBrk="1" hangingPunct="1"/>
            <a:r>
              <a:rPr lang="en-US" dirty="0">
                <a:sym typeface="Symbol" pitchFamily="18" charset="2"/>
              </a:rPr>
              <a:t>Patch not occupied (=locally extinct) yet re-colonized later</a:t>
            </a:r>
          </a:p>
          <a:p>
            <a:pPr eaLnBrk="1" hangingPunct="1"/>
            <a:endParaRPr lang="en-US" dirty="0">
              <a:sym typeface="Symbol" pitchFamily="18" charset="2"/>
            </a:endParaRPr>
          </a:p>
        </p:txBody>
      </p:sp>
      <p:sp>
        <p:nvSpPr>
          <p:cNvPr id="54275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Robust Design Capture History </a:t>
            </a:r>
          </a:p>
        </p:txBody>
      </p:sp>
    </p:spTree>
    <p:extLst>
      <p:ext uri="{BB962C8B-B14F-4D97-AF65-F5344CB8AC3E}">
        <p14:creationId xmlns:p14="http://schemas.microsoft.com/office/powerpoint/2010/main" val="509104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Occupancy dynamics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1447800" y="4267200"/>
            <a:ext cx="1981200" cy="1219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0 - unoccupied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 bwMode="auto">
          <a:xfrm>
            <a:off x="2590800" y="6246812"/>
            <a:ext cx="495300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Oval 52"/>
          <p:cNvSpPr/>
          <p:nvPr/>
        </p:nvSpPr>
        <p:spPr bwMode="auto">
          <a:xfrm>
            <a:off x="1447800" y="2362200"/>
            <a:ext cx="1981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1 - occupied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6" name="Oval 55"/>
          <p:cNvSpPr/>
          <p:nvPr/>
        </p:nvSpPr>
        <p:spPr bwMode="auto">
          <a:xfrm>
            <a:off x="4141470" y="4267200"/>
            <a:ext cx="1981200" cy="1219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0 - unoccupied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7" name="Oval 56"/>
          <p:cNvSpPr/>
          <p:nvPr/>
        </p:nvSpPr>
        <p:spPr bwMode="auto">
          <a:xfrm>
            <a:off x="4141470" y="2362200"/>
            <a:ext cx="1981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1 - occupied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8" name="Oval 57"/>
          <p:cNvSpPr/>
          <p:nvPr/>
        </p:nvSpPr>
        <p:spPr bwMode="auto">
          <a:xfrm>
            <a:off x="6858000" y="4267200"/>
            <a:ext cx="1981200" cy="1219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0 - unoccupied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9" name="Oval 58"/>
          <p:cNvSpPr/>
          <p:nvPr/>
        </p:nvSpPr>
        <p:spPr bwMode="auto">
          <a:xfrm>
            <a:off x="6858000" y="2362200"/>
            <a:ext cx="1981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1 - occupied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cxnSp>
        <p:nvCxnSpPr>
          <p:cNvPr id="61" name="Straight Arrow Connector 60"/>
          <p:cNvCxnSpPr>
            <a:stCxn id="53" idx="6"/>
            <a:endCxn id="57" idx="2"/>
          </p:cNvCxnSpPr>
          <p:nvPr/>
        </p:nvCxnSpPr>
        <p:spPr bwMode="auto">
          <a:xfrm>
            <a:off x="3429000" y="2971800"/>
            <a:ext cx="71247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3" name="Straight Arrow Connector 62"/>
          <p:cNvCxnSpPr>
            <a:stCxn id="53" idx="5"/>
            <a:endCxn id="56" idx="1"/>
          </p:cNvCxnSpPr>
          <p:nvPr/>
        </p:nvCxnSpPr>
        <p:spPr bwMode="auto">
          <a:xfrm rot="16200000" flipH="1">
            <a:off x="3263787" y="3277925"/>
            <a:ext cx="1042896" cy="129275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5" name="Straight Arrow Connector 64"/>
          <p:cNvCxnSpPr>
            <a:stCxn id="16" idx="6"/>
            <a:endCxn id="56" idx="2"/>
          </p:cNvCxnSpPr>
          <p:nvPr/>
        </p:nvCxnSpPr>
        <p:spPr bwMode="auto">
          <a:xfrm>
            <a:off x="3429000" y="4876800"/>
            <a:ext cx="71247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7" name="Straight Arrow Connector 66"/>
          <p:cNvCxnSpPr>
            <a:stCxn id="16" idx="7"/>
            <a:endCxn id="57" idx="3"/>
          </p:cNvCxnSpPr>
          <p:nvPr/>
        </p:nvCxnSpPr>
        <p:spPr bwMode="auto">
          <a:xfrm rot="5400000" flipH="1" flipV="1">
            <a:off x="3263787" y="3277925"/>
            <a:ext cx="1042896" cy="129275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9" name="Straight Arrow Connector 68"/>
          <p:cNvCxnSpPr>
            <a:stCxn id="57" idx="6"/>
            <a:endCxn id="59" idx="2"/>
          </p:cNvCxnSpPr>
          <p:nvPr/>
        </p:nvCxnSpPr>
        <p:spPr bwMode="auto">
          <a:xfrm>
            <a:off x="6122670" y="2971800"/>
            <a:ext cx="73533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Straight Arrow Connector 70"/>
          <p:cNvCxnSpPr>
            <a:stCxn id="57" idx="5"/>
            <a:endCxn id="58" idx="1"/>
          </p:cNvCxnSpPr>
          <p:nvPr/>
        </p:nvCxnSpPr>
        <p:spPr bwMode="auto">
          <a:xfrm rot="16200000" flipH="1">
            <a:off x="5968887" y="3266495"/>
            <a:ext cx="1042896" cy="131561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3" name="Straight Arrow Connector 72"/>
          <p:cNvCxnSpPr>
            <a:stCxn id="56" idx="6"/>
            <a:endCxn id="58" idx="2"/>
          </p:cNvCxnSpPr>
          <p:nvPr/>
        </p:nvCxnSpPr>
        <p:spPr bwMode="auto">
          <a:xfrm>
            <a:off x="6122670" y="4876800"/>
            <a:ext cx="73533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5" name="Straight Arrow Connector 74"/>
          <p:cNvCxnSpPr>
            <a:stCxn id="56" idx="7"/>
            <a:endCxn id="59" idx="3"/>
          </p:cNvCxnSpPr>
          <p:nvPr/>
        </p:nvCxnSpPr>
        <p:spPr bwMode="auto">
          <a:xfrm rot="5400000" flipH="1" flipV="1">
            <a:off x="5968887" y="3266495"/>
            <a:ext cx="1042896" cy="131561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4648200" y="6031468"/>
            <a:ext cx="88678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3581400"/>
            <a:ext cx="1358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Occupancy </a:t>
            </a:r>
            <a:br>
              <a:rPr lang="en-US" dirty="0"/>
            </a:br>
            <a:r>
              <a:rPr lang="en-US" dirty="0"/>
              <a:t>state</a:t>
            </a:r>
          </a:p>
        </p:txBody>
      </p:sp>
      <p:cxnSp>
        <p:nvCxnSpPr>
          <p:cNvPr id="21" name="Straight Arrow Connector 20"/>
          <p:cNvCxnSpPr>
            <a:stCxn id="19" idx="0"/>
            <a:endCxn id="53" idx="2"/>
          </p:cNvCxnSpPr>
          <p:nvPr/>
        </p:nvCxnSpPr>
        <p:spPr bwMode="auto">
          <a:xfrm rot="5400000" flipH="1" flipV="1">
            <a:off x="835040" y="2968641"/>
            <a:ext cx="609600" cy="615919"/>
          </a:xfrm>
          <a:prstGeom prst="curvedConnector2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>
            <a:stCxn id="19" idx="2"/>
            <a:endCxn id="16" idx="2"/>
          </p:cNvCxnSpPr>
          <p:nvPr/>
        </p:nvCxnSpPr>
        <p:spPr bwMode="auto">
          <a:xfrm rot="16200000" flipH="1">
            <a:off x="815306" y="4244305"/>
            <a:ext cx="649069" cy="615919"/>
          </a:xfrm>
          <a:prstGeom prst="curvedConnector2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8" name="Rounded Rectangle 27"/>
          <p:cNvSpPr/>
          <p:nvPr/>
        </p:nvSpPr>
        <p:spPr bwMode="auto">
          <a:xfrm>
            <a:off x="3581400" y="1489948"/>
            <a:ext cx="3352800" cy="510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Symbol" pitchFamily="18" charset="2"/>
              </a:rPr>
              <a:t>e</a:t>
            </a:r>
            <a:r>
              <a:rPr lang="en-US" sz="2400" dirty="0"/>
              <a:t> – local extinction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9" name="Rounded Rectangle 28"/>
          <p:cNvSpPr/>
          <p:nvPr/>
        </p:nvSpPr>
        <p:spPr bwMode="auto">
          <a:xfrm>
            <a:off x="3581400" y="1489948"/>
            <a:ext cx="3352800" cy="510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Symbol" pitchFamily="18" charset="2"/>
              </a:rPr>
              <a:t>g</a:t>
            </a:r>
            <a:r>
              <a:rPr lang="en-US" sz="2400" dirty="0"/>
              <a:t> – colonization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0" name="Rounded Rectangle 29"/>
          <p:cNvSpPr/>
          <p:nvPr/>
        </p:nvSpPr>
        <p:spPr bwMode="auto">
          <a:xfrm>
            <a:off x="3581400" y="1489948"/>
            <a:ext cx="3352800" cy="510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Symbol" pitchFamily="18" charset="2"/>
              </a:rPr>
              <a:t>(1-e)</a:t>
            </a:r>
            <a:r>
              <a:rPr lang="en-US" sz="2400" dirty="0"/>
              <a:t> – not extinct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1" name="Rounded Rectangle 30"/>
          <p:cNvSpPr/>
          <p:nvPr/>
        </p:nvSpPr>
        <p:spPr bwMode="auto">
          <a:xfrm>
            <a:off x="3581400" y="1489948"/>
            <a:ext cx="3352800" cy="510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Symbol" pitchFamily="18" charset="2"/>
              </a:rPr>
              <a:t>(1-g)</a:t>
            </a:r>
            <a:r>
              <a:rPr lang="en-US" sz="2400" dirty="0"/>
              <a:t> – not colonized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6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Occupancy dynamics</a:t>
            </a:r>
          </a:p>
        </p:txBody>
      </p:sp>
      <p:sp>
        <p:nvSpPr>
          <p:cNvPr id="16" name="Oval 15"/>
          <p:cNvSpPr/>
          <p:nvPr/>
        </p:nvSpPr>
        <p:spPr bwMode="auto">
          <a:xfrm>
            <a:off x="1447800" y="4267200"/>
            <a:ext cx="1981200" cy="1219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0 - unoccupied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cxnSp>
        <p:nvCxnSpPr>
          <p:cNvPr id="40" name="Straight Arrow Connector 39"/>
          <p:cNvCxnSpPr/>
          <p:nvPr/>
        </p:nvCxnSpPr>
        <p:spPr bwMode="auto">
          <a:xfrm>
            <a:off x="2590800" y="6246812"/>
            <a:ext cx="495300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Oval 52"/>
          <p:cNvSpPr/>
          <p:nvPr/>
        </p:nvSpPr>
        <p:spPr bwMode="auto">
          <a:xfrm>
            <a:off x="1447800" y="2362200"/>
            <a:ext cx="1981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1 - occupied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6" name="Oval 55"/>
          <p:cNvSpPr/>
          <p:nvPr/>
        </p:nvSpPr>
        <p:spPr bwMode="auto">
          <a:xfrm>
            <a:off x="4141470" y="4267200"/>
            <a:ext cx="1981200" cy="1219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0 - unoccupied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7" name="Oval 56"/>
          <p:cNvSpPr/>
          <p:nvPr/>
        </p:nvSpPr>
        <p:spPr bwMode="auto">
          <a:xfrm>
            <a:off x="4141470" y="2362200"/>
            <a:ext cx="1981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1 - occupied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8" name="Oval 57"/>
          <p:cNvSpPr/>
          <p:nvPr/>
        </p:nvSpPr>
        <p:spPr bwMode="auto">
          <a:xfrm>
            <a:off x="6858000" y="4267200"/>
            <a:ext cx="1981200" cy="1219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0 - unoccupied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59" name="Oval 58"/>
          <p:cNvSpPr/>
          <p:nvPr/>
        </p:nvSpPr>
        <p:spPr bwMode="auto">
          <a:xfrm>
            <a:off x="6858000" y="2362200"/>
            <a:ext cx="1981200" cy="12192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1 - occupied</a:t>
            </a:r>
            <a:endParaRPr kumimoji="0" 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cxnSp>
        <p:nvCxnSpPr>
          <p:cNvPr id="61" name="Straight Arrow Connector 60"/>
          <p:cNvCxnSpPr>
            <a:stCxn id="53" idx="6"/>
            <a:endCxn id="57" idx="2"/>
          </p:cNvCxnSpPr>
          <p:nvPr/>
        </p:nvCxnSpPr>
        <p:spPr bwMode="auto">
          <a:xfrm>
            <a:off x="3429000" y="2971800"/>
            <a:ext cx="71247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3" name="Straight Arrow Connector 62"/>
          <p:cNvCxnSpPr>
            <a:stCxn id="53" idx="5"/>
            <a:endCxn id="56" idx="1"/>
          </p:cNvCxnSpPr>
          <p:nvPr/>
        </p:nvCxnSpPr>
        <p:spPr bwMode="auto">
          <a:xfrm rot="16200000" flipH="1">
            <a:off x="3263787" y="3277925"/>
            <a:ext cx="1042896" cy="129275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5" name="Straight Arrow Connector 64"/>
          <p:cNvCxnSpPr>
            <a:stCxn id="16" idx="6"/>
            <a:endCxn id="56" idx="2"/>
          </p:cNvCxnSpPr>
          <p:nvPr/>
        </p:nvCxnSpPr>
        <p:spPr bwMode="auto">
          <a:xfrm>
            <a:off x="3429000" y="4876800"/>
            <a:ext cx="71247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7" name="Straight Arrow Connector 66"/>
          <p:cNvCxnSpPr>
            <a:stCxn id="16" idx="7"/>
            <a:endCxn id="57" idx="3"/>
          </p:cNvCxnSpPr>
          <p:nvPr/>
        </p:nvCxnSpPr>
        <p:spPr bwMode="auto">
          <a:xfrm rot="5400000" flipH="1" flipV="1">
            <a:off x="3263787" y="3277925"/>
            <a:ext cx="1042896" cy="129275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9" name="Straight Arrow Connector 68"/>
          <p:cNvCxnSpPr>
            <a:stCxn id="57" idx="6"/>
            <a:endCxn id="59" idx="2"/>
          </p:cNvCxnSpPr>
          <p:nvPr/>
        </p:nvCxnSpPr>
        <p:spPr bwMode="auto">
          <a:xfrm>
            <a:off x="6122670" y="2971800"/>
            <a:ext cx="73533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Straight Arrow Connector 70"/>
          <p:cNvCxnSpPr>
            <a:stCxn id="57" idx="5"/>
            <a:endCxn id="58" idx="1"/>
          </p:cNvCxnSpPr>
          <p:nvPr/>
        </p:nvCxnSpPr>
        <p:spPr bwMode="auto">
          <a:xfrm rot="16200000" flipH="1">
            <a:off x="5968887" y="3266495"/>
            <a:ext cx="1042896" cy="131561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3" name="Straight Arrow Connector 72"/>
          <p:cNvCxnSpPr>
            <a:stCxn id="56" idx="6"/>
            <a:endCxn id="58" idx="2"/>
          </p:cNvCxnSpPr>
          <p:nvPr/>
        </p:nvCxnSpPr>
        <p:spPr bwMode="auto">
          <a:xfrm>
            <a:off x="6122670" y="4876800"/>
            <a:ext cx="735330" cy="158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5" name="Straight Arrow Connector 74"/>
          <p:cNvCxnSpPr>
            <a:stCxn id="56" idx="7"/>
            <a:endCxn id="59" idx="3"/>
          </p:cNvCxnSpPr>
          <p:nvPr/>
        </p:nvCxnSpPr>
        <p:spPr bwMode="auto">
          <a:xfrm rot="5400000" flipH="1" flipV="1">
            <a:off x="5968887" y="3266495"/>
            <a:ext cx="1042896" cy="131561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4648200" y="6031468"/>
            <a:ext cx="88678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3581400"/>
            <a:ext cx="1358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Occupancy </a:t>
            </a:r>
            <a:br>
              <a:rPr lang="en-US" dirty="0"/>
            </a:br>
            <a:r>
              <a:rPr lang="en-US" dirty="0"/>
              <a:t>state</a:t>
            </a:r>
          </a:p>
        </p:txBody>
      </p:sp>
      <p:cxnSp>
        <p:nvCxnSpPr>
          <p:cNvPr id="21" name="Straight Arrow Connector 20"/>
          <p:cNvCxnSpPr>
            <a:stCxn id="19" idx="0"/>
            <a:endCxn id="53" idx="2"/>
          </p:cNvCxnSpPr>
          <p:nvPr/>
        </p:nvCxnSpPr>
        <p:spPr bwMode="auto">
          <a:xfrm rot="5400000" flipH="1" flipV="1">
            <a:off x="835040" y="2968641"/>
            <a:ext cx="609600" cy="615919"/>
          </a:xfrm>
          <a:prstGeom prst="curvedConnector2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>
            <a:stCxn id="19" idx="2"/>
            <a:endCxn id="16" idx="2"/>
          </p:cNvCxnSpPr>
          <p:nvPr/>
        </p:nvCxnSpPr>
        <p:spPr bwMode="auto">
          <a:xfrm rot="16200000" flipH="1">
            <a:off x="815306" y="4244305"/>
            <a:ext cx="649069" cy="615919"/>
          </a:xfrm>
          <a:prstGeom prst="curvedConnector2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8" name="Rounded Rectangle 27"/>
          <p:cNvSpPr/>
          <p:nvPr/>
        </p:nvSpPr>
        <p:spPr bwMode="auto">
          <a:xfrm>
            <a:off x="6096000" y="228600"/>
            <a:ext cx="2743200" cy="132802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l"/>
              <a:tabLst/>
            </a:pPr>
            <a:r>
              <a:rPr lang="en-US" sz="2400" dirty="0"/>
              <a:t>– dynamics (</a:t>
            </a:r>
            <a:r>
              <a:rPr lang="en-US" sz="2400" dirty="0">
                <a:latin typeface="Symbol" pitchFamily="18" charset="2"/>
              </a:rPr>
              <a:t>g/e</a:t>
            </a:r>
            <a:r>
              <a:rPr lang="en-US" sz="2400" dirty="0"/>
              <a:t>)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&gt;1.0 – expansion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dirty="0"/>
              <a:t>&lt; 1.0 contraction</a:t>
            </a:r>
          </a:p>
        </p:txBody>
      </p:sp>
    </p:spTree>
    <p:extLst>
      <p:ext uri="{BB962C8B-B14F-4D97-AF65-F5344CB8AC3E}">
        <p14:creationId xmlns:p14="http://schemas.microsoft.com/office/powerpoint/2010/main" val="3426092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Inferring population dynamics!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 probability of extinction and colonization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540328" y="4257732"/>
            <a:ext cx="806334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  <a:buFont typeface="Symbol" pitchFamily="18" charset="2"/>
              <a:buChar char="l"/>
            </a:pPr>
            <a:r>
              <a:rPr lang="en-US" sz="3600" b="1" dirty="0"/>
              <a:t> – dynamics (</a:t>
            </a:r>
            <a:r>
              <a:rPr lang="en-US" sz="3600" b="1" dirty="0">
                <a:latin typeface="Symbol" pitchFamily="18" charset="2"/>
              </a:rPr>
              <a:t>g/e</a:t>
            </a:r>
            <a:r>
              <a:rPr lang="en-US" sz="3600" b="1" dirty="0"/>
              <a:t>)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dirty="0"/>
              <a:t>&gt;1.0 – population expansion (increase)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600" dirty="0"/>
              <a:t>&lt;1.0 – population contraction (decrease)</a:t>
            </a:r>
          </a:p>
        </p:txBody>
      </p:sp>
    </p:spTree>
    <p:extLst>
      <p:ext uri="{BB962C8B-B14F-4D97-AF65-F5344CB8AC3E}">
        <p14:creationId xmlns:p14="http://schemas.microsoft.com/office/powerpoint/2010/main" val="1945804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Inferring population dynamics!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 probability of extinction and colonization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354170" y="2685690"/>
                <a:ext cx="8063346" cy="38976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 dirty="0"/>
                  <a:t>We calculate </a:t>
                </a:r>
                <a:r>
                  <a:rPr lang="en-US" sz="3600" b="1" u="sng" dirty="0"/>
                  <a:t>equilibrium occupancy</a:t>
                </a:r>
                <a:r>
                  <a:rPr lang="en-US" sz="3600" b="1" dirty="0"/>
                  <a:t> at any given time as a function of site- specific probabilities of colonization (</a:t>
                </a:r>
                <a:r>
                  <a:rPr lang="en-US" sz="3600" b="1" dirty="0">
                    <a:latin typeface="Symbol" pitchFamily="18" charset="2"/>
                  </a:rPr>
                  <a:t>g</a:t>
                </a:r>
                <a:r>
                  <a:rPr lang="en-US" sz="3600" b="1" dirty="0"/>
                  <a:t>) and extinction (</a:t>
                </a:r>
                <a:r>
                  <a:rPr lang="en-US" sz="3600" b="1" dirty="0">
                    <a:latin typeface="Symbol" pitchFamily="18" charset="2"/>
                  </a:rPr>
                  <a:t>e</a:t>
                </a:r>
                <a:r>
                  <a:rPr lang="en-US" sz="3600" b="1" dirty="0"/>
                  <a:t>)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3600" dirty="0"/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𝜳</m:t>
                      </m:r>
                      <m:r>
                        <a:rPr lang="en-US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𝜸</m:t>
                          </m:r>
                        </m:num>
                        <m:den>
                          <m:r>
                            <a:rPr lang="en-US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𝜸</m:t>
                          </m:r>
                          <m:r>
                            <a:rPr lang="en-US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𝜺</m:t>
                          </m:r>
                        </m:den>
                      </m:f>
                    </m:oMath>
                  </m:oMathPara>
                </a14:m>
                <a:endParaRPr 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170" y="2685690"/>
                <a:ext cx="8063346" cy="3897670"/>
              </a:xfrm>
              <a:prstGeom prst="rect">
                <a:avLst/>
              </a:prstGeom>
              <a:blipFill>
                <a:blip r:embed="rId3"/>
                <a:stretch>
                  <a:fillRect t="-2504" r="-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672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design 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Sample over two temporal scales.</a:t>
            </a:r>
          </a:p>
          <a:p>
            <a:r>
              <a:rPr lang="en-US"/>
              <a:t>Only disadvantage - cost </a:t>
            </a:r>
          </a:p>
          <a:p>
            <a:pPr lvl="1"/>
            <a:r>
              <a:rPr lang="en-US"/>
              <a:t>more than one sampling occasion each session.</a:t>
            </a:r>
          </a:p>
        </p:txBody>
      </p:sp>
    </p:spTree>
    <p:extLst>
      <p:ext uri="{BB962C8B-B14F-4D97-AF65-F5344CB8AC3E}">
        <p14:creationId xmlns:p14="http://schemas.microsoft.com/office/powerpoint/2010/main" val="2096820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Multiple seasons - main assumptions</a:t>
            </a:r>
            <a:endParaRPr lang="en-US" dirty="0">
              <a:sym typeface="Symbol" pitchFamily="18" charset="2"/>
            </a:endParaRPr>
          </a:p>
        </p:txBody>
      </p:sp>
      <p:sp>
        <p:nvSpPr>
          <p:cNvPr id="56323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lvl="1" indent="-342900" eaLnBrk="1" hangingPunct="1">
              <a:buSzPct val="60000"/>
            </a:pPr>
            <a:r>
              <a:rPr lang="en-US" dirty="0"/>
              <a:t>Species are not falsely detected. </a:t>
            </a:r>
          </a:p>
          <a:p>
            <a:pPr marL="342900" lvl="1" indent="-342900" eaLnBrk="1" hangingPunct="1">
              <a:buSzPct val="60000"/>
            </a:pPr>
            <a:r>
              <a:rPr lang="en-US" dirty="0"/>
              <a:t>The detection process is independent at each site</a:t>
            </a:r>
          </a:p>
          <a:p>
            <a:pPr marL="342900" lvl="1" indent="-342900" eaLnBrk="1" hangingPunct="1">
              <a:buSzPct val="60000"/>
            </a:pPr>
            <a:r>
              <a:rPr lang="en-US" dirty="0"/>
              <a:t>No </a:t>
            </a:r>
            <a:r>
              <a:rPr lang="en-US" dirty="0" err="1"/>
              <a:t>unmodeled</a:t>
            </a:r>
            <a:r>
              <a:rPr lang="en-US" dirty="0"/>
              <a:t> heterogeneity in occupancy </a:t>
            </a:r>
          </a:p>
          <a:p>
            <a:pPr marL="342900" lvl="1" indent="-342900" eaLnBrk="1" hangingPunct="1">
              <a:buSzPct val="60000"/>
            </a:pPr>
            <a:r>
              <a:rPr lang="en-US" dirty="0"/>
              <a:t>No </a:t>
            </a:r>
            <a:r>
              <a:rPr lang="en-US" dirty="0" err="1"/>
              <a:t>unmodeled</a:t>
            </a:r>
            <a:r>
              <a:rPr lang="en-US" dirty="0"/>
              <a:t> heterogeneity in detection </a:t>
            </a:r>
          </a:p>
          <a:p>
            <a:pPr marL="342900" lvl="1" indent="-342900" eaLnBrk="1" hangingPunct="1">
              <a:buSzPct val="60000"/>
            </a:pPr>
            <a:r>
              <a:rPr lang="en-US" b="1" dirty="0">
                <a:solidFill>
                  <a:srgbClr val="C00000"/>
                </a:solidFill>
              </a:rPr>
              <a:t>Closure:</a:t>
            </a:r>
          </a:p>
          <a:p>
            <a:pPr marL="742950" lvl="2" indent="-342900" eaLnBrk="1" hangingPunct="1">
              <a:buSzPct val="60000"/>
            </a:pPr>
            <a:r>
              <a:rPr lang="en-US" sz="2200" dirty="0">
                <a:sym typeface="Symbol" pitchFamily="18" charset="2"/>
              </a:rPr>
              <a:t>No colonization and extinction between </a:t>
            </a:r>
            <a:r>
              <a:rPr lang="en-US" sz="2200" b="1" dirty="0">
                <a:solidFill>
                  <a:srgbClr val="C00000"/>
                </a:solidFill>
                <a:sym typeface="Symbol" pitchFamily="18" charset="2"/>
              </a:rPr>
              <a:t>secondary</a:t>
            </a:r>
            <a:r>
              <a:rPr lang="en-US" sz="2200" dirty="0">
                <a:sym typeface="Symbol" pitchFamily="18" charset="2"/>
              </a:rPr>
              <a:t> periods</a:t>
            </a:r>
          </a:p>
          <a:p>
            <a:pPr marL="742950" lvl="2" indent="-342900" eaLnBrk="1" hangingPunct="1">
              <a:buSzPct val="60000"/>
            </a:pPr>
            <a:r>
              <a:rPr lang="en-US" sz="2200" dirty="0">
                <a:sym typeface="Symbol" pitchFamily="18" charset="2"/>
              </a:rPr>
              <a:t>No </a:t>
            </a:r>
            <a:r>
              <a:rPr lang="en-US" sz="2200" dirty="0" err="1">
                <a:sym typeface="Symbol" pitchFamily="18" charset="2"/>
              </a:rPr>
              <a:t>unmodeled</a:t>
            </a:r>
            <a:r>
              <a:rPr lang="en-US" sz="2200" dirty="0">
                <a:sym typeface="Symbol" pitchFamily="18" charset="2"/>
              </a:rPr>
              <a:t> heterogeneity in </a:t>
            </a:r>
            <a:r>
              <a:rPr lang="en-US" sz="2200" b="1" dirty="0">
                <a:solidFill>
                  <a:srgbClr val="C00000"/>
                </a:solidFill>
                <a:sym typeface="Symbol" pitchFamily="18" charset="2"/>
              </a:rPr>
              <a:t>colonization </a:t>
            </a:r>
            <a:r>
              <a:rPr lang="en-US" sz="2200" dirty="0">
                <a:sym typeface="Symbol" pitchFamily="18" charset="2"/>
              </a:rPr>
              <a:t>or </a:t>
            </a:r>
            <a:r>
              <a:rPr lang="en-US" sz="2200" b="1" dirty="0">
                <a:solidFill>
                  <a:srgbClr val="C00000"/>
                </a:solidFill>
                <a:sym typeface="Symbol" pitchFamily="18" charset="2"/>
              </a:rPr>
              <a:t>extinction </a:t>
            </a:r>
            <a:r>
              <a:rPr lang="en-US" sz="2200" dirty="0">
                <a:sym typeface="Symbol" pitchFamily="18" charset="2"/>
              </a:rPr>
              <a:t>between primary periods</a:t>
            </a:r>
          </a:p>
          <a:p>
            <a:pPr eaLnBrk="1" hangingPunct="1"/>
            <a:endParaRPr lang="en-US" dirty="0">
              <a:sym typeface="Symbol" pitchFamily="18" charset="2"/>
            </a:endParaRPr>
          </a:p>
          <a:p>
            <a:pPr lvl="1" eaLnBrk="1" hangingPunct="1">
              <a:buFont typeface="Wingdings" pitchFamily="2" charset="2"/>
              <a:buNone/>
            </a:pPr>
            <a:endParaRPr lang="en-US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17672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Patch Occupancy as a State Variable: </a:t>
            </a:r>
            <a:br>
              <a:rPr lang="en-US"/>
            </a:br>
            <a:r>
              <a:rPr lang="en-US"/>
              <a:t>Modeling Dynamics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600205"/>
            <a:ext cx="8229600" cy="4933599"/>
          </a:xfrm>
        </p:spPr>
        <p:txBody>
          <a:bodyPr>
            <a:normAutofit fontScale="92500" lnSpcReduction="10000"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dirty="0"/>
              <a:t>Model changes in occupancy over time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dirty="0"/>
              <a:t>Parameters of interest:</a:t>
            </a:r>
          </a:p>
          <a:p>
            <a:pPr marL="685529" lvl="1" indent="-228600">
              <a:spcBef>
                <a:spcPct val="30000"/>
              </a:spcBef>
            </a:pPr>
            <a:r>
              <a:rPr lang="en-US" dirty="0">
                <a:latin typeface="Symbol" pitchFamily="18" charset="2"/>
                <a:sym typeface="Symbol" pitchFamily="18" charset="2"/>
              </a:rPr>
              <a:t>y</a:t>
            </a:r>
            <a:r>
              <a:rPr lang="en-US" dirty="0">
                <a:sym typeface="Symbol" pitchFamily="18" charset="2"/>
              </a:rPr>
              <a:t> </a:t>
            </a:r>
            <a:r>
              <a:rPr lang="en-US" sz="2400" dirty="0">
                <a:sym typeface="Symbol" pitchFamily="18" charset="2"/>
              </a:rPr>
              <a:t>–  </a:t>
            </a:r>
            <a:r>
              <a:rPr lang="en-US" b="1" dirty="0">
                <a:sym typeface="Symbol" pitchFamily="18" charset="2"/>
              </a:rPr>
              <a:t>probability of </a:t>
            </a:r>
            <a:r>
              <a:rPr lang="en-US" b="1" dirty="0">
                <a:solidFill>
                  <a:srgbClr val="FF0000"/>
                </a:solidFill>
                <a:sym typeface="Symbol" pitchFamily="18" charset="2"/>
              </a:rPr>
              <a:t>occupancy</a:t>
            </a:r>
          </a:p>
          <a:p>
            <a:pPr marL="860154" lvl="1" indent="-457200">
              <a:spcBef>
                <a:spcPct val="30000"/>
              </a:spcBef>
            </a:pPr>
            <a:r>
              <a:rPr lang="en-US" sz="2400" dirty="0">
                <a:latin typeface="Symbol" pitchFamily="18" charset="2"/>
                <a:sym typeface="Symbol" pitchFamily="18" charset="2"/>
              </a:rPr>
              <a:t>e</a:t>
            </a:r>
            <a:r>
              <a:rPr lang="en-US" sz="2400" i="1" baseline="-25000" dirty="0">
                <a:latin typeface="Calibri" pitchFamily="34" charset="0"/>
                <a:cs typeface="Calibri" pitchFamily="34" charset="0"/>
                <a:sym typeface="Symbol" pitchFamily="18" charset="2"/>
              </a:rPr>
              <a:t>t</a:t>
            </a:r>
            <a:r>
              <a:rPr lang="en-US" i="1" baseline="-25000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 –  </a:t>
            </a:r>
            <a:r>
              <a:rPr lang="en-US" i="1" dirty="0">
                <a:latin typeface="Times New Roman" pitchFamily="18" charset="0"/>
                <a:sym typeface="Symbol" pitchFamily="18" charset="2"/>
              </a:rPr>
              <a:t>Pr</a:t>
            </a:r>
            <a:r>
              <a:rPr lang="en-US" dirty="0">
                <a:sym typeface="Symbol" pitchFamily="18" charset="2"/>
              </a:rPr>
              <a:t>(absence at time </a:t>
            </a:r>
            <a:r>
              <a:rPr lang="en-US" i="1" dirty="0">
                <a:latin typeface="Times New Roman" pitchFamily="18" charset="0"/>
                <a:sym typeface="Symbol" pitchFamily="18" charset="2"/>
              </a:rPr>
              <a:t>t</a:t>
            </a:r>
            <a:r>
              <a:rPr lang="en-US" dirty="0">
                <a:sym typeface="Symbol" pitchFamily="18" charset="2"/>
              </a:rPr>
              <a:t>+1 | presence at </a:t>
            </a:r>
            <a:r>
              <a:rPr lang="en-US" i="1" dirty="0">
                <a:latin typeface="Times New Roman" pitchFamily="18" charset="0"/>
                <a:sym typeface="Symbol" pitchFamily="18" charset="2"/>
              </a:rPr>
              <a:t>t</a:t>
            </a:r>
            <a:r>
              <a:rPr lang="en-US" dirty="0">
                <a:sym typeface="Symbol" pitchFamily="18" charset="2"/>
              </a:rPr>
              <a:t>)   </a:t>
            </a:r>
            <a:r>
              <a:rPr lang="en-US" b="1" dirty="0">
                <a:sym typeface="Symbol" pitchFamily="18" charset="2"/>
              </a:rPr>
              <a:t>patch</a:t>
            </a:r>
            <a:r>
              <a:rPr lang="en-US" b="1" dirty="0">
                <a:solidFill>
                  <a:srgbClr val="FF0000"/>
                </a:solidFill>
                <a:sym typeface="Symbol" pitchFamily="18" charset="2"/>
              </a:rPr>
              <a:t> extinction</a:t>
            </a:r>
            <a:r>
              <a:rPr lang="en-US" b="1" dirty="0">
                <a:sym typeface="Symbol" pitchFamily="18" charset="2"/>
              </a:rPr>
              <a:t> probability </a:t>
            </a:r>
            <a:br>
              <a:rPr lang="en-US" dirty="0">
                <a:sym typeface="Symbol" pitchFamily="18" charset="2"/>
              </a:rPr>
            </a:br>
            <a:endParaRPr lang="en-US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sym typeface="Symbol" pitchFamily="18" charset="2"/>
              </a:rPr>
              <a:t></a:t>
            </a:r>
            <a:r>
              <a:rPr lang="en-US" i="1" baseline="-25000" dirty="0">
                <a:sym typeface="Symbol" pitchFamily="18" charset="2"/>
              </a:rPr>
              <a:t>t </a:t>
            </a:r>
            <a:r>
              <a:rPr lang="en-US" dirty="0">
                <a:sym typeface="Symbol" pitchFamily="18" charset="2"/>
              </a:rPr>
              <a:t> – 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Pr</a:t>
            </a:r>
            <a:r>
              <a:rPr lang="en-US" dirty="0">
                <a:sym typeface="Symbol" pitchFamily="18" charset="2"/>
              </a:rPr>
              <a:t>(presence at 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</a:t>
            </a:r>
            <a:r>
              <a:rPr lang="en-US" dirty="0">
                <a:sym typeface="Symbol" pitchFamily="18" charset="2"/>
              </a:rPr>
              <a:t>+1 | absence at 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</a:t>
            </a:r>
            <a:r>
              <a:rPr lang="en-US" dirty="0">
                <a:sym typeface="Symbol" pitchFamily="18" charset="2"/>
              </a:rPr>
              <a:t>) </a:t>
            </a:r>
            <a:br>
              <a:rPr lang="en-US" dirty="0">
                <a:sym typeface="Symbol" pitchFamily="18" charset="2"/>
              </a:rPr>
            </a:br>
            <a:r>
              <a:rPr lang="en-US" b="1" dirty="0">
                <a:sym typeface="Symbol" pitchFamily="18" charset="2"/>
              </a:rPr>
              <a:t>patch </a:t>
            </a:r>
            <a:r>
              <a:rPr lang="en-US" b="1" dirty="0">
                <a:solidFill>
                  <a:srgbClr val="FF0000"/>
                </a:solidFill>
                <a:sym typeface="Symbol" pitchFamily="18" charset="2"/>
              </a:rPr>
              <a:t>colonization</a:t>
            </a:r>
            <a:r>
              <a:rPr lang="en-US" b="1" dirty="0">
                <a:sym typeface="Symbol" pitchFamily="18" charset="2"/>
              </a:rPr>
              <a:t> probability</a:t>
            </a:r>
            <a:br>
              <a:rPr lang="en-US" dirty="0">
                <a:sym typeface="Symbol" pitchFamily="18" charset="2"/>
              </a:rPr>
            </a:br>
            <a:endParaRPr lang="en-US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dirty="0">
                <a:sym typeface="Symbol" pitchFamily="18" charset="2"/>
              </a:rPr>
              <a:t> – </a:t>
            </a:r>
            <a:r>
              <a:rPr lang="en-US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Pr</a:t>
            </a:r>
            <a:r>
              <a:rPr lang="en-US" dirty="0">
                <a:sym typeface="Symbol" pitchFamily="18" charset="2"/>
              </a:rPr>
              <a:t>(detection on occasion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</a:t>
            </a:r>
            <a:r>
              <a:rPr lang="en-US" dirty="0">
                <a:latin typeface="+mj-lt"/>
                <a:cs typeface="Times New Roman" pitchFamily="18" charset="0"/>
                <a:sym typeface="Symbol" pitchFamily="18" charset="2"/>
              </a:rPr>
              <a:t>)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detection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probability</a:t>
            </a:r>
            <a:endParaRPr lang="en-US" b="1" baseline="-25000" dirty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67517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Probability models</a:t>
            </a:r>
          </a:p>
        </p:txBody>
      </p:sp>
      <p:sp>
        <p:nvSpPr>
          <p:cNvPr id="819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ym typeface="Symbol" pitchFamily="18" charset="2"/>
              </a:rPr>
              <a:t>Must account for probabilities of colonization &amp; extinction</a:t>
            </a:r>
          </a:p>
          <a:p>
            <a:pPr eaLnBrk="1" hangingPunct="1"/>
            <a:r>
              <a:rPr lang="en-US" dirty="0">
                <a:sym typeface="Symbol" pitchFamily="18" charset="2"/>
              </a:rPr>
              <a:t>Examples: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828800" y="3200400"/>
          <a:ext cx="503713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77680" imgH="457200" progId="Equation.3">
                  <p:embed/>
                </p:oleObj>
              </mc:Choice>
              <mc:Fallback>
                <p:oleObj name="Equation" r:id="rId3" imgW="1777680" imgH="4572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200400"/>
                        <a:ext cx="5037137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5170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Probability models</a:t>
            </a:r>
          </a:p>
        </p:txBody>
      </p:sp>
      <p:sp>
        <p:nvSpPr>
          <p:cNvPr id="819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ym typeface="Symbol" pitchFamily="18" charset="2"/>
              </a:rPr>
              <a:t>More examples: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048000"/>
            <a:ext cx="8382000" cy="23622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sz="2400" dirty="0"/>
              <a:t>Occupied and detected on first, not detected on second and then unoccupied (extinct)</a:t>
            </a:r>
          </a:p>
          <a:p>
            <a:pPr algn="ctr"/>
            <a:r>
              <a:rPr lang="en-US" sz="2400" dirty="0"/>
              <a:t>OR</a:t>
            </a:r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sz="2400" dirty="0"/>
              <a:t>Occupied and detected on first, not detected on second and remained occupied but undetected on third and fourth.</a:t>
            </a:r>
          </a:p>
        </p:txBody>
      </p:sp>
      <p:graphicFrame>
        <p:nvGraphicFramePr>
          <p:cNvPr id="90116" name="Object 4"/>
          <p:cNvGraphicFramePr>
            <a:graphicFrameLocks noChangeAspect="1"/>
          </p:cNvGraphicFramePr>
          <p:nvPr/>
        </p:nvGraphicFramePr>
        <p:xfrm>
          <a:off x="838200" y="2209800"/>
          <a:ext cx="7893050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82800" imgH="228600" progId="Equation.3">
                  <p:embed/>
                </p:oleObj>
              </mc:Choice>
              <mc:Fallback>
                <p:oleObj name="Equation" r:id="rId3" imgW="3682800" imgH="228600" progId="Equation.3">
                  <p:embed/>
                  <p:pic>
                    <p:nvPicPr>
                      <p:cNvPr id="901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09800"/>
                        <a:ext cx="7893050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1150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Probability models</a:t>
            </a:r>
          </a:p>
        </p:txBody>
      </p:sp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1295400" y="1447800"/>
          <a:ext cx="6532562" cy="196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47760" imgH="914400" progId="Equation.3">
                  <p:embed/>
                </p:oleObj>
              </mc:Choice>
              <mc:Fallback>
                <p:oleObj name="Equation" r:id="rId3" imgW="3047760" imgH="9144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447800"/>
                        <a:ext cx="6532562" cy="196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2000" y="3505200"/>
            <a:ext cx="8382000" cy="2895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Occupied and not detected on first and second, not extinct and not detected on second and fourth</a:t>
            </a:r>
          </a:p>
          <a:p>
            <a:pPr algn="ctr"/>
            <a:r>
              <a:rPr lang="en-US" sz="2000" dirty="0"/>
              <a:t>OR</a:t>
            </a:r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Occupied and not detected on first and second and then unoccupied</a:t>
            </a:r>
          </a:p>
          <a:p>
            <a:pPr marL="339725" indent="-339725" algn="ctr">
              <a:buClr>
                <a:schemeClr val="accent1">
                  <a:lumMod val="75000"/>
                </a:schemeClr>
              </a:buClr>
              <a:buSzPct val="100000"/>
            </a:pPr>
            <a:r>
              <a:rPr lang="en-US" sz="2000" dirty="0"/>
              <a:t>OR</a:t>
            </a:r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Not occupied and not colonized</a:t>
            </a:r>
          </a:p>
          <a:p>
            <a:pPr marL="339725" indent="-339725" algn="ctr">
              <a:buClr>
                <a:schemeClr val="accent1">
                  <a:lumMod val="75000"/>
                </a:schemeClr>
              </a:buClr>
              <a:buSzPct val="100000"/>
            </a:pPr>
            <a:r>
              <a:rPr lang="en-US" sz="2000" dirty="0"/>
              <a:t>OR</a:t>
            </a:r>
          </a:p>
          <a:p>
            <a:pPr marL="339725" indent="-339725">
              <a:buClr>
                <a:schemeClr val="accent1">
                  <a:lumMod val="75000"/>
                </a:schemeClr>
              </a:buClr>
              <a:buSzPct val="100000"/>
              <a:buFont typeface="Wingdings" pitchFamily="2" charset="2"/>
              <a:buChar char="§"/>
            </a:pPr>
            <a:r>
              <a:rPr lang="en-US" sz="2000" dirty="0"/>
              <a:t>Not occupied and colonized and undetected on third and fourth.</a:t>
            </a:r>
          </a:p>
        </p:txBody>
      </p:sp>
    </p:spTree>
    <p:extLst>
      <p:ext uri="{BB962C8B-B14F-4D97-AF65-F5344CB8AC3E}">
        <p14:creationId xmlns:p14="http://schemas.microsoft.com/office/powerpoint/2010/main" val="560561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Conclusions</a:t>
            </a:r>
          </a:p>
        </p:txBody>
      </p:sp>
      <p:sp>
        <p:nvSpPr>
          <p:cNvPr id="70659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/>
              <a:t>“Presence-absence” surveys can be used for inference when repeat visits permit estimation of detection probability</a:t>
            </a:r>
          </a:p>
          <a:p>
            <a:pPr eaLnBrk="1" hangingPunct="1"/>
            <a:r>
              <a:rPr lang="en-US"/>
              <a:t>Models permit estimation of occupancy during a single season or year</a:t>
            </a:r>
          </a:p>
          <a:p>
            <a:pPr eaLnBrk="1" hangingPunct="1"/>
            <a:r>
              <a:rPr lang="en-US"/>
              <a:t>Models permit estimation of patch-dynamic rate parameters (extinction, colonization, rate of change) over multiple seasons or years</a:t>
            </a:r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17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8117</TotalTime>
  <Words>1035</Words>
  <Application>Microsoft Office PowerPoint</Application>
  <PresentationFormat>On-screen Show (4:3)</PresentationFormat>
  <Paragraphs>144</Paragraphs>
  <Slides>17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Cambria Math</vt:lpstr>
      <vt:lpstr>Symbol</vt:lpstr>
      <vt:lpstr>Tahoma</vt:lpstr>
      <vt:lpstr>Times New Roman</vt:lpstr>
      <vt:lpstr>Wingdings</vt:lpstr>
      <vt:lpstr>Office Theme</vt:lpstr>
      <vt:lpstr>Equation</vt:lpstr>
      <vt:lpstr>Patch Dynamics</vt:lpstr>
      <vt:lpstr>Single-season – model assumptions</vt:lpstr>
      <vt:lpstr>Basic sampling protocol same </vt:lpstr>
      <vt:lpstr>Important considerations</vt:lpstr>
      <vt:lpstr>Patch Occupancy Dynamics:   Pollock’s Robust Design</vt:lpstr>
      <vt:lpstr>Robust Design Capture History </vt:lpstr>
      <vt:lpstr>Occupancy dynamics</vt:lpstr>
      <vt:lpstr>Occupancy dynamics</vt:lpstr>
      <vt:lpstr>Inferring population dynamics!</vt:lpstr>
      <vt:lpstr>Inferring population dynamics!</vt:lpstr>
      <vt:lpstr>Basic design </vt:lpstr>
      <vt:lpstr>Multiple seasons - main assumptions</vt:lpstr>
      <vt:lpstr>Patch Occupancy as a State Variable:  Modeling Dynamics</vt:lpstr>
      <vt:lpstr>Probability models</vt:lpstr>
      <vt:lpstr>Probability models</vt:lpstr>
      <vt:lpstr>Probability models</vt:lpstr>
      <vt:lpstr>Conclusions</vt:lpstr>
    </vt:vector>
  </TitlesOfParts>
  <Company>University of Victoria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Baum;dan_popescu@sfu.ca</dc:creator>
  <cp:lastModifiedBy>Dan V Popescu</cp:lastModifiedBy>
  <cp:revision>524</cp:revision>
  <dcterms:created xsi:type="dcterms:W3CDTF">2012-09-18T22:01:45Z</dcterms:created>
  <dcterms:modified xsi:type="dcterms:W3CDTF">2023-12-14T17:28:42Z</dcterms:modified>
</cp:coreProperties>
</file>